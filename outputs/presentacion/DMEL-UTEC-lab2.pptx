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e7ff88f90054b81" /><Relationship Type="http://schemas.openxmlformats.org/officeDocument/2006/relationships/extended-properties" Target="/docProps/app.xml" Id="R32b370cc0ee94e12" /><Relationship Type="http://schemas.openxmlformats.org/officeDocument/2006/relationships/officeDocument" Target="/ppt/presentation.xml" Id="R1573109d2ff746c3" /></Relationships>
</file>

<file path=ppt/presentation.xml><?xml version="1.0" encoding="utf-8"?>
<p:presentation xmlns:p="http://schemas.openxmlformats.org/presentationml/2006/main">
  <p:sldMasterIdLst>
    <p:sldMasterId xmlns:r="http://schemas.openxmlformats.org/officeDocument/2006/relationships" id="2147483648" r:id="R254f5f5e144b45e7"/>
  </p:sldMasterIdLst>
  <p:notesMasterIdLst>
    <p:notesMasterId xmlns:r="http://schemas.openxmlformats.org/officeDocument/2006/relationships" r:id="R277ff3af29d643ea"/>
  </p:notesMasterIdLst>
  <p:sldIdLst>
    <p:sldId xmlns:r="http://schemas.openxmlformats.org/officeDocument/2006/relationships" id="256" r:id="Rdab26c3c434746bd"/>
    <p:sldId xmlns:r="http://schemas.openxmlformats.org/officeDocument/2006/relationships" id="257" r:id="R7ff7aa3bd33d417a"/>
    <p:sldId xmlns:r="http://schemas.openxmlformats.org/officeDocument/2006/relationships" id="258" r:id="Rfa960371464f4c12"/>
    <p:sldId xmlns:r="http://schemas.openxmlformats.org/officeDocument/2006/relationships" id="259" r:id="R8e4d6ffe2f8a4ca0"/>
    <p:sldId xmlns:r="http://schemas.openxmlformats.org/officeDocument/2006/relationships" id="260" r:id="Ra7ca3fc3e98f4344"/>
    <p:sldId xmlns:r="http://schemas.openxmlformats.org/officeDocument/2006/relationships" id="261" r:id="Rf579345a50964717"/>
    <p:sldId xmlns:r="http://schemas.openxmlformats.org/officeDocument/2006/relationships" id="262" r:id="R8bbd8093870f4151"/>
    <p:sldId xmlns:r="http://schemas.openxmlformats.org/officeDocument/2006/relationships" id="263" r:id="R9a0cc804f0ce45df"/>
    <p:sldId xmlns:r="http://schemas.openxmlformats.org/officeDocument/2006/relationships" id="264" r:id="R95f654f012a2465f"/>
    <p:sldId xmlns:r="http://schemas.openxmlformats.org/officeDocument/2006/relationships" id="265" r:id="R2cfa5e32d9284184"/>
    <p:sldId xmlns:r="http://schemas.openxmlformats.org/officeDocument/2006/relationships" id="266" r:id="R43b6b88d33c2400e"/>
    <p:sldId xmlns:r="http://schemas.openxmlformats.org/officeDocument/2006/relationships" id="267" r:id="R172c7544892b4393"/>
    <p:sldId xmlns:r="http://schemas.openxmlformats.org/officeDocument/2006/relationships" id="268" r:id="R3752becff3704b35"/>
    <p:sldId xmlns:r="http://schemas.openxmlformats.org/officeDocument/2006/relationships" id="269" r:id="R2ae1498082db4a8e"/>
    <p:sldId xmlns:r="http://schemas.openxmlformats.org/officeDocument/2006/relationships" id="270" r:id="Re8b54c4ba27e4856"/>
    <p:sldId xmlns:r="http://schemas.openxmlformats.org/officeDocument/2006/relationships" id="271" r:id="R184b834489964eb7"/>
    <p:sldId xmlns:r="http://schemas.openxmlformats.org/officeDocument/2006/relationships" id="272" r:id="Ra7c1cf19f1444fcd"/>
    <p:sldId xmlns:r="http://schemas.openxmlformats.org/officeDocument/2006/relationships" id="273" r:id="Re86e6170488f466d"/>
    <p:sldId xmlns:r="http://schemas.openxmlformats.org/officeDocument/2006/relationships" id="274" r:id="R1ca62a3b1f5f4135"/>
    <p:sldId xmlns:r="http://schemas.openxmlformats.org/officeDocument/2006/relationships" id="275" r:id="Rc04a1cdedeff43dd"/>
    <p:sldId xmlns:r="http://schemas.openxmlformats.org/officeDocument/2006/relationships" id="276" r:id="R5be3fad29374473b"/>
    <p:sldId xmlns:r="http://schemas.openxmlformats.org/officeDocument/2006/relationships" id="277" r:id="R0c0018d5c1a54cbd"/>
    <p:sldId xmlns:r="http://schemas.openxmlformats.org/officeDocument/2006/relationships" id="278" r:id="Rdf1f68af51994aae"/>
    <p:sldId xmlns:r="http://schemas.openxmlformats.org/officeDocument/2006/relationships" id="279" r:id="Rd6551e85ef0642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81d57011ed4fa6" /><Relationship Type="http://schemas.openxmlformats.org/officeDocument/2006/relationships/slideMaster" Target="/ppt/slideMasters/slideMaster1.xml" Id="R254f5f5e144b45e7" /><Relationship Type="http://schemas.openxmlformats.org/officeDocument/2006/relationships/notesMaster" Target="/ppt/notesMasters/notesMaster1.xml" Id="R277ff3af29d643ea" /><Relationship Type="http://schemas.openxmlformats.org/officeDocument/2006/relationships/presProps" Target="/ppt/presProps.xml" Id="Reda1c15871a64a82" /><Relationship Type="http://schemas.openxmlformats.org/officeDocument/2006/relationships/tableStyles" Target="/ppt/tableStyles.xml" Id="Rb3df1089c71943d9" /><Relationship Type="http://schemas.openxmlformats.org/officeDocument/2006/relationships/slide" Target="/ppt/slides/slide1.xml" Id="Rdab26c3c434746bd" /><Relationship Type="http://schemas.openxmlformats.org/officeDocument/2006/relationships/slide" Target="/ppt/slides/slide2.xml" Id="R7ff7aa3bd33d417a" /><Relationship Type="http://schemas.openxmlformats.org/officeDocument/2006/relationships/slide" Target="/ppt/slides/slide3.xml" Id="Rfa960371464f4c12" /><Relationship Type="http://schemas.openxmlformats.org/officeDocument/2006/relationships/slide" Target="/ppt/slides/slide4.xml" Id="R8e4d6ffe2f8a4ca0" /><Relationship Type="http://schemas.openxmlformats.org/officeDocument/2006/relationships/slide" Target="/ppt/slides/slide5.xml" Id="Ra7ca3fc3e98f4344" /><Relationship Type="http://schemas.openxmlformats.org/officeDocument/2006/relationships/slide" Target="/ppt/slides/slide6.xml" Id="Rf579345a50964717" /><Relationship Type="http://schemas.openxmlformats.org/officeDocument/2006/relationships/slide" Target="/ppt/slides/slide7.xml" Id="R8bbd8093870f4151" /><Relationship Type="http://schemas.openxmlformats.org/officeDocument/2006/relationships/slide" Target="/ppt/slides/slide8.xml" Id="R9a0cc804f0ce45df" /><Relationship Type="http://schemas.openxmlformats.org/officeDocument/2006/relationships/slide" Target="/ppt/slides/slide9.xml" Id="R95f654f012a2465f" /><Relationship Type="http://schemas.openxmlformats.org/officeDocument/2006/relationships/slide" Target="/ppt/slides/slide10.xml" Id="R2cfa5e32d9284184" /><Relationship Type="http://schemas.openxmlformats.org/officeDocument/2006/relationships/slide" Target="/ppt/slides/slide11.xml" Id="R43b6b88d33c2400e" /><Relationship Type="http://schemas.openxmlformats.org/officeDocument/2006/relationships/slide" Target="/ppt/slides/slide12.xml" Id="R172c7544892b4393" /><Relationship Type="http://schemas.openxmlformats.org/officeDocument/2006/relationships/slide" Target="/ppt/slides/slide13.xml" Id="R3752becff3704b35" /><Relationship Type="http://schemas.openxmlformats.org/officeDocument/2006/relationships/slide" Target="/ppt/slides/slide14.xml" Id="R2ae1498082db4a8e" /><Relationship Type="http://schemas.openxmlformats.org/officeDocument/2006/relationships/slide" Target="/ppt/slides/slide15.xml" Id="Re8b54c4ba27e4856" /><Relationship Type="http://schemas.openxmlformats.org/officeDocument/2006/relationships/slide" Target="/ppt/slides/slide16.xml" Id="R184b834489964eb7" /><Relationship Type="http://schemas.openxmlformats.org/officeDocument/2006/relationships/slide" Target="/ppt/slides/slide17.xml" Id="Ra7c1cf19f1444fcd" /><Relationship Type="http://schemas.openxmlformats.org/officeDocument/2006/relationships/slide" Target="/ppt/slides/slide18.xml" Id="Re86e6170488f466d" /><Relationship Type="http://schemas.openxmlformats.org/officeDocument/2006/relationships/slide" Target="/ppt/slides/slide19.xml" Id="R1ca62a3b1f5f4135" /><Relationship Type="http://schemas.openxmlformats.org/officeDocument/2006/relationships/slide" Target="/ppt/slides/slide20.xml" Id="Rc04a1cdedeff43dd" /><Relationship Type="http://schemas.openxmlformats.org/officeDocument/2006/relationships/slide" Target="/ppt/slides/slide21.xml" Id="R5be3fad29374473b" /><Relationship Type="http://schemas.openxmlformats.org/officeDocument/2006/relationships/slide" Target="/ppt/slides/slide22.xml" Id="R0c0018d5c1a54cbd" /><Relationship Type="http://schemas.openxmlformats.org/officeDocument/2006/relationships/slide" Target="/ppt/slides/slide23.xml" Id="Rdf1f68af51994aae" /><Relationship Type="http://schemas.openxmlformats.org/officeDocument/2006/relationships/slide" Target="/ppt/slides/slide24.xml" Id="Rd6551e85ef0642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2c69bbcff849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4b0ecb22b94518" /><Relationship Type="http://schemas.openxmlformats.org/officeDocument/2006/relationships/notesMaster" Target="/ppt/notesMasters/notesMaster1.xml" Id="Radac7b7984bf4f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64eaff670b4df2" /><Relationship Type="http://schemas.openxmlformats.org/officeDocument/2006/relationships/notesMaster" Target="/ppt/notesMasters/notesMaster1.xml" Id="Rc3922bf14b7d45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462001e1034520" /><Relationship Type="http://schemas.openxmlformats.org/officeDocument/2006/relationships/notesMaster" Target="/ppt/notesMasters/notesMaster1.xml" Id="R47d60858464c43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fbad9d559c400d" /><Relationship Type="http://schemas.openxmlformats.org/officeDocument/2006/relationships/notesMaster" Target="/ppt/notesMasters/notesMaster1.xml" Id="R488f679cc00c4c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27cf97e66e4361" /><Relationship Type="http://schemas.openxmlformats.org/officeDocument/2006/relationships/notesMaster" Target="/ppt/notesMasters/notesMaster1.xml" Id="R3450ec4c7c0743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51e77c260a4046" /><Relationship Type="http://schemas.openxmlformats.org/officeDocument/2006/relationships/notesMaster" Target="/ppt/notesMasters/notesMaster1.xml" Id="R35bd83fe8e9142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cf18e9e84f494f" /><Relationship Type="http://schemas.openxmlformats.org/officeDocument/2006/relationships/notesMaster" Target="/ppt/notesMasters/notesMaster1.xml" Id="Rb6a8ecae1a1049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4ba7cd13fa45ee" /><Relationship Type="http://schemas.openxmlformats.org/officeDocument/2006/relationships/notesMaster" Target="/ppt/notesMasters/notesMaster1.xml" Id="R04b74e637cd543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f8b4a8358c400a" /><Relationship Type="http://schemas.openxmlformats.org/officeDocument/2006/relationships/notesMaster" Target="/ppt/notesMasters/notesMaster1.xml" Id="Rc73d03c6ee4946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776d47506d410a" /><Relationship Type="http://schemas.openxmlformats.org/officeDocument/2006/relationships/notesMaster" Target="/ppt/notesMasters/notesMaster1.xml" Id="Ree16e2ab1e2e4d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9627ae740945b5" /><Relationship Type="http://schemas.openxmlformats.org/officeDocument/2006/relationships/notesMaster" Target="/ppt/notesMasters/notesMaster1.xml" Id="R907e393f6ddd42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6e1ea0472b4f36" /><Relationship Type="http://schemas.openxmlformats.org/officeDocument/2006/relationships/notesMaster" Target="/ppt/notesMasters/notesMaster1.xml" Id="R6516fa0095bf4e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c9055757074cfc" /><Relationship Type="http://schemas.openxmlformats.org/officeDocument/2006/relationships/notesMaster" Target="/ppt/notesMasters/notesMaster1.xml" Id="R894ab19e82464b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5418aa006d64542" /><Relationship Type="http://schemas.openxmlformats.org/officeDocument/2006/relationships/notesMaster" Target="/ppt/notesMasters/notesMaster1.xml" Id="Rd588af085cdc49f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6964e3a4fb4bf8" /><Relationship Type="http://schemas.openxmlformats.org/officeDocument/2006/relationships/notesMaster" Target="/ppt/notesMasters/notesMaster1.xml" Id="Ra393100aad3345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c1a5614e4d49e9" /><Relationship Type="http://schemas.openxmlformats.org/officeDocument/2006/relationships/notesMaster" Target="/ppt/notesMasters/notesMaster1.xml" Id="R6ee67d1024c64a0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1e9ca9e0b64728" /><Relationship Type="http://schemas.openxmlformats.org/officeDocument/2006/relationships/notesMaster" Target="/ppt/notesMasters/notesMaster1.xml" Id="Rf968a156abe443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0c745d8a374137" /><Relationship Type="http://schemas.openxmlformats.org/officeDocument/2006/relationships/notesMaster" Target="/ppt/notesMasters/notesMaster1.xml" Id="R184841617fd843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445c6bcf0dd4294" /><Relationship Type="http://schemas.openxmlformats.org/officeDocument/2006/relationships/notesMaster" Target="/ppt/notesMasters/notesMaster1.xml" Id="R2c2c0deff2c3473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d6e9d797a14af4" /><Relationship Type="http://schemas.openxmlformats.org/officeDocument/2006/relationships/notesMaster" Target="/ppt/notesMasters/notesMaster1.xml" Id="Rf0c03d615b294f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e7a6610e894aa6" /><Relationship Type="http://schemas.openxmlformats.org/officeDocument/2006/relationships/notesMaster" Target="/ppt/notesMasters/notesMaster1.xml" Id="R29eafb62f59e4d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f6778c489c445e0" /><Relationship Type="http://schemas.openxmlformats.org/officeDocument/2006/relationships/notesMaster" Target="/ppt/notesMasters/notesMaster1.xml" Id="R4398d21601ed476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0e621d08f64498a" /><Relationship Type="http://schemas.openxmlformats.org/officeDocument/2006/relationships/notesMaster" Target="/ppt/notesMasters/notesMaster1.xml" Id="R3958f0232d81409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1ad1f3721d84a4f" /><Relationship Type="http://schemas.openxmlformats.org/officeDocument/2006/relationships/notesMaster" Target="/ppt/notesMasters/notesMaster1.xml" Id="R6ab844b81f5642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15 segundos.</a:t>
            </a:r>
          </a:p>
          <a:p xmlns:a="http://schemas.openxmlformats.org/drawingml/2006/main">
            <a:r>
              <a:t/>
            </a:r>
          </a:p>
          <a:p xmlns:a="http://schemas.openxmlformats.org/drawingml/2006/main">
            <a:r>
              <a:t>Presentamos una adaptación de DMEL para pronosticar las siguientes 48 horas de caudal específico a partir de 14 días de historia. Explicaremos el método, su aplicación al laboratorio y la comparación entre LSTM y DMEL en validación.</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45 segundos.</a:t>
            </a:r>
          </a:p>
          <a:p xmlns:a="http://schemas.openxmlformats.org/drawingml/2006/main">
            <a:r>
              <a:t/>
            </a:r>
          </a:p>
          <a:p xmlns:a="http://schemas.openxmlformats.org/drawingml/2006/main">
            <a:r>
              <a:t>El problema es anticipar varios valores futuros de caudal. Una serie hidrológica combina episodios abruptos con una evolución más suave. El paper estudia principalmente dos estaciones chinas con datos diarios entre 2002 y 2005. La historia de entrada tiene siete días y los horizontes de evaluación son uno, tres, cinco y siete días. El mapa identifica una cuenca original y no representa nuestro dataset, cuyas cuencas son anónimas. Los resultados de ese contexto motivan la adaptación, pero no acreditan por sí mismos un buen pronóstico horario.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 y 7, figura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60 segundos.</a:t>
            </a:r>
          </a:p>
          <a:p xmlns:a="http://schemas.openxmlformats.org/drawingml/2006/main">
            <a:r>
              <a:t/>
            </a:r>
          </a:p>
          <a:p xmlns:a="http://schemas.openxmlformats.org/drawingml/2006/main">
            <a:r>
              <a:t>La propuesta central combina una representación descompuesta con dos familias de redes. CEEMDAN extrae componentes de la señal. MRS calcula su entropía muestral y reúne componentes de complejidad parecida en señales reconstruidas o RIMFs. Después compara su entropía con la del caudal original para asignarlas a Informer o LSTM. Finalmente suma las predicciones. El término dual-modal se refiere aquí a grupos de componentes de la serie. La especialización de las redes es una hipótesis que contrastamos con una ablación de tres épocas. La figura es un detalle del esquema publicado, no un diagrama de nuestro código.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5–6, figura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60 segundos.</a:t>
            </a:r>
          </a:p>
          <a:p xmlns:a="http://schemas.openxmlformats.org/drawingml/2006/main">
            <a:r>
              <a:t/>
            </a:r>
          </a:p>
          <a:p xmlns:a="http://schemas.openxmlformats.org/drawingml/2006/main">
            <a:r>
              <a:t>Una IMF es un componente oscilatorio que EMD obtiene usando los extremos locales y sus envolventes. CEEMDAN repite extracciones con perturbaciones de ruido y combina los resultados por etapas. La identidad de reconstrucción es esencial: el caudal debe ser igual a la suma de los modos más el residuo, salvo error numérico. El artículo usa cien realizaciones y un nivel de ruido de 0.2. El backend y algunas reglas de parada no quedan totalmente especificados. Nuestra implementación documenta bordes, escalado del ruido y criterio de parada. El número de modos depende de la ventana, de modo que no fijamos los nueve modos observados en las estaciones del artículo.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y 7.</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50 segundos.</a:t>
            </a:r>
          </a:p>
          <a:p xmlns:a="http://schemas.openxmlformats.org/drawingml/2006/main">
            <a:r>
              <a:t/>
            </a:r>
          </a:p>
          <a:p xmlns:a="http://schemas.openxmlformats.org/drawingml/2006/main">
            <a:r>
              <a:t>La entropía muestral evalúa cuánto persiste la semejanza entre patrones al extenderlos un paso. B cuenta los pares parecidos de longitud m y A los que siguen parecidos con longitud m más uno. Cuando esa proporción es pequeña, la entropía es mayor y la señal resulta menos regular según esta medida. El paper usa m igual a dos y una tolerancia de 0.2 veces la desviación estándar de la señal evaluada. MRS reúne componentes con entropías parecidas y vuelve a evaluar las señales reconstruidas. Entropía no equivale directamente a frecuencia física: alta y baja son etiquetas operativas. La regla general de similitud entre IMFs no queda suficientemente detallada para reproducirla sin decisiones adicionales.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5 y 7.</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70 segundos.</a:t>
            </a:r>
          </a:p>
          <a:p xmlns:a="http://schemas.openxmlformats.org/drawingml/2006/main">
            <a:r>
              <a:t/>
            </a:r>
          </a:p>
          <a:p xmlns:a="http://schemas.openxmlformats.org/drawingml/2006/main">
            <a:r>
              <a:t>Informer usa atención para relacionar posiciones de la historia. ProbSparse selecciona consultas relevantes usando una medida de dispersión de sus puntuaciones de atención. La reducción temporal del encoder disminuye la longitud de sus representaciones. El decoder produce la secuencia futura de una vez, evitando alimentar cada predicción como entrada del paso siguiente. El trabajo original de Informer describe el beneficio para secuencias largas. Nuestra implementación conserva estos mecanismos principales, pero adapta embeddings y otros detalles. El decoder recibe un prefijo conocido y ceros para las posiciones futuras. No recibe los caudales ni las variables meteorológicas observadas del futuro.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4, figura 1.</a:t>
            </a:r>
          </a:p>
          <a:p xmlns:a="http://schemas.openxmlformats.org/drawingml/2006/main">
            <a:r>
              <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objetivo: 60 segundos.</a:t>
            </a:r>
          </a:p>
          <a:p xmlns:a="http://schemas.openxmlformats.org/drawingml/2006/main">
            <a:r>
              <a:t/>
            </a:r>
          </a:p>
          <a:p xmlns:a="http://schemas.openxmlformats.org/drawingml/2006/main">
            <a:r>
              <a:t>La LSTM mantiene un estado de memoria. La compuerta de olvido controla qué parte conserva, la de entrada qué información incorpora y la de salida qué parte comunica al estado oculto. DMEL asigna esta red a los componentes de menor complejidad y suma su predicción con la rama Informer. En nuestra adaptación, una cabeza lineal obtiene directamente los 48 pasos a partir de la LSTM. El entrenamiento minimiza el error del caudal total, así que las contribuciones pronosticadas por cada rama no tienen una interpretación física identificable por separado. Esta especialización se evaluará frente a una variante con Informer en ambas ramas.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4–5, figura 2 y ecuación 14.</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45 segundos.</a:t>
            </a:r>
          </a:p>
          <a:p xmlns:a="http://schemas.openxmlformats.org/drawingml/2006/main">
            <a:r>
              <a:t/>
            </a:r>
          </a:p>
          <a:p xmlns:a="http://schemas.openxmlformats.org/drawingml/2006/main">
            <a:r>
              <a:t>Pasamos de un problema diario a uno horario. Cada ejemplo aporta 336 horas y exige 48 valores futuros de caudal específico. La salida se expresa en milímetros por hora, como establece el laboratorio. Usamos las once variables meteorológicas históricas junto al caudal, y respetamos los flags de entrenamiento y validación. No aplicamos otra vez el reparto porcentual del artículo. El laboratorio permite reemplazar componentes si falta información, siempre que lo justifiquemos y conservemos la idea central. Por eso hablaremos de una adaptación, sin afirmar reproducción exacta de las cifras publicadas.</a:t>
            </a:r>
          </a:p>
          <a:p xmlns:a="http://schemas.openxmlformats.org/drawingml/2006/main">
            <a:r>
              <a:t/>
            </a:r>
          </a:p>
          <a:p xmlns:a="http://schemas.openxmlformats.org/drawingml/2006/main">
            <a:r>
              <a:t>FUENTES</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45 segundos.</a:t>
            </a:r>
          </a:p>
          <a:p xmlns:a="http://schemas.openxmlformats.org/drawingml/2006/main">
            <a:r>
              <a:t/>
            </a:r>
          </a:p>
          <a:p xmlns:a="http://schemas.openxmlformats.org/drawingml/2006/main">
            <a:r>
              <a:t>El eje de entrada sigue el orden muestra, tiempo y canal. El caudal está en el canal once, contando desde cero. Los metadatos declaran 254 mil ejemplos de entrenamiento y 18 142 de validación, juntos en train.h5, cuyo total de 272 142 filas verificamos en Khipu. Test contiene 27 983 historias. Hemos comprobado 508 cuencas en validación y en test, pero no debemos convertir sus identificadores anónimos en ubicaciones o calendarios. Las unidades meteorológicas no están especificadas en los metadatos, por lo que conservamos nombres y valores sin inventar conversiones.</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40 segundos.</a:t>
            </a:r>
          </a:p>
          <a:p xmlns:a="http://schemas.openxmlformats.org/drawingml/2006/main">
            <a:r>
              <a:t/>
            </a:r>
          </a:p>
          <a:p xmlns:a="http://schemas.openxmlformats.org/drawingml/2006/main">
            <a:r>
              <a:t>Este gráfico usa la primera fila de test.h5, cuenca anónima 222. La selección es simplemente la primera fila, sin elegirla por calidad de una predicción. Mostramos sus 336 caudales históricos y ubicamos el final de la ventana en la hora cero. Los objetivos futuros comienzan en la hora uno y terminan en la 48. El gráfico no contiene una predicción ni objetivos de test. Permite observar un ascenso pronunciado y una recesión dentro del pasado disponible. La forma de esa ventana ayuda a explicar por qué estudiar componentes de distinta regularidad puede ser útil.</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Lectura directa de dataset/test.h5, X[0,:,11]. Datos exactos y criterio de selección: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65 segundos.</a:t>
            </a:r>
          </a:p>
          <a:p xmlns:a="http://schemas.openxmlformats.org/drawingml/2006/main">
            <a:r>
              <a:t/>
            </a:r>
          </a:p>
          <a:p xmlns:a="http://schemas.openxmlformats.org/drawingml/2006/main">
            <a:r>
              <a:t>Nuestra regla produce siempre dos canales. Sumamos a alta los modos cuya entropía supera a la del caudal de la ventana. El resto de modos y el residuo forman baja. Esta decisión elimina la fusión intermedia del MRS publicado, cuya tolerancia de similitud no queda totalmente definida. En esta ventana todas las siete IMFs extraídas superan el umbral, así que baja contiene el residuo. Esto muestra por qué los nombres alta y baja deben entenderse como complejidad y no como bandas físicas garantizadas. La suma reconstruye la historia con error máximo de aproximadamente 1.19 por diez a la menos siete milímetros por hora. Este ejemplo solo ilustra el preprocesamiento y no mide precisión predictiva.</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Cálculo local con configs/decomposition.json, 100 realizaciones, semilla 42 y sample_id 0. Entropía original: 0.02969119278730941. Diagnósticos completos: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65 segundos.</a:t>
            </a:r>
          </a:p>
          <a:p xmlns:a="http://schemas.openxmlformats.org/drawingml/2006/main">
            <a:r>
              <a:t/>
            </a:r>
          </a:p>
          <a:p xmlns:a="http://schemas.openxmlformats.org/drawingml/2006/main">
            <a:r>
              <a:t>Descomponemos únicamente el caudal histórico. Cada rama recibe su componente y las once variables meteorológicas históricas, manteniendo doce canales por entrada. Informer y LSTM entregan un vector de 48 valores que el modelo suma. Las cabezas corrigen el último valor de su componente, una decisión adicional del laboratorio que también aplicamos a la LSTM base. Normalizamos conservando la identidad aditiva: alta dividida por sigma, baja menos mu dividida por sigma. Después de sumar las salidas, multiplicamos por sigma y añadimos mu una sola vez. Si sumáramos dos normalizaciones centradas y desnormalizáramos sin cuidado, introduciríamos un sesgo.</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Detalle de la normalización: high/σ + (low−μ)/σ = (q−μ)/σ.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55 segundos.</a:t>
            </a:r>
          </a:p>
          <a:p xmlns:a="http://schemas.openxmlformats.org/drawingml/2006/main">
            <a:r>
              <a:t/>
            </a:r>
          </a:p>
          <a:p xmlns:a="http://schemas.openxmlformats.org/drawingml/2006/main">
            <a:r>
              <a:t>Seguimos Adam con tasa uno por diez a la menos cuatro, lotes de 32 y un máximo de cien épocas. Añadimos parada temprana con paciencia de diez y seleccionamos el checkpoint por RMSE de validación en unidades físicas. La normalización solo usa entrenamiento. La descomposición recibe el pasado de cada ventana, nunca caudales futuros. y_aux podría servir como supervisión auxiliar según el enunciado, pero esta versión no lo usa. Tampoco empleamos test_targets.csv para ajustar o seleccionar. En Khipu dividimos el entrenamiento en ciclos de una época, guardando pesos, optimizador y estados aleatorios. LSTM y DMEL completaron veinte épocas cada uno y terminaron por parada temprana. Los ciclos guardaron su estado y permitieron continuar el entrenamiento entre asignaciones. Este protocolo describe las corridas principales. Para la ablación añadimos dos entrenamientos desde cero con máximo tres épocas y paciencia tres, conservando los demás hiperparámetros.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objetivo: 45 segundos.</a:t>
            </a:r>
          </a:p>
          <a:p xmlns:a="http://schemas.openxmlformats.org/drawingml/2006/main">
            <a:r>
              <a:t/>
            </a:r>
          </a:p>
          <a:p xmlns:a="http://schemas.openxmlformats.org/drawingml/2006/main">
            <a:r>
              <a:t>La LSTM multivariada sobre la señal original es nuestro modelo base aprendido. En la comparación principal, LSTM y DMEL completaron veinte épocas y seleccionaron la décima. Para estudiar la especialización de la rama baja, entrenamos desde cero un control DMEL y una variante con dos Informer, ambos durante tres épocas. Estos dos comparten particiones, semilla 42, normalización, pérdida, batch y optimizador. El número de parámetros cambia de 3.65 a 5.67 millones: por ello la ablación no aísla arquitectura a igual capacidad. Persistencia queda como referencia adicional futura. Una sola semilla no demuestra robustez estadística.</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Sección 3.2 y discusión de repeticiones.</a:t>
            </a:r>
          </a:p>
          <a:p xmlns:a="http://schemas.openxmlformats.org/drawingml/2006/main">
            <a:r>
              <a:t/>
            </a:r>
          </a:p>
          <a:p xmlns:a="http://schemas.openxmlformats.org/drawingml/2006/main">
            <a:r>
              <a:t>Evidencia local: outputs/verification/cierre4h-local-20261008/ablation.json, test-lstm.json, test-dmel.json y download-manifest.json. Los dos CSV coinciden con los SHA-256 reportados en Khipu. Métricas de validación recalculadas desde NPZ; configuraciones, particiones, objetivos, normalización y código emparejados. Artefactos: migration/khipu-cierre/runs/cierre-4h-seed42-20261008/. No se abrió SSH desde el agente. Fecha local: 08/10/2026.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25 segundos.</a:t>
            </a:r>
          </a:p>
          <a:p xmlns:a="http://schemas.openxmlformats.org/drawingml/2006/main">
            <a:r>
              <a:t/>
            </a:r>
          </a:p>
          <a:p xmlns:a="http://schemas.openxmlformats.org/drawingml/2006/main">
            <a:r>
              <a:t>Calculamos RMSE y MAE en milímetros por hora. NSE compara el error cuadrático con la referencia de predecir la media observada del conjunto evaluado; un valor negativo indica que resulta peor que esa referencia. KGE 2009 combina correlación con los cocientes de desviaciones estándar y medias entre predicción y observación. Su cero no tiene el mismo significado de referencia que el cero de NSE. Por eso declaramos explícitamente la versión, además de sus componentes. Reportamos errores por horizonte y cuenca para que un promedio global no oculte fallos. Sin fechas absolutas no podemos reconstruir una cronología de eventos ni auditar todo el solapamiento original. Los casos indefinidos se registran como tales.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45 segundos.</a:t>
            </a:r>
          </a:p>
          <a:p xmlns:a="http://schemas.openxmlformats.org/drawingml/2006/main">
            <a:r>
              <a:t/>
            </a:r>
          </a:p>
          <a:p xmlns:a="http://schemas.openxmlformats.org/drawingml/2006/main">
            <a:r>
              <a:t>Los dos entrenamientos terminaron correctamente. Evaluamos el mejor checkpoint de cada modelo sobre las mismas 18 142 ventanas y sus 48 horizontes. El RMSE de LSTM es 0.1023 milímetros por hora y el de DMEL, 0.1057. Por tanto, DMEL tiene un error global 3.31 por ciento mayor en esta corrida. LSTM también obtiene menor MAE y mayores NSE y KGE. DMEL sí reduce las predicciones negativas: pasan de 28 350, o 3.26 por ciento, a 9 439, o 1.08 por ciento. Este avance en coherencia física no compensa automáticamente el mayor error. Tampoco implica menor sesgo absoluto: el sesgo de DMEL es 0.00072 frente a menos 0.00028 del LSTM. La comparación usa una sola semilla y el conjunto de selección. No constituye una prueba estadística ni un resultado final de test.</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45 segundos.</a:t>
            </a:r>
          </a:p>
          <a:p xmlns:a="http://schemas.openxmlformats.org/drawingml/2006/main">
            <a:r>
              <a:t/>
            </a:r>
          </a:p>
          <a:p xmlns:a="http://schemas.openxmlformats.org/drawingml/2006/main">
            <a:r>
              <a:t>Cada panel permite comparar los dos modelos usando la misma escala. El azul representa LSTM y el marrón representa DMEL. El panel izquierdo muestra MSE de entrenamiento sobre caudal normalizado. El derecho muestra RMSE de validación en unidades físicas. Las pérdidas de entrenamiento bajan, pero esa mejora no se traslada continuamente a validación. En ambos modelos el mínimo ocurre en la décima época, registrada como epoch nueve. Ninguna de las diez épocas posteriores supera ese mínimo y la paciencia diez activa la parada temprana. Evaluamos best.pt, no los pesos finales de last.pt. El comportamiento es compatible con sobreajuste y justifica la selección por validación. El máximo de cien épocas es un límite, no una obligación. Los tiempos de Slurm varían entre ciclos y nodos, por lo que no usamos estas corridas como una comparación controlada de velocidad entre arquitecturas.</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40 segundos.</a:t>
            </a:r>
          </a:p>
          <a:p xmlns:a="http://schemas.openxmlformats.org/drawingml/2006/main">
            <a:r>
              <a:t/>
            </a:r>
          </a:p>
          <a:p xmlns:a="http://schemas.openxmlformats.org/drawingml/2006/main">
            <a:r>
              <a:t>Cada curva contiene los 48 resultados horarios de validación. LSTM tiene menor RMSE y MAE, además de mayor NSE, en todos los horizontes. A una hora, los RMSE son 0.0327 para LSTM y 0.0337 para DMEL. A veinticuatro horas son 0.1097 y 0.1126. A cuarenta y ocho horas son 0.1196 y 0.1230, con NSE de 0.4798 y 0.4499. La precisión tiende a disminuir con el horizonte, aunque las curvas no son monótonas. El incremento de error alrededor de las horas veinte a veintitrés aparece en los reportes, pero no podemos atribuirlo a eventos específicos sin analizar predicciones y observaciones. El KGE tiene una lectura distinta: DMEL mejora en catorce horizontes y LSTM en treinta y cuatro. Eso no altera el resultado sobre RMSE, que fue nuestro criterio de selección.</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45 segundos.</a:t>
            </a:r>
          </a:p>
          <a:p xmlns:a="http://schemas.openxmlformats.org/drawingml/2006/main">
            <a:r>
              <a:t/>
            </a:r>
          </a:p>
          <a:p xmlns:a="http://schemas.openxmlformats.org/drawingml/2006/main">
            <a:r>
              <a:t>La comparación pareada muestra una diferencia importante respecto del resumen global. DMEL mejora el RMSE en 252 cuencas y LSTM en 256, sin empates. Ganar en casi la mitad de cuencas no basta para ganar el RMSE global: este reúne errores cuadrados, y la magnitud de cada diferencia también cuenta. La mediana del NSE es 0.5939 en LSTM y 0.5623 en DMEL. Hay setenta cuencas con NSE negativo en LSTM y ochenta en DMEL. Mostramos las medias macro negativas de ambos modelos, porque ocultarlas daría una imagen incompleta. En la cuenca 369, DMEL tiene RMSE de 0.00312, pero NSE de menos 20 042.8. La identidad entre RMSE y NSE implica una desviación observada de aproximadamente 0.0000221 milímetros por hora. Esa baja variabilidad vuelve sensible al NSE, pero no elimina el mal resultado relativo. Falta inspeccionar las predicciones individuales.</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65 segundos.</a:t>
            </a:r>
          </a:p>
          <a:p xmlns:a="http://schemas.openxmlformats.org/drawingml/2006/main">
            <a:r>
              <a:t/>
            </a:r>
          </a:p>
          <a:p xmlns:a="http://schemas.openxmlformats.org/drawingml/2006/main">
            <a:r>
              <a:t>Para aislar la especialización de la rama baja, comparamos un nuevo control DMEL con una variante que usa Informer en ambas ramas. Los dos se entrenaron desde cero durante tres épocas sobre todo train, con semilla 42 y el mismo protocolo. Evaluamos su mejor checkpoint, que en ambos es el de la tercera época, sobre las mismas 18 142 ventanas de validación. El RMSE pasa de 0.1100 a 0.1115 milímetros por hora: un aumento de 1.31 por ciento al sustituir LSTM. MAE y NSE también favorecen al control. Sin embargo, la variante de dos Informer mejora KGE y reduce las predicciones negativas de 8.65 a 3.02 por ciento. No hay un ganador en todas las métricas. El control tiene 3.65 millones de parámetros y la variante 5.67 millones; tres épocas y una semilla no prueban convergencia ni significancia. No confundimos este control con el DMEL original de veinte épocas.</a:t>
            </a:r>
          </a:p>
          <a:p xmlns:a="http://schemas.openxmlformats.org/drawingml/2006/main">
            <a:r>
              <a:t/>
            </a:r>
          </a:p>
          <a:p xmlns:a="http://schemas.openxmlformats.org/drawingml/2006/main">
            <a:r>
              <a:t>FUENTES</a:t>
            </a:r>
          </a:p>
          <a:p xmlns:a="http://schemas.openxmlformats.org/drawingml/2006/main">
            <a:r>
              <a:t>Evidencia local: outputs/verification/cierre4h-local-20261008/ablation.json, test-lstm.json, test-dmel.json y download-manifest.json. Los dos CSV coinciden con los SHA-256 reportados en Khipu. Métricas de validación recalculadas desde NPZ; configuraciones, particiones, objetivos, normalización y código emparejados. Artefactos: migration/khipu-cierre/runs/cierre-4h-seed42-20261008/. No se abrió SSH desde el agente. Fecha local: 08/10/2026.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40 segundos.</a:t>
            </a:r>
          </a:p>
          <a:p xmlns:a="http://schemas.openxmlformats.org/drawingml/2006/main">
            <a:r>
              <a:t/>
            </a:r>
          </a:p>
          <a:p xmlns:a="http://schemas.openxmlformats.org/drawingml/2006/main">
            <a:r>
              <a:t>Generamos predicciones con los mejores checkpoints originales de LSTM y DMEL. Cada exportación contiene las 27 983 muestras de test y 48 horizontes: 1 343 184 valores por modelo en milímetros por hora. Verificamos orden y unicidad de IDs, cuencas, valores finitos e igualdad entre CSV y NPZ. Los hashes coinciden con los registrados en Khipu. La caché de test está completa y corresponde al archivo fuente. Estas predicciones usan los modelos originales, no los controles de tres épocas. Esta revisión demuestra que la exportación está completa; no mide precisión, porque no utilizamos etiquetas de test. Los valores se conservan sin recorte a cero.</a:t>
            </a:r>
          </a:p>
          <a:p xmlns:a="http://schemas.openxmlformats.org/drawingml/2006/main">
            <a:r>
              <a:t/>
            </a:r>
          </a:p>
          <a:p xmlns:a="http://schemas.openxmlformats.org/drawingml/2006/main">
            <a:r>
              <a:t>FUENTES</a:t>
            </a:r>
          </a:p>
          <a:p xmlns:a="http://schemas.openxmlformats.org/drawingml/2006/main">
            <a:r>
              <a:t>Evidencia local: outputs/verification/cierre4h-local-20261008/ablation.json, test-lstm.json, test-dmel.json y download-manifest.json. Los dos CSV coinciden con los SHA-256 reportados en Khipu. Métricas de validación recalculadas desde NPZ; configuraciones, particiones, objetivos, normalización y código emparejados. Artefactos: migration/khipu-cierre/runs/cierre-4h-seed42-20261008/. No se abrió SSH desde el agente. Fecha local: 08/10/2026.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y cierre. Tiempo objetivo: 55 segundos.</a:t>
            </a:r>
          </a:p>
          <a:p xmlns:a="http://schemas.openxmlformats.org/drawingml/2006/main">
            <a:r>
              <a:t/>
            </a:r>
          </a:p>
          <a:p xmlns:a="http://schemas.openxmlformats.org/drawingml/2006/main">
            <a:r>
              <a:t>Cerramos los dos experimentos que faltaban: la ablación de la rama baja y la exportación completa del test. En la comparación principal, LSTM mantiene el mejor RMSE global y por horizonte. DMEL mejora casi la mitad de las cuencas y reduce las salidas negativas. En el experimento aparte de tres épocas, reemplazar la rama baja LSTM por Informer aumenta el RMSE 1.31 por ciento, aunque mejora KGE y reduce salidas negativas. Esto apoya de forma limitada la especialización según RMSE, sin demostrar convergencia ni superioridad general. Tenemos las predicciones de todas las muestras de test, pero carecemos de objetivos para evaluar su precisión. Quedan como extensiones persistencia, varias semillas y un análisis detallado de eventos. La adaptación horaria y la capacidad desigual deben acompañar cualquier conclusión.</a:t>
            </a:r>
          </a:p>
          <a:p xmlns:a="http://schemas.openxmlformats.org/drawingml/2006/main">
            <a:r>
              <a:t/>
            </a:r>
          </a:p>
          <a:p xmlns:a="http://schemas.openxmlformats.org/drawingml/2006/main">
            <a:r>
              <a:t>FUENTES</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a:p xmlns:a="http://schemas.openxmlformats.org/drawingml/2006/main">
            <a:r>
              <a:t/>
            </a:r>
          </a:p>
          <a:p xmlns:a="http://schemas.openxmlformats.org/drawingml/2006/main">
            <a:r>
              <a:t>Evidencia local: outputs/verification/cierre4h-local-20261008/ablation.json, test-lstm.json, test-dmel.json y download-manifest.json. Los dos CSV coinciden con los SHA-256 reportados en Khipu. Métricas de validación recalculadas desde NPZ; configuraciones, particiones, objetivos, normalización y código emparejados. Artefactos: migration/khipu-cierre/runs/cierre-4h-seed42-20261008/. No se abrió SSH desde el agente. Fecha local: 08/10/2026.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Tiempo objetivo: 0 segundos.</a:t>
            </a:r>
          </a:p>
          <a:p xmlns:a="http://schemas.openxmlformats.org/drawingml/2006/main">
            <a:r>
              <a:t/>
            </a:r>
          </a:p>
          <a:p xmlns:a="http://schemas.openxmlformats.org/drawingml/2006/main">
            <a:r>
              <a:t>El paper DMEL aporta la propuesta integrada y los parámetros publicados. Torres y colaboradores describen CEEMDAN. Richman y Moorman fundamentan la entropía muestral. Estas fuentes permiten estudiar los mecanismos. La implementación central del laboratorio pertenece al proyecto y sus diferencias están documentadas.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Tiempo objetivo: 0 segundos.</a:t>
            </a:r>
          </a:p>
          <a:p xmlns:a="http://schemas.openxmlformats.org/drawingml/2006/main">
            <a:r>
              <a:t/>
            </a:r>
          </a:p>
          <a:p xmlns:a="http://schemas.openxmlformats.org/drawingml/2006/main">
            <a:r>
              <a:t>La guía fija el problema y los entregables. El código y las configuraciones documentan nuestra adaptación. A los resultados originales se añade evidencia de la ablación y de ambos tests completos, descargada por el usuario y verificada localmente. Las métricas de la ablación se recalcularon desde las predicciones de validación. Los informes registran hashes y controles de integridad. Los resultados son propios; no extrapolamos las cifras diarias del paper a estas cuencas.</a:t>
            </a:r>
          </a:p>
          <a:p xmlns:a="http://schemas.openxmlformats.org/drawingml/2006/main">
            <a:r>
              <a:t/>
            </a:r>
          </a:p>
          <a:p xmlns:a="http://schemas.openxmlformats.org/drawingml/2006/main">
            <a:r>
              <a:t>FUENTES</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Resultados propios de validación: LSTM 53987 y DMEL 54181, ambos COMPLETED 0:0. outputs/khipu-lstm-53987-completed/metrics.json y outputs/khipu-dmel-54181-completed/metrics.json, analysis.json, status.json y provenance.json. Historiales: outputs/khipu-lstm-53987-history-20261003.json y outputs/khipu-dmel-54181-completed/history.json. Salidas de Khipu compartidas por el usuario, contrastadas localmente sin SSH. Ambos best.pt corresponden a epoch=9, décima época. Mismo split, semilla 42, 18142 ventanas, 48 horizontes y 508 cuencas. Son métricas de validación utilizada para seleccionar checkpoints, no de test. Las predicciones individuales se descargaron y están disponibles localmente.</a:t>
            </a:r>
          </a:p>
          <a:p xmlns:a="http://schemas.openxmlformats.org/drawingml/2006/main">
            <a:r>
              <a:t/>
            </a:r>
          </a:p>
          <a:p xmlns:a="http://schemas.openxmlformats.org/drawingml/2006/main">
            <a:r>
              <a:t>Evidencia local: outputs/verification/cierre4h-local-20261008/ablation.json, test-lstm.json, test-dmel.json y download-manifest.json. Los dos CSV coinciden con los SHA-256 reportados en Khipu. Métricas de validación recalculadas desde NPZ; configuraciones, particiones, objetivos, normalización y código emparejados. Artefactos: migration/khipu-cierre/runs/cierre-4h-seed42-20261008/. No se abrió SSH desde el agente. Fecha local: 08/10/2026.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d8dfa1acd948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ce0b1ba16a4b0e" /><Relationship Type="http://schemas.openxmlformats.org/officeDocument/2006/relationships/slideLayout" Target="/ppt/slideLayouts/slideLayout1.xml" Id="R92f278ddc05744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f278ddc05744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b54df3975754f11" /><Relationship Type="http://schemas.openxmlformats.org/officeDocument/2006/relationships/image" Target="/ppt/media/image.png" Id="R8c1a500f10e74469" /><Relationship Type="http://schemas.openxmlformats.org/officeDocument/2006/relationships/notesSlide" Target="/ppt/notesSlides/notesSlide1.xml" Id="R1eb621135b4648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ade766b63e4371" /><Relationship Type="http://schemas.openxmlformats.org/officeDocument/2006/relationships/image" Target="/ppt/media/image2.png" Id="R6309608e6caa4c51" /><Relationship Type="http://schemas.openxmlformats.org/officeDocument/2006/relationships/notesSlide" Target="/ppt/notesSlides/notesSlide2.xml" Id="Rb22563ead66f4f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075e3f781f4562" /><Relationship Type="http://schemas.openxmlformats.org/officeDocument/2006/relationships/image" Target="/ppt/media/image3.png" Id="R7ad0d9cdb8354b8e" /><Relationship Type="http://schemas.openxmlformats.org/officeDocument/2006/relationships/notesSlide" Target="/ppt/notesSlides/notesSlide3.xml" Id="R436e0a5ee2ab4a1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ed410465fc43dd" /><Relationship Type="http://schemas.openxmlformats.org/officeDocument/2006/relationships/notesSlide" Target="/ppt/notesSlides/notesSlide4.xml" Id="Rb3ccafbc70b946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101644103e4466" /><Relationship Type="http://schemas.openxmlformats.org/officeDocument/2006/relationships/notesSlide" Target="/ppt/notesSlides/notesSlide5.xml" Id="Rf67f583f18cc48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2395e6d6074adc" /><Relationship Type="http://schemas.openxmlformats.org/officeDocument/2006/relationships/image" Target="/ppt/media/image4.png" Id="R62740eff00b0468e" /><Relationship Type="http://schemas.openxmlformats.org/officeDocument/2006/relationships/notesSlide" Target="/ppt/notesSlides/notesSlide6.xml" Id="Ra62b393b67904a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13fb5df5694ec2" /><Relationship Type="http://schemas.openxmlformats.org/officeDocument/2006/relationships/image" Target="/ppt/media/image5.png" Id="R5996661b22724d96" /><Relationship Type="http://schemas.openxmlformats.org/officeDocument/2006/relationships/notesSlide" Target="/ppt/notesSlides/notesSlide7.xml" Id="R03350ac795e64d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edfd28966e403a" /><Relationship Type="http://schemas.openxmlformats.org/officeDocument/2006/relationships/notesSlide" Target="/ppt/notesSlides/notesSlide8.xml" Id="R75a7b30d194d4c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2587afaf47b44ff" /><Relationship Type="http://schemas.openxmlformats.org/officeDocument/2006/relationships/notesSlide" Target="/ppt/notesSlides/notesSlide9.xml" Id="Rfc844fef75e94c8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a7289c0666e4768" /><Relationship Type="http://schemas.openxmlformats.org/officeDocument/2006/relationships/chart" Target="/ppt/slides/charts/chart1.xml" Id="R6d6c6ac46332445f" /><Relationship Type="http://schemas.openxmlformats.org/officeDocument/2006/relationships/notesSlide" Target="/ppt/notesSlides/notesSlide10.xml" Id="Rdd0c464e4f254f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305c4e8dd14e98" /><Relationship Type="http://schemas.openxmlformats.org/officeDocument/2006/relationships/chart" Target="/ppt/slides/charts/chart2.xml" Id="R40ed688d87de4a7e" /><Relationship Type="http://schemas.openxmlformats.org/officeDocument/2006/relationships/notesSlide" Target="/ppt/notesSlides/notesSlide11.xml" Id="R5a1a968d624b41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b9546bd634440fc" /><Relationship Type="http://schemas.openxmlformats.org/officeDocument/2006/relationships/notesSlide" Target="/ppt/notesSlides/notesSlide12.xml" Id="Rc428a0ebe5b545a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e7f13298db44615" /><Relationship Type="http://schemas.openxmlformats.org/officeDocument/2006/relationships/notesSlide" Target="/ppt/notesSlides/notesSlide13.xml" Id="R64333f45a93e4b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e536b13962449d6" /><Relationship Type="http://schemas.openxmlformats.org/officeDocument/2006/relationships/notesSlide" Target="/ppt/notesSlides/notesSlide14.xml" Id="R649babb6908a46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016de94d1f4e13" /><Relationship Type="http://schemas.openxmlformats.org/officeDocument/2006/relationships/notesSlide" Target="/ppt/notesSlides/notesSlide15.xml" Id="Rb1c35ccc9c8d47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bc09330e2c46fa" /><Relationship Type="http://schemas.openxmlformats.org/officeDocument/2006/relationships/notesSlide" Target="/ppt/notesSlides/notesSlide16.xml" Id="Rb8687240a15141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6569b5874b4c87" /><Relationship Type="http://schemas.openxmlformats.org/officeDocument/2006/relationships/chart" Target="/ppt/slides/charts/chart3.xml" Id="R0af6d54065864e54" /><Relationship Type="http://schemas.openxmlformats.org/officeDocument/2006/relationships/chart" Target="/ppt/slides/charts/chart4.xml" Id="R0e3c0f3dfbf94803" /><Relationship Type="http://schemas.openxmlformats.org/officeDocument/2006/relationships/notesSlide" Target="/ppt/notesSlides/notesSlide17.xml" Id="Rf9e7b73f8df642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8549ad26ec4466" /><Relationship Type="http://schemas.openxmlformats.org/officeDocument/2006/relationships/chart" Target="/ppt/slides/charts/chart5.xml" Id="Rc874f15d86804b5d" /><Relationship Type="http://schemas.openxmlformats.org/officeDocument/2006/relationships/chart" Target="/ppt/slides/charts/chart6.xml" Id="Rd3505df436994a46" /><Relationship Type="http://schemas.openxmlformats.org/officeDocument/2006/relationships/notesSlide" Target="/ppt/notesSlides/notesSlide18.xml" Id="R351fbb3c7d3a44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e75035614a84b8a" /><Relationship Type="http://schemas.openxmlformats.org/officeDocument/2006/relationships/notesSlide" Target="/ppt/notesSlides/notesSlide19.xml" Id="R00b75bc615a34e0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d8640265b94738" /><Relationship Type="http://schemas.openxmlformats.org/officeDocument/2006/relationships/notesSlide" Target="/ppt/notesSlides/notesSlide20.xml" Id="Re780aeaf30c548b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ae2ce6888d34250" /><Relationship Type="http://schemas.openxmlformats.org/officeDocument/2006/relationships/notesSlide" Target="/ppt/notesSlides/notesSlide21.xml" Id="R8beb6293a9b041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e057a182e324373" /><Relationship Type="http://schemas.openxmlformats.org/officeDocument/2006/relationships/notesSlide" Target="/ppt/notesSlides/notesSlide22.xml" Id="Rd2e14d547c484ba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c501db422fc4f81" /><Relationship Type="http://schemas.openxmlformats.org/officeDocument/2006/relationships/notesSlide" Target="/ppt/notesSlides/notesSlide23.xml" Id="Rb2e5bf1a72a84b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9b6b153c1ac448d" /><Relationship Type="http://schemas.openxmlformats.org/officeDocument/2006/relationships/notesSlide" Target="/ppt/notesSlides/notesSlide24.xml" Id="R0c426b16d1b24e0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Caudal histórico</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0.1243660972</c:v>
                </c:pt>
                <c:pt idx="1">
                  <c:v>0.1243285239</c:v>
                </c:pt>
                <c:pt idx="2">
                  <c:v>0.1238025054</c:v>
                </c:pt>
                <c:pt idx="3">
                  <c:v>0.1235394999</c:v>
                </c:pt>
                <c:pt idx="4">
                  <c:v>0.1235394999</c:v>
                </c:pt>
                <c:pt idx="5">
                  <c:v>0.1235394999</c:v>
                </c:pt>
                <c:pt idx="6">
                  <c:v>0.1235394999</c:v>
                </c:pt>
                <c:pt idx="7">
                  <c:v>0.1229007617</c:v>
                </c:pt>
                <c:pt idx="8">
                  <c:v>0.1231261939</c:v>
                </c:pt>
                <c:pt idx="9">
                  <c:v>0.1228631884</c:v>
                </c:pt>
                <c:pt idx="10">
                  <c:v>0.1233892068</c:v>
                </c:pt>
                <c:pt idx="11">
                  <c:v>0.1239903718</c:v>
                </c:pt>
                <c:pt idx="12">
                  <c:v>0.1233892068</c:v>
                </c:pt>
                <c:pt idx="13">
                  <c:v>0.1233892068</c:v>
                </c:pt>
                <c:pt idx="14">
                  <c:v>0.1245915368</c:v>
                </c:pt>
                <c:pt idx="15">
                  <c:v>0.1248169765</c:v>
                </c:pt>
                <c:pt idx="16">
                  <c:v>0.1259441525</c:v>
                </c:pt>
                <c:pt idx="17">
                  <c:v>0.1270337701</c:v>
                </c:pt>
                <c:pt idx="18">
                  <c:v>0.130490467</c:v>
                </c:pt>
                <c:pt idx="19">
                  <c:v>0.1334587187</c:v>
                </c:pt>
                <c:pt idx="20">
                  <c:v>0.1369154304</c:v>
                </c:pt>
                <c:pt idx="21">
                  <c:v>0.141799897</c:v>
                </c:pt>
                <c:pt idx="22">
                  <c:v>0.1489387304</c:v>
                </c:pt>
                <c:pt idx="23">
                  <c:v>0.1611874849</c:v>
                </c:pt>
                <c:pt idx="24">
                  <c:v>0.1735865176</c:v>
                </c:pt>
                <c:pt idx="25">
                  <c:v>0.200263232</c:v>
                </c:pt>
                <c:pt idx="26">
                  <c:v>0.2585011423</c:v>
                </c:pt>
                <c:pt idx="27">
                  <c:v>0.2915652394</c:v>
                </c:pt>
                <c:pt idx="28">
                  <c:v>0.290438056</c:v>
                </c:pt>
                <c:pt idx="29">
                  <c:v>0.2814205587</c:v>
                </c:pt>
                <c:pt idx="30">
                  <c:v>0.2716516256</c:v>
                </c:pt>
                <c:pt idx="31">
                  <c:v>0.2622584105</c:v>
                </c:pt>
                <c:pt idx="32">
                  <c:v>0.2566224933</c:v>
                </c:pt>
                <c:pt idx="33">
                  <c:v>0.251362294</c:v>
                </c:pt>
                <c:pt idx="34">
                  <c:v>0.2494836599</c:v>
                </c:pt>
                <c:pt idx="35">
                  <c:v>0.2536166608</c:v>
                </c:pt>
                <c:pt idx="36">
                  <c:v>0.2603797913</c:v>
                </c:pt>
                <c:pt idx="37">
                  <c:v>0.2709001601</c:v>
                </c:pt>
                <c:pt idx="38">
                  <c:v>0.2938196063</c:v>
                </c:pt>
                <c:pt idx="39">
                  <c:v>0.3227506876</c:v>
                </c:pt>
                <c:pt idx="40">
                  <c:v>0.3467973173</c:v>
                </c:pt>
                <c:pt idx="41">
                  <c:v>0.3622021675</c:v>
                </c:pt>
                <c:pt idx="42">
                  <c:v>0.3742254674</c:v>
                </c:pt>
                <c:pt idx="43">
                  <c:v>0.3779827654</c:v>
                </c:pt>
                <c:pt idx="44">
                  <c:v>0.3764798641</c:v>
                </c:pt>
                <c:pt idx="45">
                  <c:v>0.3761041164</c:v>
                </c:pt>
                <c:pt idx="46">
                  <c:v>0.3843701482</c:v>
                </c:pt>
                <c:pt idx="47">
                  <c:v>0.4069138467</c:v>
                </c:pt>
                <c:pt idx="48">
                  <c:v>0.4305847287</c:v>
                </c:pt>
                <c:pt idx="49">
                  <c:v>0.4489954412</c:v>
                </c:pt>
                <c:pt idx="50">
                  <c:v>0.465151757</c:v>
                </c:pt>
                <c:pt idx="51">
                  <c:v>0.4813080728</c:v>
                </c:pt>
                <c:pt idx="52">
                  <c:v>0.5049789548</c:v>
                </c:pt>
                <c:pt idx="53">
                  <c:v>0.5327828526</c:v>
                </c:pt>
                <c:pt idx="54">
                  <c:v>0.5650954843</c:v>
                </c:pt>
                <c:pt idx="55">
                  <c:v>0.58463341</c:v>
                </c:pt>
                <c:pt idx="56">
                  <c:v>0.5883906484</c:v>
                </c:pt>
                <c:pt idx="57">
                  <c:v>0.5703557134</c:v>
                </c:pt>
                <c:pt idx="58">
                  <c:v>0.5504420996</c:v>
                </c:pt>
                <c:pt idx="59">
                  <c:v>0.5290255547</c:v>
                </c:pt>
                <c:pt idx="60">
                  <c:v>0.5109906197</c:v>
                </c:pt>
                <c:pt idx="61">
                  <c:v>0.4944585562</c:v>
                </c:pt>
                <c:pt idx="62">
                  <c:v>0.4783022404</c:v>
                </c:pt>
                <c:pt idx="63">
                  <c:v>0.4655274749</c:v>
                </c:pt>
                <c:pt idx="64">
                  <c:v>0.4535041749</c:v>
                </c:pt>
                <c:pt idx="65">
                  <c:v>0.439602226</c:v>
                </c:pt>
                <c:pt idx="66">
                  <c:v>0.4294575453</c:v>
                </c:pt>
                <c:pt idx="67">
                  <c:v>0.4163070619</c:v>
                </c:pt>
                <c:pt idx="68">
                  <c:v>0.4050351977</c:v>
                </c:pt>
                <c:pt idx="69">
                  <c:v>0.3922604322</c:v>
                </c:pt>
                <c:pt idx="70">
                  <c:v>0.3806128502</c:v>
                </c:pt>
                <c:pt idx="71">
                  <c:v>0.3712196648</c:v>
                </c:pt>
                <c:pt idx="72">
                  <c:v>0.3633293509</c:v>
                </c:pt>
                <c:pt idx="73">
                  <c:v>0.3535604179</c:v>
                </c:pt>
                <c:pt idx="74">
                  <c:v>0.3437914848</c:v>
                </c:pt>
                <c:pt idx="75">
                  <c:v>0.3385312855</c:v>
                </c:pt>
                <c:pt idx="76">
                  <c:v>0.3306410015</c:v>
                </c:pt>
                <c:pt idx="77">
                  <c:v>0.3227506876</c:v>
                </c:pt>
                <c:pt idx="78">
                  <c:v>0.3167390227</c:v>
                </c:pt>
                <c:pt idx="79">
                  <c:v>0.3107273877</c:v>
                </c:pt>
                <c:pt idx="80">
                  <c:v>0.3054671884</c:v>
                </c:pt>
                <c:pt idx="81">
                  <c:v>0.3013341725</c:v>
                </c:pt>
                <c:pt idx="82">
                  <c:v>0.2956982553</c:v>
                </c:pt>
                <c:pt idx="83">
                  <c:v>0.2911894917</c:v>
                </c:pt>
                <c:pt idx="84">
                  <c:v>0.2874322236</c:v>
                </c:pt>
                <c:pt idx="85">
                  <c:v>0.2840506732</c:v>
                </c:pt>
                <c:pt idx="86">
                  <c:v>0.2806691229</c:v>
                </c:pt>
                <c:pt idx="87">
                  <c:v>0.2776632905</c:v>
                </c:pt>
                <c:pt idx="88">
                  <c:v>0.2742817402</c:v>
                </c:pt>
                <c:pt idx="89">
                  <c:v>0.2716516256</c:v>
                </c:pt>
                <c:pt idx="90">
                  <c:v>0.2678943574</c:v>
                </c:pt>
                <c:pt idx="91">
                  <c:v>0.2645127773</c:v>
                </c:pt>
                <c:pt idx="92">
                  <c:v>0.2622584105</c:v>
                </c:pt>
                <c:pt idx="93">
                  <c:v>0.2585011423</c:v>
                </c:pt>
                <c:pt idx="94">
                  <c:v>0.2554953098</c:v>
                </c:pt>
                <c:pt idx="95">
                  <c:v>0.2524894774</c:v>
                </c:pt>
                <c:pt idx="96">
                  <c:v>0.2502351105</c:v>
                </c:pt>
                <c:pt idx="97">
                  <c:v>0.2464778274</c:v>
                </c:pt>
                <c:pt idx="98">
                  <c:v>0.2445991784</c:v>
                </c:pt>
                <c:pt idx="99">
                  <c:v>0.2423448116</c:v>
                </c:pt>
                <c:pt idx="100">
                  <c:v>0.2382117957</c:v>
                </c:pt>
                <c:pt idx="101">
                  <c:v>0.2355817109</c:v>
                </c:pt>
                <c:pt idx="102">
                  <c:v>0.2340787947</c:v>
                </c:pt>
                <c:pt idx="103">
                  <c:v>0.2314486951</c:v>
                </c:pt>
                <c:pt idx="104">
                  <c:v>0.2299457788</c:v>
                </c:pt>
                <c:pt idx="105">
                  <c:v>0.2288185954</c:v>
                </c:pt>
                <c:pt idx="106">
                  <c:v>0.2265642285</c:v>
                </c:pt>
                <c:pt idx="107">
                  <c:v>0.225812763</c:v>
                </c:pt>
                <c:pt idx="108">
                  <c:v>0.2228069454</c:v>
                </c:pt>
                <c:pt idx="109">
                  <c:v>0.2205525637</c:v>
                </c:pt>
                <c:pt idx="110">
                  <c:v>0.2194253802</c:v>
                </c:pt>
                <c:pt idx="111">
                  <c:v>0.217922464</c:v>
                </c:pt>
                <c:pt idx="112">
                  <c:v>0.2164195627</c:v>
                </c:pt>
                <c:pt idx="113">
                  <c:v>0.2149166465</c:v>
                </c:pt>
                <c:pt idx="114">
                  <c:v>0.2152923644</c:v>
                </c:pt>
                <c:pt idx="115">
                  <c:v>0.2134137303</c:v>
                </c:pt>
                <c:pt idx="116">
                  <c:v>0.213789463</c:v>
                </c:pt>
                <c:pt idx="117">
                  <c:v>0.2134137303</c:v>
                </c:pt>
                <c:pt idx="118">
                  <c:v>0.2134137303</c:v>
                </c:pt>
                <c:pt idx="119">
                  <c:v>0.2145409137</c:v>
                </c:pt>
                <c:pt idx="120">
                  <c:v>0.2164195627</c:v>
                </c:pt>
                <c:pt idx="121">
                  <c:v>0.2228069454</c:v>
                </c:pt>
                <c:pt idx="122">
                  <c:v>0.2329516113</c:v>
                </c:pt>
                <c:pt idx="123">
                  <c:v>0.2660157084</c:v>
                </c:pt>
                <c:pt idx="124">
                  <c:v>0.3783584833</c:v>
                </c:pt>
                <c:pt idx="125">
                  <c:v>0.5883906484</c:v>
                </c:pt>
                <c:pt idx="126">
                  <c:v>0.7848966122</c:v>
                </c:pt>
                <c:pt idx="127">
                  <c:v>0.981402576</c:v>
                </c:pt>
                <c:pt idx="128">
                  <c:v>1.177532792</c:v>
                </c:pt>
                <c:pt idx="129">
                  <c:v>1.407478571</c:v>
                </c:pt>
                <c:pt idx="130">
                  <c:v>1.656962276</c:v>
                </c:pt>
                <c:pt idx="131">
                  <c:v>1.867370129</c:v>
                </c:pt>
                <c:pt idx="132">
                  <c:v>1.987603188</c:v>
                </c:pt>
                <c:pt idx="133">
                  <c:v>2.130379915</c:v>
                </c:pt>
                <c:pt idx="134">
                  <c:v>2.306972265</c:v>
                </c:pt>
                <c:pt idx="135">
                  <c:v>2.39338994</c:v>
                </c:pt>
                <c:pt idx="136">
                  <c:v>2.415933609</c:v>
                </c:pt>
                <c:pt idx="137">
                  <c:v>2.430962801</c:v>
                </c:pt>
                <c:pt idx="138">
                  <c:v>2.547438622</c:v>
                </c:pt>
                <c:pt idx="139">
                  <c:v>2.675186157</c:v>
                </c:pt>
                <c:pt idx="140">
                  <c:v>2.765361071</c:v>
                </c:pt>
                <c:pt idx="141">
                  <c:v>2.80669117</c:v>
                </c:pt>
                <c:pt idx="142">
                  <c:v>2.697729826</c:v>
                </c:pt>
                <c:pt idx="143">
                  <c:v>2.63009882</c:v>
                </c:pt>
                <c:pt idx="144">
                  <c:v>2.415933609</c:v>
                </c:pt>
                <c:pt idx="145">
                  <c:v>2.261884928</c:v>
                </c:pt>
                <c:pt idx="146">
                  <c:v>2.070263386</c:v>
                </c:pt>
                <c:pt idx="147">
                  <c:v>1.882399321</c:v>
                </c:pt>
                <c:pt idx="148">
                  <c:v>1.758408904</c:v>
                </c:pt>
                <c:pt idx="149">
                  <c:v>1.630661249</c:v>
                </c:pt>
                <c:pt idx="150">
                  <c:v>1.540486455</c:v>
                </c:pt>
                <c:pt idx="151">
                  <c:v>1.460456252</c:v>
                </c:pt>
                <c:pt idx="152">
                  <c:v>1.39057076</c:v>
                </c:pt>
                <c:pt idx="153">
                  <c:v>1.315800786</c:v>
                </c:pt>
                <c:pt idx="154">
                  <c:v>1.254557133</c:v>
                </c:pt>
                <c:pt idx="155">
                  <c:v>1.199700713</c:v>
                </c:pt>
                <c:pt idx="156">
                  <c:v>1.152359009</c:v>
                </c:pt>
                <c:pt idx="157">
                  <c:v>1.112156034</c:v>
                </c:pt>
                <c:pt idx="158">
                  <c:v>1.085855007</c:v>
                </c:pt>
                <c:pt idx="159">
                  <c:v>1.055045366</c:v>
                </c:pt>
                <c:pt idx="160">
                  <c:v>1.041894794</c:v>
                </c:pt>
                <c:pt idx="161">
                  <c:v>1.010333657</c:v>
                </c:pt>
                <c:pt idx="162">
                  <c:v>0.9979346395</c:v>
                </c:pt>
                <c:pt idx="163">
                  <c:v>1.001691937</c:v>
                </c:pt>
                <c:pt idx="164">
                  <c:v>1.012588024</c:v>
                </c:pt>
                <c:pt idx="165">
                  <c:v>1.019726872</c:v>
                </c:pt>
                <c:pt idx="166">
                  <c:v>1.037010312</c:v>
                </c:pt>
                <c:pt idx="167">
                  <c:v>1.052790999</c:v>
                </c:pt>
                <c:pt idx="168">
                  <c:v>1.031750202</c:v>
                </c:pt>
                <c:pt idx="169">
                  <c:v>1.004322052</c:v>
                </c:pt>
                <c:pt idx="170">
                  <c:v>0.9746394753</c:v>
                </c:pt>
                <c:pt idx="171">
                  <c:v>0.9314306974</c:v>
                </c:pt>
                <c:pt idx="172">
                  <c:v>0.8885976672</c:v>
                </c:pt>
                <c:pt idx="173">
                  <c:v>0.8510248065</c:v>
                </c:pt>
                <c:pt idx="174">
                  <c:v>0.8149548769</c:v>
                </c:pt>
                <c:pt idx="175">
                  <c:v>0.7856480479</c:v>
                </c:pt>
                <c:pt idx="176">
                  <c:v>0.757468462</c:v>
                </c:pt>
                <c:pt idx="177">
                  <c:v>0.7300402522</c:v>
                </c:pt>
                <c:pt idx="178">
                  <c:v>0.7138839364</c:v>
                </c:pt>
                <c:pt idx="179">
                  <c:v>0.6973518729</c:v>
                </c:pt>
                <c:pt idx="180">
                  <c:v>0.6796926856</c:v>
                </c:pt>
                <c:pt idx="181">
                  <c:v>0.6661664248</c:v>
                </c:pt>
                <c:pt idx="182">
                  <c:v>0.6552703381</c:v>
                </c:pt>
                <c:pt idx="183">
                  <c:v>0.6432470083</c:v>
                </c:pt>
                <c:pt idx="184">
                  <c:v>0.6304722428</c:v>
                </c:pt>
                <c:pt idx="185">
                  <c:v>0.6135644913</c:v>
                </c:pt>
                <c:pt idx="186">
                  <c:v>0.6034197807</c:v>
                </c:pt>
                <c:pt idx="187">
                  <c:v>0.5891421437</c:v>
                </c:pt>
                <c:pt idx="188">
                  <c:v>0.5778702497</c:v>
                </c:pt>
                <c:pt idx="189">
                  <c:v>0.569604218</c:v>
                </c:pt>
                <c:pt idx="190">
                  <c:v>0.5568294525</c:v>
                </c:pt>
                <c:pt idx="191">
                  <c:v>0.5470605493</c:v>
                </c:pt>
                <c:pt idx="192">
                  <c:v>0.5327828526</c:v>
                </c:pt>
                <c:pt idx="193">
                  <c:v>0.5226382017</c:v>
                </c:pt>
                <c:pt idx="194">
                  <c:v>0.51437217</c:v>
                </c:pt>
                <c:pt idx="195">
                  <c:v>0.5046032071</c:v>
                </c:pt>
                <c:pt idx="196">
                  <c:v>0.4974643886</c:v>
                </c:pt>
                <c:pt idx="197">
                  <c:v>0.4858168066</c:v>
                </c:pt>
                <c:pt idx="198">
                  <c:v>0.4771750569</c:v>
                </c:pt>
                <c:pt idx="199">
                  <c:v>0.4689090252</c:v>
                </c:pt>
                <c:pt idx="200">
                  <c:v>0.4595158398</c:v>
                </c:pt>
                <c:pt idx="201">
                  <c:v>0.4520012736</c:v>
                </c:pt>
                <c:pt idx="202">
                  <c:v>0.4471167922</c:v>
                </c:pt>
                <c:pt idx="203">
                  <c:v>0.437723577</c:v>
                </c:pt>
                <c:pt idx="204">
                  <c:v>0.4320876598</c:v>
                </c:pt>
                <c:pt idx="205">
                  <c:v>0.4264517426</c:v>
                </c:pt>
                <c:pt idx="206">
                  <c:v>0.4204400778</c:v>
                </c:pt>
                <c:pt idx="207">
                  <c:v>0.414052695</c:v>
                </c:pt>
                <c:pt idx="208">
                  <c:v>0.4072895944</c:v>
                </c:pt>
                <c:pt idx="209">
                  <c:v>0.4001507461</c:v>
                </c:pt>
                <c:pt idx="210">
                  <c:v>0.3945148289</c:v>
                </c:pt>
                <c:pt idx="211">
                  <c:v>0.390381813</c:v>
                </c:pt>
                <c:pt idx="212">
                  <c:v>0.3854973316</c:v>
                </c:pt>
                <c:pt idx="213">
                  <c:v>0.3817400634</c:v>
                </c:pt>
                <c:pt idx="214">
                  <c:v>0.3776070476</c:v>
                </c:pt>
                <c:pt idx="215">
                  <c:v>0.3783584833</c:v>
                </c:pt>
                <c:pt idx="216">
                  <c:v>0.3779827654</c:v>
                </c:pt>
                <c:pt idx="217">
                  <c:v>0.3764798641</c:v>
                </c:pt>
                <c:pt idx="218">
                  <c:v>0.3779827654</c:v>
                </c:pt>
                <c:pt idx="219">
                  <c:v>0.3798614144</c:v>
                </c:pt>
                <c:pt idx="220">
                  <c:v>0.3783584833</c:v>
                </c:pt>
                <c:pt idx="221">
                  <c:v>0.3798614144</c:v>
                </c:pt>
                <c:pt idx="222">
                  <c:v>0.374976933</c:v>
                </c:pt>
                <c:pt idx="223">
                  <c:v>0.3746012151</c:v>
                </c:pt>
                <c:pt idx="224">
                  <c:v>0.3734740317</c:v>
                </c:pt>
                <c:pt idx="225">
                  <c:v>0.3712196648</c:v>
                </c:pt>
                <c:pt idx="226">
                  <c:v>0.3704681993</c:v>
                </c:pt>
                <c:pt idx="227">
                  <c:v>0.3697167337</c:v>
                </c:pt>
                <c:pt idx="228">
                  <c:v>0.3704681993</c:v>
                </c:pt>
                <c:pt idx="229">
                  <c:v>0.3682138324</c:v>
                </c:pt>
                <c:pt idx="230">
                  <c:v>0.3659594655</c:v>
                </c:pt>
                <c:pt idx="231">
                  <c:v>0.3633293509</c:v>
                </c:pt>
                <c:pt idx="232">
                  <c:v>0.3584448993</c:v>
                </c:pt>
                <c:pt idx="233">
                  <c:v>0.3569419682</c:v>
                </c:pt>
                <c:pt idx="234">
                  <c:v>0.3535604179</c:v>
                </c:pt>
                <c:pt idx="235">
                  <c:v>0.3490516841</c:v>
                </c:pt>
                <c:pt idx="236">
                  <c:v>0.3430400193</c:v>
                </c:pt>
                <c:pt idx="237">
                  <c:v>0.3411613703</c:v>
                </c:pt>
                <c:pt idx="238">
                  <c:v>0.33777982</c:v>
                </c:pt>
                <c:pt idx="239">
                  <c:v>0.3336468041</c:v>
                </c:pt>
                <c:pt idx="240">
                  <c:v>0.3298895359</c:v>
                </c:pt>
                <c:pt idx="241">
                  <c:v>0.32575652</c:v>
                </c:pt>
                <c:pt idx="242">
                  <c:v>0.3223749697</c:v>
                </c:pt>
                <c:pt idx="243">
                  <c:v>0.3193691373</c:v>
                </c:pt>
                <c:pt idx="244">
                  <c:v>0.3171147704</c:v>
                </c:pt>
                <c:pt idx="245">
                  <c:v>0.3114788532</c:v>
                </c:pt>
                <c:pt idx="246">
                  <c:v>0.3088487387</c:v>
                </c:pt>
                <c:pt idx="247">
                  <c:v>0.3058429062</c:v>
                </c:pt>
                <c:pt idx="248">
                  <c:v>0.3032128215</c:v>
                </c:pt>
                <c:pt idx="249">
                  <c:v>0.3017098904</c:v>
                </c:pt>
                <c:pt idx="250">
                  <c:v>0.2972011566</c:v>
                </c:pt>
                <c:pt idx="251">
                  <c:v>0.2956982553</c:v>
                </c:pt>
                <c:pt idx="252">
                  <c:v>0.2938196063</c:v>
                </c:pt>
                <c:pt idx="253">
                  <c:v>0.290438056</c:v>
                </c:pt>
                <c:pt idx="254">
                  <c:v>0.2881836891</c:v>
                </c:pt>
                <c:pt idx="255">
                  <c:v>0.2863050401</c:v>
                </c:pt>
                <c:pt idx="256">
                  <c:v>0.2832992077</c:v>
                </c:pt>
                <c:pt idx="257">
                  <c:v>0.2814205587</c:v>
                </c:pt>
                <c:pt idx="258">
                  <c:v>0.2780390084</c:v>
                </c:pt>
                <c:pt idx="259">
                  <c:v>0.2761603594</c:v>
                </c:pt>
                <c:pt idx="260">
                  <c:v>0.2742817402</c:v>
                </c:pt>
                <c:pt idx="261">
                  <c:v>0.2720273435</c:v>
                </c:pt>
                <c:pt idx="262">
                  <c:v>0.2705244422</c:v>
                </c:pt>
                <c:pt idx="263">
                  <c:v>0.2678943574</c:v>
                </c:pt>
                <c:pt idx="264">
                  <c:v>0.2660157084</c:v>
                </c:pt>
                <c:pt idx="265">
                  <c:v>0.264888525</c:v>
                </c:pt>
                <c:pt idx="266">
                  <c:v>0.261131227</c:v>
                </c:pt>
                <c:pt idx="267">
                  <c:v>0.2600040436</c:v>
                </c:pt>
                <c:pt idx="268">
                  <c:v>0.2581253946</c:v>
                </c:pt>
                <c:pt idx="269">
                  <c:v>0.2569982111</c:v>
                </c:pt>
                <c:pt idx="270">
                  <c:v>0.2547438443</c:v>
                </c:pt>
                <c:pt idx="271">
                  <c:v>0.2528652251</c:v>
                </c:pt>
                <c:pt idx="272">
                  <c:v>0.2506108284</c:v>
                </c:pt>
                <c:pt idx="273">
                  <c:v>0.2491079271</c:v>
                </c:pt>
                <c:pt idx="274">
                  <c:v>0.2479807436</c:v>
                </c:pt>
                <c:pt idx="275">
                  <c:v>0.2461020947</c:v>
                </c:pt>
                <c:pt idx="276">
                  <c:v>0.2449749112</c:v>
                </c:pt>
                <c:pt idx="277">
                  <c:v>0.2427205443</c:v>
                </c:pt>
                <c:pt idx="278">
                  <c:v>0.2412176281</c:v>
                </c:pt>
                <c:pt idx="279">
                  <c:v>0.2389632612</c:v>
                </c:pt>
                <c:pt idx="280">
                  <c:v>0.237460345</c:v>
                </c:pt>
                <c:pt idx="281">
                  <c:v>0.2363331616</c:v>
                </c:pt>
                <c:pt idx="282">
                  <c:v>0.2352059782</c:v>
                </c:pt>
                <c:pt idx="283">
                  <c:v>0.2333273292</c:v>
                </c:pt>
                <c:pt idx="284">
                  <c:v>0.2325758785</c:v>
                </c:pt>
                <c:pt idx="285">
                  <c:v>0.2314486951</c:v>
                </c:pt>
                <c:pt idx="286">
                  <c:v>0.2295700461</c:v>
                </c:pt>
                <c:pt idx="287">
                  <c:v>0.227691412</c:v>
                </c:pt>
                <c:pt idx="288">
                  <c:v>0.2261884958</c:v>
                </c:pt>
                <c:pt idx="289">
                  <c:v>0.2254370302</c:v>
                </c:pt>
                <c:pt idx="290">
                  <c:v>0.2235583961</c:v>
                </c:pt>
                <c:pt idx="291">
                  <c:v>0.2224312127</c:v>
                </c:pt>
                <c:pt idx="292">
                  <c:v>0.2220554799</c:v>
                </c:pt>
                <c:pt idx="293">
                  <c:v>0.2201768458</c:v>
                </c:pt>
                <c:pt idx="294">
                  <c:v>0.2194253802</c:v>
                </c:pt>
                <c:pt idx="295">
                  <c:v>0.2182981968</c:v>
                </c:pt>
                <c:pt idx="296">
                  <c:v>0.2171710134</c:v>
                </c:pt>
                <c:pt idx="297">
                  <c:v>0.2160438299</c:v>
                </c:pt>
                <c:pt idx="298">
                  <c:v>0.2145409137</c:v>
                </c:pt>
                <c:pt idx="299">
                  <c:v>0.2141651809</c:v>
                </c:pt>
                <c:pt idx="300">
                  <c:v>0.2122865468</c:v>
                </c:pt>
                <c:pt idx="301">
                  <c:v>0.2115350813</c:v>
                </c:pt>
                <c:pt idx="302">
                  <c:v>0.21003218</c:v>
                </c:pt>
                <c:pt idx="303">
                  <c:v>0.2096564472</c:v>
                </c:pt>
                <c:pt idx="304">
                  <c:v>0.2077777982</c:v>
                </c:pt>
                <c:pt idx="305">
                  <c:v>0.2074020803</c:v>
                </c:pt>
                <c:pt idx="306">
                  <c:v>0.206274882</c:v>
                </c:pt>
                <c:pt idx="307">
                  <c:v>0.2051476985</c:v>
                </c:pt>
                <c:pt idx="308">
                  <c:v>0.2040205151</c:v>
                </c:pt>
                <c:pt idx="309">
                  <c:v>0.2013904154</c:v>
                </c:pt>
                <c:pt idx="310">
                  <c:v>0.2010146976</c:v>
                </c:pt>
                <c:pt idx="311">
                  <c:v>0.1995117813</c:v>
                </c:pt>
                <c:pt idx="312">
                  <c:v>0.1991360486</c:v>
                </c:pt>
                <c:pt idx="313">
                  <c:v>0.1983845979</c:v>
                </c:pt>
                <c:pt idx="314">
                  <c:v>0.1972574145</c:v>
                </c:pt>
                <c:pt idx="315">
                  <c:v>0.1957544982</c:v>
                </c:pt>
                <c:pt idx="316">
                  <c:v>0.1953787655</c:v>
                </c:pt>
                <c:pt idx="317">
                  <c:v>0.1935001165</c:v>
                </c:pt>
                <c:pt idx="318">
                  <c:v>0.1927486658</c:v>
                </c:pt>
                <c:pt idx="319">
                  <c:v>0.1916214824</c:v>
                </c:pt>
                <c:pt idx="320">
                  <c:v>0.1908700317</c:v>
                </c:pt>
                <c:pt idx="321">
                  <c:v>0.1908700317</c:v>
                </c:pt>
                <c:pt idx="322">
                  <c:v>0.1893671155</c:v>
                </c:pt>
                <c:pt idx="323">
                  <c:v>0.1893671155</c:v>
                </c:pt>
                <c:pt idx="324">
                  <c:v>0.1893671155</c:v>
                </c:pt>
                <c:pt idx="325">
                  <c:v>0.1886156499</c:v>
                </c:pt>
                <c:pt idx="326">
                  <c:v>0.1878641993</c:v>
                </c:pt>
                <c:pt idx="327">
                  <c:v>0.1871127337</c:v>
                </c:pt>
                <c:pt idx="328">
                  <c:v>0.1863612831</c:v>
                </c:pt>
                <c:pt idx="329">
                  <c:v>0.1863612831</c:v>
                </c:pt>
                <c:pt idx="330">
                  <c:v>0.1856098324</c:v>
                </c:pt>
                <c:pt idx="331">
                  <c:v>0.1848583668</c:v>
                </c:pt>
                <c:pt idx="332">
                  <c:v>0.1833554506</c:v>
                </c:pt>
                <c:pt idx="333">
                  <c:v>0.1829797328</c:v>
                </c:pt>
                <c:pt idx="334">
                  <c:v>0.1818525493</c:v>
                </c:pt>
                <c:pt idx="335">
                  <c:v>0.1814768165</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Caudal específico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plotVisOnly val="1"/>
  </c:chart>
  <c:spPr>
    <a:solidFill>
      <a:srgbClr val="FFFFFF"/>
    </a:solidFill>
    <a:l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Alta complejidad</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-0.3926588297</c:v>
                </c:pt>
                <c:pt idx="1">
                  <c:v>-0.3927249312</c:v>
                </c:pt>
                <c:pt idx="2">
                  <c:v>-0.3932975233</c:v>
                </c:pt>
                <c:pt idx="3">
                  <c:v>-0.3936268389</c:v>
                </c:pt>
                <c:pt idx="4">
                  <c:v>-0.3937135637</c:v>
                </c:pt>
                <c:pt idx="5">
                  <c:v>-0.3938206136</c:v>
                </c:pt>
                <c:pt idx="6">
                  <c:v>-0.3939476013</c:v>
                </c:pt>
                <c:pt idx="7">
                  <c:v>-0.3947328329</c:v>
                </c:pt>
                <c:pt idx="8">
                  <c:v>-0.3946729898</c:v>
                </c:pt>
                <c:pt idx="9">
                  <c:v>-0.3951203525</c:v>
                </c:pt>
                <c:pt idx="10">
                  <c:v>-0.3947971165</c:v>
                </c:pt>
                <c:pt idx="11">
                  <c:v>-0.3944168091</c:v>
                </c:pt>
                <c:pt idx="12">
                  <c:v>-0.3952565789</c:v>
                </c:pt>
                <c:pt idx="13">
                  <c:v>-0.3955125809</c:v>
                </c:pt>
                <c:pt idx="14">
                  <c:v>-0.3945832551</c:v>
                </c:pt>
                <c:pt idx="15">
                  <c:v>-0.3946474791</c:v>
                </c:pt>
                <c:pt idx="16">
                  <c:v>-0.3938263059</c:v>
                </c:pt>
                <c:pt idx="17">
                  <c:v>-0.3930586874</c:v>
                </c:pt>
                <c:pt idx="18">
                  <c:v>-0.3899396062</c:v>
                </c:pt>
                <c:pt idx="19">
                  <c:v>-0.3873242736</c:v>
                </c:pt>
                <c:pt idx="20">
                  <c:v>-0.3842354417</c:v>
                </c:pt>
                <c:pt idx="21">
                  <c:v>-0.3797334731</c:v>
                </c:pt>
                <c:pt idx="22">
                  <c:v>-0.3729914129</c:v>
                </c:pt>
                <c:pt idx="23">
                  <c:v>-0.3611533046</c:v>
                </c:pt>
                <c:pt idx="24">
                  <c:v>-0.349178493</c:v>
                </c:pt>
                <c:pt idx="25">
                  <c:v>-0.3229391575</c:v>
                </c:pt>
                <c:pt idx="26">
                  <c:v>-0.2651514709</c:v>
                </c:pt>
                <c:pt idx="27">
                  <c:v>-0.2325500995</c:v>
                </c:pt>
                <c:pt idx="28">
                  <c:v>-0.2341520786</c:v>
                </c:pt>
                <c:pt idx="29">
                  <c:v>-0.243656069</c:v>
                </c:pt>
                <c:pt idx="30">
                  <c:v>-0.2539228797</c:v>
                </c:pt>
                <c:pt idx="31">
                  <c:v>-0.2638250291</c:v>
                </c:pt>
                <c:pt idx="32">
                  <c:v>-0.2699806392</c:v>
                </c:pt>
                <c:pt idx="33">
                  <c:v>-0.2757709026</c:v>
                </c:pt>
                <c:pt idx="34">
                  <c:v>-0.2781896293</c:v>
                </c:pt>
                <c:pt idx="35">
                  <c:v>-0.2746064663</c:v>
                </c:pt>
                <c:pt idx="36">
                  <c:v>-0.2684025764</c:v>
                </c:pt>
                <c:pt idx="37">
                  <c:v>-0.2584505081</c:v>
                </c:pt>
                <c:pt idx="38">
                  <c:v>-0.2361081094</c:v>
                </c:pt>
                <c:pt idx="39">
                  <c:v>-0.2077626437</c:v>
                </c:pt>
                <c:pt idx="40">
                  <c:v>-0.1843099892</c:v>
                </c:pt>
                <c:pt idx="41">
                  <c:v>-0.1695072949</c:v>
                </c:pt>
                <c:pt idx="42">
                  <c:v>-0.1580942422</c:v>
                </c:pt>
                <c:pt idx="43">
                  <c:v>-0.1549551934</c:v>
                </c:pt>
                <c:pt idx="44">
                  <c:v>-0.1570843905</c:v>
                </c:pt>
                <c:pt idx="45">
                  <c:v>-0.1580946147</c:v>
                </c:pt>
                <c:pt idx="46">
                  <c:v>-0.1504714638</c:v>
                </c:pt>
                <c:pt idx="47">
                  <c:v>-0.1285792589</c:v>
                </c:pt>
                <c:pt idx="48">
                  <c:v>-0.105568707</c:v>
                </c:pt>
                <c:pt idx="49">
                  <c:v>-0.08782737702</c:v>
                </c:pt>
                <c:pt idx="50">
                  <c:v>-0.07234974205</c:v>
                </c:pt>
                <c:pt idx="51">
                  <c:v>-0.05688164011</c:v>
                </c:pt>
                <c:pt idx="52">
                  <c:v>-0.03390869871</c:v>
                </c:pt>
                <c:pt idx="53">
                  <c:v>-0.006812641397</c:v>
                </c:pt>
                <c:pt idx="54">
                  <c:v>0.02478208393</c:v>
                </c:pt>
                <c:pt idx="55">
                  <c:v>0.04359187931</c:v>
                </c:pt>
                <c:pt idx="56">
                  <c:v>0.04661060125</c:v>
                </c:pt>
                <c:pt idx="57">
                  <c:v>0.02782656439</c:v>
                </c:pt>
                <c:pt idx="58">
                  <c:v>0.007153052837</c:v>
                </c:pt>
                <c:pt idx="59">
                  <c:v>-0.01503441576</c:v>
                </c:pt>
                <c:pt idx="60">
                  <c:v>-0.03385160118</c:v>
                </c:pt>
                <c:pt idx="61">
                  <c:v>-0.05117758736</c:v>
                </c:pt>
                <c:pt idx="62">
                  <c:v>-0.06813985854</c:v>
                </c:pt>
                <c:pt idx="63">
                  <c:v>-0.08173301816</c:v>
                </c:pt>
                <c:pt idx="64">
                  <c:v>-0.09458760917</c:v>
                </c:pt>
                <c:pt idx="65">
                  <c:v>-0.1093342081</c:v>
                </c:pt>
                <c:pt idx="66">
                  <c:v>-0.120337382</c:v>
                </c:pt>
                <c:pt idx="67">
                  <c:v>-0.1343606412</c:v>
                </c:pt>
                <c:pt idx="68">
                  <c:v>-0.1465199888</c:v>
                </c:pt>
                <c:pt idx="69">
                  <c:v>-0.1601973474</c:v>
                </c:pt>
                <c:pt idx="70">
                  <c:v>-0.1727630049</c:v>
                </c:pt>
                <c:pt idx="71">
                  <c:v>-0.1830900013</c:v>
                </c:pt>
                <c:pt idx="72">
                  <c:v>-0.1919302046</c:v>
                </c:pt>
                <c:pt idx="73">
                  <c:v>-0.2026654631</c:v>
                </c:pt>
                <c:pt idx="74">
                  <c:v>-0.2134175152</c:v>
                </c:pt>
                <c:pt idx="75">
                  <c:v>-0.2196780443</c:v>
                </c:pt>
                <c:pt idx="76">
                  <c:v>-0.2285861969</c:v>
                </c:pt>
                <c:pt idx="77">
                  <c:v>-0.2375122607</c:v>
                </c:pt>
                <c:pt idx="78">
                  <c:v>-0.2445777506</c:v>
                </c:pt>
                <c:pt idx="79">
                  <c:v>-0.2516614795</c:v>
                </c:pt>
                <c:pt idx="80">
                  <c:v>-0.2580121756</c:v>
                </c:pt>
                <c:pt idx="81">
                  <c:v>-0.2632541955</c:v>
                </c:pt>
                <c:pt idx="82">
                  <c:v>-0.2700177133</c:v>
                </c:pt>
                <c:pt idx="83">
                  <c:v>-0.275672853</c:v>
                </c:pt>
                <c:pt idx="84">
                  <c:v>-0.2805953026</c:v>
                </c:pt>
                <c:pt idx="85">
                  <c:v>-0.285160929</c:v>
                </c:pt>
                <c:pt idx="86">
                  <c:v>-0.2897453606</c:v>
                </c:pt>
                <c:pt idx="87">
                  <c:v>-0.2939727604</c:v>
                </c:pt>
                <c:pt idx="88">
                  <c:v>-0.2985945642</c:v>
                </c:pt>
                <c:pt idx="89">
                  <c:v>-0.3024834096</c:v>
                </c:pt>
                <c:pt idx="90">
                  <c:v>-0.3075177073</c:v>
                </c:pt>
                <c:pt idx="91">
                  <c:v>-0.3121943474</c:v>
                </c:pt>
                <c:pt idx="92">
                  <c:v>-0.3157616854</c:v>
                </c:pt>
                <c:pt idx="93">
                  <c:v>-0.3208495975</c:v>
                </c:pt>
                <c:pt idx="94">
                  <c:v>-0.3252032399</c:v>
                </c:pt>
                <c:pt idx="95">
                  <c:v>-0.3295734525</c:v>
                </c:pt>
                <c:pt idx="96">
                  <c:v>-0.3332080245</c:v>
                </c:pt>
                <c:pt idx="97">
                  <c:v>-0.3383604586</c:v>
                </c:pt>
                <c:pt idx="98">
                  <c:v>-0.3416484296</c:v>
                </c:pt>
                <c:pt idx="99">
                  <c:v>-0.34532547</c:v>
                </c:pt>
                <c:pt idx="100">
                  <c:v>-0.3508935571</c:v>
                </c:pt>
                <c:pt idx="101">
                  <c:v>-0.3549702764</c:v>
                </c:pt>
                <c:pt idx="102">
                  <c:v>-0.3579304814</c:v>
                </c:pt>
                <c:pt idx="103">
                  <c:v>-0.3620275557</c:v>
                </c:pt>
                <c:pt idx="104">
                  <c:v>-0.3650062382</c:v>
                </c:pt>
                <c:pt idx="105">
                  <c:v>-0.3676170409</c:v>
                </c:pt>
                <c:pt idx="106">
                  <c:v>-0.3713618517</c:v>
                </c:pt>
                <c:pt idx="107">
                  <c:v>-0.3736095726</c:v>
                </c:pt>
                <c:pt idx="108">
                  <c:v>-0.3781163692</c:v>
                </c:pt>
                <c:pt idx="109">
                  <c:v>-0.3818754256</c:v>
                </c:pt>
                <c:pt idx="110">
                  <c:v>-0.3845098913</c:v>
                </c:pt>
                <c:pt idx="111">
                  <c:v>-0.3875216544</c:v>
                </c:pt>
                <c:pt idx="112">
                  <c:v>-0.3905339241</c:v>
                </c:pt>
                <c:pt idx="113">
                  <c:v>-0.3935456574</c:v>
                </c:pt>
                <c:pt idx="114">
                  <c:v>-0.394677043</c:v>
                </c:pt>
                <c:pt idx="115">
                  <c:v>-0.398059994</c:v>
                </c:pt>
                <c:pt idx="116">
                  <c:v>-0.3991847932</c:v>
                </c:pt>
                <c:pt idx="117">
                  <c:v>-0.4010562003</c:v>
                </c:pt>
                <c:pt idx="118">
                  <c:v>-0.4025459886</c:v>
                </c:pt>
                <c:pt idx="119">
                  <c:v>-0.4029017389</c:v>
                </c:pt>
                <c:pt idx="120">
                  <c:v>-0.4024983346</c:v>
                </c:pt>
                <c:pt idx="121">
                  <c:v>-0.3975776136</c:v>
                </c:pt>
                <c:pt idx="122">
                  <c:v>-0.3888902068</c:v>
                </c:pt>
                <c:pt idx="123">
                  <c:v>-0.3572731614</c:v>
                </c:pt>
                <c:pt idx="124">
                  <c:v>-0.2463664562</c:v>
                </c:pt>
                <c:pt idx="125">
                  <c:v>-0.03775862604</c:v>
                </c:pt>
                <c:pt idx="126">
                  <c:v>0.1573354602</c:v>
                </c:pt>
                <c:pt idx="127">
                  <c:v>0.3524427414</c:v>
                </c:pt>
                <c:pt idx="128">
                  <c:v>0.5471881628</c:v>
                </c:pt>
                <c:pt idx="129">
                  <c:v>0.7757638097</c:v>
                </c:pt>
                <c:pt idx="130">
                  <c:v>1.023892641</c:v>
                </c:pt>
                <c:pt idx="131">
                  <c:v>1.232961297</c:v>
                </c:pt>
                <c:pt idx="132">
                  <c:v>1.35187149</c:v>
                </c:pt>
                <c:pt idx="133">
                  <c:v>1.493341923</c:v>
                </c:pt>
                <c:pt idx="134">
                  <c:v>1.668645024</c:v>
                </c:pt>
                <c:pt idx="135">
                  <c:v>1.753790736</c:v>
                </c:pt>
                <c:pt idx="136">
                  <c:v>1.775080204</c:v>
                </c:pt>
                <c:pt idx="137">
                  <c:v>1.788873315</c:v>
                </c:pt>
                <c:pt idx="138">
                  <c:v>1.904131413</c:v>
                </c:pt>
                <c:pt idx="139">
                  <c:v>2.030679941</c:v>
                </c:pt>
                <c:pt idx="140">
                  <c:v>2.119675159</c:v>
                </c:pt>
                <c:pt idx="141">
                  <c:v>2.159844875</c:v>
                </c:pt>
                <c:pt idx="142">
                  <c:v>2.049743414</c:v>
                </c:pt>
                <c:pt idx="143">
                  <c:v>1.980992675</c:v>
                </c:pt>
                <c:pt idx="144">
                  <c:v>1.765728474</c:v>
                </c:pt>
                <c:pt idx="145">
                  <c:v>1.610601664</c:v>
                </c:pt>
                <c:pt idx="146">
                  <c:v>1.417922974</c:v>
                </c:pt>
                <c:pt idx="147">
                  <c:v>1.229022026</c:v>
                </c:pt>
                <c:pt idx="148">
                  <c:v>1.104014397</c:v>
                </c:pt>
                <c:pt idx="149">
                  <c:v>0.9752687216</c:v>
                </c:pt>
                <c:pt idx="150">
                  <c:v>0.8841142058</c:v>
                </c:pt>
                <c:pt idx="151">
                  <c:v>0.8031219244</c:v>
                </c:pt>
                <c:pt idx="152">
                  <c:v>0.7322911024</c:v>
                </c:pt>
                <c:pt idx="153">
                  <c:v>0.6565915942</c:v>
                </c:pt>
                <c:pt idx="154">
                  <c:v>0.5944333076</c:v>
                </c:pt>
                <c:pt idx="155">
                  <c:v>0.5386761427</c:v>
                </c:pt>
                <c:pt idx="156">
                  <c:v>0.4904465973</c:v>
                </c:pt>
                <c:pt idx="157">
                  <c:v>0.4493676424</c:v>
                </c:pt>
                <c:pt idx="158">
                  <c:v>0.4222014546</c:v>
                </c:pt>
                <c:pt idx="159">
                  <c:v>0.3905364275</c:v>
                </c:pt>
                <c:pt idx="160">
                  <c:v>0.3765391111</c:v>
                </c:pt>
                <c:pt idx="161">
                  <c:v>0.3441388607</c:v>
                </c:pt>
                <c:pt idx="162">
                  <c:v>0.3309073448</c:v>
                </c:pt>
                <c:pt idx="163">
                  <c:v>0.3338377774</c:v>
                </c:pt>
                <c:pt idx="164">
                  <c:v>0.3439115584</c:v>
                </c:pt>
                <c:pt idx="165">
                  <c:v>0.3502317071</c:v>
                </c:pt>
                <c:pt idx="166">
                  <c:v>0.3666990995</c:v>
                </c:pt>
                <c:pt idx="167">
                  <c:v>0.3816654384</c:v>
                </c:pt>
                <c:pt idx="168">
                  <c:v>0.359811008</c:v>
                </c:pt>
                <c:pt idx="169">
                  <c:v>0.3315689266</c:v>
                </c:pt>
                <c:pt idx="170">
                  <c:v>0.3010711372</c:v>
                </c:pt>
                <c:pt idx="171">
                  <c:v>0.257044822</c:v>
                </c:pt>
                <c:pt idx="172">
                  <c:v>0.2133913636</c:v>
                </c:pt>
                <c:pt idx="173">
                  <c:v>0.174994871</c:v>
                </c:pt>
                <c:pt idx="174">
                  <c:v>0.1380978823</c:v>
                </c:pt>
                <c:pt idx="175">
                  <c:v>0.1079604253</c:v>
                </c:pt>
                <c:pt idx="176">
                  <c:v>0.07894643396</c:v>
                </c:pt>
                <c:pt idx="177">
                  <c:v>0.05067984387</c:v>
                </c:pt>
                <c:pt idx="178">
                  <c:v>0.03368096426</c:v>
                </c:pt>
                <c:pt idx="179">
                  <c:v>0.0163020622</c:v>
                </c:pt>
                <c:pt idx="180">
                  <c:v>-0.002208272228</c:v>
                </c:pt>
                <c:pt idx="181">
                  <c:v>-0.0165899992</c:v>
                </c:pt>
                <c:pt idx="182">
                  <c:v>-0.02834582143</c:v>
                </c:pt>
                <c:pt idx="183">
                  <c:v>-0.04123299569</c:v>
                </c:pt>
                <c:pt idx="184">
                  <c:v>-0.05487546697</c:v>
                </c:pt>
                <c:pt idx="185">
                  <c:v>-0.0726544857</c:v>
                </c:pt>
                <c:pt idx="186">
                  <c:v>-0.08367367089</c:v>
                </c:pt>
                <c:pt idx="187">
                  <c:v>-0.0988285467</c:v>
                </c:pt>
                <c:pt idx="188">
                  <c:v>-0.110979937</c:v>
                </c:pt>
                <c:pt idx="189">
                  <c:v>-0.1201271564</c:v>
                </c:pt>
                <c:pt idx="190">
                  <c:v>-0.1337842047</c:v>
                </c:pt>
                <c:pt idx="191">
                  <c:v>-0.1444358975</c:v>
                </c:pt>
                <c:pt idx="192">
                  <c:v>-0.1595963389</c:v>
                </c:pt>
                <c:pt idx="193">
                  <c:v>-0.1706229746</c:v>
                </c:pt>
                <c:pt idx="194">
                  <c:v>-0.179769516</c:v>
                </c:pt>
                <c:pt idx="195">
                  <c:v>-0.190416798</c:v>
                </c:pt>
                <c:pt idx="196">
                  <c:v>-0.198431015</c:v>
                </c:pt>
                <c:pt idx="197">
                  <c:v>-0.2109503597</c:v>
                </c:pt>
                <c:pt idx="198">
                  <c:v>-0.2204594761</c:v>
                </c:pt>
                <c:pt idx="199">
                  <c:v>-0.2295879126</c:v>
                </c:pt>
                <c:pt idx="200">
                  <c:v>-0.2398383915</c:v>
                </c:pt>
                <c:pt idx="201">
                  <c:v>-0.2482050806</c:v>
                </c:pt>
                <c:pt idx="202">
                  <c:v>-0.2539364398</c:v>
                </c:pt>
                <c:pt idx="203">
                  <c:v>-0.2641711235</c:v>
                </c:pt>
                <c:pt idx="204">
                  <c:v>-0.2706429958</c:v>
                </c:pt>
                <c:pt idx="205">
                  <c:v>-0.2771091163</c:v>
                </c:pt>
                <c:pt idx="206">
                  <c:v>-0.2839452922</c:v>
                </c:pt>
                <c:pt idx="207">
                  <c:v>-0.2911516726</c:v>
                </c:pt>
                <c:pt idx="208">
                  <c:v>-0.2987285256</c:v>
                </c:pt>
                <c:pt idx="209">
                  <c:v>-0.306676209</c:v>
                </c:pt>
                <c:pt idx="210">
                  <c:v>-0.313116461</c:v>
                </c:pt>
                <c:pt idx="211">
                  <c:v>-0.3180496693</c:v>
                </c:pt>
                <c:pt idx="212">
                  <c:v>-0.3237306178</c:v>
                </c:pt>
                <c:pt idx="213">
                  <c:v>-0.3282810152</c:v>
                </c:pt>
                <c:pt idx="214">
                  <c:v>-0.3332042694</c:v>
                </c:pt>
                <c:pt idx="215">
                  <c:v>-0.3332405984</c:v>
                </c:pt>
                <c:pt idx="216">
                  <c:v>-0.3344019651</c:v>
                </c:pt>
                <c:pt idx="217">
                  <c:v>-0.3366887271</c:v>
                </c:pt>
                <c:pt idx="218">
                  <c:v>-0.3359681666</c:v>
                </c:pt>
                <c:pt idx="219">
                  <c:v>-0.3348705769</c:v>
                </c:pt>
                <c:pt idx="220">
                  <c:v>-0.337153405</c:v>
                </c:pt>
                <c:pt idx="221">
                  <c:v>-0.3364293277</c:v>
                </c:pt>
                <c:pt idx="222">
                  <c:v>-0.3420917988</c:v>
                </c:pt>
                <c:pt idx="223">
                  <c:v>-0.3432446718</c:v>
                </c:pt>
                <c:pt idx="224">
                  <c:v>-0.3451482654</c:v>
                </c:pt>
                <c:pt idx="225">
                  <c:v>-0.3481782675</c:v>
                </c:pt>
                <c:pt idx="226">
                  <c:v>-0.3497045338</c:v>
                </c:pt>
                <c:pt idx="227">
                  <c:v>-0.3512298763</c:v>
                </c:pt>
                <c:pt idx="228">
                  <c:v>-0.3512513638</c:v>
                </c:pt>
                <c:pt idx="229">
                  <c:v>-0.3542776406</c:v>
                </c:pt>
                <c:pt idx="230">
                  <c:v>-0.3573029339</c:v>
                </c:pt>
                <c:pt idx="231">
                  <c:v>-0.3607029021</c:v>
                </c:pt>
                <c:pt idx="232">
                  <c:v>-0.3663561344</c:v>
                </c:pt>
                <c:pt idx="233">
                  <c:v>-0.3686267138</c:v>
                </c:pt>
                <c:pt idx="234">
                  <c:v>-0.3727747202</c:v>
                </c:pt>
                <c:pt idx="235">
                  <c:v>-0.3780484796</c:v>
                </c:pt>
                <c:pt idx="236">
                  <c:v>-0.3848235607</c:v>
                </c:pt>
                <c:pt idx="237">
                  <c:v>-0.3874637485</c:v>
                </c:pt>
                <c:pt idx="238">
                  <c:v>-0.3916046917</c:v>
                </c:pt>
                <c:pt idx="239">
                  <c:v>-0.3964946866</c:v>
                </c:pt>
                <c:pt idx="240">
                  <c:v>-0.401006043</c:v>
                </c:pt>
                <c:pt idx="241">
                  <c:v>-0.4058898687</c:v>
                </c:pt>
                <c:pt idx="242">
                  <c:v>-0.4100185335</c:v>
                </c:pt>
                <c:pt idx="243">
                  <c:v>-0.4137672782</c:v>
                </c:pt>
                <c:pt idx="244">
                  <c:v>-0.4167599976</c:v>
                </c:pt>
                <c:pt idx="245">
                  <c:v>-0.4231294692</c:v>
                </c:pt>
                <c:pt idx="246">
                  <c:v>-0.4264881313</c:v>
                </c:pt>
                <c:pt idx="247">
                  <c:v>-0.4302172363</c:v>
                </c:pt>
                <c:pt idx="248">
                  <c:v>-0.4335651994</c:v>
                </c:pt>
                <c:pt idx="249">
                  <c:v>-0.4357804656</c:v>
                </c:pt>
                <c:pt idx="250">
                  <c:v>-0.4409958422</c:v>
                </c:pt>
                <c:pt idx="251">
                  <c:v>-0.4431995451</c:v>
                </c:pt>
                <c:pt idx="252">
                  <c:v>-0.4457729459</c:v>
                </c:pt>
                <c:pt idx="253">
                  <c:v>-0.4498429</c:v>
                </c:pt>
                <c:pt idx="254">
                  <c:v>-0.4527790546</c:v>
                </c:pt>
                <c:pt idx="255">
                  <c:v>-0.4553324878</c:v>
                </c:pt>
                <c:pt idx="256">
                  <c:v>-0.4590058327</c:v>
                </c:pt>
                <c:pt idx="257">
                  <c:v>-0.4615443647</c:v>
                </c:pt>
                <c:pt idx="258">
                  <c:v>-0.4655777812</c:v>
                </c:pt>
                <c:pt idx="259">
                  <c:v>-0.4680998921</c:v>
                </c:pt>
                <c:pt idx="260">
                  <c:v>-0.4706131816</c:v>
                </c:pt>
                <c:pt idx="261">
                  <c:v>-0.4734930098</c:v>
                </c:pt>
                <c:pt idx="262">
                  <c:v>-0.4756117761</c:v>
                </c:pt>
                <c:pt idx="263">
                  <c:v>-0.4788478315</c:v>
                </c:pt>
                <c:pt idx="264">
                  <c:v>-0.4813221991</c:v>
                </c:pt>
                <c:pt idx="265">
                  <c:v>-0.4830345511</c:v>
                </c:pt>
                <c:pt idx="266">
                  <c:v>-0.4873661995</c:v>
                </c:pt>
                <c:pt idx="267">
                  <c:v>-0.489056766</c:v>
                </c:pt>
                <c:pt idx="268">
                  <c:v>-0.4914876223</c:v>
                </c:pt>
                <c:pt idx="269">
                  <c:v>-0.4931557477</c:v>
                </c:pt>
                <c:pt idx="270">
                  <c:v>-0.4959396422</c:v>
                </c:pt>
                <c:pt idx="271">
                  <c:v>-0.4983362556</c:v>
                </c:pt>
                <c:pt idx="272">
                  <c:v>-0.5010969639</c:v>
                </c:pt>
                <c:pt idx="273">
                  <c:v>-0.5030943155</c:v>
                </c:pt>
                <c:pt idx="274">
                  <c:v>-0.504703939</c:v>
                </c:pt>
                <c:pt idx="275">
                  <c:v>-0.5070530772</c:v>
                </c:pt>
                <c:pt idx="276">
                  <c:v>-0.50863868</c:v>
                </c:pt>
                <c:pt idx="277">
                  <c:v>-0.5113393664</c:v>
                </c:pt>
                <c:pt idx="278">
                  <c:v>-0.5132765174</c:v>
                </c:pt>
                <c:pt idx="279">
                  <c:v>-0.5159530044</c:v>
                </c:pt>
                <c:pt idx="280">
                  <c:v>-0.5178659558</c:v>
                </c:pt>
                <c:pt idx="281">
                  <c:v>-0.5193910003</c:v>
                </c:pt>
                <c:pt idx="282">
                  <c:v>-0.520903945</c:v>
                </c:pt>
                <c:pt idx="283">
                  <c:v>-0.5231562257</c:v>
                </c:pt>
                <c:pt idx="284">
                  <c:v>-0.5242692232</c:v>
                </c:pt>
                <c:pt idx="285">
                  <c:v>-0.5257461071</c:v>
                </c:pt>
                <c:pt idx="286">
                  <c:v>-0.527962625</c:v>
                </c:pt>
                <c:pt idx="287">
                  <c:v>-0.53016752</c:v>
                </c:pt>
                <c:pt idx="288">
                  <c:v>-0.5319852829</c:v>
                </c:pt>
                <c:pt idx="289">
                  <c:v>-0.5330404639</c:v>
                </c:pt>
                <c:pt idx="290">
                  <c:v>-0.5352118611</c:v>
                </c:pt>
                <c:pt idx="291">
                  <c:v>-0.5366211534</c:v>
                </c:pt>
                <c:pt idx="292">
                  <c:v>-0.5372686386</c:v>
                </c:pt>
                <c:pt idx="293">
                  <c:v>-0.5394088626</c:v>
                </c:pt>
                <c:pt idx="294">
                  <c:v>-0.5404120684</c:v>
                </c:pt>
                <c:pt idx="295">
                  <c:v>-0.5417813063</c:v>
                </c:pt>
                <c:pt idx="296">
                  <c:v>-0.5431411862</c:v>
                </c:pt>
                <c:pt idx="297">
                  <c:v>-0.5444917679</c:v>
                </c:pt>
                <c:pt idx="298">
                  <c:v>-0.5462090969</c:v>
                </c:pt>
                <c:pt idx="299">
                  <c:v>-0.5467904806</c:v>
                </c:pt>
                <c:pt idx="300">
                  <c:v>-0.5488661528</c:v>
                </c:pt>
                <c:pt idx="301">
                  <c:v>-0.5498063564</c:v>
                </c:pt>
                <c:pt idx="302">
                  <c:v>-0.5514899492</c:v>
                </c:pt>
                <c:pt idx="303">
                  <c:v>-0.5520385504</c:v>
                </c:pt>
                <c:pt idx="304">
                  <c:v>-0.5540825725</c:v>
                </c:pt>
                <c:pt idx="305">
                  <c:v>-0.5546163917</c:v>
                </c:pt>
                <c:pt idx="306">
                  <c:v>-0.5558946729</c:v>
                </c:pt>
                <c:pt idx="307">
                  <c:v>-0.5571660995</c:v>
                </c:pt>
                <c:pt idx="308">
                  <c:v>-0.5584309697</c:v>
                </c:pt>
                <c:pt idx="309">
                  <c:v>-0.5611923933</c:v>
                </c:pt>
                <c:pt idx="310">
                  <c:v>-0.5616933703</c:v>
                </c:pt>
                <c:pt idx="311">
                  <c:v>-0.5633155704</c:v>
                </c:pt>
                <c:pt idx="312">
                  <c:v>-0.5638048649</c:v>
                </c:pt>
                <c:pt idx="313">
                  <c:v>-0.5646642447</c:v>
                </c:pt>
                <c:pt idx="314">
                  <c:v>-0.5658938289</c:v>
                </c:pt>
                <c:pt idx="315">
                  <c:v>-0.5674936175</c:v>
                </c:pt>
                <c:pt idx="316">
                  <c:v>-0.5679607987</c:v>
                </c:pt>
                <c:pt idx="317">
                  <c:v>-0.5699256063</c:v>
                </c:pt>
                <c:pt idx="318">
                  <c:v>-0.5707578063</c:v>
                </c:pt>
                <c:pt idx="319">
                  <c:v>-0.5719605088</c:v>
                </c:pt>
                <c:pt idx="320">
                  <c:v>-0.5727820992</c:v>
                </c:pt>
                <c:pt idx="321">
                  <c:v>-0.5728469491</c:v>
                </c:pt>
                <c:pt idx="322">
                  <c:v>-0.5744094253</c:v>
                </c:pt>
                <c:pt idx="323">
                  <c:v>-0.5744637251</c:v>
                </c:pt>
                <c:pt idx="324">
                  <c:v>-0.5745127201</c:v>
                </c:pt>
                <c:pt idx="325">
                  <c:v>-0.5753079057</c:v>
                </c:pt>
                <c:pt idx="326">
                  <c:v>-0.5760976672</c:v>
                </c:pt>
                <c:pt idx="327">
                  <c:v>-0.5768820643</c:v>
                </c:pt>
                <c:pt idx="328">
                  <c:v>-0.5776609182</c:v>
                </c:pt>
                <c:pt idx="329">
                  <c:v>-0.5776827335</c:v>
                </c:pt>
                <c:pt idx="330">
                  <c:v>-0.5784503222</c:v>
                </c:pt>
                <c:pt idx="331">
                  <c:v>-0.5792123675</c:v>
                </c:pt>
                <c:pt idx="332">
                  <c:v>-0.580720365</c:v>
                </c:pt>
                <c:pt idx="333">
                  <c:v>-0.5810961127</c:v>
                </c:pt>
                <c:pt idx="334">
                  <c:v>-0.582218647</c:v>
                </c:pt>
                <c:pt idx="335">
                  <c:v>-0.5825853348</c:v>
                </c:pt>
              </c:numCache>
            </c:numRef>
          </c:yVal>
        </c:ser>
        <c:ser>
          <c:idx val="1"/>
          <c:order val="1"/>
          <c:tx>
            <c:v>Baja complejidad</c:v>
          </c:tx>
          <c:spPr>
            <a:ln w="21908">
              <a:solidFill>
                <a:srgbClr val="697681"/>
              </a:solidFill>
              <a:prstDash val="solid"/>
            </a:ln>
          </c:spPr>
          <c:marker>
            <c:symbol val="none"/>
          </c:marker>
          <c:xVal>
            <c:numRef>
              <c:f>'Chart Data'!$C$2:$C$337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Data'!$D$2:$D$337</c:f>
              <c:numCache>
                <c:formatCode>0.0</c:formatCode>
                <c:ptCount val="336"/>
                <c:pt idx="0">
                  <c:v>0.5170249343</c:v>
                </c:pt>
                <c:pt idx="1">
                  <c:v>0.5170534849</c:v>
                </c:pt>
                <c:pt idx="2">
                  <c:v>0.5171000361</c:v>
                </c:pt>
                <c:pt idx="3">
                  <c:v>0.5171663165</c:v>
                </c:pt>
                <c:pt idx="4">
                  <c:v>0.5172530413</c:v>
                </c:pt>
                <c:pt idx="5">
                  <c:v>0.5173601508</c:v>
                </c:pt>
                <c:pt idx="6">
                  <c:v>0.5174871087</c:v>
                </c:pt>
                <c:pt idx="7">
                  <c:v>0.5176336169</c:v>
                </c:pt>
                <c:pt idx="8">
                  <c:v>0.5177991986</c:v>
                </c:pt>
                <c:pt idx="9">
                  <c:v>0.5179835558</c:v>
                </c:pt>
                <c:pt idx="10">
                  <c:v>0.5181863308</c:v>
                </c:pt>
                <c:pt idx="11">
                  <c:v>0.518407166</c:v>
                </c:pt>
                <c:pt idx="12">
                  <c:v>0.5186457634</c:v>
                </c:pt>
                <c:pt idx="13">
                  <c:v>0.5189017653</c:v>
                </c:pt>
                <c:pt idx="14">
                  <c:v>0.5191747546</c:v>
                </c:pt>
                <c:pt idx="15">
                  <c:v>0.5194644928</c:v>
                </c:pt>
                <c:pt idx="16">
                  <c:v>0.5197704434</c:v>
                </c:pt>
                <c:pt idx="17">
                  <c:v>0.5200924277</c:v>
                </c:pt>
                <c:pt idx="18">
                  <c:v>0.520430088</c:v>
                </c:pt>
                <c:pt idx="19">
                  <c:v>0.5207830071</c:v>
                </c:pt>
                <c:pt idx="20">
                  <c:v>0.521150887</c:v>
                </c:pt>
                <c:pt idx="21">
                  <c:v>0.52153337</c:v>
                </c:pt>
                <c:pt idx="22">
                  <c:v>0.5219301581</c:v>
                </c:pt>
                <c:pt idx="23">
                  <c:v>0.5223407745</c:v>
                </c:pt>
                <c:pt idx="24">
                  <c:v>0.5227649808</c:v>
                </c:pt>
                <c:pt idx="25">
                  <c:v>0.5232024193</c:v>
                </c:pt>
                <c:pt idx="26">
                  <c:v>0.5236526132</c:v>
                </c:pt>
                <c:pt idx="27">
                  <c:v>0.524115324</c:v>
                </c:pt>
                <c:pt idx="28">
                  <c:v>0.5245901346</c:v>
                </c:pt>
                <c:pt idx="29">
                  <c:v>0.5250766277</c:v>
                </c:pt>
                <c:pt idx="30">
                  <c:v>0.5255745053</c:v>
                </c:pt>
                <c:pt idx="31">
                  <c:v>0.5260834694</c:v>
                </c:pt>
                <c:pt idx="32">
                  <c:v>0.5266031027</c:v>
                </c:pt>
                <c:pt idx="33">
                  <c:v>0.5271331668</c:v>
                </c:pt>
                <c:pt idx="34">
                  <c:v>0.5276733041</c:v>
                </c:pt>
                <c:pt idx="35">
                  <c:v>0.5282230973</c:v>
                </c:pt>
                <c:pt idx="36">
                  <c:v>0.5287823677</c:v>
                </c:pt>
                <c:pt idx="37">
                  <c:v>0.5293506384</c:v>
                </c:pt>
                <c:pt idx="38">
                  <c:v>0.5299277306</c:v>
                </c:pt>
                <c:pt idx="39">
                  <c:v>0.5305133462</c:v>
                </c:pt>
                <c:pt idx="40">
                  <c:v>0.5311073065</c:v>
                </c:pt>
                <c:pt idx="41">
                  <c:v>0.5317094922</c:v>
                </c:pt>
                <c:pt idx="42">
                  <c:v>0.5323197246</c:v>
                </c:pt>
                <c:pt idx="43">
                  <c:v>0.5329379439</c:v>
                </c:pt>
                <c:pt idx="44">
                  <c:v>0.5335642695</c:v>
                </c:pt>
                <c:pt idx="45">
                  <c:v>0.534198761</c:v>
                </c:pt>
                <c:pt idx="46">
                  <c:v>0.5348415971</c:v>
                </c:pt>
                <c:pt idx="47">
                  <c:v>0.5354931355</c:v>
                </c:pt>
                <c:pt idx="48">
                  <c:v>0.5361534357</c:v>
                </c:pt>
                <c:pt idx="49">
                  <c:v>0.5368227959</c:v>
                </c:pt>
                <c:pt idx="50">
                  <c:v>0.537501514</c:v>
                </c:pt>
                <c:pt idx="51">
                  <c:v>0.5381897092</c:v>
                </c:pt>
                <c:pt idx="52">
                  <c:v>0.5388876796</c:v>
                </c:pt>
                <c:pt idx="53">
                  <c:v>0.5395954847</c:v>
                </c:pt>
                <c:pt idx="54">
                  <c:v>0.5403134227</c:v>
                </c:pt>
                <c:pt idx="55">
                  <c:v>0.541041553</c:v>
                </c:pt>
                <c:pt idx="56">
                  <c:v>0.5417800546</c:v>
                </c:pt>
                <c:pt idx="57">
                  <c:v>0.5425291657</c:v>
                </c:pt>
                <c:pt idx="58">
                  <c:v>0.5432890654</c:v>
                </c:pt>
                <c:pt idx="59">
                  <c:v>0.5440599918</c:v>
                </c:pt>
                <c:pt idx="60">
                  <c:v>0.5448422432</c:v>
                </c:pt>
                <c:pt idx="61">
                  <c:v>0.5456361175</c:v>
                </c:pt>
                <c:pt idx="62">
                  <c:v>0.5464420915</c:v>
                </c:pt>
                <c:pt idx="63">
                  <c:v>0.5472604632</c:v>
                </c:pt>
                <c:pt idx="64">
                  <c:v>0.5480917692</c:v>
                </c:pt>
                <c:pt idx="65">
                  <c:v>0.5489364266</c:v>
                </c:pt>
                <c:pt idx="66">
                  <c:v>0.5497949123</c:v>
                </c:pt>
                <c:pt idx="67">
                  <c:v>0.5506677032</c:v>
                </c:pt>
                <c:pt idx="68">
                  <c:v>0.5515551567</c:v>
                </c:pt>
                <c:pt idx="69">
                  <c:v>0.5524577498</c:v>
                </c:pt>
                <c:pt idx="70">
                  <c:v>0.5533758402</c:v>
                </c:pt>
                <c:pt idx="71">
                  <c:v>0.5543096662</c:v>
                </c:pt>
                <c:pt idx="72">
                  <c:v>0.5552595854</c:v>
                </c:pt>
                <c:pt idx="73">
                  <c:v>0.5562258959</c:v>
                </c:pt>
                <c:pt idx="74">
                  <c:v>0.5572090149</c:v>
                </c:pt>
                <c:pt idx="75">
                  <c:v>0.5582093</c:v>
                </c:pt>
                <c:pt idx="76">
                  <c:v>0.5592271686</c:v>
                </c:pt>
                <c:pt idx="77">
                  <c:v>0.5602629185</c:v>
                </c:pt>
                <c:pt idx="78">
                  <c:v>0.5613167882</c:v>
                </c:pt>
                <c:pt idx="79">
                  <c:v>0.5623888969</c:v>
                </c:pt>
                <c:pt idx="80">
                  <c:v>0.5634793639</c:v>
                </c:pt>
                <c:pt idx="81">
                  <c:v>0.5645883679</c:v>
                </c:pt>
                <c:pt idx="82">
                  <c:v>0.5657159686</c:v>
                </c:pt>
                <c:pt idx="83">
                  <c:v>0.5668623447</c:v>
                </c:pt>
                <c:pt idx="84">
                  <c:v>0.5680274963</c:v>
                </c:pt>
                <c:pt idx="85">
                  <c:v>0.5692116022</c:v>
                </c:pt>
                <c:pt idx="86">
                  <c:v>0.5704144835</c:v>
                </c:pt>
                <c:pt idx="87">
                  <c:v>0.5716360807</c:v>
                </c:pt>
                <c:pt idx="88">
                  <c:v>0.5728763342</c:v>
                </c:pt>
                <c:pt idx="89">
                  <c:v>0.5741350651</c:v>
                </c:pt>
                <c:pt idx="90">
                  <c:v>0.575412035</c:v>
                </c:pt>
                <c:pt idx="91">
                  <c:v>0.5767071247</c:v>
                </c:pt>
                <c:pt idx="92">
                  <c:v>0.5780200958</c:v>
                </c:pt>
                <c:pt idx="93">
                  <c:v>0.5793507099</c:v>
                </c:pt>
                <c:pt idx="94">
                  <c:v>0.5806985497</c:v>
                </c:pt>
                <c:pt idx="95">
                  <c:v>0.5820629597</c:v>
                </c:pt>
                <c:pt idx="96">
                  <c:v>0.5834431052</c:v>
                </c:pt>
                <c:pt idx="97">
                  <c:v>0.5848382711</c:v>
                </c:pt>
                <c:pt idx="98">
                  <c:v>0.586247623</c:v>
                </c:pt>
                <c:pt idx="99">
                  <c:v>0.5876702666</c:v>
                </c:pt>
                <c:pt idx="100">
                  <c:v>0.5891053677</c:v>
                </c:pt>
                <c:pt idx="101">
                  <c:v>0.5905519724</c:v>
                </c:pt>
                <c:pt idx="102">
                  <c:v>0.5920092463</c:v>
                </c:pt>
                <c:pt idx="103">
                  <c:v>0.5934762359</c:v>
                </c:pt>
                <c:pt idx="104">
                  <c:v>0.5949520469</c:v>
                </c:pt>
                <c:pt idx="105">
                  <c:v>0.5964356065</c:v>
                </c:pt>
                <c:pt idx="106">
                  <c:v>0.5979260802</c:v>
                </c:pt>
                <c:pt idx="107">
                  <c:v>0.5994223356</c:v>
                </c:pt>
                <c:pt idx="108">
                  <c:v>0.6009232998</c:v>
                </c:pt>
                <c:pt idx="109">
                  <c:v>0.6024279594</c:v>
                </c:pt>
                <c:pt idx="110">
                  <c:v>0.6039352417</c:v>
                </c:pt>
                <c:pt idx="111">
                  <c:v>0.6054441333</c:v>
                </c:pt>
                <c:pt idx="112">
                  <c:v>0.6069535017</c:v>
                </c:pt>
                <c:pt idx="113">
                  <c:v>0.6084622741</c:v>
                </c:pt>
                <c:pt idx="114">
                  <c:v>0.6099693775</c:v>
                </c:pt>
                <c:pt idx="115">
                  <c:v>0.6114737391</c:v>
                </c:pt>
                <c:pt idx="116">
                  <c:v>0.6129742265</c:v>
                </c:pt>
                <c:pt idx="117">
                  <c:v>0.6144699454</c:v>
                </c:pt>
                <c:pt idx="118">
                  <c:v>0.6159597039</c:v>
                </c:pt>
                <c:pt idx="119">
                  <c:v>0.6174426675</c:v>
                </c:pt>
                <c:pt idx="120">
                  <c:v>0.6189178824</c:v>
                </c:pt>
                <c:pt idx="121">
                  <c:v>0.6203845739</c:v>
                </c:pt>
                <c:pt idx="122">
                  <c:v>0.6218417883</c:v>
                </c:pt>
                <c:pt idx="123">
                  <c:v>0.6232888699</c:v>
                </c:pt>
                <c:pt idx="124">
                  <c:v>0.6247249246</c:v>
                </c:pt>
                <c:pt idx="125">
                  <c:v>0.6261492968</c:v>
                </c:pt>
                <c:pt idx="126">
                  <c:v>0.627561152</c:v>
                </c:pt>
                <c:pt idx="127">
                  <c:v>0.6289598346</c:v>
                </c:pt>
                <c:pt idx="128">
                  <c:v>0.6303446293</c:v>
                </c:pt>
                <c:pt idx="129">
                  <c:v>0.6317147613</c:v>
                </c:pt>
                <c:pt idx="130">
                  <c:v>0.633069694</c:v>
                </c:pt>
                <c:pt idx="131">
                  <c:v>0.6344088316</c:v>
                </c:pt>
                <c:pt idx="132">
                  <c:v>0.6357316971</c:v>
                </c:pt>
                <c:pt idx="133">
                  <c:v>0.6370379925</c:v>
                </c:pt>
                <c:pt idx="134">
                  <c:v>0.6383273005</c:v>
                </c:pt>
                <c:pt idx="135">
                  <c:v>0.6395992041</c:v>
                </c:pt>
                <c:pt idx="136">
                  <c:v>0.6408533454</c:v>
                </c:pt>
                <c:pt idx="137">
                  <c:v>0.6420894861</c:v>
                </c:pt>
                <c:pt idx="138">
                  <c:v>0.643307209</c:v>
                </c:pt>
                <c:pt idx="139">
                  <c:v>0.6445061564</c:v>
                </c:pt>
                <c:pt idx="140">
                  <c:v>0.6456859708</c:v>
                </c:pt>
                <c:pt idx="141">
                  <c:v>0.6468461752</c:v>
                </c:pt>
                <c:pt idx="142">
                  <c:v>0.647986412</c:v>
                </c:pt>
                <c:pt idx="143">
                  <c:v>0.6491062045</c:v>
                </c:pt>
                <c:pt idx="144">
                  <c:v>0.650205195</c:v>
                </c:pt>
                <c:pt idx="145">
                  <c:v>0.6512832046</c:v>
                </c:pt>
                <c:pt idx="146">
                  <c:v>0.6523404121</c:v>
                </c:pt>
                <c:pt idx="147">
                  <c:v>0.6533772945</c:v>
                </c:pt>
                <c:pt idx="148">
                  <c:v>0.6543944478</c:v>
                </c:pt>
                <c:pt idx="149">
                  <c:v>0.6553925276</c:v>
                </c:pt>
                <c:pt idx="150">
                  <c:v>0.6563722491</c:v>
                </c:pt>
                <c:pt idx="151">
                  <c:v>0.6573343277</c:v>
                </c:pt>
                <c:pt idx="152">
                  <c:v>0.6582796574</c:v>
                </c:pt>
                <c:pt idx="153">
                  <c:v>0.6592091918</c:v>
                </c:pt>
                <c:pt idx="154">
                  <c:v>0.6601238251</c:v>
                </c:pt>
                <c:pt idx="155">
                  <c:v>0.6610245705</c:v>
                </c:pt>
                <c:pt idx="156">
                  <c:v>0.6619124413</c:v>
                </c:pt>
                <c:pt idx="157">
                  <c:v>0.6627883911</c:v>
                </c:pt>
                <c:pt idx="158">
                  <c:v>0.6636535525</c:v>
                </c:pt>
                <c:pt idx="159">
                  <c:v>0.6645089388</c:v>
                </c:pt>
                <c:pt idx="160">
                  <c:v>0.6653556824</c:v>
                </c:pt>
                <c:pt idx="161">
                  <c:v>0.6661947966</c:v>
                </c:pt>
                <c:pt idx="162">
                  <c:v>0.6670272946</c:v>
                </c:pt>
                <c:pt idx="163">
                  <c:v>0.6678541303</c:v>
                </c:pt>
                <c:pt idx="164">
                  <c:v>0.6686764956</c:v>
                </c:pt>
                <c:pt idx="165">
                  <c:v>0.6694951653</c:v>
                </c:pt>
                <c:pt idx="166">
                  <c:v>0.6703112125</c:v>
                </c:pt>
                <c:pt idx="167">
                  <c:v>0.6711255312</c:v>
                </c:pt>
                <c:pt idx="168">
                  <c:v>0.6719391942</c:v>
                </c:pt>
                <c:pt idx="169">
                  <c:v>0.6727530956</c:v>
                </c:pt>
                <c:pt idx="170">
                  <c:v>0.673568368</c:v>
                </c:pt>
                <c:pt idx="171">
                  <c:v>0.6743858457</c:v>
                </c:pt>
                <c:pt idx="172">
                  <c:v>0.6752063036</c:v>
                </c:pt>
                <c:pt idx="173">
                  <c:v>0.6760299206</c:v>
                </c:pt>
                <c:pt idx="174">
                  <c:v>0.6768569946</c:v>
                </c:pt>
                <c:pt idx="175">
                  <c:v>0.677687645</c:v>
                </c:pt>
                <c:pt idx="176">
                  <c:v>0.6785220504</c:v>
                </c:pt>
                <c:pt idx="177">
                  <c:v>0.6793603897</c:v>
                </c:pt>
                <c:pt idx="178">
                  <c:v>0.680202961</c:v>
                </c:pt>
                <c:pt idx="179">
                  <c:v>0.6810498238</c:v>
                </c:pt>
                <c:pt idx="180">
                  <c:v>0.6819009781</c:v>
                </c:pt>
                <c:pt idx="181">
                  <c:v>0.682756424</c:v>
                </c:pt>
                <c:pt idx="182">
                  <c:v>0.6836161613</c:v>
                </c:pt>
                <c:pt idx="183">
                  <c:v>0.6844800115</c:v>
                </c:pt>
                <c:pt idx="184">
                  <c:v>0.6853477359</c:v>
                </c:pt>
                <c:pt idx="185">
                  <c:v>0.686218977</c:v>
                </c:pt>
                <c:pt idx="186">
                  <c:v>0.6870934367</c:v>
                </c:pt>
                <c:pt idx="187">
                  <c:v>0.6879706979</c:v>
                </c:pt>
                <c:pt idx="188">
                  <c:v>0.6888501644</c:v>
                </c:pt>
                <c:pt idx="189">
                  <c:v>0.6897313595</c:v>
                </c:pt>
                <c:pt idx="190">
                  <c:v>0.6906136274</c:v>
                </c:pt>
                <c:pt idx="191">
                  <c:v>0.6914964318</c:v>
                </c:pt>
                <c:pt idx="192">
                  <c:v>0.6923791766</c:v>
                </c:pt>
                <c:pt idx="193">
                  <c:v>0.6932612062</c:v>
                </c:pt>
                <c:pt idx="194">
                  <c:v>0.694141686</c:v>
                </c:pt>
                <c:pt idx="195">
                  <c:v>0.69502002</c:v>
                </c:pt>
                <c:pt idx="196">
                  <c:v>0.6958954334</c:v>
                </c:pt>
                <c:pt idx="197">
                  <c:v>0.6967671514</c:v>
                </c:pt>
                <c:pt idx="198">
                  <c:v>0.6976345181</c:v>
                </c:pt>
                <c:pt idx="199">
                  <c:v>0.6984969378</c:v>
                </c:pt>
                <c:pt idx="200">
                  <c:v>0.6993542314</c:v>
                </c:pt>
                <c:pt idx="201">
                  <c:v>0.7002063394</c:v>
                </c:pt>
                <c:pt idx="202">
                  <c:v>0.7010532022</c:v>
                </c:pt>
                <c:pt idx="203">
                  <c:v>0.7018947005</c:v>
                </c:pt>
                <c:pt idx="204">
                  <c:v>0.7027306557</c:v>
                </c:pt>
                <c:pt idx="205">
                  <c:v>0.7035608888</c:v>
                </c:pt>
                <c:pt idx="206">
                  <c:v>0.7043853402</c:v>
                </c:pt>
                <c:pt idx="207">
                  <c:v>0.7052043676</c:v>
                </c:pt>
                <c:pt idx="208">
                  <c:v>0.7060180902</c:v>
                </c:pt>
                <c:pt idx="209">
                  <c:v>0.7068269849</c:v>
                </c:pt>
                <c:pt idx="210">
                  <c:v>0.70763129</c:v>
                </c:pt>
                <c:pt idx="211">
                  <c:v>0.7084314823</c:v>
                </c:pt>
                <c:pt idx="212">
                  <c:v>0.7092279792</c:v>
                </c:pt>
                <c:pt idx="213">
                  <c:v>0.7100210786</c:v>
                </c:pt>
                <c:pt idx="214">
                  <c:v>0.710811317</c:v>
                </c:pt>
                <c:pt idx="215">
                  <c:v>0.711599052</c:v>
                </c:pt>
                <c:pt idx="216">
                  <c:v>0.7123847008</c:v>
                </c:pt>
                <c:pt idx="217">
                  <c:v>0.7131686211</c:v>
                </c:pt>
                <c:pt idx="218">
                  <c:v>0.713950932</c:v>
                </c:pt>
                <c:pt idx="219">
                  <c:v>0.7147319913</c:v>
                </c:pt>
                <c:pt idx="220">
                  <c:v>0.7155118585</c:v>
                </c:pt>
                <c:pt idx="221">
                  <c:v>0.716290772</c:v>
                </c:pt>
                <c:pt idx="222">
                  <c:v>0.7170687318</c:v>
                </c:pt>
                <c:pt idx="223">
                  <c:v>0.7178459167</c:v>
                </c:pt>
                <c:pt idx="224">
                  <c:v>0.7186222672</c:v>
                </c:pt>
                <c:pt idx="225">
                  <c:v>0.7193979025</c:v>
                </c:pt>
                <c:pt idx="226">
                  <c:v>0.7201727033</c:v>
                </c:pt>
                <c:pt idx="227">
                  <c:v>0.72094661</c:v>
                </c:pt>
                <c:pt idx="228">
                  <c:v>0.721719563</c:v>
                </c:pt>
                <c:pt idx="229">
                  <c:v>0.7224915028</c:v>
                </c:pt>
                <c:pt idx="230">
                  <c:v>0.7232624292</c:v>
                </c:pt>
                <c:pt idx="231">
                  <c:v>0.7240322828</c:v>
                </c:pt>
                <c:pt idx="232">
                  <c:v>0.7248010039</c:v>
                </c:pt>
                <c:pt idx="233">
                  <c:v>0.7255687118</c:v>
                </c:pt>
                <c:pt idx="234">
                  <c:v>0.7263351083</c:v>
                </c:pt>
                <c:pt idx="235">
                  <c:v>0.7271001339</c:v>
                </c:pt>
                <c:pt idx="236">
                  <c:v>0.7278635502</c:v>
                </c:pt>
                <c:pt idx="237">
                  <c:v>0.7286251187</c:v>
                </c:pt>
                <c:pt idx="238">
                  <c:v>0.7293845415</c:v>
                </c:pt>
                <c:pt idx="239">
                  <c:v>0.7301414609</c:v>
                </c:pt>
                <c:pt idx="240">
                  <c:v>0.7308955789</c:v>
                </c:pt>
                <c:pt idx="241">
                  <c:v>0.7316464186</c:v>
                </c:pt>
                <c:pt idx="242">
                  <c:v>0.7323935032</c:v>
                </c:pt>
                <c:pt idx="243">
                  <c:v>0.7331364155</c:v>
                </c:pt>
                <c:pt idx="244">
                  <c:v>0.7338747978</c:v>
                </c:pt>
                <c:pt idx="245">
                  <c:v>0.7346083522</c:v>
                </c:pt>
                <c:pt idx="246">
                  <c:v>0.7353368402</c:v>
                </c:pt>
                <c:pt idx="247">
                  <c:v>0.7360601425</c:v>
                </c:pt>
                <c:pt idx="248">
                  <c:v>0.7367780209</c:v>
                </c:pt>
                <c:pt idx="249">
                  <c:v>0.737490356</c:v>
                </c:pt>
                <c:pt idx="250">
                  <c:v>0.7381970286</c:v>
                </c:pt>
                <c:pt idx="251">
                  <c:v>0.7388978004</c:v>
                </c:pt>
                <c:pt idx="252">
                  <c:v>0.7395925522</c:v>
                </c:pt>
                <c:pt idx="253">
                  <c:v>0.7402809858</c:v>
                </c:pt>
                <c:pt idx="254">
                  <c:v>0.7409627438</c:v>
                </c:pt>
                <c:pt idx="255">
                  <c:v>0.7416375279</c:v>
                </c:pt>
                <c:pt idx="256">
                  <c:v>0.7423050404</c:v>
                </c:pt>
                <c:pt idx="257">
                  <c:v>0.7429649234</c:v>
                </c:pt>
                <c:pt idx="258">
                  <c:v>0.7436168194</c:v>
                </c:pt>
                <c:pt idx="259">
                  <c:v>0.7442602515</c:v>
                </c:pt>
                <c:pt idx="260">
                  <c:v>0.7448949218</c:v>
                </c:pt>
                <c:pt idx="261">
                  <c:v>0.7455203533</c:v>
                </c:pt>
                <c:pt idx="262">
                  <c:v>0.7461362481</c:v>
                </c:pt>
                <c:pt idx="263">
                  <c:v>0.7467421889</c:v>
                </c:pt>
                <c:pt idx="264">
                  <c:v>0.7473378778</c:v>
                </c:pt>
                <c:pt idx="265">
                  <c:v>0.7479230762</c:v>
                </c:pt>
                <c:pt idx="266">
                  <c:v>0.7484974265</c:v>
                </c:pt>
                <c:pt idx="267">
                  <c:v>0.7490608096</c:v>
                </c:pt>
                <c:pt idx="268">
                  <c:v>0.749612987</c:v>
                </c:pt>
                <c:pt idx="269">
                  <c:v>0.7501539588</c:v>
                </c:pt>
                <c:pt idx="270">
                  <c:v>0.7506834865</c:v>
                </c:pt>
                <c:pt idx="271">
                  <c:v>0.7512015104</c:v>
                </c:pt>
                <c:pt idx="272">
                  <c:v>0.7517077923</c:v>
                </c:pt>
                <c:pt idx="273">
                  <c:v>0.7522022128</c:v>
                </c:pt>
                <c:pt idx="274">
                  <c:v>0.7526847124</c:v>
                </c:pt>
                <c:pt idx="275">
                  <c:v>0.7531551719</c:v>
                </c:pt>
                <c:pt idx="276">
                  <c:v>0.7536135912</c:v>
                </c:pt>
                <c:pt idx="277">
                  <c:v>0.7540599108</c:v>
                </c:pt>
                <c:pt idx="278">
                  <c:v>0.7544941902</c:v>
                </c:pt>
                <c:pt idx="279">
                  <c:v>0.7549163103</c:v>
                </c:pt>
                <c:pt idx="280">
                  <c:v>0.7553262711</c:v>
                </c:pt>
                <c:pt idx="281">
                  <c:v>0.7557241917</c:v>
                </c:pt>
                <c:pt idx="282">
                  <c:v>0.7561098933</c:v>
                </c:pt>
                <c:pt idx="283">
                  <c:v>0.7564835548</c:v>
                </c:pt>
                <c:pt idx="284">
                  <c:v>0.7568451166</c:v>
                </c:pt>
                <c:pt idx="285">
                  <c:v>0.7571947575</c:v>
                </c:pt>
                <c:pt idx="286">
                  <c:v>0.7575326562</c:v>
                </c:pt>
                <c:pt idx="287">
                  <c:v>0.757858932</c:v>
                </c:pt>
                <c:pt idx="288">
                  <c:v>0.7581738234</c:v>
                </c:pt>
                <c:pt idx="289">
                  <c:v>0.758477509</c:v>
                </c:pt>
                <c:pt idx="290">
                  <c:v>0.758770287</c:v>
                </c:pt>
                <c:pt idx="291">
                  <c:v>0.7590523958</c:v>
                </c:pt>
                <c:pt idx="292">
                  <c:v>0.7593241334</c:v>
                </c:pt>
                <c:pt idx="293">
                  <c:v>0.7595857382</c:v>
                </c:pt>
                <c:pt idx="294">
                  <c:v>0.7598374486</c:v>
                </c:pt>
                <c:pt idx="295">
                  <c:v>0.7600795031</c:v>
                </c:pt>
                <c:pt idx="296">
                  <c:v>0.7603121996</c:v>
                </c:pt>
                <c:pt idx="297">
                  <c:v>0.7605355978</c:v>
                </c:pt>
                <c:pt idx="298">
                  <c:v>0.7607500553</c:v>
                </c:pt>
                <c:pt idx="299">
                  <c:v>0.7609556317</c:v>
                </c:pt>
                <c:pt idx="300">
                  <c:v>0.7611526847</c:v>
                </c:pt>
                <c:pt idx="301">
                  <c:v>0.7613414526</c:v>
                </c:pt>
                <c:pt idx="302">
                  <c:v>0.7615221143</c:v>
                </c:pt>
                <c:pt idx="303">
                  <c:v>0.7616950274</c:v>
                </c:pt>
                <c:pt idx="304">
                  <c:v>0.7618603706</c:v>
                </c:pt>
                <c:pt idx="305">
                  <c:v>0.7620185018</c:v>
                </c:pt>
                <c:pt idx="306">
                  <c:v>0.7621695399</c:v>
                </c:pt>
                <c:pt idx="307">
                  <c:v>0.7623137832</c:v>
                </c:pt>
                <c:pt idx="308">
                  <c:v>0.7624514699</c:v>
                </c:pt>
                <c:pt idx="309">
                  <c:v>0.7625828385</c:v>
                </c:pt>
                <c:pt idx="310">
                  <c:v>0.7627080679</c:v>
                </c:pt>
                <c:pt idx="311">
                  <c:v>0.7628273964</c:v>
                </c:pt>
                <c:pt idx="312">
                  <c:v>0.7629409432</c:v>
                </c:pt>
                <c:pt idx="313">
                  <c:v>0.7630488873</c:v>
                </c:pt>
                <c:pt idx="314">
                  <c:v>0.7631512284</c:v>
                </c:pt>
                <c:pt idx="315">
                  <c:v>0.763248086</c:v>
                </c:pt>
                <c:pt idx="316">
                  <c:v>0.7633395791</c:v>
                </c:pt>
                <c:pt idx="317">
                  <c:v>0.7634257078</c:v>
                </c:pt>
                <c:pt idx="318">
                  <c:v>0.7635064721</c:v>
                </c:pt>
                <c:pt idx="319">
                  <c:v>0.7635819912</c:v>
                </c:pt>
                <c:pt idx="320">
                  <c:v>0.7636521459</c:v>
                </c:pt>
                <c:pt idx="321">
                  <c:v>0.7637169957</c:v>
                </c:pt>
                <c:pt idx="322">
                  <c:v>0.7637765408</c:v>
                </c:pt>
                <c:pt idx="323">
                  <c:v>0.7638308406</c:v>
                </c:pt>
                <c:pt idx="324">
                  <c:v>0.7638798356</c:v>
                </c:pt>
                <c:pt idx="325">
                  <c:v>0.7639235258</c:v>
                </c:pt>
                <c:pt idx="326">
                  <c:v>0.7639619112</c:v>
                </c:pt>
                <c:pt idx="327">
                  <c:v>0.763994813</c:v>
                </c:pt>
                <c:pt idx="328">
                  <c:v>0.7640222311</c:v>
                </c:pt>
                <c:pt idx="329">
                  <c:v>0.7640440464</c:v>
                </c:pt>
                <c:pt idx="330">
                  <c:v>0.7640601993</c:v>
                </c:pt>
                <c:pt idx="331">
                  <c:v>0.7640707493</c:v>
                </c:pt>
                <c:pt idx="332">
                  <c:v>0.7640758157</c:v>
                </c:pt>
                <c:pt idx="333">
                  <c:v>0.7640758753</c:v>
                </c:pt>
                <c:pt idx="334">
                  <c:v>0.7640712261</c:v>
                </c:pt>
                <c:pt idx="335">
                  <c:v>0.7640621662</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Componentes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legend>
      <c:legendPos val="b"/>
      <c:overlay val="0"/>
      <c:txPr>
        <a:bodyPr anchorCtr="1"/>
        <a:lstStyle/>
        <a:p>
          <a:pPr>
            <a:defRPr sz="1650">
              <a:solidFill>
                <a:srgbClr val="242C33"/>
              </a:solidFill>
              <a:latin typeface="Helvetica Neue"/>
              <a:ea typeface="Helvetica Neue"/>
              <a:cs typeface="Helvetica Neue"/>
            </a:defRPr>
          </a:pPr>
        </a:p>
      </c:txPr>
    </c:legend>
    <c:plotVisOnly val="1"/>
  </c:chart>
  <c:spPr>
    <a:solidFill>
      <a:srgbClr val="FFFFFF"/>
    </a:solidFill>
    <a:l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0.00</c:formatCode>
                <c:ptCount val="20"/>
                <c:pt idx="0">
                  <c:v>0.4543403115</c:v>
                </c:pt>
                <c:pt idx="1">
                  <c:v>0.4086203716</c:v>
                </c:pt>
                <c:pt idx="2">
                  <c:v>0.3977067604</c:v>
                </c:pt>
                <c:pt idx="3">
                  <c:v>0.3904987351</c:v>
                </c:pt>
                <c:pt idx="4">
                  <c:v>0.3859228356</c:v>
                </c:pt>
                <c:pt idx="5">
                  <c:v>0.3803223738</c:v>
                </c:pt>
                <c:pt idx="6">
                  <c:v>0.3777067817</c:v>
                </c:pt>
                <c:pt idx="7">
                  <c:v>0.372412981</c:v>
                </c:pt>
                <c:pt idx="8">
                  <c:v>0.3701943089</c:v>
                </c:pt>
                <c:pt idx="9">
                  <c:v>0.3651318729</c:v>
                </c:pt>
                <c:pt idx="10">
                  <c:v>0.3609924156</c:v>
                </c:pt>
                <c:pt idx="11">
                  <c:v>0.3578091695</c:v>
                </c:pt>
                <c:pt idx="12">
                  <c:v>0.3545382808</c:v>
                </c:pt>
                <c:pt idx="13">
                  <c:v>0.3485748396</c:v>
                </c:pt>
                <c:pt idx="14">
                  <c:v>0.3444824215</c:v>
                </c:pt>
                <c:pt idx="15">
                  <c:v>0.3401333168</c:v>
                </c:pt>
                <c:pt idx="16">
                  <c:v>0.3362670536</c:v>
                </c:pt>
                <c:pt idx="17">
                  <c:v>0.3304385486</c:v>
                </c:pt>
                <c:pt idx="18">
                  <c:v>0.3251891718</c:v>
                </c:pt>
                <c:pt idx="19">
                  <c:v>0.3215722725</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0.00</c:formatCode>
                <c:ptCount val="20"/>
                <c:pt idx="0">
                  <c:v>0.4800317551</c:v>
                </c:pt>
                <c:pt idx="1">
                  <c:v>0.4432140333</c:v>
                </c:pt>
                <c:pt idx="2">
                  <c:v>0.4326726082</c:v>
                </c:pt>
                <c:pt idx="3">
                  <c:v>0.4269713481</c:v>
                </c:pt>
                <c:pt idx="4">
                  <c:v>0.4202306811</c:v>
                </c:pt>
                <c:pt idx="5">
                  <c:v>0.4136764498</c:v>
                </c:pt>
                <c:pt idx="6">
                  <c:v>0.4097784059</c:v>
                </c:pt>
                <c:pt idx="7">
                  <c:v>0.4022333961</c:v>
                </c:pt>
                <c:pt idx="8">
                  <c:v>0.4007058797</c:v>
                </c:pt>
                <c:pt idx="9">
                  <c:v>0.3971430779</c:v>
                </c:pt>
                <c:pt idx="10">
                  <c:v>0.3939040781</c:v>
                </c:pt>
                <c:pt idx="11">
                  <c:v>0.3874224836</c:v>
                </c:pt>
                <c:pt idx="12">
                  <c:v>0.3836990736</c:v>
                </c:pt>
                <c:pt idx="13">
                  <c:v>0.3775705702</c:v>
                </c:pt>
                <c:pt idx="14">
                  <c:v>0.3723169706</c:v>
                </c:pt>
                <c:pt idx="15">
                  <c:v>0.37277265</c:v>
                </c:pt>
                <c:pt idx="16">
                  <c:v>0.3656034653</c:v>
                </c:pt>
                <c:pt idx="17">
                  <c:v>0.3577179543</c:v>
                </c:pt>
                <c:pt idx="18">
                  <c:v>0.3515963079</c:v>
                </c:pt>
                <c:pt idx="19">
                  <c:v>0.3522255458</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0.3"/>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MSE normalizado</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Época</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0.000</c:formatCode>
                <c:ptCount val="20"/>
                <c:pt idx="0">
                  <c:v>0.1077059515</c:v>
                </c:pt>
                <c:pt idx="1">
                  <c:v>0.1064897597</c:v>
                </c:pt>
                <c:pt idx="2">
                  <c:v>0.1044919738</c:v>
                </c:pt>
                <c:pt idx="3">
                  <c:v>0.1038984243</c:v>
                </c:pt>
                <c:pt idx="4">
                  <c:v>0.1031391072</c:v>
                </c:pt>
                <c:pt idx="5">
                  <c:v>0.1031681413</c:v>
                </c:pt>
                <c:pt idx="6">
                  <c:v>0.1026050642</c:v>
                </c:pt>
                <c:pt idx="7">
                  <c:v>0.1023678481</c:v>
                </c:pt>
                <c:pt idx="8">
                  <c:v>0.1029633738</c:v>
                </c:pt>
                <c:pt idx="9">
                  <c:v>0.102283062</c:v>
                </c:pt>
                <c:pt idx="10">
                  <c:v>0.1027317068</c:v>
                </c:pt>
                <c:pt idx="11">
                  <c:v>0.1031232473</c:v>
                </c:pt>
                <c:pt idx="12">
                  <c:v>0.1028641233</c:v>
                </c:pt>
                <c:pt idx="13">
                  <c:v>0.1023421829</c:v>
                </c:pt>
                <c:pt idx="14">
                  <c:v>0.1024326325</c:v>
                </c:pt>
                <c:pt idx="15">
                  <c:v>0.1034709919</c:v>
                </c:pt>
                <c:pt idx="16">
                  <c:v>0.1047892471</c:v>
                </c:pt>
                <c:pt idx="17">
                  <c:v>0.1045882732</c:v>
                </c:pt>
                <c:pt idx="18">
                  <c:v>0.1053612001</c:v>
                </c:pt>
                <c:pt idx="19">
                  <c:v>0.1066446567</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0.000</c:formatCode>
                <c:ptCount val="20"/>
                <c:pt idx="0">
                  <c:v>0.1133780709</c:v>
                </c:pt>
                <c:pt idx="1">
                  <c:v>0.1124066461</c:v>
                </c:pt>
                <c:pt idx="2">
                  <c:v>0.1103576179</c:v>
                </c:pt>
                <c:pt idx="3">
                  <c:v>0.1087785963</c:v>
                </c:pt>
                <c:pt idx="4">
                  <c:v>0.1097241943</c:v>
                </c:pt>
                <c:pt idx="5">
                  <c:v>0.1079381548</c:v>
                </c:pt>
                <c:pt idx="6">
                  <c:v>0.1079868606</c:v>
                </c:pt>
                <c:pt idx="7">
                  <c:v>0.1079010421</c:v>
                </c:pt>
                <c:pt idx="8">
                  <c:v>0.1089255579</c:v>
                </c:pt>
                <c:pt idx="9">
                  <c:v>0.1056661151</c:v>
                </c:pt>
                <c:pt idx="10">
                  <c:v>0.1078284105</c:v>
                </c:pt>
                <c:pt idx="11">
                  <c:v>0.1062339726</c:v>
                </c:pt>
                <c:pt idx="12">
                  <c:v>0.1067604606</c:v>
                </c:pt>
                <c:pt idx="13">
                  <c:v>0.1086974561</c:v>
                </c:pt>
                <c:pt idx="14">
                  <c:v>0.1072935185</c:v>
                </c:pt>
                <c:pt idx="15">
                  <c:v>0.1076597529</c:v>
                </c:pt>
                <c:pt idx="16">
                  <c:v>0.1073361844</c:v>
                </c:pt>
                <c:pt idx="17">
                  <c:v>0.1089585124</c:v>
                </c:pt>
                <c:pt idx="18">
                  <c:v>0.1077135531</c:v>
                </c:pt>
                <c:pt idx="19">
                  <c:v>0.1079396847</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115"/>
          <c:min val="0.1"/>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RMSE (mm/h)</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05"/>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Época</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Data'!$B$2:$B$49</c:f>
              <c:numCache>
                <c:formatCode>0.000</c:formatCode>
                <c:ptCount val="48"/>
                <c:pt idx="0">
                  <c:v>0.03270539668</c:v>
                </c:pt>
                <c:pt idx="1">
                  <c:v>0.04480947079</c:v>
                </c:pt>
                <c:pt idx="2">
                  <c:v>0.05296073717</c:v>
                </c:pt>
                <c:pt idx="3">
                  <c:v>0.05941315373</c:v>
                </c:pt>
                <c:pt idx="4">
                  <c:v>0.06197837077</c:v>
                </c:pt>
                <c:pt idx="5">
                  <c:v>0.06333737563</c:v>
                </c:pt>
                <c:pt idx="6">
                  <c:v>0.06386187067</c:v>
                </c:pt>
                <c:pt idx="7">
                  <c:v>0.0637551909</c:v>
                </c:pt>
                <c:pt idx="8">
                  <c:v>0.06333618036</c:v>
                </c:pt>
                <c:pt idx="9">
                  <c:v>0.06560454874</c:v>
                </c:pt>
                <c:pt idx="10">
                  <c:v>0.07054181123</c:v>
                </c:pt>
                <c:pt idx="11">
                  <c:v>0.0746522644</c:v>
                </c:pt>
                <c:pt idx="12">
                  <c:v>0.07802518451</c:v>
                </c:pt>
                <c:pt idx="13">
                  <c:v>0.08025236331</c:v>
                </c:pt>
                <c:pt idx="14">
                  <c:v>0.08302942299</c:v>
                </c:pt>
                <c:pt idx="15">
                  <c:v>0.08538970172</c:v>
                </c:pt>
                <c:pt idx="16">
                  <c:v>0.08817889611</c:v>
                </c:pt>
                <c:pt idx="17">
                  <c:v>0.09116999389</c:v>
                </c:pt>
                <c:pt idx="18">
                  <c:v>0.0961041639</c:v>
                </c:pt>
                <c:pt idx="19">
                  <c:v>0.1124298731</c:v>
                </c:pt>
                <c:pt idx="20">
                  <c:v>0.1322524023</c:v>
                </c:pt>
                <c:pt idx="21">
                  <c:v>0.142800816</c:v>
                </c:pt>
                <c:pt idx="22">
                  <c:v>0.1259789928</c:v>
                </c:pt>
                <c:pt idx="23">
                  <c:v>0.1096931989</c:v>
                </c:pt>
                <c:pt idx="24">
                  <c:v>0.1028126282</c:v>
                </c:pt>
                <c:pt idx="25">
                  <c:v>0.1018049136</c:v>
                </c:pt>
                <c:pt idx="26">
                  <c:v>0.1055082023</c:v>
                </c:pt>
                <c:pt idx="27">
                  <c:v>0.1127080109</c:v>
                </c:pt>
                <c:pt idx="28">
                  <c:v>0.1122350499</c:v>
                </c:pt>
                <c:pt idx="29">
                  <c:v>0.1131979365</c:v>
                </c:pt>
                <c:pt idx="30">
                  <c:v>0.1103754287</c:v>
                </c:pt>
                <c:pt idx="31">
                  <c:v>0.1101759057</c:v>
                </c:pt>
                <c:pt idx="32">
                  <c:v>0.1152520532</c:v>
                </c:pt>
                <c:pt idx="33">
                  <c:v>0.1188196435</c:v>
                </c:pt>
                <c:pt idx="34">
                  <c:v>0.1189083245</c:v>
                </c:pt>
                <c:pt idx="35">
                  <c:v>0.1187857974</c:v>
                </c:pt>
                <c:pt idx="36">
                  <c:v>0.1196778493</c:v>
                </c:pt>
                <c:pt idx="37">
                  <c:v>0.1208216404</c:v>
                </c:pt>
                <c:pt idx="38">
                  <c:v>0.1215579955</c:v>
                </c:pt>
                <c:pt idx="39">
                  <c:v>0.1213643704</c:v>
                </c:pt>
                <c:pt idx="40">
                  <c:v>0.1210762615</c:v>
                </c:pt>
                <c:pt idx="41">
                  <c:v>0.1215738423</c:v>
                </c:pt>
                <c:pt idx="42">
                  <c:v>0.1237463998</c:v>
                </c:pt>
                <c:pt idx="43">
                  <c:v>0.1237248165</c:v>
                </c:pt>
                <c:pt idx="44">
                  <c:v>0.1222581391</c:v>
                </c:pt>
                <c:pt idx="45">
                  <c:v>0.1221808988</c:v>
                </c:pt>
                <c:pt idx="46">
                  <c:v>0.1208372513</c:v>
                </c:pt>
                <c:pt idx="47">
                  <c:v>0.1196457737</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Data'!$D$2:$D$49</c:f>
              <c:numCache>
                <c:formatCode>0.000</c:formatCode>
                <c:ptCount val="48"/>
                <c:pt idx="0">
                  <c:v>0.03366723689</c:v>
                </c:pt>
                <c:pt idx="1">
                  <c:v>0.04729804254</c:v>
                </c:pt>
                <c:pt idx="2">
                  <c:v>0.05668535518</c:v>
                </c:pt>
                <c:pt idx="3">
                  <c:v>0.06327552801</c:v>
                </c:pt>
                <c:pt idx="4">
                  <c:v>0.0662691357</c:v>
                </c:pt>
                <c:pt idx="5">
                  <c:v>0.06786811459</c:v>
                </c:pt>
                <c:pt idx="6">
                  <c:v>0.06927839133</c:v>
                </c:pt>
                <c:pt idx="7">
                  <c:v>0.06977847674</c:v>
                </c:pt>
                <c:pt idx="8">
                  <c:v>0.06983413154</c:v>
                </c:pt>
                <c:pt idx="9">
                  <c:v>0.07206904681</c:v>
                </c:pt>
                <c:pt idx="10">
                  <c:v>0.07657600957</c:v>
                </c:pt>
                <c:pt idx="11">
                  <c:v>0.07909605843</c:v>
                </c:pt>
                <c:pt idx="12">
                  <c:v>0.08199287326</c:v>
                </c:pt>
                <c:pt idx="13">
                  <c:v>0.08412479441</c:v>
                </c:pt>
                <c:pt idx="14">
                  <c:v>0.08633891926</c:v>
                </c:pt>
                <c:pt idx="15">
                  <c:v>0.08851656581</c:v>
                </c:pt>
                <c:pt idx="16">
                  <c:v>0.09086338223</c:v>
                </c:pt>
                <c:pt idx="17">
                  <c:v>0.09418817876</c:v>
                </c:pt>
                <c:pt idx="18">
                  <c:v>0.09899552339</c:v>
                </c:pt>
                <c:pt idx="19">
                  <c:v>0.1149390976</c:v>
                </c:pt>
                <c:pt idx="20">
                  <c:v>0.1346927512</c:v>
                </c:pt>
                <c:pt idx="21">
                  <c:v>0.1451566301</c:v>
                </c:pt>
                <c:pt idx="22">
                  <c:v>0.1286448511</c:v>
                </c:pt>
                <c:pt idx="23">
                  <c:v>0.1125737002</c:v>
                </c:pt>
                <c:pt idx="24">
                  <c:v>0.1058815334</c:v>
                </c:pt>
                <c:pt idx="25">
                  <c:v>0.1048849878</c:v>
                </c:pt>
                <c:pt idx="26">
                  <c:v>0.1085032918</c:v>
                </c:pt>
                <c:pt idx="27">
                  <c:v>0.1152508121</c:v>
                </c:pt>
                <c:pt idx="28">
                  <c:v>0.1152719489</c:v>
                </c:pt>
                <c:pt idx="29">
                  <c:v>0.1160798728</c:v>
                </c:pt>
                <c:pt idx="30">
                  <c:v>0.1135464614</c:v>
                </c:pt>
                <c:pt idx="31">
                  <c:v>0.1136209033</c:v>
                </c:pt>
                <c:pt idx="32">
                  <c:v>0.1185640376</c:v>
                </c:pt>
                <c:pt idx="33">
                  <c:v>0.1222535863</c:v>
                </c:pt>
                <c:pt idx="34">
                  <c:v>0.1223722881</c:v>
                </c:pt>
                <c:pt idx="35">
                  <c:v>0.1227515136</c:v>
                </c:pt>
                <c:pt idx="36">
                  <c:v>0.1235853811</c:v>
                </c:pt>
                <c:pt idx="37">
                  <c:v>0.1246242147</c:v>
                </c:pt>
                <c:pt idx="38">
                  <c:v>0.1252897279</c:v>
                </c:pt>
                <c:pt idx="39">
                  <c:v>0.1250971383</c:v>
                </c:pt>
                <c:pt idx="40">
                  <c:v>0.1247799559</c:v>
                </c:pt>
                <c:pt idx="41">
                  <c:v>0.1253065875</c:v>
                </c:pt>
                <c:pt idx="42">
                  <c:v>0.1271831851</c:v>
                </c:pt>
                <c:pt idx="43">
                  <c:v>0.1271312293</c:v>
                </c:pt>
                <c:pt idx="44">
                  <c:v>0.125650978</c:v>
                </c:pt>
                <c:pt idx="45">
                  <c:v>0.1256624755</c:v>
                </c:pt>
                <c:pt idx="46">
                  <c:v>0.1243894724</c:v>
                </c:pt>
                <c:pt idx="47">
                  <c:v>0.1230311382</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0.16"/>
          <c:min val="0"/>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RMSE (mm/h)</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04"/>
      </c:valAx>
      <c:valAx>
        <c:axId val="48650112"/>
        <c:scaling>
          <c:orientation val="minMax"/>
          <c:max val="48"/>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Horizonte (horas)</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1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LSTM</c:v>
          </c:tx>
          <c:spPr>
            <a:ln xmlns:a="http://schemas.openxmlformats.org/drawingml/2006/main" w="26670">
              <a:solidFill>
                <a:srgbClr val="064B6B"/>
              </a:solidFill>
              <a:prstDash val="solid"/>
            </a:ln>
          </c:spPr>
          <c:marker>
            <c:symbol val="none"/>
          </c:marker>
          <c:xVal>
            <c:numRef>
              <c:f>'Chart Data'!$A$2:$A$49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Data'!$B$2:$B$49</c:f>
              <c:numCache>
                <c:formatCode>0.00</c:formatCode>
                <c:ptCount val="48"/>
                <c:pt idx="0">
                  <c:v>0.968538625</c:v>
                </c:pt>
                <c:pt idx="1">
                  <c:v>0.9433284422</c:v>
                </c:pt>
                <c:pt idx="2">
                  <c:v>0.9227993892</c:v>
                </c:pt>
                <c:pt idx="3">
                  <c:v>0.9039396465</c:v>
                </c:pt>
                <c:pt idx="4">
                  <c:v>0.8943707466</c:v>
                </c:pt>
                <c:pt idx="5">
                  <c:v>0.8857554587</c:v>
                </c:pt>
                <c:pt idx="6">
                  <c:v>0.8792475288</c:v>
                </c:pt>
                <c:pt idx="7">
                  <c:v>0.8734796717</c:v>
                </c:pt>
                <c:pt idx="8">
                  <c:v>0.8690325351</c:v>
                </c:pt>
                <c:pt idx="9">
                  <c:v>0.854189835</c:v>
                </c:pt>
                <c:pt idx="10">
                  <c:v>0.8302074852</c:v>
                </c:pt>
                <c:pt idx="11">
                  <c:v>0.8079299609</c:v>
                </c:pt>
                <c:pt idx="12">
                  <c:v>0.7865064514</c:v>
                </c:pt>
                <c:pt idx="13">
                  <c:v>0.7693030117</c:v>
                </c:pt>
                <c:pt idx="14">
                  <c:v>0.7493837572</c:v>
                </c:pt>
                <c:pt idx="15">
                  <c:v>0.7327192779</c:v>
                </c:pt>
                <c:pt idx="16">
                  <c:v>0.713576069</c:v>
                </c:pt>
                <c:pt idx="17">
                  <c:v>0.6939672854</c:v>
                </c:pt>
                <c:pt idx="18">
                  <c:v>0.6642096578</c:v>
                </c:pt>
                <c:pt idx="19">
                  <c:v>0.5840720625</c:v>
                </c:pt>
                <c:pt idx="20">
                  <c:v>0.4976277404</c:v>
                </c:pt>
                <c:pt idx="21">
                  <c:v>0.4512656832</c:v>
                </c:pt>
                <c:pt idx="22">
                  <c:v>0.5049610112</c:v>
                </c:pt>
                <c:pt idx="23">
                  <c:v>0.5660353508</c:v>
                </c:pt>
                <c:pt idx="24">
                  <c:v>0.5917460205</c:v>
                </c:pt>
                <c:pt idx="25">
                  <c:v>0.5915350243</c:v>
                </c:pt>
                <c:pt idx="26">
                  <c:v>0.5697704853</c:v>
                </c:pt>
                <c:pt idx="27">
                  <c:v>0.5326840824</c:v>
                </c:pt>
                <c:pt idx="28">
                  <c:v>0.5326853276</c:v>
                </c:pt>
                <c:pt idx="29">
                  <c:v>0.5253298711</c:v>
                </c:pt>
                <c:pt idx="30">
                  <c:v>0.5354723363</c:v>
                </c:pt>
                <c:pt idx="31">
                  <c:v>0.5349902373</c:v>
                </c:pt>
                <c:pt idx="32">
                  <c:v>0.5100366295</c:v>
                </c:pt>
                <c:pt idx="33">
                  <c:v>0.4950969891</c:v>
                </c:pt>
                <c:pt idx="34">
                  <c:v>0.4935111789</c:v>
                </c:pt>
                <c:pt idx="35">
                  <c:v>0.4932607005</c:v>
                </c:pt>
                <c:pt idx="36">
                  <c:v>0.4879980674</c:v>
                </c:pt>
                <c:pt idx="37">
                  <c:v>0.4806798691</c:v>
                </c:pt>
                <c:pt idx="38">
                  <c:v>0.4753761003</c:v>
                </c:pt>
                <c:pt idx="39">
                  <c:v>0.4748497367</c:v>
                </c:pt>
                <c:pt idx="40">
                  <c:v>0.4752202862</c:v>
                </c:pt>
                <c:pt idx="41">
                  <c:v>0.4745381186</c:v>
                </c:pt>
                <c:pt idx="42">
                  <c:v>0.467177215</c:v>
                </c:pt>
                <c:pt idx="43">
                  <c:v>0.4687353689</c:v>
                </c:pt>
                <c:pt idx="44">
                  <c:v>0.4748558437</c:v>
                </c:pt>
                <c:pt idx="45">
                  <c:v>0.4749069953</c:v>
                </c:pt>
                <c:pt idx="46">
                  <c:v>0.4784776083</c:v>
                </c:pt>
                <c:pt idx="47">
                  <c:v>0.4798022995</c:v>
                </c:pt>
              </c:numCache>
            </c:numRef>
          </c:yVal>
        </c:ser>
        <c:ser>
          <c:idx val="1"/>
          <c:order val="1"/>
          <c:tx>
            <c:v>DMEL</c:v>
          </c:tx>
          <c:spPr>
            <a:ln xmlns:a="http://schemas.openxmlformats.org/drawingml/2006/main" w="26670">
              <a:solidFill>
                <a:srgbClr val="AA5834"/>
              </a:solidFill>
              <a:prstDash val="solid"/>
            </a:ln>
          </c:spPr>
          <c:marker>
            <c:symbol val="none"/>
          </c:marker>
          <c:xVal>
            <c:numRef>
              <c:f>'Chart Data'!$C$2:$C$49</c:f>
              <c:numCache>
                <c:formatCode>General</c:formatCode>
                <c:ptCount val="4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numCache>
            </c:numRef>
          </c:xVal>
          <c:yVal>
            <c:numRef>
              <c:f>'Chart Data'!$D$2:$D$49</c:f>
              <c:numCache>
                <c:formatCode>0.00</c:formatCode>
                <c:ptCount val="48"/>
                <c:pt idx="0">
                  <c:v>0.966660905</c:v>
                </c:pt>
                <c:pt idx="1">
                  <c:v>0.9368589418</c:v>
                </c:pt>
                <c:pt idx="2">
                  <c:v>0.9115588384</c:v>
                </c:pt>
                <c:pt idx="3">
                  <c:v>0.8910441572</c:v>
                </c:pt>
                <c:pt idx="4">
                  <c:v>0.8792390526</c:v>
                </c:pt>
                <c:pt idx="5">
                  <c:v>0.868826261</c:v>
                </c:pt>
                <c:pt idx="6">
                  <c:v>0.8578953318</c:v>
                </c:pt>
                <c:pt idx="7">
                  <c:v>0.8484443337</c:v>
                </c:pt>
                <c:pt idx="8">
                  <c:v>0.8407809028</c:v>
                </c:pt>
                <c:pt idx="9">
                  <c:v>0.8240385823</c:v>
                </c:pt>
                <c:pt idx="10">
                  <c:v>0.7999167237</c:v>
                </c:pt>
                <c:pt idx="11">
                  <c:v>0.784382832</c:v>
                </c:pt>
                <c:pt idx="12">
                  <c:v>0.7642415007</c:v>
                </c:pt>
                <c:pt idx="13">
                  <c:v>0.7465021411</c:v>
                </c:pt>
                <c:pt idx="14">
                  <c:v>0.7290068011</c:v>
                </c:pt>
                <c:pt idx="15">
                  <c:v>0.7127859009</c:v>
                </c:pt>
                <c:pt idx="16">
                  <c:v>0.6958710358</c:v>
                </c:pt>
                <c:pt idx="17">
                  <c:v>0.6733694502</c:v>
                </c:pt>
                <c:pt idx="18">
                  <c:v>0.6437007536</c:v>
                </c:pt>
                <c:pt idx="19">
                  <c:v>0.5652994219</c:v>
                </c:pt>
                <c:pt idx="20">
                  <c:v>0.4789169356</c:v>
                </c:pt>
                <c:pt idx="21">
                  <c:v>0.4330111777</c:v>
                </c:pt>
                <c:pt idx="22">
                  <c:v>0.4837881641</c:v>
                </c:pt>
                <c:pt idx="23">
                  <c:v>0.5429446127</c:v>
                </c:pt>
                <c:pt idx="24">
                  <c:v>0.567009918</c:v>
                </c:pt>
                <c:pt idx="25">
                  <c:v>0.5664451913</c:v>
                </c:pt>
                <c:pt idx="26">
                  <c:v>0.5449977096</c:v>
                </c:pt>
                <c:pt idx="27">
                  <c:v>0.5113600265</c:v>
                </c:pt>
                <c:pt idx="28">
                  <c:v>0.5070536215</c:v>
                </c:pt>
                <c:pt idx="29">
                  <c:v>0.5008526968</c:v>
                </c:pt>
                <c:pt idx="30">
                  <c:v>0.5083976118</c:v>
                </c:pt>
                <c:pt idx="31">
                  <c:v>0.5054556016</c:v>
                </c:pt>
                <c:pt idx="32">
                  <c:v>0.481471977</c:v>
                </c:pt>
                <c:pt idx="33">
                  <c:v>0.4654914133</c:v>
                </c:pt>
                <c:pt idx="34">
                  <c:v>0.4635719169</c:v>
                </c:pt>
                <c:pt idx="35">
                  <c:v>0.4588604649</c:v>
                </c:pt>
                <c:pt idx="36">
                  <c:v>0.4540180937</c:v>
                </c:pt>
                <c:pt idx="37">
                  <c:v>0.4474767328</c:v>
                </c:pt>
                <c:pt idx="38">
                  <c:v>0.4426706122</c:v>
                </c:pt>
                <c:pt idx="39">
                  <c:v>0.4420491772</c:v>
                </c:pt>
                <c:pt idx="40">
                  <c:v>0.4426234553</c:v>
                </c:pt>
                <c:pt idx="41">
                  <c:v>0.4417757006</c:v>
                </c:pt>
                <c:pt idx="42">
                  <c:v>0.4371702612</c:v>
                </c:pt>
                <c:pt idx="43">
                  <c:v>0.4390789222</c:v>
                </c:pt>
                <c:pt idx="44">
                  <c:v>0.4453043993</c:v>
                </c:pt>
                <c:pt idx="45">
                  <c:v>0.4445553052</c:v>
                </c:pt>
                <c:pt idx="46">
                  <c:v>0.4473648102</c:v>
                </c:pt>
                <c:pt idx="47">
                  <c:v>0.4499479513</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EE4E8"/>
              </a:solidFill>
              <a:prstDash val="solid"/>
            </a:ln>
          </c:spPr>
        </c:majorGridlines>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NSE</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50112"/>
        <c:majorUnit val="0.25"/>
      </c:valAx>
      <c:valAx>
        <c:axId val="48650112"/>
        <c:scaling>
          <c:orientation val="minMax"/>
          <c:max val="48"/>
          <c:min val="0"/>
        </c:scaling>
        <c:delete val="0"/>
        <c:axPos val="b"/>
        <c:title>
          <c:tx>
            <c:rich>
              <a:bodyPr xmlns:a="http://schemas.openxmlformats.org/drawingml/2006/main"/>
              <a:lstStyle xmlns:a="http://schemas.openxmlformats.org/drawingml/2006/main"/>
              <a:p xmlns:a="http://schemas.openxmlformats.org/drawingml/2006/main">
                <a:r>
                  <a:rPr sz="1500">
                    <a:latin typeface="Helvetica Neue"/>
                    <a:ea typeface="Helvetica Neue"/>
                    <a:cs typeface="Helvetica Neue"/>
                  </a:rPr>
                  <a:t>Horizonte (horas)</a:t>
                </a:r>
              </a:p>
            </c:rich>
          </c:tx>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D6267"/>
                </a:solidFill>
                <a:latin typeface="Helvetica Neue"/>
                <a:ea typeface="Helvetica Neue"/>
                <a:cs typeface="Helvetica Neue"/>
              </a:defRPr>
            </a:pPr>
          </a:p>
        </c:txPr>
        <c:crossAx val="48672768"/>
        <c:majorUnit val="1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42C33"/>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5E2D36D9-E22B-4CA9-9D30-BE0797CD3FA9}"/>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01</a:t>
            </a:r>
          </a:p>
        </p:txBody>
      </p:sp>
      <p:sp>
        <p:nvSpPr>
          <p:cNvPr id="2" name="DMEL">
            <a:extLst xmlns:a="http://schemas.openxmlformats.org/drawingml/2006/main">
              <a:ext uri="{FF2B5EF4-FFF2-40B4-BE49-F238E27FC236}">
                <a16:creationId xmlns:a16="http://schemas.microsoft.com/office/drawing/2014/main" id="{C458442D-710E-42F4-A208-EC13ED33BDA8}"/>
              </a:ext>
            </a:extLst>
          </p:cNvPr>
          <p:cNvSpPr>
            <a:spLocks xmlns:a="http://schemas.openxmlformats.org/drawingml/2006/main" noGrp="1"/>
          </p:cNvSpPr>
          <p:nvPr/>
        </p:nvSpPr>
        <p:spPr>
          <a:xfrm xmlns:a="http://schemas.openxmlformats.org/drawingml/2006/main">
            <a:off x="685800" y="20764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8400" b="1">
                <a:solidFill>
                  <a:srgbClr val="FFFFFF"/>
                </a:solidFill>
                <a:latin typeface="Helvetica Neue"/>
                <a:ea typeface="Helvetica Neue"/>
                <a:cs typeface="Helvetica Neue"/>
              </a:defRPr>
            </a:pPr>
            <a:r>
              <a:rPr sz="5400" b="1">
                <a:solidFill>
                  <a:srgbClr val="064B6B"/>
                </a:solidFill>
                <a:latin typeface="Helvetica Neue"/>
                <a:ea typeface="Helvetica Neue"/>
                <a:cs typeface="Helvetica Neue"/>
              </a:rPr>
              <a:t>DMEL</a:t>
            </a:r>
          </a:p>
        </p:txBody>
      </p:sp>
      <p:sp>
        <p:nvSpPr>
          <p:cNvPr id="3" name="Pronóstico de caudal&#10;con dos ramas de aprendizaje">
            <a:extLst xmlns:a="http://schemas.openxmlformats.org/drawingml/2006/main">
              <a:ext uri="{FF2B5EF4-FFF2-40B4-BE49-F238E27FC236}">
                <a16:creationId xmlns:a16="http://schemas.microsoft.com/office/drawing/2014/main" id="{DCD490E8-654B-4E00-9ECD-21C9B005E215}"/>
              </a:ext>
            </a:extLst>
          </p:cNvPr>
          <p:cNvSpPr>
            <a:spLocks xmlns:a="http://schemas.openxmlformats.org/drawingml/2006/main" noGrp="1"/>
          </p:cNvSpPr>
          <p:nvPr/>
        </p:nvSpPr>
        <p:spPr>
          <a:xfrm xmlns:a="http://schemas.openxmlformats.org/drawingml/2006/main">
            <a:off x="685800" y="308610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Pronóstico de caudal</a:t>
            </a:r>
          </a:p>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con dos ramas de aprendizaje</a:t>
            </a:r>
          </a:p>
        </p:txBody>
      </p:sp>
      <p:sp>
        <p:nvSpPr>
          <p:cNvPr id="4" name="Aplicación al dataset Rainfall–Runoff">
            <a:extLst xmlns:a="http://schemas.openxmlformats.org/drawingml/2006/main">
              <a:ext uri="{FF2B5EF4-FFF2-40B4-BE49-F238E27FC236}">
                <a16:creationId xmlns:a16="http://schemas.microsoft.com/office/drawing/2014/main" id="{6C3D4B8E-1300-43F2-BBC5-252C66B4DEBD}"/>
              </a:ext>
            </a:extLst>
          </p:cNvPr>
          <p:cNvSpPr>
            <a:spLocks xmlns:a="http://schemas.openxmlformats.org/drawingml/2006/main" noGrp="1"/>
          </p:cNvSpPr>
          <p:nvPr/>
        </p:nvSpPr>
        <p:spPr>
          <a:xfrm xmlns:a="http://schemas.openxmlformats.org/drawingml/2006/main">
            <a:off x="704850" y="45720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0">
                <a:solidFill>
                  <a:srgbClr val="007FA3"/>
                </a:solidFill>
                <a:latin typeface="Helvetica Neue"/>
                <a:ea typeface="Helvetica Neue"/>
                <a:cs typeface="Helvetica Neue"/>
              </a:defRPr>
            </a:pPr>
            <a:r>
              <a:rPr sz="2175" b="0">
                <a:solidFill>
                  <a:srgbClr val="007FA3"/>
                </a:solidFill>
                <a:latin typeface="Helvetica Neue"/>
                <a:ea typeface="Helvetica Neue"/>
                <a:cs typeface="Helvetica Neue"/>
              </a:rPr>
              <a:t>Aplicación al dataset Rainfall–Runoff</a:t>
            </a:r>
          </a:p>
        </p:txBody>
      </p:sp>
      <p:sp>
        <p:nvSpPr>
          <p:cNvPr id="5" name="Laboratorio 2 · Deep Learning · UTEC">
            <a:extLst xmlns:a="http://schemas.openxmlformats.org/drawingml/2006/main">
              <a:ext uri="{FF2B5EF4-FFF2-40B4-BE49-F238E27FC236}">
                <a16:creationId xmlns:a16="http://schemas.microsoft.com/office/drawing/2014/main" id="{0C73385D-F74E-480F-B09D-F258FBCC7FBA}"/>
              </a:ext>
            </a:extLst>
          </p:cNvPr>
          <p:cNvSpPr>
            <a:spLocks xmlns:a="http://schemas.openxmlformats.org/drawingml/2006/main" noGrp="1"/>
          </p:cNvSpPr>
          <p:nvPr/>
        </p:nvSpPr>
        <p:spPr>
          <a:xfrm xmlns:a="http://schemas.openxmlformats.org/drawingml/2006/main">
            <a:off x="704850" y="54483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Laboratorio 2   Deep Learning   UTEC</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c1a500f10e74469"/>
          <a:stretch xmlns:a="http://schemas.openxmlformats.org/drawingml/2006/main"/>
        </p:blipFill>
        <p:spPr>
          <a:xfrm xmlns:a="http://schemas.openxmlformats.org/drawingml/2006/main">
            <a:off x="685952" y="571500"/>
            <a:ext cx="2323796" cy="858949"/>
          </a:xfrm>
          <a:prstGeom xmlns:a="http://schemas.openxmlformats.org/drawingml/2006/main" prst="rect">
            <a:avLst/>
          </a:prstGeom>
        </p:spPr>
      </p:pic>
    </p:spTree>
    <p:extLst>
      <p:ext uri="{BB962C8B-B14F-4D97-AF65-F5344CB8AC3E}">
        <p14:creationId xmlns:p14="http://schemas.microsoft.com/office/powerpoint/2010/main" val="20809849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l problema que aborda DMEL">
            <a:extLst xmlns:a="http://schemas.openxmlformats.org/drawingml/2006/main">
              <a:ext uri="{FF2B5EF4-FFF2-40B4-BE49-F238E27FC236}">
                <a16:creationId xmlns:a16="http://schemas.microsoft.com/office/drawing/2014/main" id="{6472F103-7650-4EF7-B3F6-367E831DE87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El problema que aborda DMEL</a:t>
            </a:r>
          </a:p>
        </p:txBody>
      </p:sp>
      <p:sp>
        <p:nvSpPr>
          <p:cNvPr id="2" name="Wang et al. (2026), secciones 2–3, figura 5 y tabla 6">
            <a:extLst xmlns:a="http://schemas.openxmlformats.org/drawingml/2006/main">
              <a:ext uri="{FF2B5EF4-FFF2-40B4-BE49-F238E27FC236}">
                <a16:creationId xmlns:a16="http://schemas.microsoft.com/office/drawing/2014/main" id="{853D25FC-7A4B-47BA-9E6F-88BCC1DC19F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2–3, figura 5 y tabla 6</a:t>
            </a:r>
          </a:p>
        </p:txBody>
      </p:sp>
      <p:sp>
        <p:nvSpPr>
          <p:cNvPr id="3" name="02">
            <a:extLst xmlns:a="http://schemas.openxmlformats.org/drawingml/2006/main">
              <a:ext uri="{FF2B5EF4-FFF2-40B4-BE49-F238E27FC236}">
                <a16:creationId xmlns:a16="http://schemas.microsoft.com/office/drawing/2014/main" id="{CE6FE671-9AA4-4C17-987F-E39F18895C9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02</a:t>
            </a:r>
          </a:p>
        </p:txBody>
      </p:sp>
      <p:sp>
        <p:nvSpPr>
          <p:cNvPr id="4" name="Patrones de distinta complejidad">
            <a:extLst xmlns:a="http://schemas.openxmlformats.org/drawingml/2006/main">
              <a:ext uri="{FF2B5EF4-FFF2-40B4-BE49-F238E27FC236}">
                <a16:creationId xmlns:a16="http://schemas.microsoft.com/office/drawing/2014/main" id="{B6A52482-D431-4115-8E42-DEF50762F2FE}"/>
              </a:ext>
            </a:extLst>
          </p:cNvPr>
          <p:cNvSpPr>
            <a:spLocks xmlns:a="http://schemas.openxmlformats.org/drawingml/2006/main" noGrp="1"/>
          </p:cNvSpPr>
          <p:nvPr/>
        </p:nvSpPr>
        <p:spPr>
          <a:xfrm xmlns:a="http://schemas.openxmlformats.org/drawingml/2006/main">
            <a:off x="647700" y="165735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Patrones de distinta complejidad</a:t>
            </a:r>
          </a:p>
        </p:txBody>
      </p:sp>
      <p:sp>
        <p:nvSpPr>
          <p:cNvPr id="5" name="Los picos y las variaciones suaves plantean desafíos diferen">
            <a:extLst xmlns:a="http://schemas.openxmlformats.org/drawingml/2006/main">
              <a:ext uri="{FF2B5EF4-FFF2-40B4-BE49-F238E27FC236}">
                <a16:creationId xmlns:a16="http://schemas.microsoft.com/office/drawing/2014/main" id="{D2393071-A147-41EC-AD2E-65637A85E168}"/>
              </a:ext>
            </a:extLst>
          </p:cNvPr>
          <p:cNvSpPr>
            <a:spLocks xmlns:a="http://schemas.openxmlformats.org/drawingml/2006/main" noGrp="1"/>
          </p:cNvSpPr>
          <p:nvPr/>
        </p:nvSpPr>
        <p:spPr>
          <a:xfrm xmlns:a="http://schemas.openxmlformats.org/drawingml/2006/main">
            <a:off x="647700" y="208597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Los picos y las variaciones suaves plantean desafíos diferentes al predictor.</a:t>
            </a:r>
          </a:p>
        </p:txBody>
      </p:sp>
      <p:sp>
        <p:nvSpPr>
          <p:cNvPr id="6" name="Experimento original">
            <a:extLst xmlns:a="http://schemas.openxmlformats.org/drawingml/2006/main">
              <a:ext uri="{FF2B5EF4-FFF2-40B4-BE49-F238E27FC236}">
                <a16:creationId xmlns:a16="http://schemas.microsoft.com/office/drawing/2014/main" id="{E5379656-296A-4F74-BF7C-0AE36D01D687}"/>
              </a:ext>
            </a:extLst>
          </p:cNvPr>
          <p:cNvSpPr>
            <a:spLocks xmlns:a="http://schemas.openxmlformats.org/drawingml/2006/main" noGrp="1"/>
          </p:cNvSpPr>
          <p:nvPr/>
        </p:nvSpPr>
        <p:spPr>
          <a:xfrm xmlns:a="http://schemas.openxmlformats.org/drawingml/2006/main">
            <a:off x="647700" y="3095625"/>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Experimento original</a:t>
            </a:r>
          </a:p>
        </p:txBody>
      </p:sp>
      <p:sp>
        <p:nvSpPr>
          <p:cNvPr id="7" name="Shuangpai y Fenghuang, China. Registros diarios de 2002 a 20">
            <a:extLst xmlns:a="http://schemas.openxmlformats.org/drawingml/2006/main">
              <a:ext uri="{FF2B5EF4-FFF2-40B4-BE49-F238E27FC236}">
                <a16:creationId xmlns:a16="http://schemas.microsoft.com/office/drawing/2014/main" id="{431DC34A-D8EA-4109-BE72-BED21062D860}"/>
              </a:ext>
            </a:extLst>
          </p:cNvPr>
          <p:cNvSpPr>
            <a:spLocks xmlns:a="http://schemas.openxmlformats.org/drawingml/2006/main" noGrp="1"/>
          </p:cNvSpPr>
          <p:nvPr/>
        </p:nvSpPr>
        <p:spPr>
          <a:xfrm xmlns:a="http://schemas.openxmlformats.org/drawingml/2006/main">
            <a:off x="647700" y="3524250"/>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Shuangpai y Fenghuang, China. Registros diarios de 2002 a 2005.</a:t>
            </a:r>
          </a:p>
        </p:txBody>
      </p:sp>
      <p:sp>
        <p:nvSpPr>
          <p:cNvPr id="8" name="Pronóstico de varios pasos">
            <a:extLst xmlns:a="http://schemas.openxmlformats.org/drawingml/2006/main">
              <a:ext uri="{FF2B5EF4-FFF2-40B4-BE49-F238E27FC236}">
                <a16:creationId xmlns:a16="http://schemas.microsoft.com/office/drawing/2014/main" id="{2D1340EE-47FC-47D9-AF68-0A951EA06517}"/>
              </a:ext>
            </a:extLst>
          </p:cNvPr>
          <p:cNvSpPr>
            <a:spLocks xmlns:a="http://schemas.openxmlformats.org/drawingml/2006/main" noGrp="1"/>
          </p:cNvSpPr>
          <p:nvPr/>
        </p:nvSpPr>
        <p:spPr>
          <a:xfrm xmlns:a="http://schemas.openxmlformats.org/drawingml/2006/main">
            <a:off x="647700" y="453390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Pronóstico de varios pasos</a:t>
            </a:r>
          </a:p>
        </p:txBody>
      </p:sp>
      <p:sp>
        <p:nvSpPr>
          <p:cNvPr id="9" name="Historia de 7 días. Horizontes de 1, 3, 5 y 7 días.">
            <a:extLst xmlns:a="http://schemas.openxmlformats.org/drawingml/2006/main">
              <a:ext uri="{FF2B5EF4-FFF2-40B4-BE49-F238E27FC236}">
                <a16:creationId xmlns:a16="http://schemas.microsoft.com/office/drawing/2014/main" id="{C3C8A380-4065-4F8D-A562-50BC1930A2FC}"/>
              </a:ext>
            </a:extLst>
          </p:cNvPr>
          <p:cNvSpPr>
            <a:spLocks xmlns:a="http://schemas.openxmlformats.org/drawingml/2006/main" noGrp="1"/>
          </p:cNvSpPr>
          <p:nvPr/>
        </p:nvSpPr>
        <p:spPr>
          <a:xfrm xmlns:a="http://schemas.openxmlformats.org/drawingml/2006/main">
            <a:off x="647700" y="496252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Historia de 7 días. Horizontes de 1, 3, 5 y 7 días.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309608e6caa4c51"/>
          <a:stretch xmlns:a="http://schemas.openxmlformats.org/drawingml/2006/main"/>
        </p:blipFill>
        <p:spPr>
          <a:xfrm xmlns:a="http://schemas.openxmlformats.org/drawingml/2006/main">
            <a:off x="6896100" y="1569958"/>
            <a:ext cx="4333875" cy="4203859"/>
          </a:xfrm>
          <a:prstGeom xmlns:a="http://schemas.openxmlformats.org/drawingml/2006/main" prst="rect">
            <a:avLst/>
          </a:prstGeom>
        </p:spPr>
      </p:pic>
      <p:sp>
        <p:nvSpPr>
          <p:cNvPr id="11" name="Cuenca del estudio original">
            <a:extLst xmlns:a="http://schemas.openxmlformats.org/drawingml/2006/main">
              <a:ext uri="{FF2B5EF4-FFF2-40B4-BE49-F238E27FC236}">
                <a16:creationId xmlns:a16="http://schemas.microsoft.com/office/drawing/2014/main" id="{B2D5765A-3C89-4BA5-AA81-8F08A8C5FE14}"/>
              </a:ext>
            </a:extLst>
          </p:cNvPr>
          <p:cNvSpPr>
            <a:spLocks xmlns:a="http://schemas.openxmlformats.org/drawingml/2006/main" noGrp="1"/>
          </p:cNvSpPr>
          <p:nvPr/>
        </p:nvSpPr>
        <p:spPr>
          <a:xfrm xmlns:a="http://schemas.openxmlformats.org/drawingml/2006/main">
            <a:off x="6991350" y="59531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Cuenca del estudio original</a:t>
            </a:r>
          </a:p>
        </p:txBody>
      </p:sp>
      <p:sp>
        <p:nvSpPr>
          <p:cNvPr id="12" name="DMEL, Shuangpai a 7 días: NSE 0.8255">
            <a:extLst xmlns:a="http://schemas.openxmlformats.org/drawingml/2006/main">
              <a:ext uri="{FF2B5EF4-FFF2-40B4-BE49-F238E27FC236}">
                <a16:creationId xmlns:a16="http://schemas.microsoft.com/office/drawing/2014/main" id="{38C5D9CB-4DA5-423B-9D3D-2FAB2B166E14}"/>
              </a:ext>
            </a:extLst>
          </p:cNvPr>
          <p:cNvSpPr>
            <a:spLocks xmlns:a="http://schemas.openxmlformats.org/drawingml/2006/main" noGrp="1"/>
          </p:cNvSpPr>
          <p:nvPr/>
        </p:nvSpPr>
        <p:spPr>
          <a:xfrm xmlns:a="http://schemas.openxmlformats.org/drawingml/2006/main">
            <a:off x="695325" y="58864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DMEL, Shuangpai a 7 días: NSE 0.8255</a:t>
            </a:r>
          </a:p>
        </p:txBody>
      </p:sp>
    </p:spTree>
    <p:extLst>
      <p:ext uri="{BB962C8B-B14F-4D97-AF65-F5344CB8AC3E}">
        <p14:creationId xmlns:p14="http://schemas.microsoft.com/office/powerpoint/2010/main" val="1342564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 propuesta central de DMEL">
            <a:extLst xmlns:a="http://schemas.openxmlformats.org/drawingml/2006/main">
              <a:ext uri="{FF2B5EF4-FFF2-40B4-BE49-F238E27FC236}">
                <a16:creationId xmlns:a16="http://schemas.microsoft.com/office/drawing/2014/main" id="{A700939F-301D-4F55-A1D3-6BFE99276B2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La propuesta central de DMEL</a:t>
            </a:r>
          </a:p>
        </p:txBody>
      </p:sp>
      <p:sp>
        <p:nvSpPr>
          <p:cNvPr id="2" name="Wang et al. (2026), fig. 3. Detalle de preprocesamiento y pr">
            <a:extLst xmlns:a="http://schemas.openxmlformats.org/drawingml/2006/main">
              <a:ext uri="{FF2B5EF4-FFF2-40B4-BE49-F238E27FC236}">
                <a16:creationId xmlns:a16="http://schemas.microsoft.com/office/drawing/2014/main" id="{FE53786C-3824-4F85-9AE6-92488EB4EA8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 3. Detalle de preprocesamiento y predicción</a:t>
            </a:r>
          </a:p>
        </p:txBody>
      </p:sp>
      <p:sp>
        <p:nvSpPr>
          <p:cNvPr id="3" name="03">
            <a:extLst xmlns:a="http://schemas.openxmlformats.org/drawingml/2006/main">
              <a:ext uri="{FF2B5EF4-FFF2-40B4-BE49-F238E27FC236}">
                <a16:creationId xmlns:a16="http://schemas.microsoft.com/office/drawing/2014/main" id="{E0589DCC-BCE5-4D8C-9998-96924D85DD0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03</a:t>
            </a:r>
          </a:p>
        </p:txBody>
      </p:sp>
      <p:sp>
        <p:nvSpPr>
          <p:cNvPr id="4" name="1. Separar la señal">
            <a:extLst xmlns:a="http://schemas.openxmlformats.org/drawingml/2006/main">
              <a:ext uri="{FF2B5EF4-FFF2-40B4-BE49-F238E27FC236}">
                <a16:creationId xmlns:a16="http://schemas.microsoft.com/office/drawing/2014/main" id="{A213E681-C6A9-4CD2-ACE4-9B7FA1C733D1}"/>
              </a:ext>
            </a:extLst>
          </p:cNvPr>
          <p:cNvSpPr>
            <a:spLocks xmlns:a="http://schemas.openxmlformats.org/drawingml/2006/main" noGrp="1"/>
          </p:cNvSpPr>
          <p:nvPr/>
        </p:nvSpPr>
        <p:spPr>
          <a:xfrm xmlns:a="http://schemas.openxmlformats.org/drawingml/2006/main">
            <a:off x="647700" y="16573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1. Separar la señal</a:t>
            </a:r>
          </a:p>
        </p:txBody>
      </p:sp>
      <p:sp>
        <p:nvSpPr>
          <p:cNvPr id="5" name="CEEMDAN extrae modos y conserva un residuo.">
            <a:extLst xmlns:a="http://schemas.openxmlformats.org/drawingml/2006/main">
              <a:ext uri="{FF2B5EF4-FFF2-40B4-BE49-F238E27FC236}">
                <a16:creationId xmlns:a16="http://schemas.microsoft.com/office/drawing/2014/main" id="{4C46455E-4ED9-4573-8858-7D894063E065}"/>
              </a:ext>
            </a:extLst>
          </p:cNvPr>
          <p:cNvSpPr>
            <a:spLocks xmlns:a="http://schemas.openxmlformats.org/drawingml/2006/main" noGrp="1"/>
          </p:cNvSpPr>
          <p:nvPr/>
        </p:nvSpPr>
        <p:spPr>
          <a:xfrm xmlns:a="http://schemas.openxmlformats.org/drawingml/2006/main">
            <a:off x="647700" y="20859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extrae modos y conserva un residuo.</a:t>
            </a:r>
          </a:p>
        </p:txBody>
      </p:sp>
      <p:sp>
        <p:nvSpPr>
          <p:cNvPr id="6" name="2. Reconocer los modos">
            <a:extLst xmlns:a="http://schemas.openxmlformats.org/drawingml/2006/main">
              <a:ext uri="{FF2B5EF4-FFF2-40B4-BE49-F238E27FC236}">
                <a16:creationId xmlns:a16="http://schemas.microsoft.com/office/drawing/2014/main" id="{6045E59E-2EA6-4C14-B8EB-C37FDFE9ABA0}"/>
              </a:ext>
            </a:extLst>
          </p:cNvPr>
          <p:cNvSpPr>
            <a:spLocks xmlns:a="http://schemas.openxmlformats.org/drawingml/2006/main" noGrp="1"/>
          </p:cNvSpPr>
          <p:nvPr/>
        </p:nvSpPr>
        <p:spPr>
          <a:xfrm xmlns:a="http://schemas.openxmlformats.org/drawingml/2006/main">
            <a:off x="647700" y="30956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2. Reconocer los modos</a:t>
            </a:r>
          </a:p>
        </p:txBody>
      </p:sp>
      <p:sp>
        <p:nvSpPr>
          <p:cNvPr id="7" name="MRS combina componentes de entropía similar y decide su ruta">
            <a:extLst xmlns:a="http://schemas.openxmlformats.org/drawingml/2006/main">
              <a:ext uri="{FF2B5EF4-FFF2-40B4-BE49-F238E27FC236}">
                <a16:creationId xmlns:a16="http://schemas.microsoft.com/office/drawing/2014/main" id="{ECDD0E80-1962-4615-A750-64C001E0DDE2}"/>
              </a:ext>
            </a:extLst>
          </p:cNvPr>
          <p:cNvSpPr>
            <a:spLocks xmlns:a="http://schemas.openxmlformats.org/drawingml/2006/main" noGrp="1"/>
          </p:cNvSpPr>
          <p:nvPr/>
        </p:nvSpPr>
        <p:spPr>
          <a:xfrm xmlns:a="http://schemas.openxmlformats.org/drawingml/2006/main">
            <a:off x="647700" y="35242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MRS combina componentes de entropía similar y decide su ruta.</a:t>
            </a:r>
          </a:p>
        </p:txBody>
      </p:sp>
      <p:sp>
        <p:nvSpPr>
          <p:cNvPr id="8" name="3. Especializar los predictores">
            <a:extLst xmlns:a="http://schemas.openxmlformats.org/drawingml/2006/main">
              <a:ext uri="{FF2B5EF4-FFF2-40B4-BE49-F238E27FC236}">
                <a16:creationId xmlns:a16="http://schemas.microsoft.com/office/drawing/2014/main" id="{BF6D81E6-70D1-4BEC-B981-BE3FB4696301}"/>
              </a:ext>
            </a:extLst>
          </p:cNvPr>
          <p:cNvSpPr>
            <a:spLocks xmlns:a="http://schemas.openxmlformats.org/drawingml/2006/main" noGrp="1"/>
          </p:cNvSpPr>
          <p:nvPr/>
        </p:nvSpPr>
        <p:spPr>
          <a:xfrm xmlns:a="http://schemas.openxmlformats.org/drawingml/2006/main">
            <a:off x="647700" y="4533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3. Especializar los predictores</a:t>
            </a:r>
          </a:p>
        </p:txBody>
      </p:sp>
      <p:sp>
        <p:nvSpPr>
          <p:cNvPr id="9" name="Informer y LSTM pronostican grupos distintos. El ensamble su">
            <a:extLst xmlns:a="http://schemas.openxmlformats.org/drawingml/2006/main">
              <a:ext uri="{FF2B5EF4-FFF2-40B4-BE49-F238E27FC236}">
                <a16:creationId xmlns:a16="http://schemas.microsoft.com/office/drawing/2014/main" id="{F0F5D232-C201-481F-8579-98826E36146B}"/>
              </a:ext>
            </a:extLst>
          </p:cNvPr>
          <p:cNvSpPr>
            <a:spLocks xmlns:a="http://schemas.openxmlformats.org/drawingml/2006/main" noGrp="1"/>
          </p:cNvSpPr>
          <p:nvPr/>
        </p:nvSpPr>
        <p:spPr>
          <a:xfrm xmlns:a="http://schemas.openxmlformats.org/drawingml/2006/main">
            <a:off x="647700" y="496252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y LSTM pronostican grupos distintos. El ensamble suma sus salidas.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ad0d9cdb8354b8e"/>
          <a:stretch xmlns:a="http://schemas.openxmlformats.org/drawingml/2006/main"/>
        </p:blipFill>
        <p:spPr>
          <a:xfrm xmlns:a="http://schemas.openxmlformats.org/drawingml/2006/main">
            <a:off x="6663659" y="1428750"/>
            <a:ext cx="4703508" cy="4905375"/>
          </a:xfrm>
          <a:prstGeom xmlns:a="http://schemas.openxmlformats.org/drawingml/2006/main" prst="rect">
            <a:avLst/>
          </a:prstGeom>
        </p:spPr>
      </p:pic>
    </p:spTree>
    <p:extLst>
      <p:ext uri="{BB962C8B-B14F-4D97-AF65-F5344CB8AC3E}">
        <p14:creationId xmlns:p14="http://schemas.microsoft.com/office/powerpoint/2010/main" val="1567868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EEMDAN: descomposición de la señal">
            <a:extLst xmlns:a="http://schemas.openxmlformats.org/drawingml/2006/main">
              <a:ext uri="{FF2B5EF4-FFF2-40B4-BE49-F238E27FC236}">
                <a16:creationId xmlns:a16="http://schemas.microsoft.com/office/drawing/2014/main" id="{70DEFAB3-5DE2-42AC-BC32-A6BBC49232C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CEEMDAN: descomposición de la señal</a:t>
            </a:r>
          </a:p>
        </p:txBody>
      </p:sp>
      <p:sp>
        <p:nvSpPr>
          <p:cNvPr id="2" name="Wang et al. (2026), secciones 2.1.1 y 4.1; Torres et al. (20">
            <a:extLst xmlns:a="http://schemas.openxmlformats.org/drawingml/2006/main">
              <a:ext uri="{FF2B5EF4-FFF2-40B4-BE49-F238E27FC236}">
                <a16:creationId xmlns:a16="http://schemas.microsoft.com/office/drawing/2014/main" id="{41E2193B-D47E-4AAF-83CB-1C5D6777AD3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2.1.1 y 4.1; Torres et al. (2011)</a:t>
            </a:r>
          </a:p>
        </p:txBody>
      </p:sp>
      <p:sp>
        <p:nvSpPr>
          <p:cNvPr id="3" name="04">
            <a:extLst xmlns:a="http://schemas.openxmlformats.org/drawingml/2006/main">
              <a:ext uri="{FF2B5EF4-FFF2-40B4-BE49-F238E27FC236}">
                <a16:creationId xmlns:a16="http://schemas.microsoft.com/office/drawing/2014/main" id="{65EB3167-F56B-4608-AE06-F0A13EF07CF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04</a:t>
            </a:r>
          </a:p>
        </p:txBody>
      </p:sp>
      <p:sp>
        <p:nvSpPr>
          <p:cNvPr id="4" name="q(t) = Σ IMFₖ(t) + r(t)">
            <a:extLst xmlns:a="http://schemas.openxmlformats.org/drawingml/2006/main">
              <a:ext uri="{FF2B5EF4-FFF2-40B4-BE49-F238E27FC236}">
                <a16:creationId xmlns:a16="http://schemas.microsoft.com/office/drawing/2014/main" id="{EDCD10B3-DF67-4181-993D-2E1BE873584E}"/>
              </a:ext>
            </a:extLst>
          </p:cNvPr>
          <p:cNvSpPr>
            <a:spLocks xmlns:a="http://schemas.openxmlformats.org/drawingml/2006/main" noGrp="1"/>
          </p:cNvSpPr>
          <p:nvPr/>
        </p:nvSpPr>
        <p:spPr>
          <a:xfrm xmlns:a="http://schemas.openxmlformats.org/drawingml/2006/main">
            <a:off x="704850" y="1714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575" b="1">
                <a:solidFill>
                  <a:srgbClr val="007FA3"/>
                </a:solidFill>
                <a:latin typeface="Helvetica Neue"/>
                <a:ea typeface="Helvetica Neue"/>
                <a:cs typeface="Helvetica Neue"/>
              </a:defRPr>
            </a:pPr>
            <a:r>
              <a:rPr sz="4575" b="1">
                <a:solidFill>
                  <a:srgbClr val="007FA3"/>
                </a:solidFill>
                <a:latin typeface="Helvetica Neue"/>
                <a:ea typeface="Helvetica Neue"/>
                <a:cs typeface="Helvetica Neue"/>
              </a:rPr>
              <a:t>q(t) = Σ IMFₖ(t) + r(t)</a:t>
            </a:r>
          </a:p>
        </p:txBody>
      </p:sp>
      <p:sp>
        <p:nvSpPr>
          <p:cNvPr id="5" name="Modos intrínsecos, IMF">
            <a:extLst xmlns:a="http://schemas.openxmlformats.org/drawingml/2006/main">
              <a:ext uri="{FF2B5EF4-FFF2-40B4-BE49-F238E27FC236}">
                <a16:creationId xmlns:a16="http://schemas.microsoft.com/office/drawing/2014/main" id="{7F0271E1-D97C-43B6-AE29-0E2D971A0D4B}"/>
              </a:ext>
            </a:extLst>
          </p:cNvPr>
          <p:cNvSpPr>
            <a:spLocks xmlns:a="http://schemas.openxmlformats.org/drawingml/2006/main" noGrp="1"/>
          </p:cNvSpPr>
          <p:nvPr/>
        </p:nvSpPr>
        <p:spPr>
          <a:xfrm xmlns:a="http://schemas.openxmlformats.org/drawingml/2006/main">
            <a:off x="714375" y="30956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Modos intrínsecos, IMF</a:t>
            </a:r>
          </a:p>
        </p:txBody>
      </p:sp>
      <p:sp>
        <p:nvSpPr>
          <p:cNvPr id="6" name="Oscilaciones que la descomposición extrae de la propia señal">
            <a:extLst xmlns:a="http://schemas.openxmlformats.org/drawingml/2006/main">
              <a:ext uri="{FF2B5EF4-FFF2-40B4-BE49-F238E27FC236}">
                <a16:creationId xmlns:a16="http://schemas.microsoft.com/office/drawing/2014/main" id="{FA4B113C-F29A-48D1-87F2-5DAC18719783}"/>
              </a:ext>
            </a:extLst>
          </p:cNvPr>
          <p:cNvSpPr>
            <a:spLocks xmlns:a="http://schemas.openxmlformats.org/drawingml/2006/main" noGrp="1"/>
          </p:cNvSpPr>
          <p:nvPr/>
        </p:nvSpPr>
        <p:spPr>
          <a:xfrm xmlns:a="http://schemas.openxmlformats.org/drawingml/2006/main">
            <a:off x="714375" y="35242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Oscilaciones que la descomposición extrae de la propia señal.</a:t>
            </a:r>
          </a:p>
        </p:txBody>
      </p:sp>
      <p:sp>
        <p:nvSpPr>
          <p:cNvPr id="7" name="Ruido adaptativo y promedio">
            <a:extLst xmlns:a="http://schemas.openxmlformats.org/drawingml/2006/main">
              <a:ext uri="{FF2B5EF4-FFF2-40B4-BE49-F238E27FC236}">
                <a16:creationId xmlns:a16="http://schemas.microsoft.com/office/drawing/2014/main" id="{31ECD89D-506C-47D5-8D4E-35D5D59E3652}"/>
              </a:ext>
            </a:extLst>
          </p:cNvPr>
          <p:cNvSpPr>
            <a:spLocks xmlns:a="http://schemas.openxmlformats.org/drawingml/2006/main" noGrp="1"/>
          </p:cNvSpPr>
          <p:nvPr/>
        </p:nvSpPr>
        <p:spPr>
          <a:xfrm xmlns:a="http://schemas.openxmlformats.org/drawingml/2006/main">
            <a:off x="714375" y="43529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Ruido adaptativo y promedio</a:t>
            </a:r>
          </a:p>
        </p:txBody>
      </p:sp>
      <p:sp>
        <p:nvSpPr>
          <p:cNvPr id="8" name="CEEMDAN usa múltiples realizaciones para reducir la mezcla d">
            <a:extLst xmlns:a="http://schemas.openxmlformats.org/drawingml/2006/main">
              <a:ext uri="{FF2B5EF4-FFF2-40B4-BE49-F238E27FC236}">
                <a16:creationId xmlns:a16="http://schemas.microsoft.com/office/drawing/2014/main" id="{4EEAE984-0181-4BBF-845E-228B460C3C80}"/>
              </a:ext>
            </a:extLst>
          </p:cNvPr>
          <p:cNvSpPr>
            <a:spLocks xmlns:a="http://schemas.openxmlformats.org/drawingml/2006/main" noGrp="1"/>
          </p:cNvSpPr>
          <p:nvPr/>
        </p:nvSpPr>
        <p:spPr>
          <a:xfrm xmlns:a="http://schemas.openxmlformats.org/drawingml/2006/main">
            <a:off x="714375" y="47815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usa múltiples realizaciones para reducir la mezcla de modos.</a:t>
            </a:r>
          </a:p>
        </p:txBody>
      </p:sp>
      <p:sp>
        <p:nvSpPr>
          <p:cNvPr id="9" name="Paper: 100 realizaciones y ruido reportado de 0.2. El residu">
            <a:extLst xmlns:a="http://schemas.openxmlformats.org/drawingml/2006/main">
              <a:ext uri="{FF2B5EF4-FFF2-40B4-BE49-F238E27FC236}">
                <a16:creationId xmlns:a16="http://schemas.microsoft.com/office/drawing/2014/main" id="{82B2B79D-9F06-4D26-9D8B-FD6585E3775D}"/>
              </a:ext>
            </a:extLst>
          </p:cNvPr>
          <p:cNvSpPr>
            <a:spLocks xmlns:a="http://schemas.openxmlformats.org/drawingml/2006/main" noGrp="1"/>
          </p:cNvSpPr>
          <p:nvPr/>
        </p:nvSpPr>
        <p:spPr>
          <a:xfrm xmlns:a="http://schemas.openxmlformats.org/drawingml/2006/main">
            <a:off x="714375" y="5762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Paper: 100 realizaciones y ruido reportado de 0.2. El residuo forma parte de la reconstrucción.</a:t>
            </a:r>
          </a:p>
        </p:txBody>
      </p:sp>
    </p:spTree>
    <p:extLst>
      <p:ext uri="{BB962C8B-B14F-4D97-AF65-F5344CB8AC3E}">
        <p14:creationId xmlns:p14="http://schemas.microsoft.com/office/powerpoint/2010/main" val="988470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ntropía muestral y reconocimiento modal">
            <a:extLst xmlns:a="http://schemas.openxmlformats.org/drawingml/2006/main">
              <a:ext uri="{FF2B5EF4-FFF2-40B4-BE49-F238E27FC236}">
                <a16:creationId xmlns:a16="http://schemas.microsoft.com/office/drawing/2014/main" id="{D9C3E026-0B7F-45AC-81AA-58E2EFF298A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Entropía muestral y reconocimiento modal</a:t>
            </a:r>
          </a:p>
        </p:txBody>
      </p:sp>
      <p:sp>
        <p:nvSpPr>
          <p:cNvPr id="2" name="Wang et al. (2026), secciones 2.1.2 y 2.2.1">
            <a:extLst xmlns:a="http://schemas.openxmlformats.org/drawingml/2006/main">
              <a:ext uri="{FF2B5EF4-FFF2-40B4-BE49-F238E27FC236}">
                <a16:creationId xmlns:a16="http://schemas.microsoft.com/office/drawing/2014/main" id="{080B035A-44CD-4EEB-89EB-F7C0CB467E4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2.1.2 y 2.2.1</a:t>
            </a:r>
          </a:p>
        </p:txBody>
      </p:sp>
      <p:sp>
        <p:nvSpPr>
          <p:cNvPr id="3" name="05">
            <a:extLst xmlns:a="http://schemas.openxmlformats.org/drawingml/2006/main">
              <a:ext uri="{FF2B5EF4-FFF2-40B4-BE49-F238E27FC236}">
                <a16:creationId xmlns:a16="http://schemas.microsoft.com/office/drawing/2014/main" id="{AEF02AB9-B37D-46B8-89D3-C02EA9E607F3}"/>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05</a:t>
            </a:r>
          </a:p>
        </p:txBody>
      </p:sp>
      <p:sp>
        <p:nvSpPr>
          <p:cNvPr id="4" name="SampEn = −ln(A / B)">
            <a:extLst xmlns:a="http://schemas.openxmlformats.org/drawingml/2006/main">
              <a:ext uri="{FF2B5EF4-FFF2-40B4-BE49-F238E27FC236}">
                <a16:creationId xmlns:a16="http://schemas.microsoft.com/office/drawing/2014/main" id="{1C38A5BD-511E-40F1-98FA-729EFDB7EF7A}"/>
              </a:ext>
            </a:extLst>
          </p:cNvPr>
          <p:cNvSpPr>
            <a:spLocks xmlns:a="http://schemas.openxmlformats.org/drawingml/2006/main" noGrp="1"/>
          </p:cNvSpPr>
          <p:nvPr/>
        </p:nvSpPr>
        <p:spPr>
          <a:xfrm xmlns:a="http://schemas.openxmlformats.org/drawingml/2006/main">
            <a:off x="685800" y="16764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425" b="1">
                <a:solidFill>
                  <a:srgbClr val="007FA3"/>
                </a:solidFill>
                <a:latin typeface="Helvetica Neue"/>
                <a:ea typeface="Helvetica Neue"/>
                <a:cs typeface="Helvetica Neue"/>
              </a:defRPr>
            </a:pPr>
            <a:r>
              <a:rPr sz="4425" b="1">
                <a:solidFill>
                  <a:srgbClr val="007FA3"/>
                </a:solidFill>
                <a:latin typeface="Helvetica Neue"/>
                <a:ea typeface="Helvetica Neue"/>
                <a:cs typeface="Helvetica Neue"/>
              </a:rPr>
              <a:t>SampEn = −ln(A / B)</a:t>
            </a:r>
          </a:p>
        </p:txBody>
      </p:sp>
      <p:graphicFrame>
        <p:nvGraphicFramePr>
          <p:cNvPr id="13" name=""/>
          <p:cNvGraphicFramePr/>
          <p:nvPr/>
        </p:nvGraphicFramePr>
        <p:xfrm>
          <a:off xmlns:a="http://schemas.openxmlformats.org/drawingml/2006/main" x="609600" y="2847975"/>
          <a:ext xmlns:a="http://schemas.openxmlformats.org/drawingml/2006/main" cx="10972800" cy="2552700"/>
        </p:xfrm>
        <a:graphic xmlns:a="http://schemas.openxmlformats.org/drawingml/2006/main">
          <a:graphicData uri="http://schemas.openxmlformats.org/drawingml/2006/table">
            <a:tbl>
              <a:tblPr firstRow="1" bandRow="0"/>
              <a:tblGrid>
                <a:gridCol w="2952750"/>
                <a:gridCol w="8020050"/>
              </a:tblGrid>
              <a:tr h="638175">
                <a:tc>
                  <a:txBody>
                    <a:bodyPr/>
                    <a:lstStyle/>
                    <a:p>
                      <a:r>
                        <a:rPr sz="1875" b="1">
                          <a:solidFill>
                            <a:srgbClr val="064B6B"/>
                          </a:solidFill>
                          <a:latin typeface="Helvetica Neue"/>
                          <a:ea typeface="Helvetica Neue"/>
                          <a:cs typeface="Helvetica Neue"/>
                        </a:rPr>
                        <a:t>Cantidad</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Interpretación</a:t>
                      </a:r>
                    </a:p>
                  </a:txBody>
                  <a:tcPr marL="142875" marR="142875" marT="114300" marB="114300" anchor="ctr">
                    <a:solidFill>
                      <a:srgbClr val="EAF4F8"/>
                    </a:solidFill>
                  </a:tcPr>
                </a:tc>
              </a:tr>
              <a:tr h="638175">
                <a:tc>
                  <a:txBody>
                    <a:bodyPr/>
                    <a:lstStyle/>
                    <a:p>
                      <a:r>
                        <a:rPr sz="1875" b="0">
                          <a:solidFill>
                            <a:srgbClr val="242C33"/>
                          </a:solidFill>
                          <a:latin typeface="Helvetica Neue"/>
                          <a:ea typeface="Helvetica Neue"/>
                          <a:cs typeface="Helvetica Neue"/>
                        </a:rPr>
                        <a:t>B</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Pares de patrones similares de longitud m</a:t>
                      </a:r>
                    </a:p>
                  </a:txBody>
                  <a:tcPr marL="142875" marR="142875" marT="114300" marB="114300" anchor="ctr">
                    <a:solidFill>
                      <a:srgbClr val="FFFFFF"/>
                    </a:solidFill>
                  </a:tcPr>
                </a:tc>
              </a:tr>
              <a:tr h="638175">
                <a:tc>
                  <a:txBody>
                    <a:bodyPr/>
                    <a:lstStyle/>
                    <a:p>
                      <a:r>
                        <a:rPr sz="1875" b="0">
                          <a:solidFill>
                            <a:srgbClr val="242C33"/>
                          </a:solidFill>
                          <a:latin typeface="Helvetica Neue"/>
                          <a:ea typeface="Helvetica Neue"/>
                          <a:cs typeface="Helvetica Neue"/>
                        </a:rPr>
                        <a:t>A</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Pares que siguen siendo similares con longitud m + 1</a:t>
                      </a:r>
                    </a:p>
                  </a:txBody>
                  <a:tcPr marL="142875" marR="142875" marT="114300" marB="114300" anchor="ctr">
                    <a:solidFill>
                      <a:srgbClr val="F5F7F8"/>
                    </a:solidFill>
                  </a:tcPr>
                </a:tc>
              </a:tr>
              <a:tr h="638175">
                <a:tc>
                  <a:txBody>
                    <a:bodyPr/>
                    <a:lstStyle/>
                    <a:p>
                      <a:r>
                        <a:rPr sz="1875" b="0">
                          <a:solidFill>
                            <a:srgbClr val="242C33"/>
                          </a:solidFill>
                          <a:latin typeface="Helvetica Neue"/>
                          <a:ea typeface="Helvetica Neue"/>
                          <a:cs typeface="Helvetica Neue"/>
                        </a:rPr>
                        <a:t>Entropía mayor</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Menor regularidad en la repetición de patrones</a:t>
                      </a:r>
                    </a:p>
                  </a:txBody>
                  <a:tcPr marL="142875" marR="142875" marT="114300" marB="114300" anchor="ctr">
                    <a:solidFill>
                      <a:srgbClr val="FFFFFF"/>
                    </a:solidFill>
                  </a:tcPr>
                </a:tc>
              </a:tr>
            </a:tbl>
          </a:graphicData>
        </a:graphic>
      </p:graphicFrame>
      <p:sp>
        <p:nvSpPr>
          <p:cNvPr id="6" name="m = 2; tolerancia = 0.2 × desviación estándar de cada señal">
            <a:extLst xmlns:a="http://schemas.openxmlformats.org/drawingml/2006/main">
              <a:ext uri="{FF2B5EF4-FFF2-40B4-BE49-F238E27FC236}">
                <a16:creationId xmlns:a16="http://schemas.microsoft.com/office/drawing/2014/main" id="{6C1DA1A0-A05C-4198-B45A-06B294EB26E6}"/>
              </a:ext>
            </a:extLst>
          </p:cNvPr>
          <p:cNvSpPr>
            <a:spLocks xmlns:a="http://schemas.openxmlformats.org/drawingml/2006/main" noGrp="1"/>
          </p:cNvSpPr>
          <p:nvPr/>
        </p:nvSpPr>
        <p:spPr>
          <a:xfrm xmlns:a="http://schemas.openxmlformats.org/drawingml/2006/main">
            <a:off x="714375" y="5715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m = 2; tolerancia = 0.2 × desviación estándar de cada señal</a:t>
            </a:r>
          </a:p>
        </p:txBody>
      </p:sp>
    </p:spTree>
    <p:extLst>
      <p:ext uri="{BB962C8B-B14F-4D97-AF65-F5344CB8AC3E}">
        <p14:creationId xmlns:p14="http://schemas.microsoft.com/office/powerpoint/2010/main" val="10565477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nformer para componentes más irregulares">
            <a:extLst xmlns:a="http://schemas.openxmlformats.org/drawingml/2006/main">
              <a:ext uri="{FF2B5EF4-FFF2-40B4-BE49-F238E27FC236}">
                <a16:creationId xmlns:a16="http://schemas.microsoft.com/office/drawing/2014/main" id="{92A17D03-F553-4094-9889-58643C22063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Informer para componentes más irregulares</a:t>
            </a:r>
          </a:p>
        </p:txBody>
      </p:sp>
      <p:sp>
        <p:nvSpPr>
          <p:cNvPr id="2" name="Wang et al. (2026), figura 1; Zhou et al. (2021)">
            <a:extLst xmlns:a="http://schemas.openxmlformats.org/drawingml/2006/main">
              <a:ext uri="{FF2B5EF4-FFF2-40B4-BE49-F238E27FC236}">
                <a16:creationId xmlns:a16="http://schemas.microsoft.com/office/drawing/2014/main" id="{633145CD-2492-434A-9CC7-BE0E8D90737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1; Zhou et al. (2021)</a:t>
            </a:r>
          </a:p>
        </p:txBody>
      </p:sp>
      <p:sp>
        <p:nvSpPr>
          <p:cNvPr id="3" name="06">
            <a:extLst xmlns:a="http://schemas.openxmlformats.org/drawingml/2006/main">
              <a:ext uri="{FF2B5EF4-FFF2-40B4-BE49-F238E27FC236}">
                <a16:creationId xmlns:a16="http://schemas.microsoft.com/office/drawing/2014/main" id="{2B6C6FFD-9ABC-40C7-83C5-83B723ACFD7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2740eff00b0468e"/>
          <a:stretch xmlns:a="http://schemas.openxmlformats.org/drawingml/2006/main"/>
        </p:blipFill>
        <p:spPr>
          <a:xfrm xmlns:a="http://schemas.openxmlformats.org/drawingml/2006/main">
            <a:off x="597694" y="1695450"/>
            <a:ext cx="6643688" cy="4429125"/>
          </a:xfrm>
          <a:prstGeom xmlns:a="http://schemas.openxmlformats.org/drawingml/2006/main" prst="rect">
            <a:avLst/>
          </a:prstGeom>
        </p:spPr>
      </p:pic>
      <p:sp>
        <p:nvSpPr>
          <p:cNvPr id="5" name="Atención ProbSparse">
            <a:extLst xmlns:a="http://schemas.openxmlformats.org/drawingml/2006/main">
              <a:ext uri="{FF2B5EF4-FFF2-40B4-BE49-F238E27FC236}">
                <a16:creationId xmlns:a16="http://schemas.microsoft.com/office/drawing/2014/main" id="{D610651F-5744-409C-AEFD-4536CDBB80DF}"/>
              </a:ext>
            </a:extLst>
          </p:cNvPr>
          <p:cNvSpPr>
            <a:spLocks xmlns:a="http://schemas.openxmlformats.org/drawingml/2006/main" noGrp="1"/>
          </p:cNvSpPr>
          <p:nvPr/>
        </p:nvSpPr>
        <p:spPr>
          <a:xfrm xmlns:a="http://schemas.openxmlformats.org/drawingml/2006/main">
            <a:off x="7686675" y="1695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Atención ProbSparse</a:t>
            </a:r>
          </a:p>
        </p:txBody>
      </p:sp>
      <p:sp>
        <p:nvSpPr>
          <p:cNvPr id="6" name="Concentra el cálculo en consultas seleccionadas.">
            <a:extLst xmlns:a="http://schemas.openxmlformats.org/drawingml/2006/main">
              <a:ext uri="{FF2B5EF4-FFF2-40B4-BE49-F238E27FC236}">
                <a16:creationId xmlns:a16="http://schemas.microsoft.com/office/drawing/2014/main" id="{2508D37E-9571-43D7-A598-6A54D2A00D6B}"/>
              </a:ext>
            </a:extLst>
          </p:cNvPr>
          <p:cNvSpPr>
            <a:spLocks xmlns:a="http://schemas.openxmlformats.org/drawingml/2006/main" noGrp="1"/>
          </p:cNvSpPr>
          <p:nvPr/>
        </p:nvSpPr>
        <p:spPr>
          <a:xfrm xmlns:a="http://schemas.openxmlformats.org/drawingml/2006/main">
            <a:off x="7686675" y="2124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Concentra el cálculo en consultas seleccionadas.</a:t>
            </a:r>
          </a:p>
        </p:txBody>
      </p:sp>
      <p:sp>
        <p:nvSpPr>
          <p:cNvPr id="7" name="Reducción temporal">
            <a:extLst xmlns:a="http://schemas.openxmlformats.org/drawingml/2006/main">
              <a:ext uri="{FF2B5EF4-FFF2-40B4-BE49-F238E27FC236}">
                <a16:creationId xmlns:a16="http://schemas.microsoft.com/office/drawing/2014/main" id="{730F392A-5B50-4E9C-97EF-79DD3C6C3A8F}"/>
              </a:ext>
            </a:extLst>
          </p:cNvPr>
          <p:cNvSpPr>
            <a:spLocks xmlns:a="http://schemas.openxmlformats.org/drawingml/2006/main" noGrp="1"/>
          </p:cNvSpPr>
          <p:nvPr/>
        </p:nvSpPr>
        <p:spPr>
          <a:xfrm xmlns:a="http://schemas.openxmlformats.org/drawingml/2006/main">
            <a:off x="7686675" y="3219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Reducción temporal</a:t>
            </a:r>
          </a:p>
        </p:txBody>
      </p:sp>
      <p:sp>
        <p:nvSpPr>
          <p:cNvPr id="8" name="El encoder acorta las representaciones entre capas.">
            <a:extLst xmlns:a="http://schemas.openxmlformats.org/drawingml/2006/main">
              <a:ext uri="{FF2B5EF4-FFF2-40B4-BE49-F238E27FC236}">
                <a16:creationId xmlns:a16="http://schemas.microsoft.com/office/drawing/2014/main" id="{09A69E9C-5589-4203-BB67-938BF4A7EEF2}"/>
              </a:ext>
            </a:extLst>
          </p:cNvPr>
          <p:cNvSpPr>
            <a:spLocks xmlns:a="http://schemas.openxmlformats.org/drawingml/2006/main" noGrp="1"/>
          </p:cNvSpPr>
          <p:nvPr/>
        </p:nvSpPr>
        <p:spPr>
          <a:xfrm xmlns:a="http://schemas.openxmlformats.org/drawingml/2006/main">
            <a:off x="7686675" y="3648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encoder acorta las representaciones entre capas.</a:t>
            </a:r>
          </a:p>
        </p:txBody>
      </p:sp>
      <p:sp>
        <p:nvSpPr>
          <p:cNvPr id="9" name="Salida directa">
            <a:extLst xmlns:a="http://schemas.openxmlformats.org/drawingml/2006/main">
              <a:ext uri="{FF2B5EF4-FFF2-40B4-BE49-F238E27FC236}">
                <a16:creationId xmlns:a16="http://schemas.microsoft.com/office/drawing/2014/main" id="{B7F9BBB0-4B9B-4252-B55A-E529D8840AB8}"/>
              </a:ext>
            </a:extLst>
          </p:cNvPr>
          <p:cNvSpPr>
            <a:spLocks xmlns:a="http://schemas.openxmlformats.org/drawingml/2006/main" noGrp="1"/>
          </p:cNvSpPr>
          <p:nvPr/>
        </p:nvSpPr>
        <p:spPr>
          <a:xfrm xmlns:a="http://schemas.openxmlformats.org/drawingml/2006/main">
            <a:off x="7686675" y="4743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Salida directa</a:t>
            </a:r>
          </a:p>
        </p:txBody>
      </p:sp>
      <p:sp>
        <p:nvSpPr>
          <p:cNvPr id="10" name="El decoder produce varios pasos en una pasada.">
            <a:extLst xmlns:a="http://schemas.openxmlformats.org/drawingml/2006/main">
              <a:ext uri="{FF2B5EF4-FFF2-40B4-BE49-F238E27FC236}">
                <a16:creationId xmlns:a16="http://schemas.microsoft.com/office/drawing/2014/main" id="{82176C4D-E978-4FF8-B3F5-B1ED774B8A70}"/>
              </a:ext>
            </a:extLst>
          </p:cNvPr>
          <p:cNvSpPr>
            <a:spLocks xmlns:a="http://schemas.openxmlformats.org/drawingml/2006/main" noGrp="1"/>
          </p:cNvSpPr>
          <p:nvPr/>
        </p:nvSpPr>
        <p:spPr>
          <a:xfrm xmlns:a="http://schemas.openxmlformats.org/drawingml/2006/main">
            <a:off x="7686675" y="5172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decoder produce varios pasos en una pasada.</a:t>
            </a:r>
          </a:p>
        </p:txBody>
      </p:sp>
    </p:spTree>
    <p:extLst>
      <p:ext uri="{BB962C8B-B14F-4D97-AF65-F5344CB8AC3E}">
        <p14:creationId xmlns:p14="http://schemas.microsoft.com/office/powerpoint/2010/main" val="20554554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STM y suma de las dos ramas">
            <a:extLst xmlns:a="http://schemas.openxmlformats.org/drawingml/2006/main">
              <a:ext uri="{FF2B5EF4-FFF2-40B4-BE49-F238E27FC236}">
                <a16:creationId xmlns:a16="http://schemas.microsoft.com/office/drawing/2014/main" id="{4B8CA7F2-C66C-4513-95AA-8A6E553FA099}"/>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LSTM y suma de las dos ramas</a:t>
            </a:r>
          </a:p>
        </p:txBody>
      </p:sp>
      <p:sp>
        <p:nvSpPr>
          <p:cNvPr id="2" name="Wang et al. (2026), figura 2 y ecuación 14">
            <a:extLst xmlns:a="http://schemas.openxmlformats.org/drawingml/2006/main">
              <a:ext uri="{FF2B5EF4-FFF2-40B4-BE49-F238E27FC236}">
                <a16:creationId xmlns:a16="http://schemas.microsoft.com/office/drawing/2014/main" id="{4F76FF59-1510-4773-83A6-5058E657AF0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2 y ecuación 14</a:t>
            </a:r>
          </a:p>
        </p:txBody>
      </p:sp>
      <p:sp>
        <p:nvSpPr>
          <p:cNvPr id="3" name="07">
            <a:extLst xmlns:a="http://schemas.openxmlformats.org/drawingml/2006/main">
              <a:ext uri="{FF2B5EF4-FFF2-40B4-BE49-F238E27FC236}">
                <a16:creationId xmlns:a16="http://schemas.microsoft.com/office/drawing/2014/main" id="{763855BC-D081-4316-A036-18C4003EF06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996661b22724d96"/>
          <a:stretch xmlns:a="http://schemas.openxmlformats.org/drawingml/2006/main"/>
        </p:blipFill>
        <p:spPr>
          <a:xfrm xmlns:a="http://schemas.openxmlformats.org/drawingml/2006/main">
            <a:off x="590550" y="1756802"/>
            <a:ext cx="6096000" cy="3944471"/>
          </a:xfrm>
          <a:prstGeom xmlns:a="http://schemas.openxmlformats.org/drawingml/2006/main" prst="rect">
            <a:avLst/>
          </a:prstGeom>
        </p:spPr>
      </p:pic>
      <p:sp>
        <p:nvSpPr>
          <p:cNvPr id="5" name="Memoria y compuertas">
            <a:extLst xmlns:a="http://schemas.openxmlformats.org/drawingml/2006/main">
              <a:ext uri="{FF2B5EF4-FFF2-40B4-BE49-F238E27FC236}">
                <a16:creationId xmlns:a16="http://schemas.microsoft.com/office/drawing/2014/main" id="{968D441C-27D8-4391-B08E-3237A718973A}"/>
              </a:ext>
            </a:extLst>
          </p:cNvPr>
          <p:cNvSpPr>
            <a:spLocks xmlns:a="http://schemas.openxmlformats.org/drawingml/2006/main" noGrp="1"/>
          </p:cNvSpPr>
          <p:nvPr/>
        </p:nvSpPr>
        <p:spPr>
          <a:xfrm xmlns:a="http://schemas.openxmlformats.org/drawingml/2006/main">
            <a:off x="7239000" y="16859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Memoria y compuertas</a:t>
            </a:r>
          </a:p>
        </p:txBody>
      </p:sp>
      <p:sp>
        <p:nvSpPr>
          <p:cNvPr id="6" name="La LSTM regula qué información conserva, incorpora y entrega">
            <a:extLst xmlns:a="http://schemas.openxmlformats.org/drawingml/2006/main">
              <a:ext uri="{FF2B5EF4-FFF2-40B4-BE49-F238E27FC236}">
                <a16:creationId xmlns:a16="http://schemas.microsoft.com/office/drawing/2014/main" id="{FE747ED7-C000-42EE-BF0C-94489721779F}"/>
              </a:ext>
            </a:extLst>
          </p:cNvPr>
          <p:cNvSpPr>
            <a:spLocks xmlns:a="http://schemas.openxmlformats.org/drawingml/2006/main" noGrp="1"/>
          </p:cNvSpPr>
          <p:nvPr/>
        </p:nvSpPr>
        <p:spPr>
          <a:xfrm xmlns:a="http://schemas.openxmlformats.org/drawingml/2006/main">
            <a:off x="7239000" y="21145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La LSTM regula qué información conserva, incorpora y entrega.</a:t>
            </a:r>
          </a:p>
        </p:txBody>
      </p:sp>
      <p:sp>
        <p:nvSpPr>
          <p:cNvPr id="7" name="Rama de menor complejidad">
            <a:extLst xmlns:a="http://schemas.openxmlformats.org/drawingml/2006/main">
              <a:ext uri="{FF2B5EF4-FFF2-40B4-BE49-F238E27FC236}">
                <a16:creationId xmlns:a16="http://schemas.microsoft.com/office/drawing/2014/main" id="{B2EAC609-889A-46CE-875C-11B4EA67B7DB}"/>
              </a:ext>
            </a:extLst>
          </p:cNvPr>
          <p:cNvSpPr>
            <a:spLocks xmlns:a="http://schemas.openxmlformats.org/drawingml/2006/main" noGrp="1"/>
          </p:cNvSpPr>
          <p:nvPr/>
        </p:nvSpPr>
        <p:spPr>
          <a:xfrm xmlns:a="http://schemas.openxmlformats.org/drawingml/2006/main">
            <a:off x="7239000" y="32766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Rama de menor complejidad</a:t>
            </a:r>
          </a:p>
        </p:txBody>
      </p:sp>
      <p:sp>
        <p:nvSpPr>
          <p:cNvPr id="8" name="El paper la asigna a los componentes más regulares.">
            <a:extLst xmlns:a="http://schemas.openxmlformats.org/drawingml/2006/main">
              <a:ext uri="{FF2B5EF4-FFF2-40B4-BE49-F238E27FC236}">
                <a16:creationId xmlns:a16="http://schemas.microsoft.com/office/drawing/2014/main" id="{16E44C10-2CBB-4303-8823-ACDA4BB781C7}"/>
              </a:ext>
            </a:extLst>
          </p:cNvPr>
          <p:cNvSpPr>
            <a:spLocks xmlns:a="http://schemas.openxmlformats.org/drawingml/2006/main" noGrp="1"/>
          </p:cNvSpPr>
          <p:nvPr/>
        </p:nvSpPr>
        <p:spPr>
          <a:xfrm xmlns:a="http://schemas.openxmlformats.org/drawingml/2006/main">
            <a:off x="7239000" y="37052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paper la asigna a los componentes más regulares.</a:t>
            </a:r>
          </a:p>
        </p:txBody>
      </p:sp>
      <p:sp>
        <p:nvSpPr>
          <p:cNvPr id="9" name="q̂ = q̂Informer + q̂LSTM">
            <a:extLst xmlns:a="http://schemas.openxmlformats.org/drawingml/2006/main">
              <a:ext uri="{FF2B5EF4-FFF2-40B4-BE49-F238E27FC236}">
                <a16:creationId xmlns:a16="http://schemas.microsoft.com/office/drawing/2014/main" id="{B18AEE9F-2D92-44B9-BA9C-072CEFA9E9EB}"/>
              </a:ext>
            </a:extLst>
          </p:cNvPr>
          <p:cNvSpPr>
            <a:spLocks xmlns:a="http://schemas.openxmlformats.org/drawingml/2006/main" noGrp="1"/>
          </p:cNvSpPr>
          <p:nvPr/>
        </p:nvSpPr>
        <p:spPr>
          <a:xfrm xmlns:a="http://schemas.openxmlformats.org/drawingml/2006/main">
            <a:off x="7219950" y="5076825"/>
            <a:ext cx="4276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700" b="1">
                <a:solidFill>
                  <a:srgbClr val="007FA3"/>
                </a:solidFill>
                <a:latin typeface="Helvetica Neue"/>
                <a:ea typeface="Helvetica Neue"/>
                <a:cs typeface="Helvetica Neue"/>
              </a:defRPr>
            </a:pPr>
            <a:r>
              <a:rPr sz="2700" b="1">
                <a:solidFill>
                  <a:srgbClr val="007FA3"/>
                </a:solidFill>
                <a:latin typeface="Helvetica Neue"/>
                <a:ea typeface="Helvetica Neue"/>
                <a:cs typeface="Helvetica Neue"/>
              </a:rPr>
              <a:t>q̂ = q̂Informer + q̂LSTM</a:t>
            </a:r>
          </a:p>
        </p:txBody>
      </p:sp>
    </p:spTree>
    <p:extLst>
      <p:ext uri="{BB962C8B-B14F-4D97-AF65-F5344CB8AC3E}">
        <p14:creationId xmlns:p14="http://schemas.microsoft.com/office/powerpoint/2010/main" val="10112176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daptación del paper al laboratorio">
            <a:extLst xmlns:a="http://schemas.openxmlformats.org/drawingml/2006/main">
              <a:ext uri="{FF2B5EF4-FFF2-40B4-BE49-F238E27FC236}">
                <a16:creationId xmlns:a16="http://schemas.microsoft.com/office/drawing/2014/main" id="{33134B7E-E8F8-4572-8DAA-BCB1D02944D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Adaptación del paper al laboratorio</a:t>
            </a:r>
          </a:p>
        </p:txBody>
      </p:sp>
      <p:sp>
        <p:nvSpPr>
          <p:cNvPr id="2" name="Laboratorio 2, pp. 1–2; Wang et al. (2026), sección 3; confi">
            <a:extLst xmlns:a="http://schemas.openxmlformats.org/drawingml/2006/main">
              <a:ext uri="{FF2B5EF4-FFF2-40B4-BE49-F238E27FC236}">
                <a16:creationId xmlns:a16="http://schemas.microsoft.com/office/drawing/2014/main" id="{5A938F49-AF20-456A-B9C2-8475AD897865}"/>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Laboratorio 2, pp. 1–2; Wang et al. (2026), sección 3; configs/dmel.json</a:t>
            </a:r>
          </a:p>
        </p:txBody>
      </p:sp>
      <p:sp>
        <p:nvSpPr>
          <p:cNvPr id="3" name="08">
            <a:extLst xmlns:a="http://schemas.openxmlformats.org/drawingml/2006/main">
              <a:ext uri="{FF2B5EF4-FFF2-40B4-BE49-F238E27FC236}">
                <a16:creationId xmlns:a16="http://schemas.microsoft.com/office/drawing/2014/main" id="{AD3BBBE6-F5E8-4B28-9B9C-09A27A6D5AC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57350"/>
          <a:ext xmlns:a="http://schemas.openxmlformats.org/drawingml/2006/main" cx="10972800" cy="4000500"/>
        </p:xfrm>
        <a:graphic xmlns:a="http://schemas.openxmlformats.org/drawingml/2006/main">
          <a:graphicData uri="http://schemas.openxmlformats.org/drawingml/2006/table">
            <a:tbl>
              <a:tblPr firstRow="1" bandRow="0"/>
              <a:tblGrid>
                <a:gridCol w="2247900"/>
                <a:gridCol w="3762375"/>
                <a:gridCol w="4962525"/>
              </a:tblGrid>
              <a:tr h="571500">
                <a:tc>
                  <a:txBody>
                    <a:bodyPr/>
                    <a:lstStyle/>
                    <a:p>
                      <a:r>
                        <a:rPr sz="1800" b="1">
                          <a:solidFill>
                            <a:srgbClr val="064B6B"/>
                          </a:solidFill>
                          <a:latin typeface="Helvetica Neue"/>
                          <a:ea typeface="Helvetica Neue"/>
                          <a:cs typeface="Helvetica Neue"/>
                        </a:rPr>
                        <a:t>Aspecto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Paper original</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Nuestro laboratorio</a:t>
                      </a:r>
                    </a:p>
                  </a:txBody>
                  <a:tcPr marL="142875" marR="142875" marT="114300" marB="114300" anchor="ctr">
                    <a:solidFill>
                      <a:srgbClr val="EAF4F8"/>
                    </a:solidFill>
                  </a:tcPr>
                </a:tc>
              </a:tr>
              <a:tr h="571500">
                <a:tc>
                  <a:txBody>
                    <a:bodyPr/>
                    <a:lstStyle/>
                    <a:p>
                      <a:r>
                        <a:rPr sz="1800" b="0">
                          <a:solidFill>
                            <a:srgbClr val="242C33"/>
                          </a:solidFill>
                          <a:latin typeface="Helvetica Neue"/>
                          <a:ea typeface="Helvetica Neue"/>
                          <a:cs typeface="Helvetica Neue"/>
                        </a:rPr>
                        <a:t>Resolución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Diaria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Horaria</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Historia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7 días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336 horas, equivalentes a 14 días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Pronóstico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 3, 5 o 7 días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48 valores horarios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Entradas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y 11 meteorológicas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Partición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70 / 15 / 15</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Flags split proporcionados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Salida física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m³/s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específico en mm/h</a:t>
                      </a:r>
                    </a:p>
                  </a:txBody>
                  <a:tcPr marL="142875" marR="142875" marT="114300" marB="114300" anchor="ctr">
                    <a:solidFill>
                      <a:srgbClr val="F5F7F8"/>
                    </a:solidFill>
                  </a:tcPr>
                </a:tc>
              </a:tr>
            </a:tbl>
          </a:graphicData>
        </a:graphic>
      </p:graphicFrame>
      <p:sp>
        <p:nvSpPr>
          <p:cNvPr id="5" name="El laboratorio permite simplificaciones justificadas que con">
            <a:extLst xmlns:a="http://schemas.openxmlformats.org/drawingml/2006/main">
              <a:ext uri="{FF2B5EF4-FFF2-40B4-BE49-F238E27FC236}">
                <a16:creationId xmlns:a16="http://schemas.microsoft.com/office/drawing/2014/main" id="{1F5B1C72-B12F-4336-B175-E15011E26931}"/>
              </a:ext>
            </a:extLst>
          </p:cNvPr>
          <p:cNvSpPr>
            <a:spLocks xmlns:a="http://schemas.openxmlformats.org/drawingml/2006/main" noGrp="1"/>
          </p:cNvSpPr>
          <p:nvPr/>
        </p:nvSpPr>
        <p:spPr>
          <a:xfrm xmlns:a="http://schemas.openxmlformats.org/drawingml/2006/main">
            <a:off x="66675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El laboratorio permite simplificaciones justificadas que conserven la propuesta central.</a:t>
            </a:r>
          </a:p>
        </p:txBody>
      </p:sp>
    </p:spTree>
    <p:extLst>
      <p:ext uri="{BB962C8B-B14F-4D97-AF65-F5344CB8AC3E}">
        <p14:creationId xmlns:p14="http://schemas.microsoft.com/office/powerpoint/2010/main" val="12873385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rato del dataset Rainfall–Runoff">
            <a:extLst xmlns:a="http://schemas.openxmlformats.org/drawingml/2006/main">
              <a:ext uri="{FF2B5EF4-FFF2-40B4-BE49-F238E27FC236}">
                <a16:creationId xmlns:a16="http://schemas.microsoft.com/office/drawing/2014/main" id="{131A89FE-C14E-493B-95F2-365501994663}"/>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Contrato del dataset Rainfall–Runoff</a:t>
            </a:r>
          </a:p>
        </p:txBody>
      </p:sp>
      <p:sp>
        <p:nvSpPr>
          <p:cNvPr id="2" name="Conteos por partición: metadata.json. Total de train.h5: ver">
            <a:extLst xmlns:a="http://schemas.openxmlformats.org/drawingml/2006/main">
              <a:ext uri="{FF2B5EF4-FFF2-40B4-BE49-F238E27FC236}">
                <a16:creationId xmlns:a16="http://schemas.microsoft.com/office/drawing/2014/main" id="{F423424B-B1F0-486B-BA7E-0DBA90998CB9}"/>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Conteos por partición: metadata.json. Total de train.h5: verificado en Khipu</a:t>
            </a:r>
          </a:p>
        </p:txBody>
      </p:sp>
      <p:sp>
        <p:nvSpPr>
          <p:cNvPr id="3" name="09">
            <a:extLst xmlns:a="http://schemas.openxmlformats.org/drawingml/2006/main">
              <a:ext uri="{FF2B5EF4-FFF2-40B4-BE49-F238E27FC236}">
                <a16:creationId xmlns:a16="http://schemas.microsoft.com/office/drawing/2014/main" id="{1A2FD6EA-BA69-4086-9F26-036C6D2F9E1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09</a:t>
            </a:r>
          </a:p>
        </p:txBody>
      </p:sp>
      <p:sp>
        <p:nvSpPr>
          <p:cNvPr id="4" name="X: [N, 336, 12]">
            <a:extLst xmlns:a="http://schemas.openxmlformats.org/drawingml/2006/main">
              <a:ext uri="{FF2B5EF4-FFF2-40B4-BE49-F238E27FC236}">
                <a16:creationId xmlns:a16="http://schemas.microsoft.com/office/drawing/2014/main" id="{A5E34C5A-D0ED-4B94-A76D-6997307C1462}"/>
              </a:ext>
            </a:extLst>
          </p:cNvPr>
          <p:cNvSpPr>
            <a:spLocks xmlns:a="http://schemas.openxmlformats.org/drawingml/2006/main" noGrp="1"/>
          </p:cNvSpPr>
          <p:nvPr/>
        </p:nvSpPr>
        <p:spPr>
          <a:xfrm xmlns:a="http://schemas.openxmlformats.org/drawingml/2006/main">
            <a:off x="666750" y="15811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X: [N, 336, 12]</a:t>
            </a:r>
          </a:p>
        </p:txBody>
      </p:sp>
      <p:sp>
        <p:nvSpPr>
          <p:cNvPr id="5" name="y: [N, 48]">
            <a:extLst xmlns:a="http://schemas.openxmlformats.org/drawingml/2006/main">
              <a:ext uri="{FF2B5EF4-FFF2-40B4-BE49-F238E27FC236}">
                <a16:creationId xmlns:a16="http://schemas.microsoft.com/office/drawing/2014/main" id="{758BBF21-1452-45A3-BB74-C39B9BD60890}"/>
              </a:ext>
            </a:extLst>
          </p:cNvPr>
          <p:cNvSpPr>
            <a:spLocks xmlns:a="http://schemas.openxmlformats.org/drawingml/2006/main" noGrp="1"/>
          </p:cNvSpPr>
          <p:nvPr/>
        </p:nvSpPr>
        <p:spPr>
          <a:xfrm xmlns:a="http://schemas.openxmlformats.org/drawingml/2006/main">
            <a:off x="6810375" y="15811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y: [N, 48]</a:t>
            </a:r>
          </a:p>
        </p:txBody>
      </p:sp>
      <p:graphicFrame>
        <p:nvGraphicFramePr>
          <p:cNvPr id="16" name=""/>
          <p:cNvGraphicFramePr/>
          <p:nvPr/>
        </p:nvGraphicFramePr>
        <p:xfrm>
          <a:off xmlns:a="http://schemas.openxmlformats.org/drawingml/2006/main" x="609600" y="2619375"/>
          <a:ext xmlns:a="http://schemas.openxmlformats.org/drawingml/2006/main" cx="10972800" cy="2600325"/>
        </p:xfrm>
        <a:graphic xmlns:a="http://schemas.openxmlformats.org/drawingml/2006/main">
          <a:graphicData uri="http://schemas.openxmlformats.org/drawingml/2006/table">
            <a:tbl>
              <a:tblPr firstRow="1" bandRow="0"/>
              <a:tblGrid>
                <a:gridCol w="2952750"/>
                <a:gridCol w="2333625"/>
                <a:gridCol w="5686425"/>
              </a:tblGrid>
              <a:tr h="650081">
                <a:tc>
                  <a:txBody>
                    <a:bodyPr/>
                    <a:lstStyle/>
                    <a:p>
                      <a:r>
                        <a:rPr sz="1950" b="1">
                          <a:solidFill>
                            <a:srgbClr val="064B6B"/>
                          </a:solidFill>
                          <a:latin typeface="Helvetica Neue"/>
                          <a:ea typeface="Helvetica Neue"/>
                          <a:cs typeface="Helvetica Neue"/>
                        </a:rPr>
                        <a:t>Partición</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Muestras</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Uso</a:t>
                      </a:r>
                    </a:p>
                  </a:txBody>
                  <a:tcPr marL="142875" marR="142875" marT="114300" marB="114300" anchor="ctr">
                    <a:solidFill>
                      <a:srgbClr val="EAF4F8"/>
                    </a:solidFill>
                  </a:tcPr>
                </a:tc>
              </a:tr>
              <a:tr h="650081">
                <a:tc>
                  <a:txBody>
                    <a:bodyPr/>
                    <a:lstStyle/>
                    <a:p>
                      <a:r>
                        <a:rPr sz="1950" b="0">
                          <a:solidFill>
                            <a:srgbClr val="242C33"/>
                          </a:solidFill>
                          <a:latin typeface="Helvetica Neue"/>
                          <a:ea typeface="Helvetica Neue"/>
                          <a:cs typeface="Helvetica Neue"/>
                        </a:rPr>
                        <a:t>Entrenamiento</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254 000</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Ajustar pesos y normalización</a:t>
                      </a:r>
                    </a:p>
                  </a:txBody>
                  <a:tcPr marL="142875" marR="142875" marT="114300" marB="114300" anchor="ctr">
                    <a:solidFill>
                      <a:srgbClr val="FFFFFF"/>
                    </a:solidFill>
                  </a:tcPr>
                </a:tc>
              </a:tr>
              <a:tr h="650081">
                <a:tc>
                  <a:txBody>
                    <a:bodyPr/>
                    <a:lstStyle/>
                    <a:p>
                      <a:r>
                        <a:rPr sz="1950" b="0">
                          <a:solidFill>
                            <a:srgbClr val="242C33"/>
                          </a:solidFill>
                          <a:latin typeface="Helvetica Neue"/>
                          <a:ea typeface="Helvetica Neue"/>
                          <a:cs typeface="Helvetica Neue"/>
                        </a:rPr>
                        <a:t>Validación</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18 142</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Seleccionar checkpoint</a:t>
                      </a:r>
                    </a:p>
                  </a:txBody>
                  <a:tcPr marL="142875" marR="142875" marT="114300" marB="114300" anchor="ctr">
                    <a:solidFill>
                      <a:srgbClr val="F5F7F8"/>
                    </a:solidFill>
                  </a:tcPr>
                </a:tc>
              </a:tr>
              <a:tr h="650081">
                <a:tc>
                  <a:txBody>
                    <a:bodyPr/>
                    <a:lstStyle/>
                    <a:p>
                      <a:r>
                        <a:rPr sz="1950" b="0">
                          <a:solidFill>
                            <a:srgbClr val="242C33"/>
                          </a:solidFill>
                          <a:latin typeface="Helvetica Neue"/>
                          <a:ea typeface="Helvetica Neue"/>
                          <a:cs typeface="Helvetica Neue"/>
                        </a:rPr>
                        <a:t>Test</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27 983</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Generar predicciones finales</a:t>
                      </a:r>
                    </a:p>
                  </a:txBody>
                  <a:tcPr marL="142875" marR="142875" marT="114300" marB="114300" anchor="ctr">
                    <a:solidFill>
                      <a:srgbClr val="FFFFFF"/>
                    </a:solidFill>
                  </a:tcPr>
                </a:tc>
              </a:tr>
            </a:tbl>
          </a:graphicData>
        </a:graphic>
      </p:graphicFrame>
      <p:sp>
        <p:nvSpPr>
          <p:cNvPr id="7" name="Canal 11: caudal específico. Canales 0–10: meteorología hist">
            <a:extLst xmlns:a="http://schemas.openxmlformats.org/drawingml/2006/main">
              <a:ext uri="{FF2B5EF4-FFF2-40B4-BE49-F238E27FC236}">
                <a16:creationId xmlns:a16="http://schemas.microsoft.com/office/drawing/2014/main" id="{D0DA5F29-2A87-4C38-9F88-76817EED0BA7}"/>
              </a:ext>
            </a:extLst>
          </p:cNvPr>
          <p:cNvSpPr>
            <a:spLocks xmlns:a="http://schemas.openxmlformats.org/drawingml/2006/main" noGrp="1"/>
          </p:cNvSpPr>
          <p:nvPr/>
        </p:nvSpPr>
        <p:spPr>
          <a:xfrm xmlns:a="http://schemas.openxmlformats.org/drawingml/2006/main">
            <a:off x="695325" y="5505450"/>
            <a:ext cx="1052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Canal 11: caudal específico. Canales 0–10: meteorología histórica.</a:t>
            </a:r>
          </a:p>
        </p:txBody>
      </p:sp>
      <p:sp>
        <p:nvSpPr>
          <p:cNvPr id="8" name="508 cuencas verificadas en test. Identificadores anónimos, s">
            <a:extLst xmlns:a="http://schemas.openxmlformats.org/drawingml/2006/main">
              <a:ext uri="{FF2B5EF4-FFF2-40B4-BE49-F238E27FC236}">
                <a16:creationId xmlns:a16="http://schemas.microsoft.com/office/drawing/2014/main" id="{772DB8C2-312B-4581-81CA-6A4E8B7BDD8D}"/>
              </a:ext>
            </a:extLst>
          </p:cNvPr>
          <p:cNvSpPr>
            <a:spLocks xmlns:a="http://schemas.openxmlformats.org/drawingml/2006/main" noGrp="1"/>
          </p:cNvSpPr>
          <p:nvPr/>
        </p:nvSpPr>
        <p:spPr>
          <a:xfrm xmlns:a="http://schemas.openxmlformats.org/drawingml/2006/main">
            <a:off x="695325"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508 cuencas en validación y test. Identificadores anónimos, sin fechas absolutas.</a:t>
            </a:r>
          </a:p>
        </p:txBody>
      </p:sp>
    </p:spTree>
    <p:extLst>
      <p:ext uri="{BB962C8B-B14F-4D97-AF65-F5344CB8AC3E}">
        <p14:creationId xmlns:p14="http://schemas.microsoft.com/office/powerpoint/2010/main" val="20655992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Una ventana real de nuestro dataset">
            <a:extLst xmlns:a="http://schemas.openxmlformats.org/drawingml/2006/main">
              <a:ext uri="{FF2B5EF4-FFF2-40B4-BE49-F238E27FC236}">
                <a16:creationId xmlns:a16="http://schemas.microsoft.com/office/drawing/2014/main" id="{9264D332-3C03-4028-A2B0-E41A18811D45}"/>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Una ventana real de nuestro dataset</a:t>
            </a:r>
          </a:p>
        </p:txBody>
      </p:sp>
      <p:sp>
        <p:nvSpPr>
          <p:cNvPr id="2" name="test.h5, fila 0, basin_id 222. Solo caudal histórico, sin et">
            <a:extLst xmlns:a="http://schemas.openxmlformats.org/drawingml/2006/main">
              <a:ext uri="{FF2B5EF4-FFF2-40B4-BE49-F238E27FC236}">
                <a16:creationId xmlns:a16="http://schemas.microsoft.com/office/drawing/2014/main" id="{2971BE3E-7661-4CC2-95A2-457D70ED108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test.h5, fila 0, basin_id 222. Solo caudal histórico, sin etiquetas futuras</a:t>
            </a:r>
          </a:p>
        </p:txBody>
      </p:sp>
      <p:sp>
        <p:nvSpPr>
          <p:cNvPr id="3" name="10">
            <a:extLst xmlns:a="http://schemas.openxmlformats.org/drawingml/2006/main">
              <a:ext uri="{FF2B5EF4-FFF2-40B4-BE49-F238E27FC236}">
                <a16:creationId xmlns:a16="http://schemas.microsoft.com/office/drawing/2014/main" id="{5E9A8721-B6B7-43C4-B82D-E451A420B51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10</a:t>
            </a:r>
          </a:p>
        </p:txBody>
      </p:sp>
      <p:sp>
        <p:nvSpPr>
          <p:cNvPr id="4" name="336 observaciones horarias disponibles al emitir el pronósti">
            <a:extLst xmlns:a="http://schemas.openxmlformats.org/drawingml/2006/main">
              <a:ext uri="{FF2B5EF4-FFF2-40B4-BE49-F238E27FC236}">
                <a16:creationId xmlns:a16="http://schemas.microsoft.com/office/drawing/2014/main" id="{49BB5B40-3AB5-4EBF-B6FC-2FA83A2976AD}"/>
              </a:ext>
            </a:extLst>
          </p:cNvPr>
          <p:cNvSpPr>
            <a:spLocks xmlns:a="http://schemas.openxmlformats.org/drawingml/2006/main" noGrp="1"/>
          </p:cNvSpPr>
          <p:nvPr/>
        </p:nvSpPr>
        <p:spPr>
          <a:xfrm xmlns:a="http://schemas.openxmlformats.org/drawingml/2006/main">
            <a:off x="695325" y="1419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336 observaciones horarias disponibles al emitir el pronóstico</a:t>
            </a:r>
          </a:p>
        </p:txBody>
      </p:sp>
      <p:graphicFrame>
        <p:nvGraphicFramePr>
          <p:cNvPr id="14" name="Chart"/>
          <p:cNvGraphicFramePr/>
          <p:nvPr/>
        </p:nvGraphicFramePr>
        <p:xfrm>
          <a:off xmlns:a="http://schemas.openxmlformats.org/drawingml/2006/main" x="609600" y="20193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6d6c6ac46332445f"/>
          </a:graphicData>
        </a:graphic>
      </p:graphicFrame>
      <p:sp>
        <p:nvSpPr>
          <p:cNvPr id="6" name="Historia observada: de −335 h a 0 h">
            <a:extLst xmlns:a="http://schemas.openxmlformats.org/drawingml/2006/main">
              <a:ext uri="{FF2B5EF4-FFF2-40B4-BE49-F238E27FC236}">
                <a16:creationId xmlns:a16="http://schemas.microsoft.com/office/drawing/2014/main" id="{8EE66A83-82C0-494A-85A3-DF37CFE4DAB5}"/>
              </a:ext>
            </a:extLst>
          </p:cNvPr>
          <p:cNvSpPr>
            <a:spLocks xmlns:a="http://schemas.openxmlformats.org/drawingml/2006/main" noGrp="1"/>
          </p:cNvSpPr>
          <p:nvPr/>
        </p:nvSpPr>
        <p:spPr>
          <a:xfrm xmlns:a="http://schemas.openxmlformats.org/drawingml/2006/main">
            <a:off x="838200" y="55626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Historia observada: de −335 h a 0 h</a:t>
            </a:r>
          </a:p>
        </p:txBody>
      </p:sp>
      <p:sp>
        <p:nvSpPr>
          <p:cNvPr id="7" name="Objetivo del modelo: horas +1 a +48">
            <a:extLst xmlns:a="http://schemas.openxmlformats.org/drawingml/2006/main">
              <a:ext uri="{FF2B5EF4-FFF2-40B4-BE49-F238E27FC236}">
                <a16:creationId xmlns:a16="http://schemas.microsoft.com/office/drawing/2014/main" id="{FE48FBCD-35FC-4F52-8752-C3181030ED3C}"/>
              </a:ext>
            </a:extLst>
          </p:cNvPr>
          <p:cNvSpPr>
            <a:spLocks xmlns:a="http://schemas.openxmlformats.org/drawingml/2006/main" noGrp="1"/>
          </p:cNvSpPr>
          <p:nvPr/>
        </p:nvSpPr>
        <p:spPr>
          <a:xfrm xmlns:a="http://schemas.openxmlformats.org/drawingml/2006/main">
            <a:off x="8382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Objetivo del modelo: horas +1 a +48</a:t>
            </a:r>
          </a:p>
        </p:txBody>
      </p:sp>
    </p:spTree>
    <p:extLst>
      <p:ext uri="{BB962C8B-B14F-4D97-AF65-F5344CB8AC3E}">
        <p14:creationId xmlns:p14="http://schemas.microsoft.com/office/powerpoint/2010/main" val="18972985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RS simplificado: dos componentes">
            <a:extLst xmlns:a="http://schemas.openxmlformats.org/drawingml/2006/main">
              <a:ext uri="{FF2B5EF4-FFF2-40B4-BE49-F238E27FC236}">
                <a16:creationId xmlns:a16="http://schemas.microsoft.com/office/drawing/2014/main" id="{91796146-6824-4D4D-B69D-ABBEA0863B2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MRS simplificado: dos componentes</a:t>
            </a:r>
          </a:p>
        </p:txBody>
      </p:sp>
      <p:sp>
        <p:nvSpPr>
          <p:cNvPr id="2" name="dmel/decomposition.py; misma ventana de test, fila 0. Ejempl">
            <a:extLst xmlns:a="http://schemas.openxmlformats.org/drawingml/2006/main">
              <a:ext uri="{FF2B5EF4-FFF2-40B4-BE49-F238E27FC236}">
                <a16:creationId xmlns:a16="http://schemas.microsoft.com/office/drawing/2014/main" id="{9A6A9B77-A823-40FC-9939-D8BC651CA99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dmel/decomposition.py; misma ventana de test, fila 0. Ejemplo de preprocesamiento</a:t>
            </a:r>
          </a:p>
        </p:txBody>
      </p:sp>
      <p:sp>
        <p:nvSpPr>
          <p:cNvPr id="3" name="11">
            <a:extLst xmlns:a="http://schemas.openxmlformats.org/drawingml/2006/main">
              <a:ext uri="{FF2B5EF4-FFF2-40B4-BE49-F238E27FC236}">
                <a16:creationId xmlns:a16="http://schemas.microsoft.com/office/drawing/2014/main" id="{C9A3EE16-3B8B-4366-87BA-6B0445779C2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11</a:t>
            </a:r>
          </a:p>
        </p:txBody>
      </p:sp>
      <p:sp>
        <p:nvSpPr>
          <p:cNvPr id="4" name="Alta: IMFs con SampEn mayor que la historia original">
            <a:extLst xmlns:a="http://schemas.openxmlformats.org/drawingml/2006/main">
              <a:ext uri="{FF2B5EF4-FFF2-40B4-BE49-F238E27FC236}">
                <a16:creationId xmlns:a16="http://schemas.microsoft.com/office/drawing/2014/main" id="{C6B597C5-CAAE-4A52-AFFF-25786F71810B}"/>
              </a:ext>
            </a:extLst>
          </p:cNvPr>
          <p:cNvSpPr>
            <a:spLocks xmlns:a="http://schemas.openxmlformats.org/drawingml/2006/main" noGrp="1"/>
          </p:cNvSpPr>
          <p:nvPr/>
        </p:nvSpPr>
        <p:spPr>
          <a:xfrm xmlns:a="http://schemas.openxmlformats.org/drawingml/2006/main">
            <a:off x="695325" y="14192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007FA3"/>
                </a:solidFill>
                <a:latin typeface="Helvetica Neue"/>
                <a:ea typeface="Helvetica Neue"/>
                <a:cs typeface="Helvetica Neue"/>
              </a:defRPr>
            </a:pPr>
            <a:r>
              <a:rPr sz="2100" b="1">
                <a:solidFill>
                  <a:srgbClr val="007FA3"/>
                </a:solidFill>
                <a:latin typeface="Helvetica Neue"/>
                <a:ea typeface="Helvetica Neue"/>
                <a:cs typeface="Helvetica Neue"/>
              </a:rPr>
              <a:t>Alta: IMFs con SampEn mayor que la historia original</a:t>
            </a:r>
          </a:p>
        </p:txBody>
      </p:sp>
      <p:sp>
        <p:nvSpPr>
          <p:cNvPr id="5" name="Baja: el resto de IMFs más el residuo">
            <a:extLst xmlns:a="http://schemas.openxmlformats.org/drawingml/2006/main">
              <a:ext uri="{FF2B5EF4-FFF2-40B4-BE49-F238E27FC236}">
                <a16:creationId xmlns:a16="http://schemas.microsoft.com/office/drawing/2014/main" id="{0DCD47F5-7E00-4C31-B341-6AFAC2C25259}"/>
              </a:ext>
            </a:extLst>
          </p:cNvPr>
          <p:cNvSpPr>
            <a:spLocks xmlns:a="http://schemas.openxmlformats.org/drawingml/2006/main" noGrp="1"/>
          </p:cNvSpPr>
          <p:nvPr/>
        </p:nvSpPr>
        <p:spPr>
          <a:xfrm xmlns:a="http://schemas.openxmlformats.org/drawingml/2006/main">
            <a:off x="695325" y="18478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Baja: el resto de IMFs más el residuo</a:t>
            </a:r>
          </a:p>
        </p:txBody>
      </p:sp>
      <p:graphicFrame>
        <p:nvGraphicFramePr>
          <p:cNvPr id="16" name="Chart"/>
          <p:cNvGraphicFramePr/>
          <p:nvPr/>
        </p:nvGraphicFramePr>
        <p:xfrm>
          <a:off xmlns:a="http://schemas.openxmlformats.org/drawingml/2006/main" x="609600" y="2371725"/>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40ed688d87de4a7e"/>
          </a:graphicData>
        </a:graphic>
      </p:graphicFrame>
      <p:sp>
        <p:nvSpPr>
          <p:cNvPr id="7" name="En esta ventana: 7 IMFs en alta; baja conserva el residuo.">
            <a:extLst xmlns:a="http://schemas.openxmlformats.org/drawingml/2006/main">
              <a:ext uri="{FF2B5EF4-FFF2-40B4-BE49-F238E27FC236}">
                <a16:creationId xmlns:a16="http://schemas.microsoft.com/office/drawing/2014/main" id="{A6D5CB9C-9914-4C60-BF3B-E47E6597A240}"/>
              </a:ext>
            </a:extLst>
          </p:cNvPr>
          <p:cNvSpPr>
            <a:spLocks xmlns:a="http://schemas.openxmlformats.org/drawingml/2006/main" noGrp="1"/>
          </p:cNvSpPr>
          <p:nvPr/>
        </p:nvSpPr>
        <p:spPr>
          <a:xfrm xmlns:a="http://schemas.openxmlformats.org/drawingml/2006/main">
            <a:off x="695325" y="55816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En esta ventana: 7 IMFs en alta; baja conserva el residuo.</a:t>
            </a:r>
          </a:p>
        </p:txBody>
      </p:sp>
      <p:sp>
        <p:nvSpPr>
          <p:cNvPr id="8" name="Error máximo de reconstrucción: 1.19 × 10⁻⁷ mm/h">
            <a:extLst xmlns:a="http://schemas.openxmlformats.org/drawingml/2006/main">
              <a:ext uri="{FF2B5EF4-FFF2-40B4-BE49-F238E27FC236}">
                <a16:creationId xmlns:a16="http://schemas.microsoft.com/office/drawing/2014/main" id="{936D74DE-AA6B-4C3C-9768-FDDC7E0791A5}"/>
              </a:ext>
            </a:extLst>
          </p:cNvPr>
          <p:cNvSpPr>
            <a:spLocks xmlns:a="http://schemas.openxmlformats.org/drawingml/2006/main" noGrp="1"/>
          </p:cNvSpPr>
          <p:nvPr/>
        </p:nvSpPr>
        <p:spPr>
          <a:xfrm xmlns:a="http://schemas.openxmlformats.org/drawingml/2006/main">
            <a:off x="695325" y="5991225"/>
            <a:ext cx="1080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Error máximo de reconstrucción: 1.19 × 10⁻⁷ mm/h</a:t>
            </a:r>
          </a:p>
        </p:txBody>
      </p:sp>
    </p:spTree>
    <p:extLst>
      <p:ext uri="{BB962C8B-B14F-4D97-AF65-F5344CB8AC3E}">
        <p14:creationId xmlns:p14="http://schemas.microsoft.com/office/powerpoint/2010/main" val="15800459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ntradas de las ramas y salida de 48 horas">
            <a:extLst xmlns:a="http://schemas.openxmlformats.org/drawingml/2006/main">
              <a:ext uri="{FF2B5EF4-FFF2-40B4-BE49-F238E27FC236}">
                <a16:creationId xmlns:a16="http://schemas.microsoft.com/office/drawing/2014/main" id="{E7CAB9C1-3A03-40ED-9814-B1F146F08B00}"/>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Entradas de las ramas y salida de 48 horas</a:t>
            </a:r>
          </a:p>
        </p:txBody>
      </p:sp>
      <p:sp>
        <p:nvSpPr>
          <p:cNvPr id="2" name="dmel/models.py y dmel/data.py. B representa el tamaño del lo">
            <a:extLst xmlns:a="http://schemas.openxmlformats.org/drawingml/2006/main">
              <a:ext uri="{FF2B5EF4-FFF2-40B4-BE49-F238E27FC236}">
                <a16:creationId xmlns:a16="http://schemas.microsoft.com/office/drawing/2014/main" id="{612A5012-ACAD-42FD-B041-64227C170A0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dmel/models.py y dmel/data.py. B representa el tamaño del lote</a:t>
            </a:r>
          </a:p>
        </p:txBody>
      </p:sp>
      <p:sp>
        <p:nvSpPr>
          <p:cNvPr id="3" name="12">
            <a:extLst xmlns:a="http://schemas.openxmlformats.org/drawingml/2006/main">
              <a:ext uri="{FF2B5EF4-FFF2-40B4-BE49-F238E27FC236}">
                <a16:creationId xmlns:a16="http://schemas.microsoft.com/office/drawing/2014/main" id="{2018CA6E-1250-4281-8A0B-E89E03D1953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1657350"/>
          <a:ext xmlns:a="http://schemas.openxmlformats.org/drawingml/2006/main" cx="10972800" cy="3629025"/>
        </p:xfrm>
        <a:graphic xmlns:a="http://schemas.openxmlformats.org/drawingml/2006/main">
          <a:graphicData uri="http://schemas.openxmlformats.org/drawingml/2006/table">
            <a:tbl>
              <a:tblPr firstRow="1" bandRow="0"/>
              <a:tblGrid>
                <a:gridCol w="2571750"/>
                <a:gridCol w="5838825"/>
                <a:gridCol w="2562225"/>
              </a:tblGrid>
              <a:tr h="604838">
                <a:tc>
                  <a:txBody>
                    <a:bodyPr/>
                    <a:lstStyle/>
                    <a:p>
                      <a:r>
                        <a:rPr sz="1800" b="1">
                          <a:solidFill>
                            <a:srgbClr val="064B6B"/>
                          </a:solidFill>
                          <a:latin typeface="Helvetica Neue"/>
                          <a:ea typeface="Helvetica Neue"/>
                          <a:cs typeface="Helvetica Neue"/>
                        </a:rPr>
                        <a:t>Etapa</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Información</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Forma</a:t>
                      </a:r>
                    </a:p>
                  </a:txBody>
                  <a:tcPr marL="142875" marR="142875" marT="114300" marB="114300" anchor="ctr">
                    <a:solidFill>
                      <a:srgbClr val="EAF4F8"/>
                    </a:solidFill>
                  </a:tcPr>
                </a:tc>
              </a:tr>
              <a:tr h="604838">
                <a:tc>
                  <a:txBody>
                    <a:bodyPr/>
                    <a:lstStyle/>
                    <a:p>
                      <a:r>
                        <a:rPr sz="1800" b="0">
                          <a:solidFill>
                            <a:srgbClr val="242C33"/>
                          </a:solidFill>
                          <a:latin typeface="Helvetica Neue"/>
                          <a:ea typeface="Helvetica Neue"/>
                          <a:cs typeface="Helvetica Neue"/>
                        </a:rPr>
                        <a:t>Ventana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Rama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11 meteorológicas y componente alta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Rama LSTM</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componente baja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Cada predictor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Contribución al pronóstico</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48]</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Ensamble</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Suma y retorno a escala física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48], mm/h</a:t>
                      </a:r>
                    </a:p>
                  </a:txBody>
                  <a:tcPr marL="142875" marR="142875" marT="114300" marB="114300" anchor="ctr">
                    <a:solidFill>
                      <a:srgbClr val="FFFFFF"/>
                    </a:solidFill>
                  </a:tcPr>
                </a:tc>
              </a:tr>
            </a:tbl>
          </a:graphicData>
        </a:graphic>
      </p:graphicFrame>
      <p:sp>
        <p:nvSpPr>
          <p:cNvPr id="5" name="Cada cabeza corrige el último valor de su entrada. La pérdid">
            <a:extLst xmlns:a="http://schemas.openxmlformats.org/drawingml/2006/main">
              <a:ext uri="{FF2B5EF4-FFF2-40B4-BE49-F238E27FC236}">
                <a16:creationId xmlns:a16="http://schemas.microsoft.com/office/drawing/2014/main" id="{48E94B06-1B71-463C-8D6C-FCD6C70014A1}"/>
              </a:ext>
            </a:extLst>
          </p:cNvPr>
          <p:cNvSpPr>
            <a:spLocks xmlns:a="http://schemas.openxmlformats.org/drawingml/2006/main" noGrp="1"/>
          </p:cNvSpPr>
          <p:nvPr/>
        </p:nvSpPr>
        <p:spPr>
          <a:xfrm xmlns:a="http://schemas.openxmlformats.org/drawingml/2006/main">
            <a:off x="704850" y="5619750"/>
            <a:ext cx="10563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Cada cabeza corrige el último valor de su entrada. La pérdida supervisa el caudal total.</a:t>
            </a:r>
          </a:p>
        </p:txBody>
      </p:sp>
    </p:spTree>
    <p:extLst>
      <p:ext uri="{BB962C8B-B14F-4D97-AF65-F5344CB8AC3E}">
        <p14:creationId xmlns:p14="http://schemas.microsoft.com/office/powerpoint/2010/main" val="12943812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otocolo de entrenamiento">
            <a:extLst xmlns:a="http://schemas.openxmlformats.org/drawingml/2006/main">
              <a:ext uri="{FF2B5EF4-FFF2-40B4-BE49-F238E27FC236}">
                <a16:creationId xmlns:a16="http://schemas.microsoft.com/office/drawing/2014/main" id="{55C226CD-F514-4114-9A7F-0E1F9BB9024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Protocolo de entrenamiento</a:t>
            </a:r>
          </a:p>
        </p:txBody>
      </p:sp>
      <p:sp>
        <p:nvSpPr>
          <p:cNvPr id="2" name="configs/dmel.json, dmel/engine.py y slurm/train.sbatch">
            <a:extLst xmlns:a="http://schemas.openxmlformats.org/drawingml/2006/main">
              <a:ext uri="{FF2B5EF4-FFF2-40B4-BE49-F238E27FC236}">
                <a16:creationId xmlns:a16="http://schemas.microsoft.com/office/drawing/2014/main" id="{2F9E93F8-07CB-42D2-96DF-605B3EE95CB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configs/dmel.json, dmel/engine.py y slurm/train.sbatch</a:t>
            </a:r>
          </a:p>
        </p:txBody>
      </p:sp>
      <p:sp>
        <p:nvSpPr>
          <p:cNvPr id="3" name="13">
            <a:extLst xmlns:a="http://schemas.openxmlformats.org/drawingml/2006/main">
              <a:ext uri="{FF2B5EF4-FFF2-40B4-BE49-F238E27FC236}">
                <a16:creationId xmlns:a16="http://schemas.microsoft.com/office/drawing/2014/main" id="{5D5F8FD9-796F-45DE-A140-C2DF3564937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09600" y="1657350"/>
          <a:ext xmlns:a="http://schemas.openxmlformats.org/drawingml/2006/main" cx="10972800" cy="3324225"/>
        </p:xfrm>
        <a:graphic xmlns:a="http://schemas.openxmlformats.org/drawingml/2006/main">
          <a:graphicData uri="http://schemas.openxmlformats.org/drawingml/2006/table">
            <a:tbl>
              <a:tblPr firstRow="1" bandRow="0"/>
              <a:tblGrid>
                <a:gridCol w="3238500"/>
                <a:gridCol w="7734300"/>
              </a:tblGrid>
              <a:tr h="554038">
                <a:tc>
                  <a:txBody>
                    <a:bodyPr/>
                    <a:lstStyle/>
                    <a:p>
                      <a:r>
                        <a:rPr sz="1875" b="1">
                          <a:solidFill>
                            <a:srgbClr val="064B6B"/>
                          </a:solidFill>
                          <a:latin typeface="Helvetica Neue"/>
                          <a:ea typeface="Helvetica Neue"/>
                          <a:cs typeface="Helvetica Neue"/>
                        </a:rPr>
                        <a:t>Configuración</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Valor</a:t>
                      </a:r>
                    </a:p>
                  </a:txBody>
                  <a:tcPr marL="142875" marR="142875" marT="114300" marB="114300" anchor="ctr">
                    <a:solidFill>
                      <a:srgbClr val="EAF4F8"/>
                    </a:solidFill>
                  </a:tcPr>
                </a:tc>
              </a:tr>
              <a:tr h="554038">
                <a:tc>
                  <a:txBody>
                    <a:bodyPr/>
                    <a:lstStyle/>
                    <a:p>
                      <a:r>
                        <a:rPr sz="1875" b="0">
                          <a:solidFill>
                            <a:srgbClr val="242C33"/>
                          </a:solidFill>
                          <a:latin typeface="Helvetica Neue"/>
                          <a:ea typeface="Helvetica Neue"/>
                          <a:cs typeface="Helvetica Neue"/>
                        </a:rPr>
                        <a:t>Optimizador y pérdida</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Adam, MSE sobre el caudal normalizado</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Tasa y tamaño de lote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0.0001 y 32 muestras</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Presupuesto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Hasta 100 épocas, paciencia 10</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Selección</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Menor RMSE de validación en mm/h</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Reanudación en Khipu</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Checkpoint al cerrar cada época</a:t>
                      </a:r>
                    </a:p>
                  </a:txBody>
                  <a:tcPr marL="142875" marR="142875" marT="114300" marB="114300" anchor="ctr">
                    <a:solidFill>
                      <a:srgbClr val="FFFFFF"/>
                    </a:solidFill>
                  </a:tcPr>
                </a:tc>
              </a:tr>
            </a:tbl>
          </a:graphicData>
        </a:graphic>
      </p:graphicFrame>
      <p:sp>
        <p:nvSpPr>
          <p:cNvPr id="5" name="Normalización solo con train. Descomposición solo con la his">
            <a:extLst xmlns:a="http://schemas.openxmlformats.org/drawingml/2006/main">
              <a:ext uri="{FF2B5EF4-FFF2-40B4-BE49-F238E27FC236}">
                <a16:creationId xmlns:a16="http://schemas.microsoft.com/office/drawing/2014/main" id="{7198DEB3-69C0-41D6-9287-88873124669D}"/>
              </a:ext>
            </a:extLst>
          </p:cNvPr>
          <p:cNvSpPr>
            <a:spLocks xmlns:a="http://schemas.openxmlformats.org/drawingml/2006/main" noGrp="1"/>
          </p:cNvSpPr>
          <p:nvPr/>
        </p:nvSpPr>
        <p:spPr>
          <a:xfrm xmlns:a="http://schemas.openxmlformats.org/drawingml/2006/main">
            <a:off x="695325" y="5257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Normalización solo con train. Descomposición solo con la historia de cada muestra.</a:t>
            </a:r>
          </a:p>
        </p:txBody>
      </p:sp>
      <p:sp>
        <p:nvSpPr>
          <p:cNvPr id="6" name="y_aux y test_targets.csv quedan fuera de las entradas y de l">
            <a:extLst xmlns:a="http://schemas.openxmlformats.org/drawingml/2006/main">
              <a:ext uri="{FF2B5EF4-FFF2-40B4-BE49-F238E27FC236}">
                <a16:creationId xmlns:a16="http://schemas.microsoft.com/office/drawing/2014/main" id="{E22886C3-3115-4BE7-AB26-55D1FB34004C}"/>
              </a:ext>
            </a:extLst>
          </p:cNvPr>
          <p:cNvSpPr>
            <a:spLocks xmlns:a="http://schemas.openxmlformats.org/drawingml/2006/main" noGrp="1"/>
          </p:cNvSpPr>
          <p:nvPr/>
        </p:nvSpPr>
        <p:spPr>
          <a:xfrm xmlns:a="http://schemas.openxmlformats.org/drawingml/2006/main">
            <a:off x="695325"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y_aux y test_targets.csv quedan fuera de las entradas y de la selección del modelo.</a:t>
            </a:r>
          </a:p>
        </p:txBody>
      </p:sp>
    </p:spTree>
    <p:extLst>
      <p:ext uri="{BB962C8B-B14F-4D97-AF65-F5344CB8AC3E}">
        <p14:creationId xmlns:p14="http://schemas.microsoft.com/office/powerpoint/2010/main" val="3862973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ración y ablación previstas">
            <a:extLst xmlns:a="http://schemas.openxmlformats.org/drawingml/2006/main">
              <a:ext uri="{FF2B5EF4-FFF2-40B4-BE49-F238E27FC236}">
                <a16:creationId xmlns:a16="http://schemas.microsoft.com/office/drawing/2014/main" id="{288F3653-17A3-47D5-9859-26D28508E824}"/>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Comparación de modelos y ablación</a:t>
            </a:r>
          </a:p>
        </p:txBody>
      </p:sp>
      <p:sp>
        <p:nvSpPr>
          <p:cNvPr id="2" name="Configuraciones del proyecto. Parámetros registrados en docs">
            <a:extLst xmlns:a="http://schemas.openxmlformats.org/drawingml/2006/main">
              <a:ext uri="{FF2B5EF4-FFF2-40B4-BE49-F238E27FC236}">
                <a16:creationId xmlns:a16="http://schemas.microsoft.com/office/drawing/2014/main" id="{4A52C8B0-C23A-4E9F-BDD8-228FA2380BEF}"/>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Configuraciones del proyecto. Parámetros registrados en docs/implementation.md</a:t>
            </a:r>
          </a:p>
        </p:txBody>
      </p:sp>
      <p:sp>
        <p:nvSpPr>
          <p:cNvPr id="3" name="14">
            <a:extLst xmlns:a="http://schemas.openxmlformats.org/drawingml/2006/main">
              <a:ext uri="{FF2B5EF4-FFF2-40B4-BE49-F238E27FC236}">
                <a16:creationId xmlns:a16="http://schemas.microsoft.com/office/drawing/2014/main" id="{B2428570-7F6E-4C01-B1C7-F50F110EE948}"/>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14</a:t>
            </a:r>
          </a:p>
        </p:txBody>
      </p:sp>
      <p:graphicFrame>
        <p:nvGraphicFramePr>
          <p:cNvPr id="12"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1" bandRow="0"/>
              <a:tblGrid>
                <a:gridCol w="2952750"/>
                <a:gridCol w="5905500"/>
                <a:gridCol w="2114550"/>
              </a:tblGrid>
              <a:tr h="697230">
                <a:tc>
                  <a:txBody>
                    <a:bodyPr/>
                    <a:lstStyle/>
                    <a:p>
                      <a:r>
                        <a:rPr sz="1800" b="1">
                          <a:solidFill>
                            <a:srgbClr val="064B6B"/>
                          </a:solidFill>
                          <a:latin typeface="Helvetica Neue"/>
                          <a:ea typeface="Helvetica Neue"/>
                          <a:cs typeface="Helvetica Neue"/>
                        </a:rPr>
                        <a:t>Método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Pregunta que responde</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Parámetros</a:t>
                      </a:r>
                    </a:p>
                  </a:txBody>
                  <a:tcPr marL="142875" marR="142875" marT="114300" marB="114300" anchor="ctr">
                    <a:solidFill>
                      <a:srgbClr val="EAF4F8"/>
                    </a:solidFill>
                  </a:tcPr>
                </a:tc>
              </a:tr>
              <a:tr h="697230">
                <a:tc>
                  <a:txBody>
                    <a:bodyPr/>
                    <a:lstStyle/>
                    <a:p>
                      <a:r>
                        <a:rPr sz="1800" b="0">
                          <a:solidFill>
                            <a:srgbClr val="242C33"/>
                          </a:solidFill>
                          <a:latin typeface="Helvetica Neue"/>
                          <a:ea typeface="Helvetica Neue"/>
                          <a:cs typeface="Helvetica Neue"/>
                        </a:rPr>
                        <a:t>Persistencia (extensión)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¿Superamos repetir el último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LSTM multivariada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¿Mejora la propuesta frente al modelo base?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815 152</a:t>
                      </a:r>
                    </a:p>
                  </a:txBody>
                  <a:tcPr marL="142875" marR="142875" marT="114300" marB="114300" anchor="ctr">
                    <a:solidFill>
                      <a:srgbClr val="F5F7F8"/>
                    </a:solidFill>
                  </a:tcPr>
                </a:tc>
              </a:tr>
              <a:tr h="697230">
                <a:tc>
                  <a:txBody>
                    <a:bodyPr/>
                    <a:lstStyle/>
                    <a:p>
                      <a:r>
                        <a:rPr sz="1800" b="0">
                          <a:solidFill>
                            <a:srgbClr val="242C33"/>
                          </a:solidFill>
                          <a:latin typeface="Helvetica Neue"/>
                          <a:ea typeface="Helvetica Neue"/>
                          <a:cs typeface="Helvetica Neue"/>
                        </a:rPr>
                        <a:t>DMEL adaptado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¿Funciona la representación con dos ramas?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3 648 561</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Dos ramas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¿Aporta la especialización con LSTM?</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5 666 818</a:t>
                      </a:r>
                    </a:p>
                  </a:txBody>
                  <a:tcPr marL="142875" marR="142875" marT="114300" marB="114300" anchor="ctr">
                    <a:solidFill>
                      <a:srgbClr val="F5F7F8"/>
                    </a:solidFill>
                  </a:tcPr>
                </a:tc>
              </a:tr>
            </a:tbl>
          </a:graphicData>
        </a:graphic>
      </p:graphicFrame>
      <p:sp>
        <p:nvSpPr>
          <p:cNvPr id="5" name="Mismo split, semilla 42, normalización y presupuesto de entr">
            <a:extLst xmlns:a="http://schemas.openxmlformats.org/drawingml/2006/main">
              <a:ext uri="{FF2B5EF4-FFF2-40B4-BE49-F238E27FC236}">
                <a16:creationId xmlns:a16="http://schemas.microsoft.com/office/drawing/2014/main" id="{5E481492-DE03-4386-9E40-8BFA6A7310BE}"/>
              </a:ext>
            </a:extLst>
          </p:cNvPr>
          <p:cNvSpPr>
            <a:spLocks xmlns:a="http://schemas.openxmlformats.org/drawingml/2006/main" noGrp="1"/>
          </p:cNvSpPr>
          <p:nvPr/>
        </p:nvSpPr>
        <p:spPr>
          <a:xfrm xmlns:a="http://schemas.openxmlformats.org/drawingml/2006/main">
            <a:off x="685800" y="5476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Split y semilla 42 comunes. Ablación: dos corridas nuevas de 3 épocas.</a:t>
            </a:r>
          </a:p>
        </p:txBody>
      </p:sp>
      <p:sp>
        <p:nvSpPr>
          <p:cNvPr id="6" name="La ablación también cambia la capacidad del modelo. Una semi">
            <a:extLst xmlns:a="http://schemas.openxmlformats.org/drawingml/2006/main">
              <a:ext uri="{FF2B5EF4-FFF2-40B4-BE49-F238E27FC236}">
                <a16:creationId xmlns:a16="http://schemas.microsoft.com/office/drawing/2014/main" id="{738C7364-00F1-4A78-8C47-7E1DB072C7D5}"/>
              </a:ext>
            </a:extLst>
          </p:cNvPr>
          <p:cNvSpPr>
            <a:spLocks xmlns:a="http://schemas.openxmlformats.org/drawingml/2006/main" noGrp="1"/>
          </p:cNvSpPr>
          <p:nvPr/>
        </p:nvSpPr>
        <p:spPr>
          <a:xfrm xmlns:a="http://schemas.openxmlformats.org/drawingml/2006/main">
            <a:off x="685800" y="5943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La ablación también cambia la capacidad del modelo. Una semilla limita la evidencia estadística.</a:t>
            </a:r>
          </a:p>
        </p:txBody>
      </p:sp>
    </p:spTree>
    <p:extLst>
      <p:ext uri="{BB962C8B-B14F-4D97-AF65-F5344CB8AC3E}">
        <p14:creationId xmlns:p14="http://schemas.microsoft.com/office/powerpoint/2010/main" val="6970252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valuación por horizonte y por cuenca">
            <a:extLst xmlns:a="http://schemas.openxmlformats.org/drawingml/2006/main">
              <a:ext uri="{FF2B5EF4-FFF2-40B4-BE49-F238E27FC236}">
                <a16:creationId xmlns:a16="http://schemas.microsoft.com/office/drawing/2014/main" id="{E12A4B43-12C9-4AAC-83DF-22E680C063D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Evaluación por horizonte y por cuenca</a:t>
            </a:r>
          </a:p>
        </p:txBody>
      </p:sp>
      <p:sp>
        <p:nvSpPr>
          <p:cNvPr id="2" name="dmel/metrics.py; Knoben et al. (2019)">
            <a:extLst xmlns:a="http://schemas.openxmlformats.org/drawingml/2006/main">
              <a:ext uri="{FF2B5EF4-FFF2-40B4-BE49-F238E27FC236}">
                <a16:creationId xmlns:a16="http://schemas.microsoft.com/office/drawing/2014/main" id="{00C02DA7-61BC-4D12-A44A-AAA6A8F208EB}"/>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dmel/metrics.py; Knoben et al. (2019)</a:t>
            </a:r>
          </a:p>
        </p:txBody>
      </p:sp>
      <p:sp>
        <p:nvSpPr>
          <p:cNvPr id="3" name="15">
            <a:extLst xmlns:a="http://schemas.openxmlformats.org/drawingml/2006/main">
              <a:ext uri="{FF2B5EF4-FFF2-40B4-BE49-F238E27FC236}">
                <a16:creationId xmlns:a16="http://schemas.microsoft.com/office/drawing/2014/main" id="{66385AC5-C1B4-4069-9EC6-949B865C48F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15</a:t>
            </a:r>
          </a:p>
        </p:txBody>
      </p:sp>
      <p:graphicFrame>
        <p:nvGraphicFramePr>
          <p:cNvPr id="12" name=""/>
          <p:cNvGraphicFramePr/>
          <p:nvPr/>
        </p:nvGraphicFramePr>
        <p:xfrm>
          <a:off xmlns:a="http://schemas.openxmlformats.org/drawingml/2006/main" x="609600" y="1657350"/>
          <a:ext xmlns:a="http://schemas.openxmlformats.org/drawingml/2006/main" cx="10972800" cy="3114675"/>
        </p:xfrm>
        <a:graphic xmlns:a="http://schemas.openxmlformats.org/drawingml/2006/main">
          <a:graphicData uri="http://schemas.openxmlformats.org/drawingml/2006/table">
            <a:tbl>
              <a:tblPr firstRow="1" bandRow="0"/>
              <a:tblGrid>
                <a:gridCol w="3571875"/>
                <a:gridCol w="7400925"/>
              </a:tblGrid>
              <a:tr h="622935">
                <a:tc>
                  <a:txBody>
                    <a:bodyPr/>
                    <a:lstStyle/>
                    <a:p>
                      <a:r>
                        <a:rPr sz="1875" b="1">
                          <a:solidFill>
                            <a:srgbClr val="064B6B"/>
                          </a:solidFill>
                          <a:latin typeface="Helvetica Neue"/>
                          <a:ea typeface="Helvetica Neue"/>
                          <a:cs typeface="Helvetica Neue"/>
                        </a:rPr>
                        <a:t>Medida</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Lectura</a:t>
                      </a:r>
                    </a:p>
                  </a:txBody>
                  <a:tcPr marL="142875" marR="142875" marT="114300" marB="114300" anchor="ctr">
                    <a:solidFill>
                      <a:srgbClr val="EAF4F8"/>
                    </a:solidFill>
                  </a:tcPr>
                </a:tc>
              </a:tr>
              <a:tr h="622935">
                <a:tc>
                  <a:txBody>
                    <a:bodyPr/>
                    <a:lstStyle/>
                    <a:p>
                      <a:r>
                        <a:rPr sz="1875" b="0">
                          <a:solidFill>
                            <a:srgbClr val="242C33"/>
                          </a:solidFill>
                          <a:latin typeface="Helvetica Neue"/>
                          <a:ea typeface="Helvetica Neue"/>
                          <a:cs typeface="Helvetica Neue"/>
                        </a:rPr>
                        <a:t>RMSE y MAE, mm/h</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Magnitud del error en las unidades del objetivo</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NSE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Comparación con la media observada del conjunto evaluado</a:t>
                      </a:r>
                    </a:p>
                  </a:txBody>
                  <a:tcPr marL="142875" marR="142875" marT="114300" marB="114300" anchor="ctr">
                    <a:solidFill>
                      <a:srgbClr val="F5F7F8"/>
                    </a:solidFill>
                  </a:tcPr>
                </a:tc>
              </a:tr>
              <a:tr h="622935">
                <a:tc>
                  <a:txBody>
                    <a:bodyPr/>
                    <a:lstStyle/>
                    <a:p>
                      <a:r>
                        <a:rPr sz="1875" b="0">
                          <a:solidFill>
                            <a:srgbClr val="242C33"/>
                          </a:solidFill>
                          <a:latin typeface="Helvetica Neue"/>
                          <a:ea typeface="Helvetica Neue"/>
                          <a:cs typeface="Helvetica Neue"/>
                        </a:rPr>
                        <a:t>KGE 2009</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Correlación, variabilidad relativa y sesgo de la media</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Sesgo y valores negativos</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Errores sistemáticos y coherencia física</a:t>
                      </a:r>
                    </a:p>
                  </a:txBody>
                  <a:tcPr marL="142875" marR="142875" marT="114300" marB="114300" anchor="ctr">
                    <a:solidFill>
                      <a:srgbClr val="F5F7F8"/>
                    </a:solidFill>
                  </a:tcPr>
                </a:tc>
              </a:tr>
            </a:tbl>
          </a:graphicData>
        </a:graphic>
      </p:graphicFrame>
      <p:sp>
        <p:nvSpPr>
          <p:cNvPr id="5" name="Reportes globales, h = 1…48 y métricas por cuenca">
            <a:extLst xmlns:a="http://schemas.openxmlformats.org/drawingml/2006/main">
              <a:ext uri="{FF2B5EF4-FFF2-40B4-BE49-F238E27FC236}">
                <a16:creationId xmlns:a16="http://schemas.microsoft.com/office/drawing/2014/main" id="{DBF703D8-2FD8-4370-92C4-5A3F47A6235C}"/>
              </a:ext>
            </a:extLst>
          </p:cNvPr>
          <p:cNvSpPr>
            <a:spLocks xmlns:a="http://schemas.openxmlformats.org/drawingml/2006/main" noGrp="1"/>
          </p:cNvSpPr>
          <p:nvPr/>
        </p:nvSpPr>
        <p:spPr>
          <a:xfrm xmlns:a="http://schemas.openxmlformats.org/drawingml/2006/main">
            <a:off x="695325" y="51720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007FA3"/>
                </a:solidFill>
                <a:latin typeface="Helvetica Neue"/>
                <a:ea typeface="Helvetica Neue"/>
                <a:cs typeface="Helvetica Neue"/>
              </a:defRPr>
            </a:pPr>
            <a:r>
              <a:rPr sz="2325" b="1">
                <a:solidFill>
                  <a:srgbClr val="007FA3"/>
                </a:solidFill>
                <a:latin typeface="Helvetica Neue"/>
                <a:ea typeface="Helvetica Neue"/>
                <a:cs typeface="Helvetica Neue"/>
              </a:rPr>
              <a:t>Reportes globales, h = 1…48 y métricas por cuenca</a:t>
            </a:r>
          </a:p>
        </p:txBody>
      </p:sp>
      <p:sp>
        <p:nvSpPr>
          <p:cNvPr id="6" name="Sin fechas absolutas, las filas no forman una serie temporal">
            <a:extLst xmlns:a="http://schemas.openxmlformats.org/drawingml/2006/main">
              <a:ext uri="{FF2B5EF4-FFF2-40B4-BE49-F238E27FC236}">
                <a16:creationId xmlns:a16="http://schemas.microsoft.com/office/drawing/2014/main" id="{96F76FA3-167B-4701-AD51-463F63A4374A}"/>
              </a:ext>
            </a:extLst>
          </p:cNvPr>
          <p:cNvSpPr>
            <a:spLocks xmlns:a="http://schemas.openxmlformats.org/drawingml/2006/main" noGrp="1"/>
          </p:cNvSpPr>
          <p:nvPr/>
        </p:nvSpPr>
        <p:spPr>
          <a:xfrm xmlns:a="http://schemas.openxmlformats.org/drawingml/2006/main">
            <a:off x="695325"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Sin fechas absolutas, las filas no forman una serie temporal continua.</a:t>
            </a:r>
          </a:p>
        </p:txBody>
      </p:sp>
    </p:spTree>
    <p:extLst>
      <p:ext uri="{BB962C8B-B14F-4D97-AF65-F5344CB8AC3E}">
        <p14:creationId xmlns:p14="http://schemas.microsoft.com/office/powerpoint/2010/main" val="15061779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STM obtiene menor error global">
            <a:extLst xmlns:a="http://schemas.openxmlformats.org/drawingml/2006/main">
              <a:ext uri="{FF2B5EF4-FFF2-40B4-BE49-F238E27FC236}">
                <a16:creationId xmlns:a16="http://schemas.microsoft.com/office/drawing/2014/main" id="{AC9F613D-F92C-4A74-8646-73F2A46EB26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LSTM obtiene menor error global</a:t>
            </a:r>
          </a:p>
        </p:txBody>
      </p:sp>
      <p:sp>
        <p:nvSpPr>
          <p:cNvPr id="2" name="Validación propia, semilla 42. Jobs 53987 y 54181 completados. S">
            <a:extLst xmlns:a="http://schemas.openxmlformats.org/drawingml/2006/main">
              <a:ext uri="{FF2B5EF4-FFF2-40B4-BE49-F238E27FC236}">
                <a16:creationId xmlns:a16="http://schemas.microsoft.com/office/drawing/2014/main" id="{1612B1EE-9154-4ED2-8CC3-CEFCB3A97A6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propia, semilla 42. Jobs 53987 y 54181 completados. Sin recorte a cero</a:t>
            </a:r>
          </a:p>
        </p:txBody>
      </p:sp>
      <p:sp>
        <p:nvSpPr>
          <p:cNvPr id="3" name="00">
            <a:extLst xmlns:a="http://schemas.openxmlformats.org/drawingml/2006/main">
              <a:ext uri="{FF2B5EF4-FFF2-40B4-BE49-F238E27FC236}">
                <a16:creationId xmlns:a16="http://schemas.microsoft.com/office/drawing/2014/main" id="{1C1DABDE-3CD4-40A9-9C94-19C5ED769FD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16</a:t>
            </a:r>
          </a:p>
        </p:txBody>
      </p:sp>
      <p:sp>
        <p:nvSpPr>
          <p:cNvPr id="4" name="18 142 ventanas, 48 horizontes y 508 cuencas">
            <a:extLst xmlns:a="http://schemas.openxmlformats.org/drawingml/2006/main">
              <a:ext uri="{FF2B5EF4-FFF2-40B4-BE49-F238E27FC236}">
                <a16:creationId xmlns:a16="http://schemas.microsoft.com/office/drawing/2014/main" id="{EB2B9A1A-F3B4-4801-9CB5-7C7CDA64D731}"/>
              </a:ext>
            </a:extLst>
          </p:cNvPr>
          <p:cNvSpPr>
            <a:spLocks xmlns:a="http://schemas.openxmlformats.org/drawingml/2006/main" noGrp="1"/>
          </p:cNvSpPr>
          <p:nvPr/>
        </p:nvSpPr>
        <p:spPr>
          <a:xfrm xmlns:a="http://schemas.openxmlformats.org/drawingml/2006/main">
            <a:off x="714375" y="14287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1">
                <a:solidFill>
                  <a:srgbClr val="007FA3"/>
                </a:solidFill>
                <a:latin typeface="Helvetica Neue"/>
                <a:ea typeface="Helvetica Neue"/>
                <a:cs typeface="Helvetica Neue"/>
              </a:defRPr>
            </a:pPr>
            <a:r>
              <a:rPr sz="2250" b="1">
                <a:solidFill>
                  <a:srgbClr val="007FA3"/>
                </a:solidFill>
                <a:latin typeface="Helvetica Neue"/>
                <a:ea typeface="Helvetica Neue"/>
                <a:cs typeface="Helvetica Neue"/>
              </a:rPr>
              <a:t>18 142 ventanas, 48 horizontes y 508 cuencas</a:t>
            </a:r>
          </a:p>
        </p:txBody>
      </p:sp>
      <p:graphicFrame>
        <p:nvGraphicFramePr>
          <p:cNvPr id="14" name=""/>
          <p:cNvGraphicFramePr/>
          <p:nvPr/>
        </p:nvGraphicFramePr>
        <p:xfrm>
          <a:off xmlns:a="http://schemas.openxmlformats.org/drawingml/2006/main" x="609600" y="2028825"/>
          <a:ext xmlns:a="http://schemas.openxmlformats.org/drawingml/2006/main" cx="10972800" cy="3314700"/>
        </p:xfrm>
        <a:graphic xmlns:a="http://schemas.openxmlformats.org/drawingml/2006/main">
          <a:graphicData uri="http://schemas.openxmlformats.org/drawingml/2006/table">
            <a:tbl>
              <a:tblPr firstRow="1" bandRow="0"/>
              <a:tblGrid>
                <a:gridCol w="5334000"/>
                <a:gridCol w="2819400"/>
                <a:gridCol w="2819400"/>
              </a:tblGrid>
              <a:tr h="552450">
                <a:tc>
                  <a:txBody>
                    <a:bodyPr/>
                    <a:lstStyle/>
                    <a:p>
                      <a:r>
                        <a:rPr sz="1950" b="1">
                          <a:solidFill>
                            <a:srgbClr val="064B6B"/>
                          </a:solidFill>
                          <a:latin typeface="Helvetica Neue"/>
                          <a:ea typeface="Helvetica Neue"/>
                          <a:cs typeface="Helvetica Neue"/>
                        </a:rPr>
                        <a:t>Métrica global</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LSTM</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DMEL</a:t>
                      </a:r>
                    </a:p>
                  </a:txBody>
                  <a:tcPr marL="142875" marR="142875" marT="114300" marB="114300" anchor="ctr">
                    <a:solidFill>
                      <a:srgbClr val="EAF4F8"/>
                    </a:solidFill>
                  </a:tcPr>
                </a:tc>
              </a:tr>
              <a:tr h="552450">
                <a:tc>
                  <a:txBody>
                    <a:bodyPr/>
                    <a:lstStyle/>
                    <a:p>
                      <a:r>
                        <a:rPr sz="1950" b="0">
                          <a:solidFill>
                            <a:srgbClr val="242C33"/>
                          </a:solidFill>
                          <a:latin typeface="Helvetica Neue"/>
                          <a:ea typeface="Helvetica Neue"/>
                          <a:cs typeface="Helvetica Neue"/>
                        </a:rPr>
                        <a:t>RMSE (mm/h)</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0.1023</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0.1057</a:t>
                      </a:r>
                    </a:p>
                  </a:txBody>
                  <a:tcPr marL="142875" marR="142875" marT="114300" marB="114300" anchor="ctr">
                    <a:solidFill>
                      <a:srgbClr val="FFFFFF"/>
                    </a:solidFill>
                  </a:tcPr>
                </a:tc>
              </a:tr>
              <a:tr h="552450">
                <a:tc>
                  <a:txBody>
                    <a:bodyPr/>
                    <a:lstStyle/>
                    <a:p>
                      <a:r>
                        <a:rPr sz="1950" b="0">
                          <a:solidFill>
                            <a:srgbClr val="242C33"/>
                          </a:solidFill>
                          <a:latin typeface="Helvetica Neue"/>
                          <a:ea typeface="Helvetica Neue"/>
                          <a:cs typeface="Helvetica Neue"/>
                        </a:rPr>
                        <a:t>MAE (mm/h)</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0.0213</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0.0223</a:t>
                      </a:r>
                    </a:p>
                  </a:txBody>
                  <a:tcPr marL="142875" marR="142875" marT="114300" marB="114300" anchor="ctr">
                    <a:solidFill>
                      <a:srgbClr val="F5F7F8"/>
                    </a:solidFill>
                  </a:tcPr>
                </a:tc>
              </a:tr>
              <a:tr h="552450">
                <a:tc>
                  <a:txBody>
                    <a:bodyPr/>
                    <a:lstStyle/>
                    <a:p>
                      <a:r>
                        <a:rPr sz="1950" b="0">
                          <a:solidFill>
                            <a:srgbClr val="242C33"/>
                          </a:solidFill>
                          <a:latin typeface="Helvetica Neue"/>
                          <a:ea typeface="Helvetica Neue"/>
                          <a:cs typeface="Helvetica Neue"/>
                        </a:rPr>
                        <a:t>NSE</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0.6447</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0.6208</a:t>
                      </a:r>
                    </a:p>
                  </a:txBody>
                  <a:tcPr marL="142875" marR="142875" marT="114300" marB="114300" anchor="ctr">
                    <a:solidFill>
                      <a:srgbClr val="FFFFFF"/>
                    </a:solidFill>
                  </a:tcPr>
                </a:tc>
              </a:tr>
              <a:tr h="552450">
                <a:tc>
                  <a:txBody>
                    <a:bodyPr/>
                    <a:lstStyle/>
                    <a:p>
                      <a:r>
                        <a:rPr sz="1950" b="0">
                          <a:solidFill>
                            <a:srgbClr val="242C33"/>
                          </a:solidFill>
                          <a:latin typeface="Helvetica Neue"/>
                          <a:ea typeface="Helvetica Neue"/>
                          <a:cs typeface="Helvetica Neue"/>
                        </a:rPr>
                        <a:t>KGE 2009</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0.7221</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0.7188</a:t>
                      </a:r>
                    </a:p>
                  </a:txBody>
                  <a:tcPr marL="142875" marR="142875" marT="114300" marB="114300" anchor="ctr">
                    <a:solidFill>
                      <a:srgbClr val="F5F7F8"/>
                    </a:solidFill>
                  </a:tcPr>
                </a:tc>
              </a:tr>
              <a:tr h="552450">
                <a:tc>
                  <a:txBody>
                    <a:bodyPr/>
                    <a:lstStyle/>
                    <a:p>
                      <a:r>
                        <a:rPr sz="1950" b="0">
                          <a:solidFill>
                            <a:srgbClr val="242C33"/>
                          </a:solidFill>
                          <a:latin typeface="Helvetica Neue"/>
                          <a:ea typeface="Helvetica Neue"/>
                          <a:cs typeface="Helvetica Neue"/>
                        </a:rPr>
                        <a:t>Predicciones negativas</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3.26 %</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1.08 %</a:t>
                      </a:r>
                    </a:p>
                  </a:txBody>
                  <a:tcPr marL="142875" marR="142875" marT="114300" marB="114300" anchor="ctr">
                    <a:solidFill>
                      <a:srgbClr val="FFFFFF"/>
                    </a:solidFill>
                  </a:tcPr>
                </a:tc>
              </a:tr>
            </a:tbl>
          </a:graphicData>
        </a:graphic>
      </p:graphicFrame>
      <p:sp>
        <p:nvSpPr>
          <p:cNvPr id="6" name="DMEL: RMSE 3.31 % mayor, con menos predicciones negativas">
            <a:extLst xmlns:a="http://schemas.openxmlformats.org/drawingml/2006/main">
              <a:ext uri="{FF2B5EF4-FFF2-40B4-BE49-F238E27FC236}">
                <a16:creationId xmlns:a16="http://schemas.microsoft.com/office/drawing/2014/main" id="{9A3C7563-695D-4BFA-8880-D027F547CABF}"/>
              </a:ext>
            </a:extLst>
          </p:cNvPr>
          <p:cNvSpPr>
            <a:spLocks xmlns:a="http://schemas.openxmlformats.org/drawingml/2006/main" noGrp="1"/>
          </p:cNvSpPr>
          <p:nvPr/>
        </p:nvSpPr>
        <p:spPr>
          <a:xfrm xmlns:a="http://schemas.openxmlformats.org/drawingml/2006/main">
            <a:off x="733425" y="5572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DMEL: RMSE 3.31 % mayor, con menos predicciones negativas</a:t>
            </a:r>
          </a:p>
        </p:txBody>
      </p:sp>
      <p:sp>
        <p:nvSpPr>
          <p:cNvPr id="7" name="Una corrida por modelo. Validación utilizada para seleccionar lo">
            <a:extLst xmlns:a="http://schemas.openxmlformats.org/drawingml/2006/main">
              <a:ext uri="{FF2B5EF4-FFF2-40B4-BE49-F238E27FC236}">
                <a16:creationId xmlns:a16="http://schemas.microsoft.com/office/drawing/2014/main" id="{607F605F-6C06-4D2B-9F56-71B0D8721679}"/>
              </a:ext>
            </a:extLst>
          </p:cNvPr>
          <p:cNvSpPr>
            <a:spLocks xmlns:a="http://schemas.openxmlformats.org/drawingml/2006/main" noGrp="1"/>
          </p:cNvSpPr>
          <p:nvPr/>
        </p:nvSpPr>
        <p:spPr>
          <a:xfrm xmlns:a="http://schemas.openxmlformats.org/drawingml/2006/main">
            <a:off x="742950" y="6019800"/>
            <a:ext cx="10763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Una corrida por modelo. Validación utilizada para seleccionar los pesos.</a:t>
            </a:r>
          </a:p>
        </p:txBody>
      </p:sp>
    </p:spTree>
    <p:extLst>
      <p:ext uri="{BB962C8B-B14F-4D97-AF65-F5344CB8AC3E}">
        <p14:creationId xmlns:p14="http://schemas.microsoft.com/office/powerpoint/2010/main" val="103253858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prendizaje y selección del checkpoint">
            <a:extLst xmlns:a="http://schemas.openxmlformats.org/drawingml/2006/main">
              <a:ext uri="{FF2B5EF4-FFF2-40B4-BE49-F238E27FC236}">
                <a16:creationId xmlns:a16="http://schemas.microsoft.com/office/drawing/2014/main" id="{75FE6888-C3D2-4934-9209-AC564E8A344F}"/>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Aprendizaje y selección del checkpoint</a:t>
            </a:r>
          </a:p>
        </p:txBody>
      </p:sp>
      <p:sp>
        <p:nvSpPr>
          <p:cNvPr id="2" name="Historiales de ambos jobs. Épocas numeradas desde 1. Máximo 100,">
            <a:extLst xmlns:a="http://schemas.openxmlformats.org/drawingml/2006/main">
              <a:ext uri="{FF2B5EF4-FFF2-40B4-BE49-F238E27FC236}">
                <a16:creationId xmlns:a16="http://schemas.microsoft.com/office/drawing/2014/main" id="{3C4755AF-6ACE-44FB-8FA2-29925ED92C7C}"/>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Historiales de ambos jobs. Épocas numeradas desde 1. Máximo 100, paciencia 10</a:t>
            </a:r>
          </a:p>
        </p:txBody>
      </p:sp>
      <p:sp>
        <p:nvSpPr>
          <p:cNvPr id="3" name="00">
            <a:extLst xmlns:a="http://schemas.openxmlformats.org/drawingml/2006/main">
              <a:ext uri="{FF2B5EF4-FFF2-40B4-BE49-F238E27FC236}">
                <a16:creationId xmlns:a16="http://schemas.microsoft.com/office/drawing/2014/main" id="{28750C49-74E7-4FF5-9A37-684F7BD0291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17</a:t>
            </a:r>
          </a:p>
        </p:txBody>
      </p:sp>
      <p:sp>
        <p:nvSpPr>
          <p:cNvPr id="4" name="Entrenamiento">
            <a:extLst xmlns:a="http://schemas.openxmlformats.org/drawingml/2006/main">
              <a:ext uri="{FF2B5EF4-FFF2-40B4-BE49-F238E27FC236}">
                <a16:creationId xmlns:a16="http://schemas.microsoft.com/office/drawing/2014/main" id="{776C7D7E-22B1-422E-92B3-8164FF321B2C}"/>
              </a:ext>
            </a:extLst>
          </p:cNvPr>
          <p:cNvSpPr>
            <a:spLocks xmlns:a="http://schemas.openxmlformats.org/drawingml/2006/main" noGrp="1"/>
          </p:cNvSpPr>
          <p:nvPr/>
        </p:nvSpPr>
        <p:spPr>
          <a:xfrm xmlns:a="http://schemas.openxmlformats.org/drawingml/2006/main">
            <a:off x="800100"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Entrenamiento</a:t>
            </a:r>
          </a:p>
        </p:txBody>
      </p:sp>
      <p:sp>
        <p:nvSpPr>
          <p:cNvPr id="5" name="Validación">
            <a:extLst xmlns:a="http://schemas.openxmlformats.org/drawingml/2006/main">
              <a:ext uri="{FF2B5EF4-FFF2-40B4-BE49-F238E27FC236}">
                <a16:creationId xmlns:a16="http://schemas.microsoft.com/office/drawing/2014/main" id="{63F4490E-6059-4806-A063-B8019A7294C3}"/>
              </a:ext>
            </a:extLst>
          </p:cNvPr>
          <p:cNvSpPr>
            <a:spLocks xmlns:a="http://schemas.openxmlformats.org/drawingml/2006/main" noGrp="1"/>
          </p:cNvSpPr>
          <p:nvPr/>
        </p:nvSpPr>
        <p:spPr>
          <a:xfrm xmlns:a="http://schemas.openxmlformats.org/drawingml/2006/main">
            <a:off x="6524625"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Validación</a:t>
            </a:r>
          </a:p>
        </p:txBody>
      </p:sp>
      <p:graphicFrame>
        <p:nvGraphicFramePr>
          <p:cNvPr id="18" name="Chart"/>
          <p:cNvGraphicFramePr/>
          <p:nvPr/>
        </p:nvGraphicFramePr>
        <p:xfrm>
          <a:off xmlns:a="http://schemas.openxmlformats.org/drawingml/2006/main" x="666750" y="1952625"/>
          <a:ext xmlns:a="http://schemas.openxmlformats.org/drawingml/2006/main" cx="5095875" cy="3476625"/>
        </p:xfrm>
        <a:graphic xmlns:a="http://schemas.openxmlformats.org/drawingml/2006/main">
          <a:graphicData uri="http://schemas.openxmlformats.org/drawingml/2006/chart">
            <c:chart xmlns:r="http://schemas.openxmlformats.org/officeDocument/2006/relationships" xmlns:c="http://schemas.openxmlformats.org/drawingml/2006/chart" r:id="R0af6d54065864e54"/>
          </a:graphicData>
        </a:graphic>
      </p:graphicFrame>
      <p:graphicFrame>
        <p:nvGraphicFramePr>
          <p:cNvPr id="19" name="Chart"/>
          <p:cNvGraphicFramePr/>
          <p:nvPr/>
        </p:nvGraphicFramePr>
        <p:xfrm>
          <a:off xmlns:a="http://schemas.openxmlformats.org/drawingml/2006/main" x="6353175" y="1952625"/>
          <a:ext xmlns:a="http://schemas.openxmlformats.org/drawingml/2006/main" cx="5095875" cy="3476625"/>
        </p:xfrm>
        <a:graphic xmlns:a="http://schemas.openxmlformats.org/drawingml/2006/main">
          <a:graphicData uri="http://schemas.openxmlformats.org/drawingml/2006/chart">
            <c:chart xmlns:r="http://schemas.openxmlformats.org/officeDocument/2006/relationships" xmlns:c="http://schemas.openxmlformats.org/drawingml/2006/chart" r:id="R0e3c0f3dfbf94803"/>
          </a:graphicData>
        </a:graphic>
      </p:graphicFrame>
      <p:sp>
        <p:nvSpPr>
          <p:cNvPr id="8" name="Ambos seleccionan la época 10 y paran después de la época 20">
            <a:extLst xmlns:a="http://schemas.openxmlformats.org/drawingml/2006/main">
              <a:ext uri="{FF2B5EF4-FFF2-40B4-BE49-F238E27FC236}">
                <a16:creationId xmlns:a16="http://schemas.microsoft.com/office/drawing/2014/main" id="{0EFD1AFA-F2B0-4C47-A610-75DF3A4B6650}"/>
              </a:ext>
            </a:extLst>
          </p:cNvPr>
          <p:cNvSpPr>
            <a:spLocks xmlns:a="http://schemas.openxmlformats.org/drawingml/2006/main" noGrp="1"/>
          </p:cNvSpPr>
          <p:nvPr/>
        </p:nvSpPr>
        <p:spPr>
          <a:xfrm xmlns:a="http://schemas.openxmlformats.org/drawingml/2006/main">
            <a:off x="771525" y="56292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Ambos seleccionan la época 10 y paran después de la época 20</a:t>
            </a:r>
          </a:p>
        </p:txBody>
      </p:sp>
      <p:sp>
        <p:nvSpPr>
          <p:cNvPr id="9" name="La pérdida de entrenamiento baja mientras validación deja de mej">
            <a:extLst xmlns:a="http://schemas.openxmlformats.org/drawingml/2006/main">
              <a:ext uri="{FF2B5EF4-FFF2-40B4-BE49-F238E27FC236}">
                <a16:creationId xmlns:a16="http://schemas.microsoft.com/office/drawing/2014/main" id="{F73EFB05-E47B-4147-A936-F76607C32BBF}"/>
              </a:ext>
            </a:extLst>
          </p:cNvPr>
          <p:cNvSpPr>
            <a:spLocks xmlns:a="http://schemas.openxmlformats.org/drawingml/2006/main" noGrp="1"/>
          </p:cNvSpPr>
          <p:nvPr/>
        </p:nvSpPr>
        <p:spPr>
          <a:xfrm xmlns:a="http://schemas.openxmlformats.org/drawingml/2006/main">
            <a:off x="771525" y="607695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 pérdida de entrenamiento baja mientras validación deja de mejorar.</a:t>
            </a:r>
          </a:p>
        </p:txBody>
      </p:sp>
    </p:spTree>
    <p:extLst>
      <p:ext uri="{BB962C8B-B14F-4D97-AF65-F5344CB8AC3E}">
        <p14:creationId xmlns:p14="http://schemas.microsoft.com/office/powerpoint/2010/main" val="17304912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mparación en los 48 horizontes">
            <a:extLst xmlns:a="http://schemas.openxmlformats.org/drawingml/2006/main">
              <a:ext uri="{FF2B5EF4-FFF2-40B4-BE49-F238E27FC236}">
                <a16:creationId xmlns:a16="http://schemas.microsoft.com/office/drawing/2014/main" id="{F8021034-DEEB-42ED-9A2F-8445CEB1A6CD}"/>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Comparación en los 48 horizontes</a:t>
            </a:r>
          </a:p>
        </p:txBody>
      </p:sp>
      <p:sp>
        <p:nvSpPr>
          <p:cNvPr id="2" name="Validación de los mejores checkpoints. 18 142 pronósticos por ho">
            <a:extLst xmlns:a="http://schemas.openxmlformats.org/drawingml/2006/main">
              <a:ext uri="{FF2B5EF4-FFF2-40B4-BE49-F238E27FC236}">
                <a16:creationId xmlns:a16="http://schemas.microsoft.com/office/drawing/2014/main" id="{12E73992-97A6-4ADC-8126-F522868EE1C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de los mejores checkpoints. 18 142 pronósticos por horizonte y modelo</a:t>
            </a:r>
          </a:p>
        </p:txBody>
      </p:sp>
      <p:sp>
        <p:nvSpPr>
          <p:cNvPr id="3" name="00">
            <a:extLst xmlns:a="http://schemas.openxmlformats.org/drawingml/2006/main">
              <a:ext uri="{FF2B5EF4-FFF2-40B4-BE49-F238E27FC236}">
                <a16:creationId xmlns:a16="http://schemas.microsoft.com/office/drawing/2014/main" id="{76FB8E80-74C3-4B6A-AC6D-E98970EF6CFE}"/>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18</a:t>
            </a:r>
          </a:p>
        </p:txBody>
      </p:sp>
      <p:sp>
        <p:nvSpPr>
          <p:cNvPr id="4" name="Error en unidades físicas">
            <a:extLst xmlns:a="http://schemas.openxmlformats.org/drawingml/2006/main">
              <a:ext uri="{FF2B5EF4-FFF2-40B4-BE49-F238E27FC236}">
                <a16:creationId xmlns:a16="http://schemas.microsoft.com/office/drawing/2014/main" id="{EED7F6A5-5BCE-4094-95CD-DF9253935602}"/>
              </a:ext>
            </a:extLst>
          </p:cNvPr>
          <p:cNvSpPr>
            <a:spLocks xmlns:a="http://schemas.openxmlformats.org/drawingml/2006/main" noGrp="1"/>
          </p:cNvSpPr>
          <p:nvPr/>
        </p:nvSpPr>
        <p:spPr>
          <a:xfrm xmlns:a="http://schemas.openxmlformats.org/drawingml/2006/main">
            <a:off x="809625" y="14097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Error en unidades físicas</a:t>
            </a:r>
          </a:p>
        </p:txBody>
      </p:sp>
      <p:sp>
        <p:nvSpPr>
          <p:cNvPr id="5" name="Eficiencia NSE">
            <a:extLst xmlns:a="http://schemas.openxmlformats.org/drawingml/2006/main">
              <a:ext uri="{FF2B5EF4-FFF2-40B4-BE49-F238E27FC236}">
                <a16:creationId xmlns:a16="http://schemas.microsoft.com/office/drawing/2014/main" id="{3E872A15-8C85-480E-BDE7-A4A005A10DC6}"/>
              </a:ext>
            </a:extLst>
          </p:cNvPr>
          <p:cNvSpPr>
            <a:spLocks xmlns:a="http://schemas.openxmlformats.org/drawingml/2006/main" noGrp="1"/>
          </p:cNvSpPr>
          <p:nvPr/>
        </p:nvSpPr>
        <p:spPr>
          <a:xfrm xmlns:a="http://schemas.openxmlformats.org/drawingml/2006/main">
            <a:off x="6543675" y="14097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07FA3"/>
                </a:solidFill>
                <a:latin typeface="Helvetica Neue"/>
                <a:ea typeface="Helvetica Neue"/>
                <a:cs typeface="Helvetica Neue"/>
              </a:defRPr>
            </a:pPr>
            <a:r>
              <a:rPr sz="2175" b="1">
                <a:solidFill>
                  <a:srgbClr val="007FA3"/>
                </a:solidFill>
                <a:latin typeface="Helvetica Neue"/>
                <a:ea typeface="Helvetica Neue"/>
                <a:cs typeface="Helvetica Neue"/>
              </a:rPr>
              <a:t>Eficiencia NSE</a:t>
            </a:r>
          </a:p>
        </p:txBody>
      </p:sp>
      <p:graphicFrame>
        <p:nvGraphicFramePr>
          <p:cNvPr id="18" name="Chart"/>
          <p:cNvGraphicFramePr/>
          <p:nvPr/>
        </p:nvGraphicFramePr>
        <p:xfrm>
          <a:off xmlns:a="http://schemas.openxmlformats.org/drawingml/2006/main" x="657225" y="1952625"/>
          <a:ext xmlns:a="http://schemas.openxmlformats.org/drawingml/2006/main" cx="5143500" cy="3476625"/>
        </p:xfrm>
        <a:graphic xmlns:a="http://schemas.openxmlformats.org/drawingml/2006/main">
          <a:graphicData uri="http://schemas.openxmlformats.org/drawingml/2006/chart">
            <c:chart xmlns:r="http://schemas.openxmlformats.org/officeDocument/2006/relationships" xmlns:c="http://schemas.openxmlformats.org/drawingml/2006/chart" r:id="Rc874f15d86804b5d"/>
          </a:graphicData>
        </a:graphic>
      </p:graphicFrame>
      <p:graphicFrame>
        <p:nvGraphicFramePr>
          <p:cNvPr id="19" name="Chart"/>
          <p:cNvGraphicFramePr/>
          <p:nvPr/>
        </p:nvGraphicFramePr>
        <p:xfrm>
          <a:off xmlns:a="http://schemas.openxmlformats.org/drawingml/2006/main" x="6353175" y="1952625"/>
          <a:ext xmlns:a="http://schemas.openxmlformats.org/drawingml/2006/main" cx="5095875" cy="3476625"/>
        </p:xfrm>
        <a:graphic xmlns:a="http://schemas.openxmlformats.org/drawingml/2006/main">
          <a:graphicData uri="http://schemas.openxmlformats.org/drawingml/2006/chart">
            <c:chart xmlns:r="http://schemas.openxmlformats.org/officeDocument/2006/relationships" xmlns:c="http://schemas.openxmlformats.org/drawingml/2006/chart" r:id="Rd3505df436994a46"/>
          </a:graphicData>
        </a:graphic>
      </p:graphicFrame>
      <p:sp>
        <p:nvSpPr>
          <p:cNvPr id="8" name="LSTM tiene menor RMSE en los 48 horizontes">
            <a:extLst xmlns:a="http://schemas.openxmlformats.org/drawingml/2006/main">
              <a:ext uri="{FF2B5EF4-FFF2-40B4-BE49-F238E27FC236}">
                <a16:creationId xmlns:a16="http://schemas.microsoft.com/office/drawing/2014/main" id="{670EC2B3-823E-49C2-9DA9-628DEF2F30C1}"/>
              </a:ext>
            </a:extLst>
          </p:cNvPr>
          <p:cNvSpPr>
            <a:spLocks xmlns:a="http://schemas.openxmlformats.org/drawingml/2006/main" noGrp="1"/>
          </p:cNvSpPr>
          <p:nvPr/>
        </p:nvSpPr>
        <p:spPr>
          <a:xfrm xmlns:a="http://schemas.openxmlformats.org/drawingml/2006/main">
            <a:off x="752475" y="5629275"/>
            <a:ext cx="10715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LSTM tiene menor RMSE en los 48 horizontes</a:t>
            </a:r>
          </a:p>
        </p:txBody>
      </p:sp>
      <p:sp>
        <p:nvSpPr>
          <p:cNvPr id="9" name="A +48 h: RMSE de 0.1196 en LSTM y 0.1230 en DMEL.">
            <a:extLst xmlns:a="http://schemas.openxmlformats.org/drawingml/2006/main">
              <a:ext uri="{FF2B5EF4-FFF2-40B4-BE49-F238E27FC236}">
                <a16:creationId xmlns:a16="http://schemas.microsoft.com/office/drawing/2014/main" id="{805EB608-B4DD-4E5E-82AE-2B436D0C82FE}"/>
              </a:ext>
            </a:extLst>
          </p:cNvPr>
          <p:cNvSpPr>
            <a:spLocks xmlns:a="http://schemas.openxmlformats.org/drawingml/2006/main" noGrp="1"/>
          </p:cNvSpPr>
          <p:nvPr/>
        </p:nvSpPr>
        <p:spPr>
          <a:xfrm xmlns:a="http://schemas.openxmlformats.org/drawingml/2006/main">
            <a:off x="752475" y="6076950"/>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A +48 h: RMSE de 0.1196 en LSTM y 0.1230 en DMEL.</a:t>
            </a:r>
          </a:p>
        </p:txBody>
      </p:sp>
    </p:spTree>
    <p:extLst>
      <p:ext uri="{BB962C8B-B14F-4D97-AF65-F5344CB8AC3E}">
        <p14:creationId xmlns:p14="http://schemas.microsoft.com/office/powerpoint/2010/main" val="4699931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sultados por cuenca: ventajas repartidas">
            <a:extLst xmlns:a="http://schemas.openxmlformats.org/drawingml/2006/main">
              <a:ext uri="{FF2B5EF4-FFF2-40B4-BE49-F238E27FC236}">
                <a16:creationId xmlns:a16="http://schemas.microsoft.com/office/drawing/2014/main" id="{7BE53F27-71F7-4A36-BC72-89F029CB3E0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Resultados por cuenca: ventajas repartidas</a:t>
            </a:r>
          </a:p>
        </p:txBody>
      </p:sp>
      <p:sp>
        <p:nvSpPr>
          <p:cNvPr id="2" name="508 cuencas. Comparación pareada por ID y mismo número de pares ">
            <a:extLst xmlns:a="http://schemas.openxmlformats.org/drawingml/2006/main">
              <a:ext uri="{FF2B5EF4-FFF2-40B4-BE49-F238E27FC236}">
                <a16:creationId xmlns:a16="http://schemas.microsoft.com/office/drawing/2014/main" id="{DAAF86A0-C6CB-4467-B456-BA3C9C57713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508 cuencas. Comparación pareada por ID y mismo número de pares en cada cuenca</a:t>
            </a:r>
          </a:p>
        </p:txBody>
      </p:sp>
      <p:sp>
        <p:nvSpPr>
          <p:cNvPr id="3" name="00">
            <a:extLst xmlns:a="http://schemas.openxmlformats.org/drawingml/2006/main">
              <a:ext uri="{FF2B5EF4-FFF2-40B4-BE49-F238E27FC236}">
                <a16:creationId xmlns:a16="http://schemas.microsoft.com/office/drawing/2014/main" id="{8D1E476D-D7E9-40F0-B56B-6B58FE730EA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19</a:t>
            </a:r>
          </a:p>
        </p:txBody>
      </p:sp>
      <p:graphicFrame>
        <p:nvGraphicFramePr>
          <p:cNvPr id="12" name=""/>
          <p:cNvGraphicFramePr/>
          <p:nvPr/>
        </p:nvGraphicFramePr>
        <p:xfrm>
          <a:off xmlns:a="http://schemas.openxmlformats.org/drawingml/2006/main" x="609600" y="1581150"/>
          <a:ext xmlns:a="http://schemas.openxmlformats.org/drawingml/2006/main" cx="10972800" cy="3714750"/>
        </p:xfrm>
        <a:graphic xmlns:a="http://schemas.openxmlformats.org/drawingml/2006/main">
          <a:graphicData uri="http://schemas.openxmlformats.org/drawingml/2006/table">
            <a:tbl>
              <a:tblPr firstRow="1" bandRow="0"/>
              <a:tblGrid>
                <a:gridCol w="5334000"/>
                <a:gridCol w="2819400"/>
                <a:gridCol w="2819400"/>
              </a:tblGrid>
              <a:tr h="619125">
                <a:tc>
                  <a:txBody>
                    <a:bodyPr/>
                    <a:lstStyle/>
                    <a:p>
                      <a:r>
                        <a:rPr sz="1875" b="1">
                          <a:solidFill>
                            <a:srgbClr val="064B6B"/>
                          </a:solidFill>
                          <a:latin typeface="Helvetica Neue"/>
                          <a:ea typeface="Helvetica Neue"/>
                          <a:cs typeface="Helvetica Neue"/>
                        </a:rPr>
                        <a:t>Resumen por cuenca</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LSTM</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DMEL</a:t>
                      </a:r>
                    </a:p>
                  </a:txBody>
                  <a:tcPr marL="142875" marR="142875" marT="114300" marB="114300" anchor="ctr">
                    <a:solidFill>
                      <a:srgbClr val="EAF4F8"/>
                    </a:solidFill>
                  </a:tcPr>
                </a:tc>
              </a:tr>
              <a:tr h="619125">
                <a:tc>
                  <a:txBody>
                    <a:bodyPr/>
                    <a:lstStyle/>
                    <a:p>
                      <a:r>
                        <a:rPr sz="1875" b="0">
                          <a:solidFill>
                            <a:srgbClr val="242C33"/>
                          </a:solidFill>
                          <a:latin typeface="Helvetica Neue"/>
                          <a:ea typeface="Helvetica Neue"/>
                          <a:cs typeface="Helvetica Neue"/>
                        </a:rPr>
                        <a:t>Cuencas con menor RMSE</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256 de 508</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252 de 508</a:t>
                      </a:r>
                    </a:p>
                  </a:txBody>
                  <a:tcPr marL="142875" marR="142875" marT="114300" marB="114300" anchor="ctr">
                    <a:solidFill>
                      <a:srgbClr val="FFFFFF"/>
                    </a:solidFill>
                  </a:tcPr>
                </a:tc>
              </a:tr>
              <a:tr h="619125">
                <a:tc>
                  <a:txBody>
                    <a:bodyPr/>
                    <a:lstStyle/>
                    <a:p>
                      <a:r>
                        <a:rPr sz="1875" b="0">
                          <a:solidFill>
                            <a:srgbClr val="242C33"/>
                          </a:solidFill>
                          <a:latin typeface="Helvetica Neue"/>
                          <a:ea typeface="Helvetica Neue"/>
                          <a:cs typeface="Helvetica Neue"/>
                        </a:rPr>
                        <a:t>Mediana del NSE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0.5939</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0.5623</a:t>
                      </a:r>
                    </a:p>
                  </a:txBody>
                  <a:tcPr marL="142875" marR="142875" marT="114300" marB="114300" anchor="ctr">
                    <a:solidFill>
                      <a:srgbClr val="F5F7F8"/>
                    </a:solidFill>
                  </a:tcPr>
                </a:tc>
              </a:tr>
              <a:tr h="619125">
                <a:tc>
                  <a:txBody>
                    <a:bodyPr/>
                    <a:lstStyle/>
                    <a:p>
                      <a:r>
                        <a:rPr sz="1875" b="0">
                          <a:solidFill>
                            <a:srgbClr val="242C33"/>
                          </a:solidFill>
                          <a:latin typeface="Helvetica Neue"/>
                          <a:ea typeface="Helvetica Neue"/>
                          <a:cs typeface="Helvetica Neue"/>
                        </a:rPr>
                        <a:t>Media del NSE, igual peso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−49.2525</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−83.5098</a:t>
                      </a:r>
                    </a:p>
                  </a:txBody>
                  <a:tcPr marL="142875" marR="142875" marT="114300" marB="114300" anchor="ctr">
                    <a:solidFill>
                      <a:srgbClr val="FFFFFF"/>
                    </a:solidFill>
                  </a:tcPr>
                </a:tc>
              </a:tr>
              <a:tr h="619125">
                <a:tc>
                  <a:txBody>
                    <a:bodyPr/>
                    <a:lstStyle/>
                    <a:p>
                      <a:r>
                        <a:rPr sz="1875" b="0">
                          <a:solidFill>
                            <a:srgbClr val="242C33"/>
                          </a:solidFill>
                          <a:latin typeface="Helvetica Neue"/>
                          <a:ea typeface="Helvetica Neue"/>
                          <a:cs typeface="Helvetica Neue"/>
                        </a:rPr>
                        <a:t>Cuencas con NSE negativo</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70 (13.8 %)</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80 (15.7 %)</a:t>
                      </a:r>
                    </a:p>
                  </a:txBody>
                  <a:tcPr marL="142875" marR="142875" marT="114300" marB="114300" anchor="ctr">
                    <a:solidFill>
                      <a:srgbClr val="F5F7F8"/>
                    </a:solidFill>
                  </a:tcPr>
                </a:tc>
              </a:tr>
              <a:tr h="619125">
                <a:tc>
                  <a:txBody>
                    <a:bodyPr/>
                    <a:lstStyle/>
                    <a:p>
                      <a:r>
                        <a:rPr sz="1875" b="0">
                          <a:solidFill>
                            <a:srgbClr val="242C33"/>
                          </a:solidFill>
                          <a:latin typeface="Helvetica Neue"/>
                          <a:ea typeface="Helvetica Neue"/>
                          <a:cs typeface="Helvetica Neue"/>
                        </a:rPr>
                        <a:t>Media del KGE, igual peso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−0.8038</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−1.3648</a:t>
                      </a:r>
                    </a:p>
                  </a:txBody>
                  <a:tcPr marL="142875" marR="142875" marT="114300" marB="114300" anchor="ctr">
                    <a:solidFill>
                      <a:srgbClr val="FFFFFF"/>
                    </a:solidFill>
                  </a:tcPr>
                </a:tc>
              </a:tr>
            </a:tbl>
          </a:graphicData>
        </a:graphic>
      </p:graphicFrame>
      <p:sp>
        <p:nvSpPr>
          <p:cNvPr id="5" name="El global y la cuenca típica cuentan historias distintas">
            <a:extLst xmlns:a="http://schemas.openxmlformats.org/drawingml/2006/main">
              <a:ext uri="{FF2B5EF4-FFF2-40B4-BE49-F238E27FC236}">
                <a16:creationId xmlns:a16="http://schemas.microsoft.com/office/drawing/2014/main" id="{CF5F087A-F61B-4AC1-A6A5-159D2CE8034E}"/>
              </a:ext>
            </a:extLst>
          </p:cNvPr>
          <p:cNvSpPr>
            <a:spLocks xmlns:a="http://schemas.openxmlformats.org/drawingml/2006/main" noGrp="1"/>
          </p:cNvSpPr>
          <p:nvPr/>
        </p:nvSpPr>
        <p:spPr>
          <a:xfrm xmlns:a="http://schemas.openxmlformats.org/drawingml/2006/main">
            <a:off x="733425" y="55721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75" b="1">
                <a:solidFill>
                  <a:srgbClr val="064B6B"/>
                </a:solidFill>
                <a:latin typeface="Helvetica Neue"/>
                <a:ea typeface="Helvetica Neue"/>
                <a:cs typeface="Helvetica Neue"/>
              </a:defRPr>
            </a:pPr>
            <a:r>
              <a:rPr sz="2175" b="1">
                <a:solidFill>
                  <a:srgbClr val="064B6B"/>
                </a:solidFill>
                <a:latin typeface="Helvetica Neue"/>
                <a:ea typeface="Helvetica Neue"/>
                <a:cs typeface="Helvetica Neue"/>
              </a:rPr>
              <a:t>El global y la cuenca típica cuentan historias distintas</a:t>
            </a:r>
          </a:p>
        </p:txBody>
      </p:sp>
      <p:sp>
        <p:nvSpPr>
          <p:cNvPr id="6" name="Las medias reciben una fuerte influencia de cuencas con valores ">
            <a:extLst xmlns:a="http://schemas.openxmlformats.org/drawingml/2006/main">
              <a:ext uri="{FF2B5EF4-FFF2-40B4-BE49-F238E27FC236}">
                <a16:creationId xmlns:a16="http://schemas.microsoft.com/office/drawing/2014/main" id="{50AE6B7E-A69E-46D1-BCAB-A69789351B7B}"/>
              </a:ext>
            </a:extLst>
          </p:cNvPr>
          <p:cNvSpPr>
            <a:spLocks xmlns:a="http://schemas.openxmlformats.org/drawingml/2006/main" noGrp="1"/>
          </p:cNvSpPr>
          <p:nvPr/>
        </p:nvSpPr>
        <p:spPr>
          <a:xfrm xmlns:a="http://schemas.openxmlformats.org/drawingml/2006/main">
            <a:off x="742950" y="60198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Las medias reciben una fuerte influencia de cuencas con valores extremos.</a:t>
            </a:r>
          </a:p>
        </p:txBody>
      </p:sp>
    </p:spTree>
    <p:extLst>
      <p:ext uri="{BB962C8B-B14F-4D97-AF65-F5344CB8AC3E}">
        <p14:creationId xmlns:p14="http://schemas.microsoft.com/office/powerpoint/2010/main" val="12024526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blación de la rama baja: 3 épocas">
            <a:extLst xmlns:a="http://schemas.openxmlformats.org/drawingml/2006/main">
              <a:ext uri="{FF2B5EF4-FFF2-40B4-BE49-F238E27FC236}">
                <a16:creationId xmlns:a16="http://schemas.microsoft.com/office/drawing/2014/main" id="{5C30DFFA-5034-4ECA-87DD-7391BB5A861D}"/>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Ablación de la rama baja: 3 épocas</a:t>
            </a:r>
          </a:p>
        </p:txBody>
      </p:sp>
      <p:sp>
        <p:nvSpPr>
          <p:cNvPr id="2" name="Validación completa: 18 142 ventanas × 48 horas. Auditoría local">
            <a:extLst xmlns:a="http://schemas.openxmlformats.org/drawingml/2006/main">
              <a:ext uri="{FF2B5EF4-FFF2-40B4-BE49-F238E27FC236}">
                <a16:creationId xmlns:a16="http://schemas.microsoft.com/office/drawing/2014/main" id="{1FDEACB2-944D-438B-B729-FEDC3728DF6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Validación completa: 18 142 ventanas × 48 horas. Auditoría local del job 54933</a:t>
            </a:r>
          </a:p>
        </p:txBody>
      </p:sp>
      <p:sp>
        <p:nvSpPr>
          <p:cNvPr id="3" name="00">
            <a:extLst xmlns:a="http://schemas.openxmlformats.org/drawingml/2006/main">
              <a:ext uri="{FF2B5EF4-FFF2-40B4-BE49-F238E27FC236}">
                <a16:creationId xmlns:a16="http://schemas.microsoft.com/office/drawing/2014/main" id="{A8ACFBF4-0C57-453B-B0D0-9956741AF9CC}"/>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20</a:t>
            </a:r>
          </a:p>
        </p:txBody>
      </p:sp>
      <p:sp>
        <p:nvSpPr>
          <p:cNvPr id="4" name="Control DMEL: alta Informer + baja LSTM → variante con dos Infor">
            <a:extLst xmlns:a="http://schemas.openxmlformats.org/drawingml/2006/main">
              <a:ext uri="{FF2B5EF4-FFF2-40B4-BE49-F238E27FC236}">
                <a16:creationId xmlns:a16="http://schemas.microsoft.com/office/drawing/2014/main" id="{0BD77DC0-5552-4F0A-93D5-FEAFE573977A}"/>
              </a:ext>
            </a:extLst>
          </p:cNvPr>
          <p:cNvSpPr>
            <a:spLocks xmlns:a="http://schemas.openxmlformats.org/drawingml/2006/main" noGrp="1"/>
          </p:cNvSpPr>
          <p:nvPr/>
        </p:nvSpPr>
        <p:spPr>
          <a:xfrm xmlns:a="http://schemas.openxmlformats.org/drawingml/2006/main">
            <a:off x="714375" y="13716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Control DMEL: alta Informer + baja LSTM → variante con dos Informer</a:t>
            </a:r>
          </a:p>
        </p:txBody>
      </p:sp>
      <p:graphicFrame>
        <p:nvGraphicFramePr>
          <p:cNvPr id="12" name=""/>
          <p:cNvGraphicFramePr/>
          <p:nvPr/>
        </p:nvGraphicFramePr>
        <p:xfrm>
          <a:off xmlns:a="http://schemas.openxmlformats.org/drawingml/2006/main" x="609600" y="2009775"/>
          <a:ext xmlns:a="http://schemas.openxmlformats.org/drawingml/2006/main" cx="10972800" cy="3333750"/>
        </p:xfrm>
        <a:graphic xmlns:a="http://schemas.openxmlformats.org/drawingml/2006/main">
          <a:graphicData uri="http://schemas.openxmlformats.org/drawingml/2006/table">
            <a:tbl>
              <a:tblPr firstRow="1" bandRow="0"/>
              <a:tblGrid>
                <a:gridCol w="5334000"/>
                <a:gridCol w="2819400"/>
                <a:gridCol w="2819400"/>
              </a:tblGrid>
              <a:tr h="476250">
                <a:tc>
                  <a:txBody>
                    <a:bodyPr/>
                    <a:lstStyle/>
                    <a:p>
                      <a:r>
                        <a:rPr sz="1800" b="1">
                          <a:solidFill>
                            <a:srgbClr val="064B6B"/>
                          </a:solidFill>
                          <a:latin typeface="Helvetica Neue"/>
                          <a:ea typeface="Helvetica Neue"/>
                          <a:cs typeface="Helvetica Neue"/>
                        </a:rPr>
                        <a:t>Métrica / capacidad</a:t>
                      </a:r>
                    </a:p>
                  </a:txBody>
                  <a:tcPr marL="142875" marR="142875" marT="38100" marB="38100" anchor="ctr">
                    <a:solidFill>
                      <a:srgbClr val="EAF4F8"/>
                    </a:solidFill>
                  </a:tcPr>
                </a:tc>
                <a:tc>
                  <a:txBody>
                    <a:bodyPr/>
                    <a:lstStyle/>
                    <a:p>
                      <a:r>
                        <a:rPr sz="1800" b="1">
                          <a:solidFill>
                            <a:srgbClr val="064B6B"/>
                          </a:solidFill>
                          <a:latin typeface="Helvetica Neue"/>
                          <a:ea typeface="Helvetica Neue"/>
                          <a:cs typeface="Helvetica Neue"/>
                        </a:rPr>
                        <a:t>DMEL · control</a:t>
                      </a:r>
                    </a:p>
                  </a:txBody>
                  <a:tcPr marL="142875" marR="142875" marT="38100" marB="38100" anchor="ctr">
                    <a:solidFill>
                      <a:srgbClr val="EAF4F8"/>
                    </a:solidFill>
                  </a:tcPr>
                </a:tc>
                <a:tc>
                  <a:txBody>
                    <a:bodyPr/>
                    <a:lstStyle/>
                    <a:p>
                      <a:r>
                        <a:rPr sz="1800" b="1">
                          <a:solidFill>
                            <a:srgbClr val="064B6B"/>
                          </a:solidFill>
                          <a:latin typeface="Helvetica Neue"/>
                          <a:ea typeface="Helvetica Neue"/>
                          <a:cs typeface="Helvetica Neue"/>
                        </a:rPr>
                        <a:t>Dos Informer</a:t>
                      </a:r>
                    </a:p>
                  </a:txBody>
                  <a:tcPr marL="142875" marR="142875" marT="38100" marB="38100" anchor="ctr">
                    <a:solidFill>
                      <a:srgbClr val="EAF4F8"/>
                    </a:solidFill>
                  </a:tcPr>
                </a:tc>
              </a:tr>
              <a:tr h="476250">
                <a:tc>
                  <a:txBody>
                    <a:bodyPr/>
                    <a:lstStyle/>
                    <a:p>
                      <a:r>
                        <a:rPr sz="1800" b="0">
                          <a:solidFill>
                            <a:srgbClr val="242C33"/>
                          </a:solidFill>
                          <a:latin typeface="Helvetica Neue"/>
                          <a:ea typeface="Helvetica Neue"/>
                          <a:cs typeface="Helvetica Neue"/>
                        </a:rPr>
                        <a:t>RMSE (mm/h) ↓</a:t>
                      </a:r>
                    </a:p>
                  </a:txBody>
                  <a:tcPr marL="142875" marR="142875" marT="38100" marB="38100" anchor="ctr">
                    <a:solidFill>
                      <a:srgbClr val="FFFFFF"/>
                    </a:solidFill>
                  </a:tcPr>
                </a:tc>
                <a:tc>
                  <a:txBody>
                    <a:bodyPr/>
                    <a:lstStyle/>
                    <a:p>
                      <a:r>
                        <a:rPr sz="1800" b="0">
                          <a:solidFill>
                            <a:srgbClr val="242C33"/>
                          </a:solidFill>
                          <a:latin typeface="Helvetica Neue"/>
                          <a:ea typeface="Helvetica Neue"/>
                          <a:cs typeface="Helvetica Neue"/>
                        </a:rPr>
                        <a:t>0.1100</a:t>
                      </a:r>
                    </a:p>
                  </a:txBody>
                  <a:tcPr marL="142875" marR="142875" marT="38100" marB="38100" anchor="ctr">
                    <a:solidFill>
                      <a:srgbClr val="FFFFFF"/>
                    </a:solidFill>
                  </a:tcPr>
                </a:tc>
                <a:tc>
                  <a:txBody>
                    <a:bodyPr/>
                    <a:lstStyle/>
                    <a:p>
                      <a:r>
                        <a:rPr sz="1800" b="0">
                          <a:solidFill>
                            <a:srgbClr val="242C33"/>
                          </a:solidFill>
                          <a:latin typeface="Helvetica Neue"/>
                          <a:ea typeface="Helvetica Neue"/>
                          <a:cs typeface="Helvetica Neue"/>
                        </a:rPr>
                        <a:t>0.1115</a:t>
                      </a:r>
                    </a:p>
                  </a:txBody>
                  <a:tcPr marL="142875" marR="142875" marT="38100" marB="38100" anchor="ctr">
                    <a:solidFill>
                      <a:srgbClr val="FFFFFF"/>
                    </a:solidFill>
                  </a:tcPr>
                </a:tc>
              </a:tr>
              <a:tr h="476250">
                <a:tc>
                  <a:txBody>
                    <a:bodyPr/>
                    <a:lstStyle/>
                    <a:p>
                      <a:r>
                        <a:rPr sz="1800" b="0">
                          <a:solidFill>
                            <a:srgbClr val="242C33"/>
                          </a:solidFill>
                          <a:latin typeface="Helvetica Neue"/>
                          <a:ea typeface="Helvetica Neue"/>
                          <a:cs typeface="Helvetica Neue"/>
                        </a:rPr>
                        <a:t>MAE (mm/h) ↓</a:t>
                      </a:r>
                    </a:p>
                  </a:txBody>
                  <a:tcPr marL="142875" marR="142875" marT="38100" marB="38100" anchor="ctr">
                    <a:solidFill>
                      <a:srgbClr val="F5F7F8"/>
                    </a:solidFill>
                  </a:tcPr>
                </a:tc>
                <a:tc>
                  <a:txBody>
                    <a:bodyPr/>
                    <a:lstStyle/>
                    <a:p>
                      <a:r>
                        <a:rPr sz="1800" b="0">
                          <a:solidFill>
                            <a:srgbClr val="242C33"/>
                          </a:solidFill>
                          <a:latin typeface="Helvetica Neue"/>
                          <a:ea typeface="Helvetica Neue"/>
                          <a:cs typeface="Helvetica Neue"/>
                        </a:rPr>
                        <a:t>0.0240</a:t>
                      </a:r>
                    </a:p>
                  </a:txBody>
                  <a:tcPr marL="142875" marR="142875" marT="38100" marB="38100" anchor="ctr">
                    <a:solidFill>
                      <a:srgbClr val="F5F7F8"/>
                    </a:solidFill>
                  </a:tcPr>
                </a:tc>
                <a:tc>
                  <a:txBody>
                    <a:bodyPr/>
                    <a:lstStyle/>
                    <a:p>
                      <a:r>
                        <a:rPr sz="1800" b="0">
                          <a:solidFill>
                            <a:srgbClr val="242C33"/>
                          </a:solidFill>
                          <a:latin typeface="Helvetica Neue"/>
                          <a:ea typeface="Helvetica Neue"/>
                          <a:cs typeface="Helvetica Neue"/>
                        </a:rPr>
                        <a:t>0.0275</a:t>
                      </a:r>
                    </a:p>
                  </a:txBody>
                  <a:tcPr marL="142875" marR="142875" marT="38100" marB="38100" anchor="ctr">
                    <a:solidFill>
                      <a:srgbClr val="F5F7F8"/>
                    </a:solidFill>
                  </a:tcPr>
                </a:tc>
              </a:tr>
              <a:tr h="476250">
                <a:tc>
                  <a:txBody>
                    <a:bodyPr/>
                    <a:lstStyle/>
                    <a:p>
                      <a:r>
                        <a:rPr sz="1800" b="0">
                          <a:solidFill>
                            <a:srgbClr val="242C33"/>
                          </a:solidFill>
                          <a:latin typeface="Helvetica Neue"/>
                          <a:ea typeface="Helvetica Neue"/>
                          <a:cs typeface="Helvetica Neue"/>
                        </a:rPr>
                        <a:t>NSE ↑</a:t>
                      </a:r>
                    </a:p>
                  </a:txBody>
                  <a:tcPr marL="142875" marR="142875" marT="38100" marB="38100" anchor="ctr">
                    <a:solidFill>
                      <a:srgbClr val="FFFFFF"/>
                    </a:solidFill>
                  </a:tcPr>
                </a:tc>
                <a:tc>
                  <a:txBody>
                    <a:bodyPr/>
                    <a:lstStyle/>
                    <a:p>
                      <a:r>
                        <a:rPr sz="1800" b="0">
                          <a:solidFill>
                            <a:srgbClr val="242C33"/>
                          </a:solidFill>
                          <a:latin typeface="Helvetica Neue"/>
                          <a:ea typeface="Helvetica Neue"/>
                          <a:cs typeface="Helvetica Neue"/>
                        </a:rPr>
                        <a:t>0.5889</a:t>
                      </a:r>
                    </a:p>
                  </a:txBody>
                  <a:tcPr marL="142875" marR="142875" marT="38100" marB="38100" anchor="ctr">
                    <a:solidFill>
                      <a:srgbClr val="FFFFFF"/>
                    </a:solidFill>
                  </a:tcPr>
                </a:tc>
                <a:tc>
                  <a:txBody>
                    <a:bodyPr/>
                    <a:lstStyle/>
                    <a:p>
                      <a:r>
                        <a:rPr sz="1800" b="0">
                          <a:solidFill>
                            <a:srgbClr val="242C33"/>
                          </a:solidFill>
                          <a:latin typeface="Helvetica Neue"/>
                          <a:ea typeface="Helvetica Neue"/>
                          <a:cs typeface="Helvetica Neue"/>
                        </a:rPr>
                        <a:t>0.5780</a:t>
                      </a:r>
                    </a:p>
                  </a:txBody>
                  <a:tcPr marL="142875" marR="142875" marT="38100" marB="38100" anchor="ctr">
                    <a:solidFill>
                      <a:srgbClr val="FFFFFF"/>
                    </a:solidFill>
                  </a:tcPr>
                </a:tc>
              </a:tr>
              <a:tr h="476250">
                <a:tc>
                  <a:txBody>
                    <a:bodyPr/>
                    <a:lstStyle/>
                    <a:p>
                      <a:r>
                        <a:rPr sz="1800" b="0">
                          <a:solidFill>
                            <a:srgbClr val="242C33"/>
                          </a:solidFill>
                          <a:latin typeface="Helvetica Neue"/>
                          <a:ea typeface="Helvetica Neue"/>
                          <a:cs typeface="Helvetica Neue"/>
                        </a:rPr>
                        <a:t>KGE 2009 ↑</a:t>
                      </a:r>
                    </a:p>
                  </a:txBody>
                  <a:tcPr marL="142875" marR="142875" marT="38100" marB="38100" anchor="ctr">
                    <a:solidFill>
                      <a:srgbClr val="F5F7F8"/>
                    </a:solidFill>
                  </a:tcPr>
                </a:tc>
                <a:tc>
                  <a:txBody>
                    <a:bodyPr/>
                    <a:lstStyle/>
                    <a:p>
                      <a:r>
                        <a:rPr sz="1800" b="0">
                          <a:solidFill>
                            <a:srgbClr val="242C33"/>
                          </a:solidFill>
                          <a:latin typeface="Helvetica Neue"/>
                          <a:ea typeface="Helvetica Neue"/>
                          <a:cs typeface="Helvetica Neue"/>
                        </a:rPr>
                        <a:t>0.6954</a:t>
                      </a:r>
                    </a:p>
                  </a:txBody>
                  <a:tcPr marL="142875" marR="142875" marT="38100" marB="38100" anchor="ctr">
                    <a:solidFill>
                      <a:srgbClr val="F5F7F8"/>
                    </a:solidFill>
                  </a:tcPr>
                </a:tc>
                <a:tc>
                  <a:txBody>
                    <a:bodyPr/>
                    <a:lstStyle/>
                    <a:p>
                      <a:r>
                        <a:rPr sz="1800" b="0">
                          <a:solidFill>
                            <a:srgbClr val="242C33"/>
                          </a:solidFill>
                          <a:latin typeface="Helvetica Neue"/>
                          <a:ea typeface="Helvetica Neue"/>
                          <a:cs typeface="Helvetica Neue"/>
                        </a:rPr>
                        <a:t>0.7083</a:t>
                      </a:r>
                    </a:p>
                  </a:txBody>
                  <a:tcPr marL="142875" marR="142875" marT="38100" marB="38100" anchor="ctr">
                    <a:solidFill>
                      <a:srgbClr val="F5F7F8"/>
                    </a:solidFill>
                  </a:tcPr>
                </a:tc>
              </a:tr>
              <a:tr h="476250">
                <a:tc>
                  <a:txBody>
                    <a:bodyPr/>
                    <a:lstStyle/>
                    <a:p>
                      <a:r>
                        <a:rPr sz="1800" b="0">
                          <a:solidFill>
                            <a:srgbClr val="242C33"/>
                          </a:solidFill>
                          <a:latin typeface="Helvetica Neue"/>
                          <a:ea typeface="Helvetica Neue"/>
                          <a:cs typeface="Helvetica Neue"/>
                        </a:rPr>
                        <a:t>Salidas negativas ↓</a:t>
                      </a:r>
                    </a:p>
                  </a:txBody>
                  <a:tcPr marL="142875" marR="142875" marT="38100" marB="38100" anchor="ctr">
                    <a:solidFill>
                      <a:srgbClr val="FFFFFF"/>
                    </a:solidFill>
                  </a:tcPr>
                </a:tc>
                <a:tc>
                  <a:txBody>
                    <a:bodyPr/>
                    <a:lstStyle/>
                    <a:p>
                      <a:r>
                        <a:rPr sz="1800" b="0">
                          <a:solidFill>
                            <a:srgbClr val="242C33"/>
                          </a:solidFill>
                          <a:latin typeface="Helvetica Neue"/>
                          <a:ea typeface="Helvetica Neue"/>
                          <a:cs typeface="Helvetica Neue"/>
                        </a:rPr>
                        <a:t>8.65 %</a:t>
                      </a:r>
                    </a:p>
                  </a:txBody>
                  <a:tcPr marL="142875" marR="142875" marT="38100" marB="38100" anchor="ctr">
                    <a:solidFill>
                      <a:srgbClr val="FFFFFF"/>
                    </a:solidFill>
                  </a:tcPr>
                </a:tc>
                <a:tc>
                  <a:txBody>
                    <a:bodyPr/>
                    <a:lstStyle/>
                    <a:p>
                      <a:r>
                        <a:rPr sz="1800" b="0">
                          <a:solidFill>
                            <a:srgbClr val="242C33"/>
                          </a:solidFill>
                          <a:latin typeface="Helvetica Neue"/>
                          <a:ea typeface="Helvetica Neue"/>
                          <a:cs typeface="Helvetica Neue"/>
                        </a:rPr>
                        <a:t>3.02 %</a:t>
                      </a:r>
                    </a:p>
                  </a:txBody>
                  <a:tcPr marL="142875" marR="142875" marT="38100" marB="38100" anchor="ctr">
                    <a:solidFill>
                      <a:srgbClr val="FFFFFF"/>
                    </a:solidFill>
                  </a:tcPr>
                </a:tc>
              </a:tr>
              <a:tr h="476250">
                <a:tc>
                  <a:txBody>
                    <a:bodyPr/>
                    <a:lstStyle/>
                    <a:p>
                      <a:r>
                        <a:rPr sz="1800" b="0">
                          <a:solidFill>
                            <a:srgbClr val="242C33"/>
                          </a:solidFill>
                          <a:latin typeface="Helvetica Neue"/>
                          <a:ea typeface="Helvetica Neue"/>
                          <a:cs typeface="Helvetica Neue"/>
                        </a:rPr>
                        <a:t>Parámetros</a:t>
                      </a:r>
                    </a:p>
                  </a:txBody>
                  <a:tcPr marL="142875" marR="142875" marT="38100" marB="38100" anchor="ctr">
                    <a:solidFill>
                      <a:srgbClr val="F5F7F8"/>
                    </a:solidFill>
                  </a:tcPr>
                </a:tc>
                <a:tc>
                  <a:txBody>
                    <a:bodyPr/>
                    <a:lstStyle/>
                    <a:p>
                      <a:r>
                        <a:rPr sz="1800" b="0">
                          <a:solidFill>
                            <a:srgbClr val="242C33"/>
                          </a:solidFill>
                          <a:latin typeface="Helvetica Neue"/>
                          <a:ea typeface="Helvetica Neue"/>
                          <a:cs typeface="Helvetica Neue"/>
                        </a:rPr>
                        <a:t>3 648 561</a:t>
                      </a:r>
                    </a:p>
                  </a:txBody>
                  <a:tcPr marL="142875" marR="142875" marT="38100" marB="38100" anchor="ctr">
                    <a:solidFill>
                      <a:srgbClr val="F5F7F8"/>
                    </a:solidFill>
                  </a:tcPr>
                </a:tc>
                <a:tc>
                  <a:txBody>
                    <a:bodyPr/>
                    <a:lstStyle/>
                    <a:p>
                      <a:r>
                        <a:rPr sz="1800" b="0">
                          <a:solidFill>
                            <a:srgbClr val="242C33"/>
                          </a:solidFill>
                          <a:latin typeface="Helvetica Neue"/>
                          <a:ea typeface="Helvetica Neue"/>
                          <a:cs typeface="Helvetica Neue"/>
                        </a:rPr>
                        <a:t>5 666 818</a:t>
                      </a:r>
                    </a:p>
                  </a:txBody>
                  <a:tcPr marL="142875" marR="142875" marT="38100" marB="38100" anchor="ctr">
                    <a:solidFill>
                      <a:srgbClr val="F5F7F8"/>
                    </a:solidFill>
                  </a:tcPr>
                </a:tc>
              </a:tr>
            </a:tbl>
          </a:graphicData>
        </a:graphic>
      </p:graphicFrame>
      <p:sp>
        <p:nvSpPr>
          <p:cNvPr id="6" name="Al sustituir LSTM, el RMSE aumenta 1.31 % respecto al control.">
            <a:extLst xmlns:a="http://schemas.openxmlformats.org/drawingml/2006/main">
              <a:ext uri="{FF2B5EF4-FFF2-40B4-BE49-F238E27FC236}">
                <a16:creationId xmlns:a16="http://schemas.microsoft.com/office/drawing/2014/main" id="{A9401AC0-23F4-4152-AFB6-C72EFC9A9FCE}"/>
              </a:ext>
            </a:extLst>
          </p:cNvPr>
          <p:cNvSpPr>
            <a:spLocks xmlns:a="http://schemas.openxmlformats.org/drawingml/2006/main" noGrp="1"/>
          </p:cNvSpPr>
          <p:nvPr/>
        </p:nvSpPr>
        <p:spPr>
          <a:xfrm xmlns:a="http://schemas.openxmlformats.org/drawingml/2006/main">
            <a:off x="733425" y="54959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64B6B"/>
                </a:solidFill>
                <a:latin typeface="Helvetica Neue"/>
                <a:ea typeface="Helvetica Neue"/>
                <a:cs typeface="Helvetica Neue"/>
              </a:defRPr>
            </a:pPr>
            <a:r>
              <a:rPr sz="2100" b="1">
                <a:solidFill>
                  <a:srgbClr val="064B6B"/>
                </a:solidFill>
                <a:latin typeface="Helvetica Neue"/>
                <a:ea typeface="Helvetica Neue"/>
                <a:cs typeface="Helvetica Neue"/>
              </a:rPr>
              <a:t>Al sustituir LSTM, el RMSE aumenta 1.31 % respecto al control.</a:t>
            </a:r>
          </a:p>
        </p:txBody>
      </p:sp>
      <p:sp>
        <p:nvSpPr>
          <p:cNvPr id="7" name="Una semilla y distinta capacidad; no demuestra convergencia ni s">
            <a:extLst xmlns:a="http://schemas.openxmlformats.org/drawingml/2006/main">
              <a:ext uri="{FF2B5EF4-FFF2-40B4-BE49-F238E27FC236}">
                <a16:creationId xmlns:a16="http://schemas.microsoft.com/office/drawing/2014/main" id="{33718A88-7D80-46EF-A1F8-B641A214A377}"/>
              </a:ext>
            </a:extLst>
          </p:cNvPr>
          <p:cNvSpPr>
            <a:spLocks xmlns:a="http://schemas.openxmlformats.org/drawingml/2006/main" noGrp="1"/>
          </p:cNvSpPr>
          <p:nvPr/>
        </p:nvSpPr>
        <p:spPr>
          <a:xfrm xmlns:a="http://schemas.openxmlformats.org/drawingml/2006/main">
            <a:off x="742950" y="59721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Una semilla y distinta capacidad; no demuestra convergencia ni significancia.</a:t>
            </a:r>
          </a:p>
        </p:txBody>
      </p:sp>
    </p:spTree>
    <p:extLst>
      <p:ext uri="{BB962C8B-B14F-4D97-AF65-F5344CB8AC3E}">
        <p14:creationId xmlns:p14="http://schemas.microsoft.com/office/powerpoint/2010/main" val="2106417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edicciones para todo el test: verificadas">
            <a:extLst xmlns:a="http://schemas.openxmlformats.org/drawingml/2006/main">
              <a:ext uri="{FF2B5EF4-FFF2-40B4-BE49-F238E27FC236}">
                <a16:creationId xmlns:a16="http://schemas.microsoft.com/office/drawing/2014/main" id="{AD19E181-0C45-489C-96E2-0483055B20E9}"/>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Predicciones para todo el test: verificadas</a:t>
            </a:r>
          </a:p>
        </p:txBody>
      </p:sp>
      <p:sp>
        <p:nvSpPr>
          <p:cNvPr id="2" name="CSV y NPZ de ambos modelos. Fuente, IDs y valores contrastados l">
            <a:extLst xmlns:a="http://schemas.openxmlformats.org/drawingml/2006/main">
              <a:ext uri="{FF2B5EF4-FFF2-40B4-BE49-F238E27FC236}">
                <a16:creationId xmlns:a16="http://schemas.microsoft.com/office/drawing/2014/main" id="{0441735C-DA65-433C-826E-FA090F2E6803}"/>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CSV y NPZ de ambos modelos. Fuente, IDs y valores contrastados localmente</a:t>
            </a:r>
          </a:p>
        </p:txBody>
      </p:sp>
      <p:sp>
        <p:nvSpPr>
          <p:cNvPr id="3" name="00">
            <a:extLst xmlns:a="http://schemas.openxmlformats.org/drawingml/2006/main">
              <a:ext uri="{FF2B5EF4-FFF2-40B4-BE49-F238E27FC236}">
                <a16:creationId xmlns:a16="http://schemas.microsoft.com/office/drawing/2014/main" id="{CF0FE19E-2CAD-4B2D-9D56-6B7186E29E88}"/>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21</a:t>
            </a:r>
          </a:p>
        </p:txBody>
      </p:sp>
      <p:sp>
        <p:nvSpPr>
          <p:cNvPr id="4" name="Mejores checkpoints originales de LSTM y DMEL (época 10)">
            <a:extLst xmlns:a="http://schemas.openxmlformats.org/drawingml/2006/main">
              <a:ext uri="{FF2B5EF4-FFF2-40B4-BE49-F238E27FC236}">
                <a16:creationId xmlns:a16="http://schemas.microsoft.com/office/drawing/2014/main" id="{76CFB119-E578-444A-AD51-4C54A30831AA}"/>
              </a:ext>
            </a:extLst>
          </p:cNvPr>
          <p:cNvSpPr>
            <a:spLocks xmlns:a="http://schemas.openxmlformats.org/drawingml/2006/main" noGrp="1"/>
          </p:cNvSpPr>
          <p:nvPr/>
        </p:nvSpPr>
        <p:spPr>
          <a:xfrm xmlns:a="http://schemas.openxmlformats.org/drawingml/2006/main">
            <a:off x="714375" y="14097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7FA3"/>
                </a:solidFill>
                <a:latin typeface="Helvetica Neue"/>
                <a:ea typeface="Helvetica Neue"/>
                <a:cs typeface="Helvetica Neue"/>
              </a:defRPr>
            </a:pPr>
            <a:r>
              <a:rPr sz="2250" b="1">
                <a:solidFill>
                  <a:srgbClr val="007FA3"/>
                </a:solidFill>
                <a:latin typeface="Helvetica Neue"/>
                <a:ea typeface="Helvetica Neue"/>
                <a:cs typeface="Helvetica Neue"/>
              </a:rPr>
              <a:t>Mejores checkpoints originales de LSTM y DMEL (época 10)</a:t>
            </a:r>
          </a:p>
        </p:txBody>
      </p:sp>
      <p:graphicFrame>
        <p:nvGraphicFramePr>
          <p:cNvPr id="12" name=""/>
          <p:cNvGraphicFramePr/>
          <p:nvPr/>
        </p:nvGraphicFramePr>
        <p:xfrm>
          <a:off xmlns:a="http://schemas.openxmlformats.org/drawingml/2006/main" x="609600" y="2066925"/>
          <a:ext xmlns:a="http://schemas.openxmlformats.org/drawingml/2006/main" cx="10972800" cy="2857500"/>
        </p:xfrm>
        <a:graphic xmlns:a="http://schemas.openxmlformats.org/drawingml/2006/main">
          <a:graphicData uri="http://schemas.openxmlformats.org/drawingml/2006/table">
            <a:tbl>
              <a:tblPr firstRow="1" bandRow="0"/>
              <a:tblGrid>
                <a:gridCol w="5334000"/>
                <a:gridCol w="2819400"/>
                <a:gridCol w="2819400"/>
              </a:tblGrid>
              <a:tr h="571500">
                <a:tc>
                  <a:txBody>
                    <a:bodyPr/>
                    <a:lstStyle/>
                    <a:p>
                      <a:r>
                        <a:rPr sz="2025" b="1">
                          <a:solidFill>
                            <a:srgbClr val="064B6B"/>
                          </a:solidFill>
                          <a:latin typeface="Helvetica Neue"/>
                          <a:ea typeface="Helvetica Neue"/>
                          <a:cs typeface="Helvetica Neue"/>
                        </a:rPr>
                        <a:t>Exportación</a:t>
                      </a:r>
                    </a:p>
                  </a:txBody>
                  <a:tcPr marL="142875" marR="142875" marT="95250" marB="95250" anchor="ctr">
                    <a:solidFill>
                      <a:srgbClr val="EAF4F8"/>
                    </a:solidFill>
                  </a:tcPr>
                </a:tc>
                <a:tc>
                  <a:txBody>
                    <a:bodyPr/>
                    <a:lstStyle/>
                    <a:p>
                      <a:r>
                        <a:rPr sz="2025" b="1">
                          <a:solidFill>
                            <a:srgbClr val="064B6B"/>
                          </a:solidFill>
                          <a:latin typeface="Helvetica Neue"/>
                          <a:ea typeface="Helvetica Neue"/>
                          <a:cs typeface="Helvetica Neue"/>
                        </a:rPr>
                        <a:t>LSTM</a:t>
                      </a:r>
                    </a:p>
                  </a:txBody>
                  <a:tcPr marL="142875" marR="142875" marT="95250" marB="95250" anchor="ctr">
                    <a:solidFill>
                      <a:srgbClr val="EAF4F8"/>
                    </a:solidFill>
                  </a:tcPr>
                </a:tc>
                <a:tc>
                  <a:txBody>
                    <a:bodyPr/>
                    <a:lstStyle/>
                    <a:p>
                      <a:r>
                        <a:rPr sz="2025" b="1">
                          <a:solidFill>
                            <a:srgbClr val="064B6B"/>
                          </a:solidFill>
                          <a:latin typeface="Helvetica Neue"/>
                          <a:ea typeface="Helvetica Neue"/>
                          <a:cs typeface="Helvetica Neue"/>
                        </a:rPr>
                        <a:t>DMEL</a:t>
                      </a:r>
                    </a:p>
                  </a:txBody>
                  <a:tcPr marL="142875" marR="142875" marT="95250" marB="95250" anchor="ctr">
                    <a:solidFill>
                      <a:srgbClr val="EAF4F8"/>
                    </a:solidFill>
                  </a:tcPr>
                </a:tc>
              </a:tr>
              <a:tr h="571500">
                <a:tc>
                  <a:txBody>
                    <a:bodyPr/>
                    <a:lstStyle/>
                    <a:p>
                      <a:r>
                        <a:rPr sz="2025" b="0">
                          <a:solidFill>
                            <a:srgbClr val="242C33"/>
                          </a:solidFill>
                          <a:latin typeface="Helvetica Neue"/>
                          <a:ea typeface="Helvetica Neue"/>
                          <a:cs typeface="Helvetica Neue"/>
                        </a:rPr>
                        <a:t>Muestras</a:t>
                      </a:r>
                    </a:p>
                  </a:txBody>
                  <a:tcPr marL="142875" marR="142875" marT="95250" marB="95250" anchor="ctr">
                    <a:solidFill>
                      <a:srgbClr val="FFFFFF"/>
                    </a:solidFill>
                  </a:tcPr>
                </a:tc>
                <a:tc>
                  <a:txBody>
                    <a:bodyPr/>
                    <a:lstStyle/>
                    <a:p>
                      <a:r>
                        <a:rPr sz="2025" b="0">
                          <a:solidFill>
                            <a:srgbClr val="242C33"/>
                          </a:solidFill>
                          <a:latin typeface="Helvetica Neue"/>
                          <a:ea typeface="Helvetica Neue"/>
                          <a:cs typeface="Helvetica Neue"/>
                        </a:rPr>
                        <a:t>27 983</a:t>
                      </a:r>
                    </a:p>
                  </a:txBody>
                  <a:tcPr marL="142875" marR="142875" marT="95250" marB="95250" anchor="ctr">
                    <a:solidFill>
                      <a:srgbClr val="FFFFFF"/>
                    </a:solidFill>
                  </a:tcPr>
                </a:tc>
                <a:tc>
                  <a:txBody>
                    <a:bodyPr/>
                    <a:lstStyle/>
                    <a:p>
                      <a:r>
                        <a:rPr sz="2025" b="0">
                          <a:solidFill>
                            <a:srgbClr val="242C33"/>
                          </a:solidFill>
                          <a:latin typeface="Helvetica Neue"/>
                          <a:ea typeface="Helvetica Neue"/>
                          <a:cs typeface="Helvetica Neue"/>
                        </a:rPr>
                        <a:t>27 983</a:t>
                      </a:r>
                    </a:p>
                  </a:txBody>
                  <a:tcPr marL="142875" marR="142875" marT="95250" marB="95250" anchor="ctr">
                    <a:solidFill>
                      <a:srgbClr val="FFFFFF"/>
                    </a:solidFill>
                  </a:tcPr>
                </a:tc>
              </a:tr>
              <a:tr h="571500">
                <a:tc>
                  <a:txBody>
                    <a:bodyPr/>
                    <a:lstStyle/>
                    <a:p>
                      <a:r>
                        <a:rPr sz="2025" b="0">
                          <a:solidFill>
                            <a:srgbClr val="242C33"/>
                          </a:solidFill>
                          <a:latin typeface="Helvetica Neue"/>
                          <a:ea typeface="Helvetica Neue"/>
                          <a:cs typeface="Helvetica Neue"/>
                        </a:rPr>
                        <a:t>Horizontes por muestra</a:t>
                      </a:r>
                    </a:p>
                  </a:txBody>
                  <a:tcPr marL="142875" marR="142875" marT="95250" marB="95250" anchor="ctr">
                    <a:solidFill>
                      <a:srgbClr val="F5F7F8"/>
                    </a:solidFill>
                  </a:tcPr>
                </a:tc>
                <a:tc>
                  <a:txBody>
                    <a:bodyPr/>
                    <a:lstStyle/>
                    <a:p>
                      <a:r>
                        <a:rPr sz="2025" b="0">
                          <a:solidFill>
                            <a:srgbClr val="242C33"/>
                          </a:solidFill>
                          <a:latin typeface="Helvetica Neue"/>
                          <a:ea typeface="Helvetica Neue"/>
                          <a:cs typeface="Helvetica Neue"/>
                        </a:rPr>
                        <a:t>48</a:t>
                      </a:r>
                    </a:p>
                  </a:txBody>
                  <a:tcPr marL="142875" marR="142875" marT="95250" marB="95250" anchor="ctr">
                    <a:solidFill>
                      <a:srgbClr val="F5F7F8"/>
                    </a:solidFill>
                  </a:tcPr>
                </a:tc>
                <a:tc>
                  <a:txBody>
                    <a:bodyPr/>
                    <a:lstStyle/>
                    <a:p>
                      <a:r>
                        <a:rPr sz="2025" b="0">
                          <a:solidFill>
                            <a:srgbClr val="242C33"/>
                          </a:solidFill>
                          <a:latin typeface="Helvetica Neue"/>
                          <a:ea typeface="Helvetica Neue"/>
                          <a:cs typeface="Helvetica Neue"/>
                        </a:rPr>
                        <a:t>48</a:t>
                      </a:r>
                    </a:p>
                  </a:txBody>
                  <a:tcPr marL="142875" marR="142875" marT="95250" marB="95250" anchor="ctr">
                    <a:solidFill>
                      <a:srgbClr val="F5F7F8"/>
                    </a:solidFill>
                  </a:tcPr>
                </a:tc>
              </a:tr>
              <a:tr h="571500">
                <a:tc>
                  <a:txBody>
                    <a:bodyPr/>
                    <a:lstStyle/>
                    <a:p>
                      <a:r>
                        <a:rPr sz="2025" b="0">
                          <a:solidFill>
                            <a:srgbClr val="242C33"/>
                          </a:solidFill>
                          <a:latin typeface="Helvetica Neue"/>
                          <a:ea typeface="Helvetica Neue"/>
                          <a:cs typeface="Helvetica Neue"/>
                        </a:rPr>
                        <a:t>Valores pronosticados</a:t>
                      </a:r>
                    </a:p>
                  </a:txBody>
                  <a:tcPr marL="142875" marR="142875" marT="95250" marB="95250" anchor="ctr">
                    <a:solidFill>
                      <a:srgbClr val="FFFFFF"/>
                    </a:solidFill>
                  </a:tcPr>
                </a:tc>
                <a:tc>
                  <a:txBody>
                    <a:bodyPr/>
                    <a:lstStyle/>
                    <a:p>
                      <a:r>
                        <a:rPr sz="2025" b="0">
                          <a:solidFill>
                            <a:srgbClr val="242C33"/>
                          </a:solidFill>
                          <a:latin typeface="Helvetica Neue"/>
                          <a:ea typeface="Helvetica Neue"/>
                          <a:cs typeface="Helvetica Neue"/>
                        </a:rPr>
                        <a:t>1 343 184</a:t>
                      </a:r>
                    </a:p>
                  </a:txBody>
                  <a:tcPr marL="142875" marR="142875" marT="95250" marB="95250" anchor="ctr">
                    <a:solidFill>
                      <a:srgbClr val="FFFFFF"/>
                    </a:solidFill>
                  </a:tcPr>
                </a:tc>
                <a:tc>
                  <a:txBody>
                    <a:bodyPr/>
                    <a:lstStyle/>
                    <a:p>
                      <a:r>
                        <a:rPr sz="2025" b="0">
                          <a:solidFill>
                            <a:srgbClr val="242C33"/>
                          </a:solidFill>
                          <a:latin typeface="Helvetica Neue"/>
                          <a:ea typeface="Helvetica Neue"/>
                          <a:cs typeface="Helvetica Neue"/>
                        </a:rPr>
                        <a:t>1 343 184</a:t>
                      </a:r>
                    </a:p>
                  </a:txBody>
                  <a:tcPr marL="142875" marR="142875" marT="95250" marB="95250" anchor="ctr">
                    <a:solidFill>
                      <a:srgbClr val="FFFFFF"/>
                    </a:solidFill>
                  </a:tcPr>
                </a:tc>
              </a:tr>
              <a:tr h="571500">
                <a:tc>
                  <a:txBody>
                    <a:bodyPr/>
                    <a:lstStyle/>
                    <a:p>
                      <a:r>
                        <a:rPr sz="2025" b="0">
                          <a:solidFill>
                            <a:srgbClr val="242C33"/>
                          </a:solidFill>
                          <a:latin typeface="Helvetica Neue"/>
                          <a:ea typeface="Helvetica Neue"/>
                          <a:cs typeface="Helvetica Neue"/>
                        </a:rPr>
                        <a:t>Estado local</a:t>
                      </a:r>
                    </a:p>
                  </a:txBody>
                  <a:tcPr marL="142875" marR="142875" marT="95250" marB="95250" anchor="ctr">
                    <a:solidFill>
                      <a:srgbClr val="F5F7F8"/>
                    </a:solidFill>
                  </a:tcPr>
                </a:tc>
                <a:tc>
                  <a:txBody>
                    <a:bodyPr/>
                    <a:lstStyle/>
                    <a:p>
                      <a:r>
                        <a:rPr sz="2025" b="0">
                          <a:solidFill>
                            <a:srgbClr val="242C33"/>
                          </a:solidFill>
                          <a:latin typeface="Helvetica Neue"/>
                          <a:ea typeface="Helvetica Neue"/>
                          <a:cs typeface="Helvetica Neue"/>
                        </a:rPr>
                        <a:t>Completo</a:t>
                      </a:r>
                    </a:p>
                  </a:txBody>
                  <a:tcPr marL="142875" marR="142875" marT="95250" marB="95250" anchor="ctr">
                    <a:solidFill>
                      <a:srgbClr val="F5F7F8"/>
                    </a:solidFill>
                  </a:tcPr>
                </a:tc>
                <a:tc>
                  <a:txBody>
                    <a:bodyPr/>
                    <a:lstStyle/>
                    <a:p>
                      <a:r>
                        <a:rPr sz="2025" b="0">
                          <a:solidFill>
                            <a:srgbClr val="242C33"/>
                          </a:solidFill>
                          <a:latin typeface="Helvetica Neue"/>
                          <a:ea typeface="Helvetica Neue"/>
                          <a:cs typeface="Helvetica Neue"/>
                        </a:rPr>
                        <a:t>Completo</a:t>
                      </a:r>
                    </a:p>
                  </a:txBody>
                  <a:tcPr marL="142875" marR="142875" marT="95250" marB="95250" anchor="ctr">
                    <a:solidFill>
                      <a:srgbClr val="F5F7F8"/>
                    </a:solidFill>
                  </a:tcPr>
                </a:tc>
              </a:tr>
            </a:tbl>
          </a:graphicData>
        </a:graphic>
      </p:graphicFrame>
      <p:sp>
        <p:nvSpPr>
          <p:cNvPr id="6" name="mm/h · IDs 0–27 982 · CSV = NPZ · SHA-256 coincide con Khipu">
            <a:extLst xmlns:a="http://schemas.openxmlformats.org/drawingml/2006/main">
              <a:ext uri="{FF2B5EF4-FFF2-40B4-BE49-F238E27FC236}">
                <a16:creationId xmlns:a16="http://schemas.microsoft.com/office/drawing/2014/main" id="{E8A8B627-2C4A-47F4-B343-C7A16A496B10}"/>
              </a:ext>
            </a:extLst>
          </p:cNvPr>
          <p:cNvSpPr>
            <a:spLocks xmlns:a="http://schemas.openxmlformats.org/drawingml/2006/main" noGrp="1"/>
          </p:cNvSpPr>
          <p:nvPr/>
        </p:nvSpPr>
        <p:spPr>
          <a:xfrm xmlns:a="http://schemas.openxmlformats.org/drawingml/2006/main">
            <a:off x="733425" y="521970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64B6B"/>
                </a:solidFill>
                <a:latin typeface="Helvetica Neue"/>
                <a:ea typeface="Helvetica Neue"/>
                <a:cs typeface="Helvetica Neue"/>
              </a:defRPr>
            </a:pPr>
            <a:r>
              <a:rPr sz="2100" b="1">
                <a:solidFill>
                  <a:srgbClr val="064B6B"/>
                </a:solidFill>
                <a:latin typeface="Helvetica Neue"/>
                <a:ea typeface="Helvetica Neue"/>
                <a:cs typeface="Helvetica Neue"/>
              </a:rPr>
              <a:t>mm/h · IDs 0–27 982 · CSV = NPZ · SHA-256 coincide con Khipu</a:t>
            </a:r>
          </a:p>
        </p:txBody>
      </p:sp>
      <p:sp>
        <p:nvSpPr>
          <p:cNvPr id="7" name="Sin etiquetas de test: acreditamos integridad, no precisión pred">
            <a:extLst xmlns:a="http://schemas.openxmlformats.org/drawingml/2006/main">
              <a:ext uri="{FF2B5EF4-FFF2-40B4-BE49-F238E27FC236}">
                <a16:creationId xmlns:a16="http://schemas.microsoft.com/office/drawing/2014/main" id="{F46B52F9-788A-4E4F-8A25-0CE697282213}"/>
              </a:ext>
            </a:extLst>
          </p:cNvPr>
          <p:cNvSpPr>
            <a:spLocks xmlns:a="http://schemas.openxmlformats.org/drawingml/2006/main" noGrp="1"/>
          </p:cNvSpPr>
          <p:nvPr/>
        </p:nvSpPr>
        <p:spPr>
          <a:xfrm xmlns:a="http://schemas.openxmlformats.org/drawingml/2006/main">
            <a:off x="742950" y="581025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Sin etiquetas de test: acreditamos integridad, no precisión predictiva.</a:t>
            </a:r>
          </a:p>
        </p:txBody>
      </p:sp>
    </p:spTree>
    <p:extLst>
      <p:ext uri="{BB962C8B-B14F-4D97-AF65-F5344CB8AC3E}">
        <p14:creationId xmlns:p14="http://schemas.microsoft.com/office/powerpoint/2010/main" val="8805270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clusiones y evaluación pendiente">
            <a:extLst xmlns:a="http://schemas.openxmlformats.org/drawingml/2006/main">
              <a:ext uri="{FF2B5EF4-FFF2-40B4-BE49-F238E27FC236}">
                <a16:creationId xmlns:a16="http://schemas.microsoft.com/office/drawing/2014/main" id="{D712F45C-E789-4E1A-9803-EC9AC3AEE5D2}"/>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064B6B"/>
                </a:solidFill>
                <a:latin typeface="Helvetica Neue"/>
                <a:ea typeface="Helvetica Neue"/>
                <a:cs typeface="Helvetica Neue"/>
              </a:defRPr>
            </a:pPr>
            <a:r>
              <a:rPr sz="3300" b="1">
                <a:solidFill>
                  <a:srgbClr val="064B6B"/>
                </a:solidFill>
                <a:latin typeface="Helvetica Neue"/>
                <a:ea typeface="Helvetica Neue"/>
                <a:cs typeface="Helvetica Neue"/>
              </a:rPr>
              <a:t>Conclusiones y alcance del cierre</a:t>
            </a:r>
          </a:p>
        </p:txBody>
      </p:sp>
      <p:sp>
        <p:nvSpPr>
          <p:cNvPr id="2" name="Corte: 03/10/2026. Adaptación al laboratorio, una semilla, resul">
            <a:extLst xmlns:a="http://schemas.openxmlformats.org/drawingml/2006/main">
              <a:ext uri="{FF2B5EF4-FFF2-40B4-BE49-F238E27FC236}">
                <a16:creationId xmlns:a16="http://schemas.microsoft.com/office/drawing/2014/main" id="{D090F272-2164-4F87-9DE3-836CA78B2FE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Cierre: 08/10/2026. Validación para seleccionar checkpoints; test sin objetivos</a:t>
            </a:r>
          </a:p>
        </p:txBody>
      </p:sp>
      <p:sp>
        <p:nvSpPr>
          <p:cNvPr id="3" name="00">
            <a:extLst xmlns:a="http://schemas.openxmlformats.org/drawingml/2006/main">
              <a:ext uri="{FF2B5EF4-FFF2-40B4-BE49-F238E27FC236}">
                <a16:creationId xmlns:a16="http://schemas.microsoft.com/office/drawing/2014/main" id="{15ED177E-84C1-458B-B04E-2DAF69F6374D}"/>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22</a:t>
            </a:r>
          </a:p>
        </p:txBody>
      </p:sp>
      <p:sp>
        <p:nvSpPr>
          <p:cNvPr id="4" name="LSTM conserva el mejor RMSE global en esta comparación.">
            <a:extLst xmlns:a="http://schemas.openxmlformats.org/drawingml/2006/main">
              <a:ext uri="{FF2B5EF4-FFF2-40B4-BE49-F238E27FC236}">
                <a16:creationId xmlns:a16="http://schemas.microsoft.com/office/drawing/2014/main" id="{7390F983-9094-433D-AFF9-6BCEA9076880}"/>
              </a:ext>
            </a:extLst>
          </p:cNvPr>
          <p:cNvSpPr>
            <a:spLocks xmlns:a="http://schemas.openxmlformats.org/drawingml/2006/main" noGrp="1"/>
          </p:cNvSpPr>
          <p:nvPr/>
        </p:nvSpPr>
        <p:spPr>
          <a:xfrm xmlns:a="http://schemas.openxmlformats.org/drawingml/2006/main">
            <a:off x="733425" y="147637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064B6B"/>
                </a:solidFill>
                <a:latin typeface="Helvetica Neue"/>
                <a:ea typeface="Helvetica Neue"/>
                <a:cs typeface="Helvetica Neue"/>
              </a:defRPr>
            </a:pPr>
            <a:r>
              <a:rPr sz="2325" b="1">
                <a:solidFill>
                  <a:srgbClr val="064B6B"/>
                </a:solidFill>
                <a:latin typeface="Helvetica Neue"/>
                <a:ea typeface="Helvetica Neue"/>
                <a:cs typeface="Helvetica Neue"/>
              </a:rPr>
              <a:t>Ablación ejecutada y predicciones de test completas.</a:t>
            </a:r>
          </a:p>
        </p:txBody>
      </p:sp>
      <p:sp>
        <p:nvSpPr>
          <p:cNvPr id="5" name="DMEL mejora 252 cuencas y reduce las salidas negativas.">
            <a:extLst xmlns:a="http://schemas.openxmlformats.org/drawingml/2006/main">
              <a:ext uri="{FF2B5EF4-FFF2-40B4-BE49-F238E27FC236}">
                <a16:creationId xmlns:a16="http://schemas.microsoft.com/office/drawing/2014/main" id="{E798C4CD-37D5-413D-A68F-7B689406F328}"/>
              </a:ext>
            </a:extLst>
          </p:cNvPr>
          <p:cNvSpPr>
            <a:spLocks xmlns:a="http://schemas.openxmlformats.org/drawingml/2006/main" noGrp="1"/>
          </p:cNvSpPr>
          <p:nvPr/>
        </p:nvSpPr>
        <p:spPr>
          <a:xfrm xmlns:a="http://schemas.openxmlformats.org/drawingml/2006/main">
            <a:off x="742950" y="21336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0">
                <a:solidFill>
                  <a:srgbClr val="242C33"/>
                </a:solidFill>
                <a:latin typeface="Helvetica Neue"/>
                <a:ea typeface="Helvetica Neue"/>
                <a:cs typeface="Helvetica Neue"/>
              </a:defRPr>
            </a:pPr>
            <a:r>
              <a:rPr sz="2025" b="0">
                <a:solidFill>
                  <a:srgbClr val="242C33"/>
                </a:solidFill>
                <a:latin typeface="Helvetica Neue"/>
                <a:ea typeface="Helvetica Neue"/>
                <a:cs typeface="Helvetica Neue"/>
              </a:rPr>
              <a:t>La comparación principal sigue favoreciendo a LSTM en RMSE.</a:t>
            </a:r>
          </a:p>
        </p:txBody>
      </p:sp>
      <p:graphicFrame>
        <p:nvGraphicFramePr>
          <p:cNvPr id="15" name=""/>
          <p:cNvGraphicFramePr/>
          <p:nvPr/>
        </p:nvGraphicFramePr>
        <p:xfrm>
          <a:off xmlns:a="http://schemas.openxmlformats.org/drawingml/2006/main" x="609600" y="2933700"/>
          <a:ext xmlns:a="http://schemas.openxmlformats.org/drawingml/2006/main" cx="10972800" cy="2686050"/>
        </p:xfrm>
        <a:graphic xmlns:a="http://schemas.openxmlformats.org/drawingml/2006/main">
          <a:graphicData uri="http://schemas.openxmlformats.org/drawingml/2006/table">
            <a:tbl>
              <a:tblPr firstRow="1" bandRow="0"/>
              <a:tblGrid>
                <a:gridCol w="3810000"/>
                <a:gridCol w="7162800"/>
              </a:tblGrid>
              <a:tr h="537210">
                <a:tc>
                  <a:txBody>
                    <a:bodyPr/>
                    <a:lstStyle/>
                    <a:p>
                      <a:r>
                        <a:rPr sz="1725" b="1">
                          <a:solidFill>
                            <a:srgbClr val="064B6B"/>
                          </a:solidFill>
                          <a:latin typeface="Helvetica Neue"/>
                          <a:ea typeface="Helvetica Neue"/>
                          <a:cs typeface="Helvetica Neue"/>
                        </a:rPr>
                        <a:t>Evidencia</a:t>
                      </a:r>
                    </a:p>
                  </a:txBody>
                  <a:tcPr marL="142875" marR="142875" marT="114300" marB="114300" anchor="ctr">
                    <a:solidFill>
                      <a:srgbClr val="EAF4F8"/>
                    </a:solidFill>
                  </a:tcPr>
                </a:tc>
                <a:tc>
                  <a:txBody>
                    <a:bodyPr/>
                    <a:lstStyle/>
                    <a:p>
                      <a:r>
                        <a:rPr sz="1725" b="1">
                          <a:solidFill>
                            <a:srgbClr val="064B6B"/>
                          </a:solidFill>
                          <a:latin typeface="Helvetica Neue"/>
                          <a:ea typeface="Helvetica Neue"/>
                          <a:cs typeface="Helvetica Neue"/>
                        </a:rPr>
                        <a:t>Lectura del resultado</a:t>
                      </a:r>
                    </a:p>
                  </a:txBody>
                  <a:tcPr marL="142875" marR="142875" marT="114300" marB="114300" anchor="ctr">
                    <a:solidFill>
                      <a:srgbClr val="EAF4F8"/>
                    </a:solidFill>
                  </a:tcPr>
                </a:tc>
              </a:tr>
              <a:tr h="537210">
                <a:tc>
                  <a:txBody>
                    <a:bodyPr/>
                    <a:lstStyle/>
                    <a:p>
                      <a:r>
                        <a:rPr sz="1725" b="0">
                          <a:solidFill>
                            <a:srgbClr val="242C33"/>
                          </a:solidFill>
                          <a:latin typeface="Helvetica Neue"/>
                          <a:ea typeface="Helvetica Neue"/>
                          <a:cs typeface="Helvetica Neue"/>
                        </a:rPr>
                        <a:t>Comparación principal</a:t>
                      </a:r>
                    </a:p>
                  </a:txBody>
                  <a:tcPr marL="142875" marR="142875" marT="114300" marB="114300" anchor="ctr">
                    <a:solidFill>
                      <a:srgbClr val="FFFFFF"/>
                    </a:solidFill>
                  </a:tcPr>
                </a:tc>
                <a:tc>
                  <a:txBody>
                    <a:bodyPr/>
                    <a:lstStyle/>
                    <a:p>
                      <a:r>
                        <a:rPr sz="1725" b="0">
                          <a:solidFill>
                            <a:srgbClr val="242C33"/>
                          </a:solidFill>
                          <a:latin typeface="Helvetica Neue"/>
                          <a:ea typeface="Helvetica Neue"/>
                          <a:cs typeface="Helvetica Neue"/>
                        </a:rPr>
                        <a:t>LSTM: menor RMSE global y en los 48 horizontes.</a:t>
                      </a:r>
                    </a:p>
                  </a:txBody>
                  <a:tcPr marL="142875" marR="142875" marT="114300" marB="114300" anchor="ctr">
                    <a:solidFill>
                      <a:srgbClr val="FFFFFF"/>
                    </a:solidFill>
                  </a:tcPr>
                </a:tc>
              </a:tr>
              <a:tr h="537210">
                <a:tc>
                  <a:txBody>
                    <a:bodyPr/>
                    <a:lstStyle/>
                    <a:p>
                      <a:r>
                        <a:rPr sz="1725" b="0">
                          <a:solidFill>
                            <a:srgbClr val="242C33"/>
                          </a:solidFill>
                          <a:latin typeface="Helvetica Neue"/>
                          <a:ea typeface="Helvetica Neue"/>
                          <a:cs typeface="Helvetica Neue"/>
                        </a:rPr>
                        <a:t>Ablación · 3 épocas</a:t>
                      </a:r>
                    </a:p>
                  </a:txBody>
                  <a:tcPr marL="142875" marR="142875" marT="114300" marB="114300" anchor="ctr">
                    <a:solidFill>
                      <a:srgbClr val="F5F7F8"/>
                    </a:solidFill>
                  </a:tcPr>
                </a:tc>
                <a:tc>
                  <a:txBody>
                    <a:bodyPr/>
                    <a:lstStyle/>
                    <a:p>
                      <a:r>
                        <a:rPr sz="1725" b="0">
                          <a:solidFill>
                            <a:srgbClr val="242C33"/>
                          </a:solidFill>
                          <a:latin typeface="Helvetica Neue"/>
                          <a:ea typeface="Helvetica Neue"/>
                          <a:cs typeface="Helvetica Neue"/>
                        </a:rPr>
                        <a:t>Dos Informer: RMSE +1.31 %; KGE y negativos mejoran.</a:t>
                      </a:r>
                    </a:p>
                  </a:txBody>
                  <a:tcPr marL="142875" marR="142875" marT="114300" marB="114300" anchor="ctr">
                    <a:solidFill>
                      <a:srgbClr val="F5F7F8"/>
                    </a:solidFill>
                  </a:tcPr>
                </a:tc>
              </a:tr>
              <a:tr h="537210">
                <a:tc>
                  <a:txBody>
                    <a:bodyPr/>
                    <a:lstStyle/>
                    <a:p>
                      <a:r>
                        <a:rPr sz="1725" b="0">
                          <a:solidFill>
                            <a:srgbClr val="242C33"/>
                          </a:solidFill>
                          <a:latin typeface="Helvetica Neue"/>
                          <a:ea typeface="Helvetica Neue"/>
                          <a:cs typeface="Helvetica Neue"/>
                        </a:rPr>
                        <a:t>Test completo</a:t>
                      </a:r>
                    </a:p>
                  </a:txBody>
                  <a:tcPr marL="142875" marR="142875" marT="114300" marB="114300" anchor="ctr">
                    <a:solidFill>
                      <a:srgbClr val="FFFFFF"/>
                    </a:solidFill>
                  </a:tcPr>
                </a:tc>
                <a:tc>
                  <a:txBody>
                    <a:bodyPr/>
                    <a:lstStyle/>
                    <a:p>
                      <a:r>
                        <a:rPr sz="1725" b="0">
                          <a:solidFill>
                            <a:srgbClr val="242C33"/>
                          </a:solidFill>
                          <a:latin typeface="Helvetica Neue"/>
                          <a:ea typeface="Helvetica Neue"/>
                          <a:cs typeface="Helvetica Neue"/>
                        </a:rPr>
                        <a:t>27 983 filas × 48 horas por modelo; sin métricas.</a:t>
                      </a:r>
                    </a:p>
                  </a:txBody>
                  <a:tcPr marL="142875" marR="142875" marT="114300" marB="114300" anchor="ctr">
                    <a:solidFill>
                      <a:srgbClr val="FFFFFF"/>
                    </a:solidFill>
                  </a:tcPr>
                </a:tc>
              </a:tr>
              <a:tr h="537210">
                <a:tc>
                  <a:txBody>
                    <a:bodyPr/>
                    <a:lstStyle/>
                    <a:p>
                      <a:r>
                        <a:rPr sz="1725" b="0">
                          <a:solidFill>
                            <a:srgbClr val="242C33"/>
                          </a:solidFill>
                          <a:latin typeface="Helvetica Neue"/>
                          <a:ea typeface="Helvetica Neue"/>
                          <a:cs typeface="Helvetica Neue"/>
                        </a:rPr>
                        <a:t>Límites</a:t>
                      </a:r>
                    </a:p>
                  </a:txBody>
                  <a:tcPr marL="142875" marR="142875" marT="114300" marB="114300" anchor="ctr">
                    <a:solidFill>
                      <a:srgbClr val="F5F7F8"/>
                    </a:solidFill>
                  </a:tcPr>
                </a:tc>
                <a:tc>
                  <a:txBody>
                    <a:bodyPr/>
                    <a:lstStyle/>
                    <a:p>
                      <a:r>
                        <a:rPr sz="1725" b="0">
                          <a:solidFill>
                            <a:srgbClr val="242C33"/>
                          </a:solidFill>
                          <a:latin typeface="Helvetica Neue"/>
                          <a:ea typeface="Helvetica Neue"/>
                          <a:cs typeface="Helvetica Neue"/>
                        </a:rPr>
                        <a:t>Una semilla; capacidad distinta; solo 3 épocas.</a:t>
                      </a:r>
                    </a:p>
                  </a:txBody>
                  <a:tcPr marL="142875" marR="142875" marT="114300" marB="114300" anchor="ctr">
                    <a:solidFill>
                      <a:srgbClr val="F5F7F8"/>
                    </a:solidFill>
                  </a:tcPr>
                </a:tc>
              </a:tr>
            </a:tbl>
          </a:graphicData>
        </a:graphic>
      </p:graphicFrame>
      <p:sp>
        <p:nvSpPr>
          <p:cNvPr id="7" name="Este resultado no establece una ventaja general de DMEL.">
            <a:extLst xmlns:a="http://schemas.openxmlformats.org/drawingml/2006/main">
              <a:ext uri="{FF2B5EF4-FFF2-40B4-BE49-F238E27FC236}">
                <a16:creationId xmlns:a16="http://schemas.microsoft.com/office/drawing/2014/main" id="{3A82138D-866B-4037-A4D1-7729285378AC}"/>
              </a:ext>
            </a:extLst>
          </p:cNvPr>
          <p:cNvSpPr>
            <a:spLocks xmlns:a="http://schemas.openxmlformats.org/drawingml/2006/main" noGrp="1"/>
          </p:cNvSpPr>
          <p:nvPr/>
        </p:nvSpPr>
        <p:spPr>
          <a:xfrm xmlns:a="http://schemas.openxmlformats.org/drawingml/2006/main">
            <a:off x="752475" y="588645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5D6267"/>
                </a:solidFill>
                <a:latin typeface="Helvetica Neue"/>
                <a:ea typeface="Helvetica Neue"/>
                <a:cs typeface="Helvetica Neue"/>
              </a:defRPr>
            </a:pPr>
            <a:r>
              <a:rPr sz="1950" b="0">
                <a:solidFill>
                  <a:srgbClr val="5D6267"/>
                </a:solidFill>
                <a:latin typeface="Helvetica Neue"/>
                <a:ea typeface="Helvetica Neue"/>
                <a:cs typeface="Helvetica Neue"/>
              </a:rPr>
              <a:t>Extensiones: persistencia, más semillas y análisis detallado de eventos.</a:t>
            </a:r>
          </a:p>
        </p:txBody>
      </p:sp>
    </p:spTree>
    <p:extLst>
      <p:ext uri="{BB962C8B-B14F-4D97-AF65-F5344CB8AC3E}">
        <p14:creationId xmlns:p14="http://schemas.microsoft.com/office/powerpoint/2010/main" val="133645136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l método">
            <a:extLst xmlns:a="http://schemas.openxmlformats.org/drawingml/2006/main">
              <a:ext uri="{FF2B5EF4-FFF2-40B4-BE49-F238E27FC236}">
                <a16:creationId xmlns:a16="http://schemas.microsoft.com/office/drawing/2014/main" id="{561B1F02-2327-4FC8-97D4-5A64C728E5B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del método</a:t>
            </a:r>
          </a:p>
        </p:txBody>
      </p:sp>
      <p:sp>
        <p:nvSpPr>
          <p:cNvPr id="2" name="Fuentes primarias. Referencias y vínculos completos en las n">
            <a:extLst xmlns:a="http://schemas.openxmlformats.org/drawingml/2006/main">
              <a:ext uri="{FF2B5EF4-FFF2-40B4-BE49-F238E27FC236}">
                <a16:creationId xmlns:a16="http://schemas.microsoft.com/office/drawing/2014/main" id="{F49468B1-C667-4F0F-8F8F-CF21D12AA7D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Fuentes primarias. Referencias y vínculos completos en las notas de cada diapositiva</a:t>
            </a:r>
          </a:p>
        </p:txBody>
      </p:sp>
      <p:sp>
        <p:nvSpPr>
          <p:cNvPr id="3" name="18">
            <a:extLst xmlns:a="http://schemas.openxmlformats.org/drawingml/2006/main">
              <a:ext uri="{FF2B5EF4-FFF2-40B4-BE49-F238E27FC236}">
                <a16:creationId xmlns:a16="http://schemas.microsoft.com/office/drawing/2014/main" id="{C96684F8-9772-4789-AF8D-60ABCDF1349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23</a:t>
            </a:r>
          </a:p>
        </p:txBody>
      </p:sp>
      <p:sp>
        <p:nvSpPr>
          <p:cNvPr id="4" name="Wang et al., 2026">
            <a:extLst xmlns:a="http://schemas.openxmlformats.org/drawingml/2006/main">
              <a:ext uri="{FF2B5EF4-FFF2-40B4-BE49-F238E27FC236}">
                <a16:creationId xmlns:a16="http://schemas.microsoft.com/office/drawing/2014/main" id="{C7809BA1-7701-402D-B987-79E909798587}"/>
              </a:ext>
            </a:extLst>
          </p:cNvPr>
          <p:cNvSpPr>
            <a:spLocks xmlns:a="http://schemas.openxmlformats.org/drawingml/2006/main" noGrp="1"/>
          </p:cNvSpPr>
          <p:nvPr/>
        </p:nvSpPr>
        <p:spPr>
          <a:xfrm xmlns:a="http://schemas.openxmlformats.org/drawingml/2006/main">
            <a:off x="714375" y="15430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Wang et al., 2026</a:t>
            </a:r>
          </a:p>
        </p:txBody>
      </p:sp>
      <p:sp>
        <p:nvSpPr>
          <p:cNvPr id="5" name="DMEL. Applied Soft Computing 192, 114792. DOI: 10.1016/j.aso">
            <a:extLst xmlns:a="http://schemas.openxmlformats.org/drawingml/2006/main">
              <a:ext uri="{FF2B5EF4-FFF2-40B4-BE49-F238E27FC236}">
                <a16:creationId xmlns:a16="http://schemas.microsoft.com/office/drawing/2014/main" id="{D9B839C3-4DED-4780-B873-ED421CDDE7C1}"/>
              </a:ext>
            </a:extLst>
          </p:cNvPr>
          <p:cNvSpPr>
            <a:spLocks xmlns:a="http://schemas.openxmlformats.org/drawingml/2006/main" noGrp="1"/>
          </p:cNvSpPr>
          <p:nvPr/>
        </p:nvSpPr>
        <p:spPr>
          <a:xfrm xmlns:a="http://schemas.openxmlformats.org/drawingml/2006/main">
            <a:off x="714375" y="19716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DMEL. Applied Soft Computing 192, 114792. DOI: 10.1016/j.asoc.2026.114792</a:t>
            </a:r>
          </a:p>
        </p:txBody>
      </p:sp>
      <p:sp>
        <p:nvSpPr>
          <p:cNvPr id="6" name="Torres et al., 2011">
            <a:extLst xmlns:a="http://schemas.openxmlformats.org/drawingml/2006/main">
              <a:ext uri="{FF2B5EF4-FFF2-40B4-BE49-F238E27FC236}">
                <a16:creationId xmlns:a16="http://schemas.microsoft.com/office/drawing/2014/main" id="{EB322774-CAF5-4AA3-A7B4-A686AD3E923A}"/>
              </a:ext>
            </a:extLst>
          </p:cNvPr>
          <p:cNvSpPr>
            <a:spLocks xmlns:a="http://schemas.openxmlformats.org/drawingml/2006/main" noGrp="1"/>
          </p:cNvSpPr>
          <p:nvPr/>
        </p:nvSpPr>
        <p:spPr>
          <a:xfrm xmlns:a="http://schemas.openxmlformats.org/drawingml/2006/main">
            <a:off x="714375" y="29527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Torres et al., 2011</a:t>
            </a:r>
          </a:p>
        </p:txBody>
      </p:sp>
      <p:sp>
        <p:nvSpPr>
          <p:cNvPr id="7" name="A complete ensemble empirical mode decomposition with adapti">
            <a:extLst xmlns:a="http://schemas.openxmlformats.org/drawingml/2006/main">
              <a:ext uri="{FF2B5EF4-FFF2-40B4-BE49-F238E27FC236}">
                <a16:creationId xmlns:a16="http://schemas.microsoft.com/office/drawing/2014/main" id="{5D630880-1719-436C-BB6E-8039567D3150}"/>
              </a:ext>
            </a:extLst>
          </p:cNvPr>
          <p:cNvSpPr>
            <a:spLocks xmlns:a="http://schemas.openxmlformats.org/drawingml/2006/main" noGrp="1"/>
          </p:cNvSpPr>
          <p:nvPr/>
        </p:nvSpPr>
        <p:spPr>
          <a:xfrm xmlns:a="http://schemas.openxmlformats.org/drawingml/2006/main">
            <a:off x="714375" y="3381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A complete ensemble empirical mode decomposition with adaptive noise. ICASSP.</a:t>
            </a:r>
          </a:p>
        </p:txBody>
      </p:sp>
      <p:sp>
        <p:nvSpPr>
          <p:cNvPr id="8" name="Richman y Moorman, 2000">
            <a:extLst xmlns:a="http://schemas.openxmlformats.org/drawingml/2006/main">
              <a:ext uri="{FF2B5EF4-FFF2-40B4-BE49-F238E27FC236}">
                <a16:creationId xmlns:a16="http://schemas.microsoft.com/office/drawing/2014/main" id="{45E5914B-D1DF-4C52-8257-D46C71AC759A}"/>
              </a:ext>
            </a:extLst>
          </p:cNvPr>
          <p:cNvSpPr>
            <a:spLocks xmlns:a="http://schemas.openxmlformats.org/drawingml/2006/main" noGrp="1"/>
          </p:cNvSpPr>
          <p:nvPr/>
        </p:nvSpPr>
        <p:spPr>
          <a:xfrm xmlns:a="http://schemas.openxmlformats.org/drawingml/2006/main">
            <a:off x="714375" y="43624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Richman y Moorman, 2000</a:t>
            </a:r>
          </a:p>
        </p:txBody>
      </p:sp>
      <p:sp>
        <p:nvSpPr>
          <p:cNvPr id="9" name="Physiological time-series analysis using approximate entropy">
            <a:extLst xmlns:a="http://schemas.openxmlformats.org/drawingml/2006/main">
              <a:ext uri="{FF2B5EF4-FFF2-40B4-BE49-F238E27FC236}">
                <a16:creationId xmlns:a16="http://schemas.microsoft.com/office/drawing/2014/main" id="{A31CA53B-32DB-49F3-A8C7-7F2B8616F9EF}"/>
              </a:ext>
            </a:extLst>
          </p:cNvPr>
          <p:cNvSpPr>
            <a:spLocks xmlns:a="http://schemas.openxmlformats.org/drawingml/2006/main" noGrp="1"/>
          </p:cNvSpPr>
          <p:nvPr/>
        </p:nvSpPr>
        <p:spPr>
          <a:xfrm xmlns:a="http://schemas.openxmlformats.org/drawingml/2006/main">
            <a:off x="714375" y="47910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Physiological time-series analysis using approximate entropy and sample entropy.</a:t>
            </a:r>
          </a:p>
        </p:txBody>
      </p:sp>
    </p:spTree>
    <p:extLst>
      <p:ext uri="{BB962C8B-B14F-4D97-AF65-F5344CB8AC3E}">
        <p14:creationId xmlns:p14="http://schemas.microsoft.com/office/powerpoint/2010/main" val="69027930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 evaluación y del proyecto">
            <a:extLst xmlns:a="http://schemas.openxmlformats.org/drawingml/2006/main">
              <a:ext uri="{FF2B5EF4-FFF2-40B4-BE49-F238E27FC236}">
                <a16:creationId xmlns:a16="http://schemas.microsoft.com/office/drawing/2014/main" id="{5C239C3F-9274-4066-94DC-44330678098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 evaluación y del proyecto</a:t>
            </a:r>
          </a:p>
        </p:txBody>
      </p:sp>
      <p:sp>
        <p:nvSpPr>
          <p:cNvPr id="2" name="Material de apoyo para la exposición y las preguntas individ">
            <a:extLst xmlns:a="http://schemas.openxmlformats.org/drawingml/2006/main">
              <a:ext uri="{FF2B5EF4-FFF2-40B4-BE49-F238E27FC236}">
                <a16:creationId xmlns:a16="http://schemas.microsoft.com/office/drawing/2014/main" id="{33C06E93-5F0A-4A83-9841-6461C595A8B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Material de apoyo para la exposición y las preguntas individuales</a:t>
            </a:r>
          </a:p>
        </p:txBody>
      </p:sp>
      <p:sp>
        <p:nvSpPr>
          <p:cNvPr id="3" name="19">
            <a:extLst xmlns:a="http://schemas.openxmlformats.org/drawingml/2006/main">
              <a:ext uri="{FF2B5EF4-FFF2-40B4-BE49-F238E27FC236}">
                <a16:creationId xmlns:a16="http://schemas.microsoft.com/office/drawing/2014/main" id="{E69EB662-182C-494F-BB24-51FE51F3D25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24</a:t>
            </a:r>
          </a:p>
        </p:txBody>
      </p:sp>
      <p:sp>
        <p:nvSpPr>
          <p:cNvPr id="4" name="Zhou et al., 2021">
            <a:extLst xmlns:a="http://schemas.openxmlformats.org/drawingml/2006/main">
              <a:ext uri="{FF2B5EF4-FFF2-40B4-BE49-F238E27FC236}">
                <a16:creationId xmlns:a16="http://schemas.microsoft.com/office/drawing/2014/main" id="{EB5BE402-8652-44FE-8FAE-4C9BC034F99D}"/>
              </a:ext>
            </a:extLst>
          </p:cNvPr>
          <p:cNvSpPr>
            <a:spLocks xmlns:a="http://schemas.openxmlformats.org/drawingml/2006/main" noGrp="1"/>
          </p:cNvSpPr>
          <p:nvPr/>
        </p:nvSpPr>
        <p:spPr>
          <a:xfrm xmlns:a="http://schemas.openxmlformats.org/drawingml/2006/main">
            <a:off x="714375" y="15144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Zhou et al., 2021</a:t>
            </a:r>
          </a:p>
        </p:txBody>
      </p:sp>
      <p:sp>
        <p:nvSpPr>
          <p:cNvPr id="5" name="Informer: Beyond Efficient Transformer for Long Sequence Tim">
            <a:extLst xmlns:a="http://schemas.openxmlformats.org/drawingml/2006/main">
              <a:ext uri="{FF2B5EF4-FFF2-40B4-BE49-F238E27FC236}">
                <a16:creationId xmlns:a16="http://schemas.microsoft.com/office/drawing/2014/main" id="{76B885F7-A360-4C59-B3C1-81D0E6E03C85}"/>
              </a:ext>
            </a:extLst>
          </p:cNvPr>
          <p:cNvSpPr>
            <a:spLocks xmlns:a="http://schemas.openxmlformats.org/drawingml/2006/main" noGrp="1"/>
          </p:cNvSpPr>
          <p:nvPr/>
        </p:nvSpPr>
        <p:spPr>
          <a:xfrm xmlns:a="http://schemas.openxmlformats.org/drawingml/2006/main">
            <a:off x="714375" y="19431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Beyond Efficient Transformer for Long Sequence Time-Series Forecasting. arXiv:2012.07436</a:t>
            </a:r>
          </a:p>
        </p:txBody>
      </p:sp>
      <p:sp>
        <p:nvSpPr>
          <p:cNvPr id="6" name="Knoben, Freer y Woods, 2019">
            <a:extLst xmlns:a="http://schemas.openxmlformats.org/drawingml/2006/main">
              <a:ext uri="{FF2B5EF4-FFF2-40B4-BE49-F238E27FC236}">
                <a16:creationId xmlns:a16="http://schemas.microsoft.com/office/drawing/2014/main" id="{D4E016A9-6EFF-4170-934E-DC8F925AC9C7}"/>
              </a:ext>
            </a:extLst>
          </p:cNvPr>
          <p:cNvSpPr>
            <a:spLocks xmlns:a="http://schemas.openxmlformats.org/drawingml/2006/main" noGrp="1"/>
          </p:cNvSpPr>
          <p:nvPr/>
        </p:nvSpPr>
        <p:spPr>
          <a:xfrm xmlns:a="http://schemas.openxmlformats.org/drawingml/2006/main">
            <a:off x="714375" y="29051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Knoben, Freer y Woods, 2019</a:t>
            </a:r>
          </a:p>
        </p:txBody>
      </p:sp>
      <p:sp>
        <p:nvSpPr>
          <p:cNvPr id="7" name="Comparing Nash–Sutcliffe and Kling–Gupta efficiency scores. ">
            <a:extLst xmlns:a="http://schemas.openxmlformats.org/drawingml/2006/main">
              <a:ext uri="{FF2B5EF4-FFF2-40B4-BE49-F238E27FC236}">
                <a16:creationId xmlns:a16="http://schemas.microsoft.com/office/drawing/2014/main" id="{CE6AADE4-EEA3-466E-A54D-514F4EF8B05E}"/>
              </a:ext>
            </a:extLst>
          </p:cNvPr>
          <p:cNvSpPr>
            <a:spLocks xmlns:a="http://schemas.openxmlformats.org/drawingml/2006/main" noGrp="1"/>
          </p:cNvSpPr>
          <p:nvPr/>
        </p:nvSpPr>
        <p:spPr>
          <a:xfrm xmlns:a="http://schemas.openxmlformats.org/drawingml/2006/main">
            <a:off x="714375" y="33337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Comparing Nash–Sutcliffe and Kling–Gupta efficiency scores. HESS 23, 4323–4331.</a:t>
            </a:r>
          </a:p>
        </p:txBody>
      </p:sp>
      <p:sp>
        <p:nvSpPr>
          <p:cNvPr id="8" name="Laboratorio 2 y artefactos propios">
            <a:extLst xmlns:a="http://schemas.openxmlformats.org/drawingml/2006/main">
              <a:ext uri="{FF2B5EF4-FFF2-40B4-BE49-F238E27FC236}">
                <a16:creationId xmlns:a16="http://schemas.microsoft.com/office/drawing/2014/main" id="{F8F23B95-1DA1-447D-ACF4-EF6B48433F00}"/>
              </a:ext>
            </a:extLst>
          </p:cNvPr>
          <p:cNvSpPr>
            <a:spLocks xmlns:a="http://schemas.openxmlformats.org/drawingml/2006/main" noGrp="1"/>
          </p:cNvSpPr>
          <p:nvPr/>
        </p:nvSpPr>
        <p:spPr>
          <a:xfrm xmlns:a="http://schemas.openxmlformats.org/drawingml/2006/main">
            <a:off x="714375" y="42957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Laboratorio 2 y artefactos propios</a:t>
            </a:r>
          </a:p>
        </p:txBody>
      </p:sp>
      <p:sp>
        <p:nvSpPr>
          <p:cNvPr id="9" name="metadata.json, código dmel/, configuraciones y registro de e">
            <a:extLst xmlns:a="http://schemas.openxmlformats.org/drawingml/2006/main">
              <a:ext uri="{FF2B5EF4-FFF2-40B4-BE49-F238E27FC236}">
                <a16:creationId xmlns:a16="http://schemas.microsoft.com/office/drawing/2014/main" id="{A8363D1B-CFE2-48C4-B781-E25B6EBA3EEB}"/>
              </a:ext>
            </a:extLst>
          </p:cNvPr>
          <p:cNvSpPr>
            <a:spLocks xmlns:a="http://schemas.openxmlformats.org/drawingml/2006/main" noGrp="1"/>
          </p:cNvSpPr>
          <p:nvPr/>
        </p:nvSpPr>
        <p:spPr>
          <a:xfrm xmlns:a="http://schemas.openxmlformats.org/drawingml/2006/main">
            <a:off x="714375" y="47244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metadata.json, código dmel/, configuraciones y registro de ejecución en Khipu.</a:t>
            </a:r>
          </a:p>
        </p:txBody>
      </p:sp>
    </p:spTree>
    <p:extLst>
      <p:ext uri="{BB962C8B-B14F-4D97-AF65-F5344CB8AC3E}">
        <p14:creationId xmlns:p14="http://schemas.microsoft.com/office/powerpoint/2010/main" val="569526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2026-10-09T00:32:20.8360000Z</dcterms:created>
  <dcterms:modified xsi:type="dcterms:W3CDTF">2026-10-09T00:32:20.8360000Z</dcterms:modified>
</coreProperties>
</file>