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1.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2.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3.xml" ContentType="application/vnd.openxmlformats-officedocument.drawingml.chart+xml"/>
  <Override PartName="/ppt/slides/charts/chart4.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slides/charts/chart5.xml" ContentType="application/vnd.openxmlformats-officedocument.drawingml.chart+xml"/>
  <Override PartName="/ppt/slides/charts/chart6.xml" ContentType="application/vnd.openxmlformats-officedocument.drawingml.chart+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e17b082e8c634a28" /><Relationship Type="http://schemas.openxmlformats.org/officeDocument/2006/relationships/extended-properties" Target="/docProps/app.xml" Id="R55e8dc36672947d4" /><Relationship Type="http://schemas.openxmlformats.org/officeDocument/2006/relationships/officeDocument" Target="/ppt/presentation.xml" Id="Rf1469538819a4753" /></Relationships>
</file>

<file path=ppt/presentation.xml><?xml version="1.0" encoding="utf-8"?>
<p:presentation xmlns:p="http://schemas.openxmlformats.org/presentationml/2006/main">
  <p:sldMasterIdLst>
    <p:sldMasterId xmlns:r="http://schemas.openxmlformats.org/officeDocument/2006/relationships" id="2147483648" r:id="R00cf0449280646c3"/>
  </p:sldMasterIdLst>
  <p:notesMasterIdLst>
    <p:notesMasterId xmlns:r="http://schemas.openxmlformats.org/officeDocument/2006/relationships" r:id="R354c1c67110048d8"/>
  </p:notesMasterIdLst>
  <p:sldIdLst>
    <p:sldId xmlns:r="http://schemas.openxmlformats.org/officeDocument/2006/relationships" id="256" r:id="R11261dc13ddc49ea"/>
    <p:sldId xmlns:r="http://schemas.openxmlformats.org/officeDocument/2006/relationships" id="257" r:id="R28af2f8859b549e2"/>
    <p:sldId xmlns:r="http://schemas.openxmlformats.org/officeDocument/2006/relationships" id="258" r:id="R4dbc6c13091749d2"/>
    <p:sldId xmlns:r="http://schemas.openxmlformats.org/officeDocument/2006/relationships" id="259" r:id="R84b4d969e9644ded"/>
    <p:sldId xmlns:r="http://schemas.openxmlformats.org/officeDocument/2006/relationships" id="260" r:id="R7e8297963a98482f"/>
    <p:sldId xmlns:r="http://schemas.openxmlformats.org/officeDocument/2006/relationships" id="261" r:id="Rd85c23d113af424c"/>
    <p:sldId xmlns:r="http://schemas.openxmlformats.org/officeDocument/2006/relationships" id="262" r:id="R06e70c8456d04a5a"/>
    <p:sldId xmlns:r="http://schemas.openxmlformats.org/officeDocument/2006/relationships" id="263" r:id="R672b39e606f34bfb"/>
    <p:sldId xmlns:r="http://schemas.openxmlformats.org/officeDocument/2006/relationships" id="264" r:id="Raa06ef3f0c2c41ef"/>
    <p:sldId xmlns:r="http://schemas.openxmlformats.org/officeDocument/2006/relationships" id="265" r:id="R9af13c38e0474685"/>
    <p:sldId xmlns:r="http://schemas.openxmlformats.org/officeDocument/2006/relationships" id="266" r:id="Rd555c0fb5b5a4ac5"/>
    <p:sldId xmlns:r="http://schemas.openxmlformats.org/officeDocument/2006/relationships" id="267" r:id="R8b541923f9cd4332"/>
    <p:sldId xmlns:r="http://schemas.openxmlformats.org/officeDocument/2006/relationships" id="268" r:id="Rbcae975fb15c4126"/>
    <p:sldId xmlns:r="http://schemas.openxmlformats.org/officeDocument/2006/relationships" id="269" r:id="R86f51af75afe4ca9"/>
    <p:sldId xmlns:r="http://schemas.openxmlformats.org/officeDocument/2006/relationships" id="270" r:id="R32b0901c9010441c"/>
    <p:sldId xmlns:r="http://schemas.openxmlformats.org/officeDocument/2006/relationships" id="271" r:id="R1dc7089cf6324993"/>
    <p:sldId xmlns:r="http://schemas.openxmlformats.org/officeDocument/2006/relationships" id="272" r:id="Rdda755e75a004c5a"/>
    <p:sldId xmlns:r="http://schemas.openxmlformats.org/officeDocument/2006/relationships" id="273" r:id="R8ca33d86284c49ac"/>
    <p:sldId xmlns:r="http://schemas.openxmlformats.org/officeDocument/2006/relationships" id="274" r:id="R43fc2eba4d37470e"/>
    <p:sldId xmlns:r="http://schemas.openxmlformats.org/officeDocument/2006/relationships" id="275" r:id="R7a9aefe1ca974dc8"/>
    <p:sldId xmlns:r="http://schemas.openxmlformats.org/officeDocument/2006/relationships" id="276" r:id="R9c6e50120e654577"/>
    <p:sldId xmlns:r="http://schemas.openxmlformats.org/officeDocument/2006/relationships" id="277" r:id="Rf734d8793f2f444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6cfe275a32b4765" /><Relationship Type="http://schemas.openxmlformats.org/officeDocument/2006/relationships/slideMaster" Target="/ppt/slideMasters/slideMaster1.xml" Id="R00cf0449280646c3" /><Relationship Type="http://schemas.openxmlformats.org/officeDocument/2006/relationships/notesMaster" Target="/ppt/notesMasters/notesMaster1.xml" Id="R354c1c67110048d8" /><Relationship Type="http://schemas.openxmlformats.org/officeDocument/2006/relationships/presProps" Target="/ppt/presProps.xml" Id="Rf5d1997c507b40ac" /><Relationship Type="http://schemas.openxmlformats.org/officeDocument/2006/relationships/tableStyles" Target="/ppt/tableStyles.xml" Id="R8a6cf696dd124986" /><Relationship Type="http://schemas.openxmlformats.org/officeDocument/2006/relationships/slide" Target="/ppt/slides/slide1.xml" Id="R11261dc13ddc49ea" /><Relationship Type="http://schemas.openxmlformats.org/officeDocument/2006/relationships/slide" Target="/ppt/slides/slide2.xml" Id="R28af2f8859b549e2" /><Relationship Type="http://schemas.openxmlformats.org/officeDocument/2006/relationships/slide" Target="/ppt/slides/slide3.xml" Id="R4dbc6c13091749d2" /><Relationship Type="http://schemas.openxmlformats.org/officeDocument/2006/relationships/slide" Target="/ppt/slides/slide4.xml" Id="R84b4d969e9644ded" /><Relationship Type="http://schemas.openxmlformats.org/officeDocument/2006/relationships/slide" Target="/ppt/slides/slide5.xml" Id="R7e8297963a98482f" /><Relationship Type="http://schemas.openxmlformats.org/officeDocument/2006/relationships/slide" Target="/ppt/slides/slide6.xml" Id="Rd85c23d113af424c" /><Relationship Type="http://schemas.openxmlformats.org/officeDocument/2006/relationships/slide" Target="/ppt/slides/slide7.xml" Id="R06e70c8456d04a5a" /><Relationship Type="http://schemas.openxmlformats.org/officeDocument/2006/relationships/slide" Target="/ppt/slides/slide8.xml" Id="R672b39e606f34bfb" /><Relationship Type="http://schemas.openxmlformats.org/officeDocument/2006/relationships/slide" Target="/ppt/slides/slide9.xml" Id="Raa06ef3f0c2c41ef" /><Relationship Type="http://schemas.openxmlformats.org/officeDocument/2006/relationships/slide" Target="/ppt/slides/slide10.xml" Id="R9af13c38e0474685" /><Relationship Type="http://schemas.openxmlformats.org/officeDocument/2006/relationships/slide" Target="/ppt/slides/slide11.xml" Id="Rd555c0fb5b5a4ac5" /><Relationship Type="http://schemas.openxmlformats.org/officeDocument/2006/relationships/slide" Target="/ppt/slides/slide12.xml" Id="R8b541923f9cd4332" /><Relationship Type="http://schemas.openxmlformats.org/officeDocument/2006/relationships/slide" Target="/ppt/slides/slide13.xml" Id="Rbcae975fb15c4126" /><Relationship Type="http://schemas.openxmlformats.org/officeDocument/2006/relationships/slide" Target="/ppt/slides/slide14.xml" Id="R86f51af75afe4ca9" /><Relationship Type="http://schemas.openxmlformats.org/officeDocument/2006/relationships/slide" Target="/ppt/slides/slide15.xml" Id="R32b0901c9010441c" /><Relationship Type="http://schemas.openxmlformats.org/officeDocument/2006/relationships/slide" Target="/ppt/slides/slide16.xml" Id="R1dc7089cf6324993" /><Relationship Type="http://schemas.openxmlformats.org/officeDocument/2006/relationships/slide" Target="/ppt/slides/slide17.xml" Id="Rdda755e75a004c5a" /><Relationship Type="http://schemas.openxmlformats.org/officeDocument/2006/relationships/slide" Target="/ppt/slides/slide18.xml" Id="R8ca33d86284c49ac" /><Relationship Type="http://schemas.openxmlformats.org/officeDocument/2006/relationships/slide" Target="/ppt/slides/slide19.xml" Id="R43fc2eba4d37470e" /><Relationship Type="http://schemas.openxmlformats.org/officeDocument/2006/relationships/slide" Target="/ppt/slides/slide20.xml" Id="R7a9aefe1ca974dc8" /><Relationship Type="http://schemas.openxmlformats.org/officeDocument/2006/relationships/slide" Target="/ppt/slides/slide21.xml" Id="R9c6e50120e654577" /><Relationship Type="http://schemas.openxmlformats.org/officeDocument/2006/relationships/slide" Target="/ppt/slides/slide22.xml" Id="Rf734d8793f2f444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86ba042bef340d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d99a7fa1ecf410c" /><Relationship Type="http://schemas.openxmlformats.org/officeDocument/2006/relationships/notesMaster" Target="/ppt/notesMasters/notesMaster1.xml" Id="R3500d731b98140a2" /></Relationships>
</file>

<file path=ppt/notesSlides/_rels/notesSlide2.xml.rels>&#65279;<?xml version="1.0" encoding="utf-8"?><Relationships xmlns="http://schemas.openxmlformats.org/package/2006/relationships"><Relationship Type="http://schemas.openxmlformats.org/officeDocument/2006/relationships/slide" Target="/ppt/slides/slide2.xml" Id="R4952eb9ad5224796" /><Relationship Type="http://schemas.openxmlformats.org/officeDocument/2006/relationships/notesMaster" Target="/ppt/notesMasters/notesMaster1.xml" Id="R9214cb94edd64fa5" /></Relationships>
</file>

<file path=ppt/notesSlides/_rels/notesSlide3.xml.rels>&#65279;<?xml version="1.0" encoding="utf-8"?><Relationships xmlns="http://schemas.openxmlformats.org/package/2006/relationships"><Relationship Type="http://schemas.openxmlformats.org/officeDocument/2006/relationships/slide" Target="/ppt/slides/slide3.xml" Id="R9e532fa5ac1c4eb0" /><Relationship Type="http://schemas.openxmlformats.org/officeDocument/2006/relationships/notesMaster" Target="/ppt/notesMasters/notesMaster1.xml" Id="R42f428c3d2194ca9" /></Relationships>
</file>

<file path=ppt/notesSlides/_rels/notesSlide4.xml.rels>&#65279;<?xml version="1.0" encoding="utf-8"?><Relationships xmlns="http://schemas.openxmlformats.org/package/2006/relationships"><Relationship Type="http://schemas.openxmlformats.org/officeDocument/2006/relationships/slide" Target="/ppt/slides/slide4.xml" Id="R8a7492a75f544da6" /><Relationship Type="http://schemas.openxmlformats.org/officeDocument/2006/relationships/notesMaster" Target="/ppt/notesMasters/notesMaster1.xml" Id="R45145c1c49534e3e" /></Relationships>
</file>

<file path=ppt/notesSlides/_rels/notesSlide5.xml.rels>&#65279;<?xml version="1.0" encoding="utf-8"?><Relationships xmlns="http://schemas.openxmlformats.org/package/2006/relationships"><Relationship Type="http://schemas.openxmlformats.org/officeDocument/2006/relationships/slide" Target="/ppt/slides/slide5.xml" Id="R8b7f4dfeda3d4e01" /><Relationship Type="http://schemas.openxmlformats.org/officeDocument/2006/relationships/notesMaster" Target="/ppt/notesMasters/notesMaster1.xml" Id="Ra8003756bd12453a" /></Relationships>
</file>

<file path=ppt/notesSlides/_rels/notesSlide6.xml.rels>&#65279;<?xml version="1.0" encoding="utf-8"?><Relationships xmlns="http://schemas.openxmlformats.org/package/2006/relationships"><Relationship Type="http://schemas.openxmlformats.org/officeDocument/2006/relationships/slide" Target="/ppt/slides/slide6.xml" Id="R17873af8d2cd4db2" /><Relationship Type="http://schemas.openxmlformats.org/officeDocument/2006/relationships/notesMaster" Target="/ppt/notesMasters/notesMaster1.xml" Id="R1e10a106392f4ca5" /></Relationships>
</file>

<file path=ppt/notesSlides/_rels/notesSlide7.xml.rels>&#65279;<?xml version="1.0" encoding="utf-8"?><Relationships xmlns="http://schemas.openxmlformats.org/package/2006/relationships"><Relationship Type="http://schemas.openxmlformats.org/officeDocument/2006/relationships/slide" Target="/ppt/slides/slide7.xml" Id="R710c1f9aa1144281" /><Relationship Type="http://schemas.openxmlformats.org/officeDocument/2006/relationships/notesMaster" Target="/ppt/notesMasters/notesMaster1.xml" Id="R7e76da0f551f4b2e" /></Relationships>
</file>

<file path=ppt/notesSlides/_rels/notesSlide8.xml.rels>&#65279;<?xml version="1.0" encoding="utf-8"?><Relationships xmlns="http://schemas.openxmlformats.org/package/2006/relationships"><Relationship Type="http://schemas.openxmlformats.org/officeDocument/2006/relationships/slide" Target="/ppt/slides/slide8.xml" Id="R7d6f5363afe449d3" /><Relationship Type="http://schemas.openxmlformats.org/officeDocument/2006/relationships/notesMaster" Target="/ppt/notesMasters/notesMaster1.xml" Id="R2aef264e53bd4df4" /></Relationships>
</file>

<file path=ppt/notesSlides/_rels/notesSlide9.xml.rels>&#65279;<?xml version="1.0" encoding="utf-8"?><Relationships xmlns="http://schemas.openxmlformats.org/package/2006/relationships"><Relationship Type="http://schemas.openxmlformats.org/officeDocument/2006/relationships/slide" Target="/ppt/slides/slide9.xml" Id="Re32b0555d1fc47b4" /><Relationship Type="http://schemas.openxmlformats.org/officeDocument/2006/relationships/notesMaster" Target="/ppt/notesMasters/notesMaster1.xml" Id="R8d217ec4483a4b3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0810a5ba16b4fc6" /><Relationship Type="http://schemas.openxmlformats.org/officeDocument/2006/relationships/notesMaster" Target="/ppt/notesMasters/notesMaster1.xml" Id="Rd695dac35849454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dd1d4e9958540ca" /><Relationship Type="http://schemas.openxmlformats.org/officeDocument/2006/relationships/notesMaster" Target="/ppt/notesMasters/notesMaster1.xml" Id="R81a7c8d183134f5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f4f0a460245462c" /><Relationship Type="http://schemas.openxmlformats.org/officeDocument/2006/relationships/notesMaster" Target="/ppt/notesMasters/notesMaster1.xml" Id="R3c1d462fb6744b9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9460b654bce43aa" /><Relationship Type="http://schemas.openxmlformats.org/officeDocument/2006/relationships/notesMaster" Target="/ppt/notesMasters/notesMaster1.xml" Id="R9ca8d2cbbf81427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1530f1a9e274e23" /><Relationship Type="http://schemas.openxmlformats.org/officeDocument/2006/relationships/notesMaster" Target="/ppt/notesMasters/notesMaster1.xml" Id="Rc35916daa1db414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a6c86bf1c8b4ce2" /><Relationship Type="http://schemas.openxmlformats.org/officeDocument/2006/relationships/notesMaster" Target="/ppt/notesMasters/notesMaster1.xml" Id="R5447bb4328e04f4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a7e6e7e8e964abc" /><Relationship Type="http://schemas.openxmlformats.org/officeDocument/2006/relationships/notesMaster" Target="/ppt/notesMasters/notesMaster1.xml" Id="R3d41c51891de409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37883f4a68c4067" /><Relationship Type="http://schemas.openxmlformats.org/officeDocument/2006/relationships/notesMaster" Target="/ppt/notesMasters/notesMaster1.xml" Id="R775b91d966464df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92b32b1e7794cd1" /><Relationship Type="http://schemas.openxmlformats.org/officeDocument/2006/relationships/notesMaster" Target="/ppt/notesMasters/notesMaster1.xml" Id="Rb03370f36f3b41f0"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f1caf14aed240ba" /><Relationship Type="http://schemas.openxmlformats.org/officeDocument/2006/relationships/notesMaster" Target="/ppt/notesMasters/notesMaster1.xml" Id="R17074d4072894b6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99f2311ac594dd8" /><Relationship Type="http://schemas.openxmlformats.org/officeDocument/2006/relationships/notesMaster" Target="/ppt/notesMasters/notesMaster1.xml" Id="R2ecae7caea6843fa"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b83ecf50ed154f38" /><Relationship Type="http://schemas.openxmlformats.org/officeDocument/2006/relationships/notesMaster" Target="/ppt/notesMasters/notesMaster1.xml" Id="Re52c5d8cbc814308"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a5c0288ecce84187" /><Relationship Type="http://schemas.openxmlformats.org/officeDocument/2006/relationships/notesMaster" Target="/ppt/notesMasters/notesMaster1.xml" Id="R1b7be2a833f9440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Metodología. Tiempo orientativo: 15 segundos.</a:t>
            </a:r>
          </a:p>
          <a:p xmlns:a="http://schemas.openxmlformats.org/drawingml/2006/main">
            <a:r>
              <a:t/>
            </a:r>
          </a:p>
          <a:p xmlns:a="http://schemas.openxmlformats.org/drawingml/2006/main">
            <a:r>
              <a:t>Presentamos una adaptación de DMEL para pronosticar las siguientes 48 horas de caudal específico a partir de 14 días de historia. Explicaremos el método, su aplicación al laboratorio y la comparación entre LSTM y DMEL en validación.</a:t>
            </a:r>
          </a:p>
          <a:p xmlns:a="http://schemas.openxmlformats.org/drawingml/2006/main">
            <a:r>
              <a:t/>
            </a:r>
          </a:p>
          <a:p xmlns:a="http://schemas.openxmlformats.org/drawingml/2006/main">
            <a:r>
              <a:t>FUENTES</a:t>
            </a:r>
          </a:p>
          <a:p xmlns:a="http://schemas.openxmlformats.org/drawingml/2006/main">
            <a:r>
              <a:t>Wang, W.-c., Gu, M., Li, Z., Wang, Y.-y., Zhao, Y.-w. (2026). DMEL: A novel dual-modal ensemble learning architecture for multi-step runoff prediction. Applied Soft Computing 192, 114792. https://doi.org/10.1016/j.asoc.2026.114792 . PDF proporcionado por el usuario en la raíz del proyecto.</a:t>
            </a:r>
          </a:p>
          <a:p xmlns:a="http://schemas.openxmlformats.org/drawingml/2006/main">
            <a:r>
              <a:t/>
            </a:r>
          </a:p>
          <a:p xmlns:a="http://schemas.openxmlformats.org/drawingml/2006/main">
            <a:r>
              <a:t>Laboratorio 2.pdf, documento proporcionado por el usuario, pp. 1–3. Video: metodología 6 min, implementación 6 min, resultados 6 min. Se permiten simplificaciones justificadas, conservando la propuesta central.</a:t>
            </a:r>
          </a:p>
          <a:p xmlns:a="http://schemas.openxmlformats.org/drawingml/2006/main">
            <a:r>
              <a:t/>
            </a:r>
          </a:p>
          <a:p xmlns:a="http://schemas.openxmlformats.org/drawingml/2006/main">
            <a:r>
              <a:t>Logo original UTEC Posgrado: https://posgrado.utec.edu.pe/sites/default/files/2023-07/logo-utec-color.svg . Adaptación sobria para esta exposición, sin atribuir una plantilla oficial.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Metodología. Tiempo orientativo: 45 segundos.</a:t>
            </a:r>
          </a:p>
          <a:p xmlns:a="http://schemas.openxmlformats.org/drawingml/2006/main">
            <a:r>
              <a:t/>
            </a:r>
          </a:p>
          <a:p xmlns:a="http://schemas.openxmlformats.org/drawingml/2006/main">
            <a:r>
              <a:t>El problema es anticipar varios valores futuros de caudal. Una serie hidrológica combina episodios abruptos con una evolución más suave. El paper estudia principalmente dos estaciones chinas con datos diarios entre 2002 y 2005. La historia de entrada tiene siete días y los horizontes de evaluación son uno, tres, cinco y siete días. El mapa identifica una cuenca original y no representa nuestro dataset, cuyas cuencas son anónimas. Los resultados de ese contexto motivan la adaptación, pero no acreditan por sí mismos un buen pronóstico horario.</a:t>
            </a:r>
          </a:p>
          <a:p xmlns:a="http://schemas.openxmlformats.org/drawingml/2006/main">
            <a:r>
              <a:t/>
            </a:r>
          </a:p>
          <a:p xmlns:a="http://schemas.openxmlformats.org/drawingml/2006/main">
            <a:r>
              <a:t>FUENTES</a:t>
            </a:r>
          </a:p>
          <a:p xmlns:a="http://schemas.openxmlformats.org/drawingml/2006/main">
            <a:r>
              <a:t>Wang, W.-c., Gu, M., Li, Z., Wang, Y.-y., Zhao, Y.-w. (2026). DMEL: A novel dual-modal ensemble learning architecture for multi-step runoff prediction. Applied Soft Computing 192, 114792. https://doi.org/10.1016/j.asoc.2026.114792 . PDF proporcionado por el usuario en la raíz del proyecto. Páginas 5 y 7, figura 5.</a:t>
            </a:r>
          </a:p>
          <a:p xmlns:a="http://schemas.openxmlformats.org/drawingml/2006/main">
            <a:r>
              <a:t/>
            </a:r>
          </a:p>
          <a:p xmlns:a="http://schemas.openxmlformats.org/drawingml/2006/main">
            <a:r>
              <a:t>dataset/metadata.json; Laboratorio 2.pdf, pp. 1–2; outputs/revision-dataset-lab2.json. Datos oficiales enlazados por el laboratorio: https://drive.google.com/drive/folders/1crKbJBhLHQEVJGG-agOxMnKLDnBP2x4w . train.h5 está disponible en Khipu. No se utilizó test_targets.csv.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Metodología. Tiempo orientativo: 60 segundos.</a:t>
            </a:r>
          </a:p>
          <a:p xmlns:a="http://schemas.openxmlformats.org/drawingml/2006/main">
            <a:r>
              <a:t/>
            </a:r>
          </a:p>
          <a:p xmlns:a="http://schemas.openxmlformats.org/drawingml/2006/main">
            <a:r>
              <a:t>La propuesta central combina una representación descompuesta con dos familias de redes. CEEMDAN extrae componentes de la señal. MRS calcula su entropía muestral y reúne componentes de complejidad parecida en señales reconstruidas o RIMFs. Después compara su entropía con la del caudal original para asignarlas a Informer o LSTM. Finalmente suma las predicciones. El término dual-modal se refiere aquí a grupos de componentes de la serie. La especialización de las redes es una hipótesis que debemos contrastar con una ablación. La figura es un detalle del esquema publicado, no un diagrama de nuestro código.</a:t>
            </a:r>
          </a:p>
          <a:p xmlns:a="http://schemas.openxmlformats.org/drawingml/2006/main">
            <a:r>
              <a:t/>
            </a:r>
          </a:p>
          <a:p xmlns:a="http://schemas.openxmlformats.org/drawingml/2006/main">
            <a:r>
              <a:t>FUENTES</a:t>
            </a:r>
          </a:p>
          <a:p xmlns:a="http://schemas.openxmlformats.org/drawingml/2006/main">
            <a:r>
              <a:t>Wang, W.-c., Gu, M., Li, Z., Wang, Y.-y., Zhao, Y.-w. (2026). DMEL: A novel dual-modal ensemble learning architecture for multi-step runoff prediction. Applied Soft Computing 192, 114792. https://doi.org/10.1016/j.asoc.2026.114792 . PDF proporcionado por el usuario en la raíz del proyecto. Páginas 5–6, figura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Metodología. Tiempo orientativo: 60 segundos.</a:t>
            </a:r>
          </a:p>
          <a:p xmlns:a="http://schemas.openxmlformats.org/drawingml/2006/main">
            <a:r>
              <a:t/>
            </a:r>
          </a:p>
          <a:p xmlns:a="http://schemas.openxmlformats.org/drawingml/2006/main">
            <a:r>
              <a:t>Una IMF es un componente oscilatorio que EMD obtiene usando los extremos locales y sus envolventes. CEEMDAN repite extracciones con perturbaciones de ruido y combina los resultados por etapas. La identidad de reconstrucción es esencial: el caudal debe ser igual a la suma de los modos más el residuo, salvo error numérico. El artículo usa cien realizaciones y un nivel de ruido de 0.2. El backend y algunas reglas de parada no quedan totalmente especificados. Nuestra implementación documenta bordes, escalado del ruido y criterio de parada. El número de modos depende de la ventana, de modo que no fijamos los nueve modos observados en las estaciones del artículo.</a:t>
            </a:r>
          </a:p>
          <a:p xmlns:a="http://schemas.openxmlformats.org/drawingml/2006/main">
            <a:r>
              <a:t/>
            </a:r>
          </a:p>
          <a:p xmlns:a="http://schemas.openxmlformats.org/drawingml/2006/main">
            <a:r>
              <a:t>FUENTES</a:t>
            </a:r>
          </a:p>
          <a:p xmlns:a="http://schemas.openxmlformats.org/drawingml/2006/main">
            <a:r>
              <a:t>Wang, W.-c., Gu, M., Li, Z., Wang, Y.-y., Zhao, Y.-w. (2026). DMEL: A novel dual-modal ensemble learning architecture for multi-step runoff prediction. Applied Soft Computing 192, 114792. https://doi.org/10.1016/j.asoc.2026.114792 . PDF proporcionado por el usuario en la raíz del proyecto. Páginas 3 y 7.</a:t>
            </a:r>
          </a:p>
          <a:p xmlns:a="http://schemas.openxmlformats.org/drawingml/2006/main">
            <a:r>
              <a:t/>
            </a:r>
          </a:p>
          <a:p xmlns:a="http://schemas.openxmlformats.org/drawingml/2006/main">
            <a:r>
              <a:t>Torres et al. (2011). A complete ensemble empirical mode decomposition with adaptive noise. ICASSP. https://perso.ens-lyon.fr/patrick.flandrin/0004144.pdf . Véanse también docs/decomposition.md y dmel/decomposition.py.</a:t>
            </a:r>
          </a:p>
          <a:p xmlns:a="http://schemas.openxmlformats.org/drawingml/2006/main">
            <a:r>
              <a:t/>
            </a:r>
          </a:p>
          <a:p xmlns:a="http://schemas.openxmlformats.org/drawingml/2006/main">
            <a:r>
              <a:t>Código local: dmel/data.py, dmel/decomposition.py, dmel/models.py, dmel/engine.py y dmel/metrics.py. Configuraciones: configs/dmel.json, configs/lstm.json, configs/mrs_informer.json y configs/decomposition.json. docs/implementation.md describe las decisiones de diseño; su encabezado de estado antiguo queda actualizado por docs/estado-khipu.md.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Metodología. Tiempo orientativo: 50 segundos.</a:t>
            </a:r>
          </a:p>
          <a:p xmlns:a="http://schemas.openxmlformats.org/drawingml/2006/main">
            <a:r>
              <a:t/>
            </a:r>
          </a:p>
          <a:p xmlns:a="http://schemas.openxmlformats.org/drawingml/2006/main">
            <a:r>
              <a:t>La entropía muestral evalúa cuánto persiste la semejanza entre patrones al extenderlos un paso. B cuenta los pares parecidos de longitud m y A los que siguen parecidos con longitud m más uno. Cuando esa proporción es pequeña, la entropía es mayor y la señal resulta menos regular según esta medida. El paper usa m igual a dos y una tolerancia de 0.2 veces la desviación estándar de la señal evaluada. MRS reúne componentes con entropías parecidas y vuelve a evaluar las señales reconstruidas. Entropía no equivale directamente a frecuencia física: alta y baja son etiquetas operativas. La regla general de similitud entre IMFs no queda suficientemente detallada para reproducirla sin decisiones adicionales.</a:t>
            </a:r>
          </a:p>
          <a:p xmlns:a="http://schemas.openxmlformats.org/drawingml/2006/main">
            <a:r>
              <a:t/>
            </a:r>
          </a:p>
          <a:p xmlns:a="http://schemas.openxmlformats.org/drawingml/2006/main">
            <a:r>
              <a:t>FUENTES</a:t>
            </a:r>
          </a:p>
          <a:p xmlns:a="http://schemas.openxmlformats.org/drawingml/2006/main">
            <a:r>
              <a:t>Wang, W.-c., Gu, M., Li, Z., Wang, Y.-y., Zhao, Y.-w. (2026). DMEL: A novel dual-modal ensemble learning architecture for multi-step runoff prediction. Applied Soft Computing 192, 114792. https://doi.org/10.1016/j.asoc.2026.114792 . PDF proporcionado por el usuario en la raíz del proyecto. Páginas 3, 5 y 7.</a:t>
            </a:r>
          </a:p>
          <a:p xmlns:a="http://schemas.openxmlformats.org/drawingml/2006/main">
            <a:r>
              <a:t/>
            </a:r>
          </a:p>
          <a:p xmlns:a="http://schemas.openxmlformats.org/drawingml/2006/main">
            <a:r>
              <a:t>Richman y Moorman (2000). Physiological time-series analysis using approximate entropy and sample entropy. https://doi.org/10.1152/ajpheart.2000.278.6.H2039 . Recurso de contraste: https://physionet.org/content/sampen/1.0.0/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Metodología. Tiempo orientativo: 70 segundos.</a:t>
            </a:r>
          </a:p>
          <a:p xmlns:a="http://schemas.openxmlformats.org/drawingml/2006/main">
            <a:r>
              <a:t/>
            </a:r>
          </a:p>
          <a:p xmlns:a="http://schemas.openxmlformats.org/drawingml/2006/main">
            <a:r>
              <a:t>Informer usa atención para relacionar posiciones de la historia. ProbSparse selecciona consultas relevantes usando una medida de dispersión de sus puntuaciones de atención. La reducción temporal del encoder disminuye la longitud de sus representaciones. El decoder produce la secuencia futura de una vez, evitando alimentar cada predicción como entrada del paso siguiente. El trabajo original de Informer describe el beneficio para secuencias largas. Nuestra implementación conserva estos mecanismos principales, pero adapta embeddings y otros detalles. El decoder recibe un prefijo conocido y ceros para las posiciones futuras. No recibe los caudales ni las variables meteorológicas observadas del futuro.</a:t>
            </a:r>
          </a:p>
          <a:p xmlns:a="http://schemas.openxmlformats.org/drawingml/2006/main">
            <a:r>
              <a:t/>
            </a:r>
          </a:p>
          <a:p xmlns:a="http://schemas.openxmlformats.org/drawingml/2006/main">
            <a:r>
              <a:t>FUENTES</a:t>
            </a:r>
          </a:p>
          <a:p xmlns:a="http://schemas.openxmlformats.org/drawingml/2006/main">
            <a:r>
              <a:t>Wang, W.-c., Gu, M., Li, Z., Wang, Y.-y., Zhao, Y.-w. (2026). DMEL: A novel dual-modal ensemble learning architecture for multi-step runoff prediction. Applied Soft Computing 192, 114792. https://doi.org/10.1016/j.asoc.2026.114792 . PDF proporcionado por el usuario en la raíz del proyecto. Página 4, figura 1.</a:t>
            </a:r>
          </a:p>
          <a:p xmlns:a="http://schemas.openxmlformats.org/drawingml/2006/main">
            <a:r>
              <a:t/>
            </a:r>
          </a:p>
          <a:p xmlns:a="http://schemas.openxmlformats.org/drawingml/2006/main">
            <a:r>
              <a:t>Zhou et al. (2021). Informer: Beyond Efficient Transformer for Long Sequence Time-Series Forecasting. https://arxiv.org/abs/2012.07436 .</a:t>
            </a:r>
          </a:p>
          <a:p xmlns:a="http://schemas.openxmlformats.org/drawingml/2006/main">
            <a:r>
              <a:t/>
            </a:r>
          </a:p>
          <a:p xmlns:a="http://schemas.openxmlformats.org/drawingml/2006/main">
            <a:r>
              <a:t>Código local: dmel/data.py, dmel/decomposition.py, dmel/models.py, dmel/engine.py y dmel/metrics.py. Configuraciones: configs/dmel.json, configs/lstm.json, configs/mrs_informer.json y configs/decomposition.json. docs/implementation.md describe las decisiones de diseño; su encabezado de estado antiguo queda actualizado por docs/estado-khipu.md.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Metodología. Tiempo orientativo: 60 segundos.</a:t>
            </a:r>
          </a:p>
          <a:p xmlns:a="http://schemas.openxmlformats.org/drawingml/2006/main">
            <a:r>
              <a:t/>
            </a:r>
          </a:p>
          <a:p xmlns:a="http://schemas.openxmlformats.org/drawingml/2006/main">
            <a:r>
              <a:t>La LSTM mantiene un estado de memoria. La compuerta de olvido controla qué parte conserva, la de entrada qué información incorpora y la de salida qué parte comunica al estado oculto. DMEL asigna esta red a los componentes de menor complejidad y suma su predicción con la rama Informer. En nuestra adaptación, una cabeza lineal obtiene directamente los 48 pasos a partir de la LSTM. El entrenamiento minimiza el error del caudal total, así que las contribuciones pronosticadas por cada rama no tienen una interpretación física identificable por separado. Esta especialización se evaluará frente a una variante con Informer en ambas ramas.</a:t>
            </a:r>
          </a:p>
          <a:p xmlns:a="http://schemas.openxmlformats.org/drawingml/2006/main">
            <a:r>
              <a:t/>
            </a:r>
          </a:p>
          <a:p xmlns:a="http://schemas.openxmlformats.org/drawingml/2006/main">
            <a:r>
              <a:t>FUENTES</a:t>
            </a:r>
          </a:p>
          <a:p xmlns:a="http://schemas.openxmlformats.org/drawingml/2006/main">
            <a:r>
              <a:t>Wang, W.-c., Gu, M., Li, Z., Wang, Y.-y., Zhao, Y.-w. (2026). DMEL: A novel dual-modal ensemble learning architecture for multi-step runoff prediction. Applied Soft Computing 192, 114792. https://doi.org/10.1016/j.asoc.2026.114792 . PDF proporcionado por el usuario en la raíz del proyecto. Páginas 4–5, figura 2 y ecuación 14.</a:t>
            </a:r>
          </a:p>
          <a:p xmlns:a="http://schemas.openxmlformats.org/drawingml/2006/main">
            <a:r>
              <a:t/>
            </a:r>
          </a:p>
          <a:p xmlns:a="http://schemas.openxmlformats.org/drawingml/2006/main">
            <a:r>
              <a:t>Código local: dmel/data.py, dmel/decomposition.py, dmel/models.py, dmel/engine.py y dmel/metrics.py. Configuraciones: configs/dmel.json, configs/lstm.json, configs/mrs_informer.json y configs/decomposition.json. docs/implementation.md describe las decisiones de diseño; su encabezado de estado antiguo queda actualizado por docs/estado-khipu.md.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Implementación. Tiempo orientativo: 45 segundos.</a:t>
            </a:r>
          </a:p>
          <a:p xmlns:a="http://schemas.openxmlformats.org/drawingml/2006/main">
            <a:r>
              <a:t/>
            </a:r>
          </a:p>
          <a:p xmlns:a="http://schemas.openxmlformats.org/drawingml/2006/main">
            <a:r>
              <a:t>Pasamos de un problema diario a uno horario. Cada ejemplo aporta 336 horas y exige 48 valores futuros de caudal específico. La salida se expresa en milímetros por hora, como establece el laboratorio. Usamos las once variables meteorológicas históricas junto al caudal, y respetamos los flags de entrenamiento y validación. No aplicamos otra vez el reparto porcentual del artículo. El laboratorio permite reemplazar componentes si falta información, siempre que lo justifiquemos y conservemos la idea central. Por eso hablaremos de una adaptación, sin afirmar reproducción exacta de las cifras publicadas.</a:t>
            </a:r>
          </a:p>
          <a:p xmlns:a="http://schemas.openxmlformats.org/drawingml/2006/main">
            <a:r>
              <a:t/>
            </a:r>
          </a:p>
          <a:p xmlns:a="http://schemas.openxmlformats.org/drawingml/2006/main">
            <a:r>
              <a:t>FUENTES</a:t>
            </a:r>
          </a:p>
          <a:p xmlns:a="http://schemas.openxmlformats.org/drawingml/2006/main">
            <a:r>
              <a:t>Laboratorio 2.pdf, documento proporcionado por el usuario, pp. 1–3. Video: metodología 6 min, implementación 6 min, resultados 6 min. Se permiten simplificaciones justificadas, conservando la propuesta central.</a:t>
            </a:r>
          </a:p>
          <a:p xmlns:a="http://schemas.openxmlformats.org/drawingml/2006/main">
            <a:r>
              <a:t/>
            </a:r>
          </a:p>
          <a:p xmlns:a="http://schemas.openxmlformats.org/drawingml/2006/main">
            <a:r>
              <a:t>Wang, W.-c., Gu, M., Li, Z., Wang, Y.-y., Zhao, Y.-w. (2026). DMEL: A novel dual-modal ensemble learning architecture for multi-step runoff prediction. Applied Soft Computing 192, 114792. https://doi.org/10.1016/j.asoc.2026.114792 . PDF proporcionado por el usuario en la raíz del proyecto. Página 5.</a:t>
            </a:r>
          </a:p>
          <a:p xmlns:a="http://schemas.openxmlformats.org/drawingml/2006/main">
            <a:r>
              <a:t/>
            </a:r>
          </a:p>
          <a:p xmlns:a="http://schemas.openxmlformats.org/drawingml/2006/main">
            <a:r>
              <a:t>dataset/metadata.json; Laboratorio 2.pdf, pp. 1–2; outputs/revision-dataset-lab2.json. Datos oficiales enlazados por el laboratorio: https://drive.google.com/drive/folders/1crKbJBhLHQEVJGG-agOxMnKLDnBP2x4w . train.h5 está disponible en Khipu. No se utilizó test_targets.csv.</a:t>
            </a:r>
          </a:p>
          <a:p xmlns:a="http://schemas.openxmlformats.org/drawingml/2006/main">
            <a:r>
              <a:t/>
            </a:r>
          </a:p>
          <a:p xmlns:a="http://schemas.openxmlformats.org/drawingml/2006/main">
            <a:r>
              <a:t>Código local: dmel/data.py, dmel/decomposition.py, dmel/models.py, dmel/engine.py y dmel/metrics.py. Configuraciones: configs/dmel.json, configs/lstm.json, configs/mrs_informer.json y configs/decomposition.json. docs/implementation.md describe las decisiones de diseño; su encabezado de estado antiguo queda actualizado por docs/estado-khipu.md.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Implementación. Tiempo orientativo: 45 segundos.</a:t>
            </a:r>
          </a:p>
          <a:p xmlns:a="http://schemas.openxmlformats.org/drawingml/2006/main">
            <a:r>
              <a:t/>
            </a:r>
          </a:p>
          <a:p xmlns:a="http://schemas.openxmlformats.org/drawingml/2006/main">
            <a:r>
              <a:t>El eje de entrada sigue el orden muestra, tiempo y canal. El caudal está en el canal once, contando desde cero. Los metadatos declaran 254 mil ejemplos de entrenamiento y 18 142 de validación, juntos en train.h5, cuyo total de 272 142 filas verificamos en Khipu. Test contiene 27 983 historias. Hemos comprobado 508 cuencas en validación y en test, pero no debemos convertir sus identificadores anónimos en ubicaciones o calendarios. Las unidades meteorológicas no están especificadas en los metadatos, por lo que conservamos nombres y valores sin inventar conversiones.</a:t>
            </a:r>
          </a:p>
          <a:p xmlns:a="http://schemas.openxmlformats.org/drawingml/2006/main">
            <a:r>
              <a:t/>
            </a:r>
          </a:p>
          <a:p xmlns:a="http://schemas.openxmlformats.org/drawingml/2006/main">
            <a:r>
              <a:t>FUENTES</a:t>
            </a:r>
          </a:p>
          <a:p xmlns:a="http://schemas.openxmlformats.org/drawingml/2006/main">
            <a:r>
              <a:t>dataset/metadata.json; Laboratorio 2.pdf, pp. 1–2; outputs/revision-dataset-lab2.json. Datos oficiales enlazados por el laboratorio: https://drive.google.com/drive/folders/1crKbJBhLHQEVJGG-agOxMnKLDnBP2x4w . train.h5 está disponible en Khipu. No se utilizó test_targets.csv.</a:t>
            </a:r>
          </a:p>
          <a:p xmlns:a="http://schemas.openxmlformats.org/drawingml/2006/main">
            <a:r>
              <a:t/>
            </a:r>
          </a:p>
          <a:p xmlns:a="http://schemas.openxmlformats.org/drawingml/2006/main">
            <a:r>
              <a:t>Resultados propios de validación: LSTM 53987 y DMEL 54181, ambos COMPLETED 0:0. outputs/khipu-lstm-53987-completed/metrics.json y outputs/khipu-dmel-54181-completed/metrics.json, analysis.json, status.json y provenance.json. Historiales: outputs/khipu-lstm-53987-history-20261003.json y outputs/khipu-dmel-54181-completed/history.json. Salidas de Khipu compartidas por el usuario, contrastadas localmente sin SSH. Ambos best.pt corresponden a epoch=9, décima época. Mismo split, semilla 42, 18142 ventanas, 48 horizontes y 508 cuencas. Son métricas de validación utilizada para seleccionar checkpoints, no de test. No se dispone de predicciones individuales localmente.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Implementación. Tiempo orientativo: 40 segundos.</a:t>
            </a:r>
          </a:p>
          <a:p xmlns:a="http://schemas.openxmlformats.org/drawingml/2006/main">
            <a:r>
              <a:t/>
            </a:r>
          </a:p>
          <a:p xmlns:a="http://schemas.openxmlformats.org/drawingml/2006/main">
            <a:r>
              <a:t>Este gráfico usa la primera fila de test.h5, cuenca anónima 222. La selección es simplemente la primera fila, sin elegirla por calidad de una predicción. Mostramos sus 336 caudales históricos y ubicamos el final de la ventana en la hora cero. Los objetivos futuros comienzan en la hora uno y terminan en la 48. El gráfico no contiene una predicción ni objetivos de test. Permite observar un ascenso pronunciado y una recesión dentro del pasado disponible. La forma de esa ventana ayuda a explicar por qué estudiar componentes de distinta regularidad puede ser útil.</a:t>
            </a:r>
          </a:p>
          <a:p xmlns:a="http://schemas.openxmlformats.org/drawingml/2006/main">
            <a:r>
              <a:t/>
            </a:r>
          </a:p>
          <a:p xmlns:a="http://schemas.openxmlformats.org/drawingml/2006/main">
            <a:r>
              <a:t>FUENTES</a:t>
            </a:r>
          </a:p>
          <a:p xmlns:a="http://schemas.openxmlformats.org/drawingml/2006/main">
            <a:r>
              <a:t>dataset/metadata.json; Laboratorio 2.pdf, pp. 1–2; outputs/revision-dataset-lab2.json. Datos oficiales enlazados por el laboratorio: https://drive.google.com/drive/folders/1crKbJBhLHQEVJGG-agOxMnKLDnBP2x4w . train.h5 está disponible en Khipu. No se utilizó test_targets.csv.</a:t>
            </a:r>
          </a:p>
          <a:p xmlns:a="http://schemas.openxmlformats.org/drawingml/2006/main">
            <a:r>
              <a:t/>
            </a:r>
          </a:p>
          <a:p xmlns:a="http://schemas.openxmlformats.org/drawingml/2006/main">
            <a:r>
              <a:t>Lectura directa de dataset/test.h5, X[0,:,11]. Datos exactos y criterio de selección: .presentation-build/dmel/assets/example.json.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Implementación. Tiempo orientativo: 65 segundos.</a:t>
            </a:r>
          </a:p>
          <a:p xmlns:a="http://schemas.openxmlformats.org/drawingml/2006/main">
            <a:r>
              <a:t/>
            </a:r>
          </a:p>
          <a:p xmlns:a="http://schemas.openxmlformats.org/drawingml/2006/main">
            <a:r>
              <a:t>Nuestra regla produce siempre dos canales. Sumamos a alta los modos cuya entropía supera a la del caudal de la ventana. El resto de modos y el residuo forman baja. Esta decisión elimina la fusión intermedia del MRS publicado, cuya tolerancia de similitud no queda totalmente definida. En esta ventana todas las siete IMFs extraídas superan el umbral, así que baja contiene el residuo. Esto muestra por qué los nombres alta y baja deben entenderse como complejidad y no como bandas físicas garantizadas. La suma reconstruye la historia con error máximo de aproximadamente 1.19 por diez a la menos siete milímetros por hora. Este ejemplo solo ilustra el preprocesamiento y no mide precisión predictiva.</a:t>
            </a:r>
          </a:p>
          <a:p xmlns:a="http://schemas.openxmlformats.org/drawingml/2006/main">
            <a:r>
              <a:t/>
            </a:r>
          </a:p>
          <a:p xmlns:a="http://schemas.openxmlformats.org/drawingml/2006/main">
            <a:r>
              <a:t>FUENTES</a:t>
            </a:r>
          </a:p>
          <a:p xmlns:a="http://schemas.openxmlformats.org/drawingml/2006/main">
            <a:r>
              <a:t>Código local: dmel/data.py, dmel/decomposition.py, dmel/models.py, dmel/engine.py y dmel/metrics.py. Configuraciones: configs/dmel.json, configs/lstm.json, configs/mrs_informer.json y configs/decomposition.json. docs/implementation.md describe las decisiones de diseño; su encabezado de estado antiguo queda actualizado por docs/estado-khipu.md.</a:t>
            </a:r>
          </a:p>
          <a:p xmlns:a="http://schemas.openxmlformats.org/drawingml/2006/main">
            <a:r>
              <a:t/>
            </a:r>
          </a:p>
          <a:p xmlns:a="http://schemas.openxmlformats.org/drawingml/2006/main">
            <a:r>
              <a:t>Cálculo local con configs/decomposition.json, 100 realizaciones, semilla 42 y sample_id 0. Entropía original: 0.02969119278730941. Diagnósticos completos: .presentation-build/dmel/assets/example.json.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Implementación. Tiempo orientativo: 65 segundos.</a:t>
            </a:r>
          </a:p>
          <a:p xmlns:a="http://schemas.openxmlformats.org/drawingml/2006/main">
            <a:r>
              <a:t/>
            </a:r>
          </a:p>
          <a:p xmlns:a="http://schemas.openxmlformats.org/drawingml/2006/main">
            <a:r>
              <a:t>Descomponemos únicamente el caudal histórico. Cada rama recibe su componente y las once variables meteorológicas históricas, manteniendo doce canales por entrada. Informer y LSTM entregan un vector de 48 valores que el modelo suma. Las cabezas corrigen el último valor de su componente, una decisión adicional del laboratorio que también aplicamos a la LSTM base. Normalizamos conservando la identidad aditiva: alta dividida por sigma, baja menos mu dividida por sigma. Después de sumar las salidas, multiplicamos por sigma y añadimos mu una sola vez. Si sumáramos dos normalizaciones centradas y desnormalizáramos sin cuidado, introduciríamos un sesgo.</a:t>
            </a:r>
          </a:p>
          <a:p xmlns:a="http://schemas.openxmlformats.org/drawingml/2006/main">
            <a:r>
              <a:t/>
            </a:r>
          </a:p>
          <a:p xmlns:a="http://schemas.openxmlformats.org/drawingml/2006/main">
            <a:r>
              <a:t>FUENTES</a:t>
            </a:r>
          </a:p>
          <a:p xmlns:a="http://schemas.openxmlformats.org/drawingml/2006/main">
            <a:r>
              <a:t>Código local: dmel/data.py, dmel/decomposition.py, dmel/models.py, dmel/engine.py y dmel/metrics.py. Configuraciones: configs/dmel.json, configs/lstm.json, configs/mrs_informer.json y configs/decomposition.json. docs/implementation.md describe las decisiones de diseño; su encabezado de estado antiguo queda actualizado por docs/estado-khipu.md.</a:t>
            </a:r>
          </a:p>
          <a:p xmlns:a="http://schemas.openxmlformats.org/drawingml/2006/main">
            <a:r>
              <a:t/>
            </a:r>
          </a:p>
          <a:p xmlns:a="http://schemas.openxmlformats.org/drawingml/2006/main">
            <a:r>
              <a:t>Detalle de la normalización: high/σ + (low−μ)/σ = (q−μ)/σ.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Implementación. Tiempo orientativo: 55 segundos.</a:t>
            </a:r>
          </a:p>
          <a:p xmlns:a="http://schemas.openxmlformats.org/drawingml/2006/main">
            <a:r>
              <a:t/>
            </a:r>
          </a:p>
          <a:p xmlns:a="http://schemas.openxmlformats.org/drawingml/2006/main">
            <a:r>
              <a:t>Seguimos Adam con tasa uno por diez a la menos cuatro, lotes de 32 y un máximo de cien épocas. Añadimos parada temprana con paciencia de diez y seleccionamos el checkpoint por RMSE de validación en unidades físicas. La normalización solo usa entrenamiento. La descomposición recibe el pasado de cada ventana, nunca caudales futuros. y_aux podría servir como supervisión auxiliar según el enunciado, pero esta versión no lo usa. Tampoco empleamos test_targets.csv para ajustar o seleccionar. En Khipu dividimos el entrenamiento en ciclos de una época, guardando pesos, optimizador y estados aleatorios. LSTM y DMEL completaron veinte épocas cada uno y terminaron por parada temprana. Los ciclos guardaron su estado y permitieron continuar el entrenamiento entre asignaciones.</a:t>
            </a:r>
          </a:p>
          <a:p xmlns:a="http://schemas.openxmlformats.org/drawingml/2006/main">
            <a:r>
              <a:t/>
            </a:r>
          </a:p>
          <a:p xmlns:a="http://schemas.openxmlformats.org/drawingml/2006/main">
            <a:r>
              <a:t>FUENTES</a:t>
            </a:r>
          </a:p>
          <a:p xmlns:a="http://schemas.openxmlformats.org/drawingml/2006/main">
            <a:r>
              <a:t>Código local: dmel/data.py, dmel/decomposition.py, dmel/models.py, dmel/engine.py y dmel/metrics.py. Configuraciones: configs/dmel.json, configs/lstm.json, configs/mrs_informer.json y configs/decomposition.json. docs/implementation.md describe las decisiones de diseño; su encabezado de estado antiguo queda actualizado por docs/estado-khipu.md.</a:t>
            </a:r>
          </a:p>
          <a:p xmlns:a="http://schemas.openxmlformats.org/drawingml/2006/main">
            <a:r>
              <a:t/>
            </a:r>
          </a:p>
          <a:p xmlns:a="http://schemas.openxmlformats.org/drawingml/2006/main">
            <a:r>
              <a:t>Resultados propios de validación: LSTM 53987 y DMEL 54181, ambos COMPLETED 0:0. outputs/khipu-lstm-53987-completed/metrics.json y outputs/khipu-dmel-54181-completed/metrics.json, analysis.json, status.json y provenance.json. Historiales: outputs/khipu-lstm-53987-history-20261003.json y outputs/khipu-dmel-54181-completed/history.json. Salidas de Khipu compartidas por el usuario, contrastadas localmente sin SSH. Ambos best.pt corresponden a epoch=9, décima época. Mismo split, semilla 42, 18142 ventanas, 48 horizontes y 508 cuencas. Son métricas de validación utilizada para seleccionar checkpoints, no de test. No se dispone de predicciones individuales localmente.</a:t>
            </a:r>
          </a:p>
          <a:p xmlns:a="http://schemas.openxmlformats.org/drawingml/2006/main">
            <a:r>
              <a:t/>
            </a:r>
          </a:p>
          <a:p xmlns:a="http://schemas.openxmlformats.org/drawingml/2006/main">
            <a:r>
              <a:t>Laboratorio 2.pdf, documento proporcionado por el usuario, pp. 1–3. Video: metodología 6 min, implementación 6 min, resultados 6 min. Se permiten simplificaciones justificadas, conservando la propuesta central.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Implementación. Tiempo orientativo: 45 segundos.</a:t>
            </a:r>
          </a:p>
          <a:p xmlns:a="http://schemas.openxmlformats.org/drawingml/2006/main">
            <a:r>
              <a:t/>
            </a:r>
          </a:p>
          <a:p xmlns:a="http://schemas.openxmlformats.org/drawingml/2006/main">
            <a:r>
              <a:t>La persistencia repite el último caudal para todas las horas futuras. La LSTM multivariada recibe la señal original y sirve de modelo base aprendido. Nuestra ablación conserva las dos representaciones y la suma, pero reemplaza la rama LSTM por otra Informer. Con eso estudiamos la especialización de las ramas. La comparación no mantiene igual número de parámetros: la variante de dos Informer tiene más capacidad. Debemos declarar esa diferencia al interpretar resultados. Las redes comparten particiones, semilla, función objetivo y presupuesto. Una sola semilla permite una primera comparación, pero no prueba robustez estadística como la repetición de diez corridas descrita en el paper.</a:t>
            </a:r>
          </a:p>
          <a:p xmlns:a="http://schemas.openxmlformats.org/drawingml/2006/main">
            <a:r>
              <a:t/>
            </a:r>
          </a:p>
          <a:p xmlns:a="http://schemas.openxmlformats.org/drawingml/2006/main">
            <a:r>
              <a:t>FUENTES</a:t>
            </a:r>
          </a:p>
          <a:p xmlns:a="http://schemas.openxmlformats.org/drawingml/2006/main">
            <a:r>
              <a:t>Código local: dmel/data.py, dmel/decomposition.py, dmel/models.py, dmel/engine.py y dmel/metrics.py. Configuraciones: configs/dmel.json, configs/lstm.json, configs/mrs_informer.json y configs/decomposition.json. docs/implementation.md describe las decisiones de diseño; su encabezado de estado antiguo queda actualizado por docs/estado-khipu.md.</a:t>
            </a:r>
          </a:p>
          <a:p xmlns:a="http://schemas.openxmlformats.org/drawingml/2006/main">
            <a:r>
              <a:t/>
            </a:r>
          </a:p>
          <a:p xmlns:a="http://schemas.openxmlformats.org/drawingml/2006/main">
            <a:r>
              <a:t>Wang, W.-c., Gu, M., Li, Z., Wang, Y.-y., Zhao, Y.-w. (2026). DMEL: A novel dual-modal ensemble learning architecture for multi-step runoff prediction. Applied Soft Computing 192, 114792. https://doi.org/10.1016/j.asoc.2026.114792 . PDF proporcionado por el usuario en la raíz del proyecto. Sección 3.2 y discusión de repeticiones.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Resultados disponibles. Tiempo orientativo: 45 segundos.</a:t>
            </a:r>
          </a:p>
          <a:p xmlns:a="http://schemas.openxmlformats.org/drawingml/2006/main">
            <a:r>
              <a:t/>
            </a:r>
          </a:p>
          <a:p xmlns:a="http://schemas.openxmlformats.org/drawingml/2006/main">
            <a:r>
              <a:t>Calculamos RMSE y MAE en milímetros por hora. NSE compara el error cuadrático con la referencia de predecir la media observada del conjunto evaluado; un valor negativo indica que resulta peor que esa referencia. KGE 2009 combina correlación con los cocientes de desviaciones estándar y medias entre predicción y observación. Su cero no tiene el mismo significado de referencia que el cero de NSE. Por eso declaramos explícitamente la versión, además de sus componentes. Reportamos errores por horizonte y cuenca para que un promedio global no oculte fallos. Sin fechas absolutas no podemos reconstruir una cronología de eventos ni auditar todo el solapamiento original. Los casos indefinidos se registran como tales.</a:t>
            </a:r>
          </a:p>
          <a:p xmlns:a="http://schemas.openxmlformats.org/drawingml/2006/main">
            <a:r>
              <a:t/>
            </a:r>
          </a:p>
          <a:p xmlns:a="http://schemas.openxmlformats.org/drawingml/2006/main">
            <a:r>
              <a:t>FUENTES</a:t>
            </a:r>
          </a:p>
          <a:p xmlns:a="http://schemas.openxmlformats.org/drawingml/2006/main">
            <a:r>
              <a:t>Código local: dmel/data.py, dmel/decomposition.py, dmel/models.py, dmel/engine.py y dmel/metrics.py. Configuraciones: configs/dmel.json, configs/lstm.json, configs/mrs_informer.json y configs/decomposition.json. docs/implementation.md describe las decisiones de diseño; su encabezado de estado antiguo queda actualizado por docs/estado-khipu.md.</a:t>
            </a:r>
          </a:p>
          <a:p xmlns:a="http://schemas.openxmlformats.org/drawingml/2006/main">
            <a:r>
              <a:t/>
            </a:r>
          </a:p>
          <a:p xmlns:a="http://schemas.openxmlformats.org/drawingml/2006/main">
            <a:r>
              <a:t>Knoben, Freer y Woods (2019). Technical note: Inherent benchmark or not? Comparing Nash–Sutcliffe and Kling–Gupta efficiency scores. https://hess.copernicus.org/articles/23/4323/2019/ .</a:t>
            </a:r>
          </a:p>
          <a:p xmlns:a="http://schemas.openxmlformats.org/drawingml/2006/main">
            <a:r>
              <a:t/>
            </a:r>
          </a:p>
          <a:p xmlns:a="http://schemas.openxmlformats.org/drawingml/2006/main">
            <a:r>
              <a:t>dataset/metadata.json; Laboratorio 2.pdf, pp. 1–2; outputs/revision-dataset-lab2.json. Datos oficiales enlazados por el laboratorio: https://drive.google.com/drive/folders/1crKbJBhLHQEVJGG-agOxMnKLDnBP2x4w . train.h5 está disponible en Khipu. No se utilizó test_targets.csv.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Resultados disponibles. Tiempo orientativo: 60 segundos.</a:t>
            </a:r>
          </a:p>
          <a:p xmlns:a="http://schemas.openxmlformats.org/drawingml/2006/main">
            <a:r>
              <a:t/>
            </a:r>
          </a:p>
          <a:p xmlns:a="http://schemas.openxmlformats.org/drawingml/2006/main">
            <a:r>
              <a:t>Los dos entrenamientos terminaron correctamente. Evaluamos el mejor checkpoint de cada modelo sobre las mismas 18 142 ventanas y sus 48 horizontes. El RMSE de LSTM es 0.1023 milímetros por hora y el de DMEL, 0.1057. Por tanto, DMEL tiene un error global 3.31 por ciento mayor en esta corrida. LSTM también obtiene menor MAE y mayores NSE y KGE. DMEL sí reduce las predicciones negativas: pasan de 28 350, o 3.26 por ciento, a 9 439, o 1.08 por ciento. Este avance en coherencia física no compensa automáticamente el mayor error. Tampoco implica menor sesgo absoluto: el sesgo de DMEL es 0.00072 frente a menos 0.00028 del LSTM. La comparación usa una sola semilla y el conjunto de selección. No constituye una prueba estadística ni un resultado final de test.</a:t>
            </a:r>
          </a:p>
          <a:p xmlns:a="http://schemas.openxmlformats.org/drawingml/2006/main">
            <a:r>
              <a:t/>
            </a:r>
          </a:p>
          <a:p xmlns:a="http://schemas.openxmlformats.org/drawingml/2006/main">
            <a:r>
              <a:t>FUENTES</a:t>
            </a:r>
          </a:p>
          <a:p xmlns:a="http://schemas.openxmlformats.org/drawingml/2006/main">
            <a:r>
              <a:t>Resultados propios de validación: LSTM 53987 y DMEL 54181, ambos COMPLETED 0:0. outputs/khipu-lstm-53987-completed/metrics.json y outputs/khipu-dmel-54181-completed/metrics.json, analysis.json, status.json y provenance.json. Historiales: outputs/khipu-lstm-53987-history-20261003.json y outputs/khipu-dmel-54181-completed/history.json. Salidas de Khipu compartidas por el usuario, contrastadas localmente sin SSH. Ambos best.pt corresponden a epoch=9, décima época. Mismo split, semilla 42, 18142 ventanas, 48 horizontes y 508 cuencas. Son métricas de validación utilizada para seleccionar checkpoints, no de test. No se dispone de predicciones individuales localmente.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Resultados disponibles. Tiempo orientativo: 70 segundos.</a:t>
            </a:r>
          </a:p>
          <a:p xmlns:a="http://schemas.openxmlformats.org/drawingml/2006/main">
            <a:r>
              <a:t/>
            </a:r>
          </a:p>
          <a:p xmlns:a="http://schemas.openxmlformats.org/drawingml/2006/main">
            <a:r>
              <a:t>Cada panel permite comparar los dos modelos usando la misma escala. El azul representa LSTM y el marrón representa DMEL. El panel izquierdo muestra MSE de entrenamiento sobre caudal normalizado. El derecho muestra RMSE de validación en unidades físicas. Las pérdidas de entrenamiento bajan, pero esa mejora no se traslada continuamente a validación. En ambos modelos el mínimo ocurre en la décima época, registrada como epoch nueve. Ninguna de las diez épocas posteriores supera ese mínimo y la paciencia diez activa la parada temprana. Evaluamos best.pt, no los pesos finales de last.pt. El comportamiento es compatible con sobreajuste y justifica la selección por validación. El máximo de cien épocas es un límite, no una obligación. Los tiempos de Slurm varían entre ciclos y nodos, por lo que no usamos estas corridas como una comparación controlada de velocidad entre arquitecturas.</a:t>
            </a:r>
          </a:p>
          <a:p xmlns:a="http://schemas.openxmlformats.org/drawingml/2006/main">
            <a:r>
              <a:t/>
            </a:r>
          </a:p>
          <a:p xmlns:a="http://schemas.openxmlformats.org/drawingml/2006/main">
            <a:r>
              <a:t>FUENTES</a:t>
            </a:r>
          </a:p>
          <a:p xmlns:a="http://schemas.openxmlformats.org/drawingml/2006/main">
            <a:r>
              <a:t>Resultados propios de validación: LSTM 53987 y DMEL 54181, ambos COMPLETED 0:0. outputs/khipu-lstm-53987-completed/metrics.json y outputs/khipu-dmel-54181-completed/metrics.json, analysis.json, status.json y provenance.json. Historiales: outputs/khipu-lstm-53987-history-20261003.json y outputs/khipu-dmel-54181-completed/history.json. Salidas de Khipu compartidas por el usuario, contrastadas localmente sin SSH. Ambos best.pt corresponden a epoch=9, décima época. Mismo split, semilla 42, 18142 ventanas, 48 horizontes y 508 cuencas. Son métricas de validación utilizada para seleccionar checkpoints, no de test. No se dispone de predicciones individuales localmente.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Resultados disponibles. Tiempo orientativo: 65 segundos.</a:t>
            </a:r>
          </a:p>
          <a:p xmlns:a="http://schemas.openxmlformats.org/drawingml/2006/main">
            <a:r>
              <a:t/>
            </a:r>
          </a:p>
          <a:p xmlns:a="http://schemas.openxmlformats.org/drawingml/2006/main">
            <a:r>
              <a:t>Cada curva contiene los 48 resultados horarios de validación. LSTM tiene menor RMSE y MAE, además de mayor NSE, en todos los horizontes. A una hora, los RMSE son 0.0327 para LSTM y 0.0337 para DMEL. A veinticuatro horas son 0.1097 y 0.1126. A cuarenta y ocho horas son 0.1196 y 0.1230, con NSE de 0.4798 y 0.4499. La precisión tiende a disminuir con el horizonte, aunque las curvas no son monótonas. El incremento de error alrededor de las horas veinte a veintitrés aparece en los reportes, pero no podemos atribuirlo a eventos específicos sin analizar predicciones y observaciones. El KGE tiene una lectura distinta: DMEL mejora en catorce horizontes y LSTM en treinta y cuatro. Eso no altera el resultado sobre RMSE, que fue nuestro criterio de selección.</a:t>
            </a:r>
          </a:p>
          <a:p xmlns:a="http://schemas.openxmlformats.org/drawingml/2006/main">
            <a:r>
              <a:t/>
            </a:r>
          </a:p>
          <a:p xmlns:a="http://schemas.openxmlformats.org/drawingml/2006/main">
            <a:r>
              <a:t>FUENTES</a:t>
            </a:r>
          </a:p>
          <a:p xmlns:a="http://schemas.openxmlformats.org/drawingml/2006/main">
            <a:r>
              <a:t>Resultados propios de validación: LSTM 53987 y DMEL 54181, ambos COMPLETED 0:0. outputs/khipu-lstm-53987-completed/metrics.json y outputs/khipu-dmel-54181-completed/metrics.json, analysis.json, status.json y provenance.json. Historiales: outputs/khipu-lstm-53987-history-20261003.json y outputs/khipu-dmel-54181-completed/history.json. Salidas de Khipu compartidas por el usuario, contrastadas localmente sin SSH. Ambos best.pt corresponden a epoch=9, décima época. Mismo split, semilla 42, 18142 ventanas, 48 horizontes y 508 cuencas. Son métricas de validación utilizada para seleccionar checkpoints, no de test. No se dispone de predicciones individuales localmente.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Resultados disponibles. Tiempo orientativo: 65 segundos.</a:t>
            </a:r>
          </a:p>
          <a:p xmlns:a="http://schemas.openxmlformats.org/drawingml/2006/main">
            <a:r>
              <a:t/>
            </a:r>
          </a:p>
          <a:p xmlns:a="http://schemas.openxmlformats.org/drawingml/2006/main">
            <a:r>
              <a:t>La comparación pareada muestra una diferencia importante respecto del resumen global. DMEL mejora el RMSE en 252 cuencas y LSTM en 256, sin empates. Ganar en casi la mitad de cuencas no basta para ganar el RMSE global: este reúne errores cuadrados, y la magnitud de cada diferencia también cuenta. La mediana del NSE es 0.5939 en LSTM y 0.5623 en DMEL. Hay setenta cuencas con NSE negativo en LSTM y ochenta en DMEL. Mostramos las medias macro negativas de ambos modelos, porque ocultarlas daría una imagen incompleta. En la cuenca 369, DMEL tiene RMSE de 0.00312, pero NSE de menos 20 042.8. La identidad entre RMSE y NSE implica una desviación observada de aproximadamente 0.0000221 milímetros por hora. Esa baja variabilidad vuelve sensible al NSE, pero no elimina el mal resultado relativo. Falta inspeccionar las predicciones individuales.</a:t>
            </a:r>
          </a:p>
          <a:p xmlns:a="http://schemas.openxmlformats.org/drawingml/2006/main">
            <a:r>
              <a:t/>
            </a:r>
          </a:p>
          <a:p xmlns:a="http://schemas.openxmlformats.org/drawingml/2006/main">
            <a:r>
              <a:t>FUENTES</a:t>
            </a:r>
          </a:p>
          <a:p xmlns:a="http://schemas.openxmlformats.org/drawingml/2006/main">
            <a:r>
              <a:t>Resultados propios de validación: LSTM 53987 y DMEL 54181, ambos COMPLETED 0:0. outputs/khipu-lstm-53987-completed/metrics.json y outputs/khipu-dmel-54181-completed/metrics.json, analysis.json, status.json y provenance.json. Historiales: outputs/khipu-lstm-53987-history-20261003.json y outputs/khipu-dmel-54181-completed/history.json. Salidas de Khipu compartidas por el usuario, contrastadas localmente sin SSH. Ambos best.pt corresponden a epoch=9, décima época. Mismo split, semilla 42, 18142 ventanas, 48 horizontes y 508 cuencas. Son métricas de validación utilizada para seleccionar checkpoints, no de test. No se dispone de predicciones individuales localmente.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Resultados disponibles. Tiempo orientativo: 55 segundos.</a:t>
            </a:r>
          </a:p>
          <a:p xmlns:a="http://schemas.openxmlformats.org/drawingml/2006/main">
            <a:r>
              <a:t/>
            </a:r>
          </a:p>
          <a:p xmlns:a="http://schemas.openxmlformats.org/drawingml/2006/main">
            <a:r>
              <a:t>Con los dos entrenamientos completos, la evidencia disponible favorece a LSTM según el RMSE global y en todos los horizontes. DMEL aporta mejoras en 252 cuencas y menos predicciones negativas, pero su error agregado es mayor. Por eso no afirmamos una ventaja general de la propuesta. Tampoco concluimos que el artículo sea incorrecto: implementamos una adaptación horaria, con otras entradas, una simplificación del reconocimiento modal y una pérdida conjunta. Para cerrar el laboratorio faltan persistencia, la ablación con dos ramas Informer y la revisión de predicciones individuales. Persistencia es especialmente relevante porque ambos modelos corrigen el último caudal observado. La ablación también cambia la capacidad del modelo, lo que limita la atribución causal. Las predicciones finales de test y semillas adicionales ampliarían la evaluación. Cualquier selección final debe mantener test fuera del ajuste.</a:t>
            </a:r>
          </a:p>
          <a:p xmlns:a="http://schemas.openxmlformats.org/drawingml/2006/main">
            <a:r>
              <a:t/>
            </a:r>
          </a:p>
          <a:p xmlns:a="http://schemas.openxmlformats.org/drawingml/2006/main">
            <a:r>
              <a:t>FUENTES</a:t>
            </a:r>
          </a:p>
          <a:p xmlns:a="http://schemas.openxmlformats.org/drawingml/2006/main">
            <a:r>
              <a:t>Resultados propios de validación: LSTM 53987 y DMEL 54181, ambos COMPLETED 0:0. outputs/khipu-lstm-53987-completed/metrics.json y outputs/khipu-dmel-54181-completed/metrics.json, analysis.json, status.json y provenance.json. Historiales: outputs/khipu-lstm-53987-history-20261003.json y outputs/khipu-dmel-54181-completed/history.json. Salidas de Khipu compartidas por el usuario, contrastadas localmente sin SSH. Ambos best.pt corresponden a epoch=9, décima época. Mismo split, semilla 42, 18142 ventanas, 48 horizontes y 508 cuencas. Son métricas de validación utilizada para seleccionar checkpoints, no de test. No se dispone de predicciones individuales localmente.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Referencias. Tiempo orientativo: 0 segundos.</a:t>
            </a:r>
          </a:p>
          <a:p xmlns:a="http://schemas.openxmlformats.org/drawingml/2006/main">
            <a:r>
              <a:t/>
            </a:r>
          </a:p>
          <a:p xmlns:a="http://schemas.openxmlformats.org/drawingml/2006/main">
            <a:r>
              <a:t>El paper DMEL aporta la propuesta integrada y los parámetros publicados. Torres y colaboradores describen CEEMDAN. Richman y Moorman fundamentan la entropía muestral. Estas fuentes permiten estudiar los mecanismos. La implementación central del laboratorio pertenece al proyecto y sus diferencias están documentadas.</a:t>
            </a:r>
          </a:p>
          <a:p xmlns:a="http://schemas.openxmlformats.org/drawingml/2006/main">
            <a:r>
              <a:t/>
            </a:r>
          </a:p>
          <a:p xmlns:a="http://schemas.openxmlformats.org/drawingml/2006/main">
            <a:r>
              <a:t>FUENTES</a:t>
            </a:r>
          </a:p>
          <a:p xmlns:a="http://schemas.openxmlformats.org/drawingml/2006/main">
            <a:r>
              <a:t>Wang, W.-c., Gu, M., Li, Z., Wang, Y.-y., Zhao, Y.-w. (2026). DMEL: A novel dual-modal ensemble learning architecture for multi-step runoff prediction. Applied Soft Computing 192, 114792. https://doi.org/10.1016/j.asoc.2026.114792 . PDF proporcionado por el usuario en la raíz del proyecto.</a:t>
            </a:r>
          </a:p>
          <a:p xmlns:a="http://schemas.openxmlformats.org/drawingml/2006/main">
            <a:r>
              <a:t/>
            </a:r>
          </a:p>
          <a:p xmlns:a="http://schemas.openxmlformats.org/drawingml/2006/main">
            <a:r>
              <a:t>Torres et al. (2011). A complete ensemble empirical mode decomposition with adaptive noise. ICASSP. https://perso.ens-lyon.fr/patrick.flandrin/0004144.pdf . Véanse también docs/decomposition.md y dmel/decomposition.py.</a:t>
            </a:r>
          </a:p>
          <a:p xmlns:a="http://schemas.openxmlformats.org/drawingml/2006/main">
            <a:r>
              <a:t/>
            </a:r>
          </a:p>
          <a:p xmlns:a="http://schemas.openxmlformats.org/drawingml/2006/main">
            <a:r>
              <a:t>Richman y Moorman (2000). Physiological time-series analysis using approximate entropy and sample entropy. https://doi.org/10.1152/ajpheart.2000.278.6.H2039 . Recurso de contraste: https://physionet.org/content/sampen/1.0.0/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Referencias. Tiempo orientativo: 0 segundos.</a:t>
            </a:r>
          </a:p>
          <a:p xmlns:a="http://schemas.openxmlformats.org/drawingml/2006/main">
            <a:r>
              <a:t/>
            </a:r>
          </a:p>
          <a:p xmlns:a="http://schemas.openxmlformats.org/drawingml/2006/main">
            <a:r>
              <a:t>Las instrucciones del laboratorio fijan el problema, las restricciones y los entregables. Los metadatos establecen los canales y las unidades del objetivo. Los archivos del proyecto permiten contrastar cada decisión con el código. Los logs compartidos por el usuario constituyen la evidencia del cómputo remoto; no se han inventado resultados pendientes ni se han extrapolado los resultados diarios del paper a nuestras cuencas.</a:t>
            </a:r>
          </a:p>
          <a:p xmlns:a="http://schemas.openxmlformats.org/drawingml/2006/main">
            <a:r>
              <a:t/>
            </a:r>
          </a:p>
          <a:p xmlns:a="http://schemas.openxmlformats.org/drawingml/2006/main">
            <a:r>
              <a:t>FUENTES</a:t>
            </a:r>
          </a:p>
          <a:p xmlns:a="http://schemas.openxmlformats.org/drawingml/2006/main">
            <a:r>
              <a:t>Zhou et al. (2021). Informer: Beyond Efficient Transformer for Long Sequence Time-Series Forecasting. https://arxiv.org/abs/2012.07436 .</a:t>
            </a:r>
          </a:p>
          <a:p xmlns:a="http://schemas.openxmlformats.org/drawingml/2006/main">
            <a:r>
              <a:t/>
            </a:r>
          </a:p>
          <a:p xmlns:a="http://schemas.openxmlformats.org/drawingml/2006/main">
            <a:r>
              <a:t>Knoben, Freer y Woods (2019). Technical note: Inherent benchmark or not? Comparing Nash–Sutcliffe and Kling–Gupta efficiency scores. https://hess.copernicus.org/articles/23/4323/2019/ .</a:t>
            </a:r>
          </a:p>
          <a:p xmlns:a="http://schemas.openxmlformats.org/drawingml/2006/main">
            <a:r>
              <a:t/>
            </a:r>
          </a:p>
          <a:p xmlns:a="http://schemas.openxmlformats.org/drawingml/2006/main">
            <a:r>
              <a:t>Laboratorio 2.pdf, documento proporcionado por el usuario, pp. 1–3. Video: metodología 6 min, implementación 6 min, resultados 6 min. Se permiten simplificaciones justificadas, conservando la propuesta central.</a:t>
            </a:r>
          </a:p>
          <a:p xmlns:a="http://schemas.openxmlformats.org/drawingml/2006/main">
            <a:r>
              <a:t/>
            </a:r>
          </a:p>
          <a:p xmlns:a="http://schemas.openxmlformats.org/drawingml/2006/main">
            <a:r>
              <a:t>dataset/metadata.json; Laboratorio 2.pdf, pp. 1–2; outputs/revision-dataset-lab2.json. Datos oficiales enlazados por el laboratorio: https://drive.google.com/drive/folders/1crKbJBhLHQEVJGG-agOxMnKLDnBP2x4w . train.h5 está disponible en Khipu. No se utilizó test_targets.csv.</a:t>
            </a:r>
          </a:p>
          <a:p xmlns:a="http://schemas.openxmlformats.org/drawingml/2006/main">
            <a:r>
              <a:t/>
            </a:r>
          </a:p>
          <a:p xmlns:a="http://schemas.openxmlformats.org/drawingml/2006/main">
            <a:r>
              <a:t>Código local: dmel/data.py, dmel/decomposition.py, dmel/models.py, dmel/engine.py y dmel/metrics.py. Configuraciones: configs/dmel.json, configs/lstm.json, configs/mrs_informer.json y configs/decomposition.json. docs/implementation.md describe las decisiones de diseño; su encabezado de estado antiguo queda actualizado por docs/estado-khipu.md.</a:t>
            </a:r>
          </a:p>
          <a:p xmlns:a="http://schemas.openxmlformats.org/drawingml/2006/main">
            <a:r>
              <a:t/>
            </a:r>
          </a:p>
          <a:p xmlns:a="http://schemas.openxmlformats.org/drawingml/2006/main">
            <a:r>
              <a:t>Resultados propios de validación: LSTM 53987 y DMEL 54181, ambos COMPLETED 0:0. outputs/khipu-lstm-53987-completed/metrics.json y outputs/khipu-dmel-54181-completed/metrics.json, analysis.json, status.json y provenance.json. Historiales: outputs/khipu-lstm-53987-history-20261003.json y outputs/khipu-dmel-54181-completed/history.json. Salidas de Khipu compartidas por el usuario, contrastadas localmente sin SSH. Ambos best.pt corresponden a epoch=9, décima época. Mismo split, semilla 42, 18142 ventanas, 48 horizontes y 508 cuencas. Son métricas de validación utilizada para seleccionar checkpoints, no de test. No se dispone de predicciones individuales localmente.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4845de561044b5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98868ecb7f64ccc" /><Relationship Type="http://schemas.openxmlformats.org/officeDocument/2006/relationships/slideLayout" Target="/ppt/slideLayouts/slideLayout1.xml" Id="Rd88dc9d661ee4b9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88dc9d661ee4b9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74ee362981b4dfe" /><Relationship Type="http://schemas.openxmlformats.org/officeDocument/2006/relationships/image" Target="/ppt/media/image.png" Id="R389effc9827c44f5" /><Relationship Type="http://schemas.openxmlformats.org/officeDocument/2006/relationships/notesSlide" Target="/ppt/notesSlides/notesSlide1.xml" Id="R4c85fe703cf74d0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a6bf88258f7496e" /><Relationship Type="http://schemas.openxmlformats.org/officeDocument/2006/relationships/image" Target="/ppt/media/image2.png" Id="Rc57b5f3045ae4dac" /><Relationship Type="http://schemas.openxmlformats.org/officeDocument/2006/relationships/notesSlide" Target="/ppt/notesSlides/notesSlide2.xml" Id="Rc55cc8d7d80c448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fff4d35e1874bab" /><Relationship Type="http://schemas.openxmlformats.org/officeDocument/2006/relationships/image" Target="/ppt/media/image3.png" Id="Rbe73492f0e3f41c4" /><Relationship Type="http://schemas.openxmlformats.org/officeDocument/2006/relationships/notesSlide" Target="/ppt/notesSlides/notesSlide3.xml" Id="Re16b87b9e3e749d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550ca1df032431e" /><Relationship Type="http://schemas.openxmlformats.org/officeDocument/2006/relationships/notesSlide" Target="/ppt/notesSlides/notesSlide4.xml" Id="Reffc553ee130443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3216eade81a41e1" /><Relationship Type="http://schemas.openxmlformats.org/officeDocument/2006/relationships/notesSlide" Target="/ppt/notesSlides/notesSlide5.xml" Id="R301e6f6b3d6b4ca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73260cf8a934a2d" /><Relationship Type="http://schemas.openxmlformats.org/officeDocument/2006/relationships/image" Target="/ppt/media/image4.png" Id="R0fd84e2a62ff4cbc" /><Relationship Type="http://schemas.openxmlformats.org/officeDocument/2006/relationships/notesSlide" Target="/ppt/notesSlides/notesSlide6.xml" Id="R9f70f4224a19468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eb0868ceeb849be" /><Relationship Type="http://schemas.openxmlformats.org/officeDocument/2006/relationships/image" Target="/ppt/media/image5.png" Id="R5ef14ccab5ca4be1" /><Relationship Type="http://schemas.openxmlformats.org/officeDocument/2006/relationships/notesSlide" Target="/ppt/notesSlides/notesSlide7.xml" Id="R85a2d615e32348f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b9c64ece4fb4c05" /><Relationship Type="http://schemas.openxmlformats.org/officeDocument/2006/relationships/notesSlide" Target="/ppt/notesSlides/notesSlide8.xml" Id="Rf235f226e2f640c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3a6a1c6b7884fbe" /><Relationship Type="http://schemas.openxmlformats.org/officeDocument/2006/relationships/notesSlide" Target="/ppt/notesSlides/notesSlide9.xml" Id="Rad460be054cd493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c6391dea7f940a3" /><Relationship Type="http://schemas.openxmlformats.org/officeDocument/2006/relationships/chart" Target="/ppt/slides/charts/chart1.xml" Id="R889373f9dd134d5c" /><Relationship Type="http://schemas.openxmlformats.org/officeDocument/2006/relationships/notesSlide" Target="/ppt/notesSlides/notesSlide10.xml" Id="Re5dee985d1ac47b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7e37c8c8e8547b1" /><Relationship Type="http://schemas.openxmlformats.org/officeDocument/2006/relationships/chart" Target="/ppt/slides/charts/chart2.xml" Id="Rf08b2b55d3dc42aa" /><Relationship Type="http://schemas.openxmlformats.org/officeDocument/2006/relationships/notesSlide" Target="/ppt/notesSlides/notesSlide11.xml" Id="Ref1c1e2b4171451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27a0f2877efb491d" /><Relationship Type="http://schemas.openxmlformats.org/officeDocument/2006/relationships/notesSlide" Target="/ppt/notesSlides/notesSlide12.xml" Id="R326f04dffa844be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3e1df4e4f5949c2" /><Relationship Type="http://schemas.openxmlformats.org/officeDocument/2006/relationships/notesSlide" Target="/ppt/notesSlides/notesSlide13.xml" Id="R7acd5fb6fb5e470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82557622665d434d" /><Relationship Type="http://schemas.openxmlformats.org/officeDocument/2006/relationships/notesSlide" Target="/ppt/notesSlides/notesSlide14.xml" Id="Rc033685efa77468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065178f2d7e94a77" /><Relationship Type="http://schemas.openxmlformats.org/officeDocument/2006/relationships/notesSlide" Target="/ppt/notesSlides/notesSlide15.xml" Id="R1f63c7c39e69433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c6b691b4e35f420b" /><Relationship Type="http://schemas.openxmlformats.org/officeDocument/2006/relationships/notesSlide" Target="/ppt/notesSlides/notesSlide16.xml" Id="Rec69cd69613d402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ed0086ff15024cad" /><Relationship Type="http://schemas.openxmlformats.org/officeDocument/2006/relationships/chart" Target="/ppt/slides/charts/chart3.xml" Id="R56253f5fcb534162" /><Relationship Type="http://schemas.openxmlformats.org/officeDocument/2006/relationships/chart" Target="/ppt/slides/charts/chart4.xml" Id="R56c44b3bab674643" /><Relationship Type="http://schemas.openxmlformats.org/officeDocument/2006/relationships/notesSlide" Target="/ppt/notesSlides/notesSlide17.xml" Id="R51ae2aa92ab0401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c6e1a8b0930a4e75" /><Relationship Type="http://schemas.openxmlformats.org/officeDocument/2006/relationships/chart" Target="/ppt/slides/charts/chart5.xml" Id="Rf8de29003fdc4863" /><Relationship Type="http://schemas.openxmlformats.org/officeDocument/2006/relationships/chart" Target="/ppt/slides/charts/chart6.xml" Id="Rda4c4d49982c42ee" /><Relationship Type="http://schemas.openxmlformats.org/officeDocument/2006/relationships/notesSlide" Target="/ppt/notesSlides/notesSlide18.xml" Id="R5e107bebc0b4439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758b167e9b0a425f" /><Relationship Type="http://schemas.openxmlformats.org/officeDocument/2006/relationships/notesSlide" Target="/ppt/notesSlides/notesSlide19.xml" Id="R1ce818e42b8a43d1"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f5f30b5f1aae4db7" /><Relationship Type="http://schemas.openxmlformats.org/officeDocument/2006/relationships/notesSlide" Target="/ppt/notesSlides/notesSlide20.xml" Id="Rf3a656a509ea4e17"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e27bf7fe483a4411" /><Relationship Type="http://schemas.openxmlformats.org/officeDocument/2006/relationships/notesSlide" Target="/ppt/notesSlides/notesSlide21.xml" Id="Rcf91ddaccc024a2e"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2288d482f2824958" /><Relationship Type="http://schemas.openxmlformats.org/officeDocument/2006/relationships/notesSlide" Target="/ppt/notesSlides/notesSlide22.xml" Id="Rf43d0d10a8cb432d"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chart1.xml><?xml version="1.0" encoding="utf-8"?>
<c:chartSpace xmlns:a="http://schemas.openxmlformats.org/drawingml/2006/main" xmlns:c="http://schemas.openxmlformats.org/drawingml/2006/chart" xmlns:r="http://schemas.openxmlformats.org/officeDocument/2006/relationships">
  <c:lang val="en-US"/>
  <c:chart>
    <c:plotArea>
      <c:scatterChart>
        <c:scatterStyle val="line"/>
        <c:ser>
          <c:idx val="0"/>
          <c:order val="0"/>
          <c:tx>
            <c:v>Caudal histórico</c:v>
          </c:tx>
          <c:spPr>
            <a:ln w="21908">
              <a:solidFill>
                <a:srgbClr val="007FA3"/>
              </a:solidFill>
              <a:prstDash val="solid"/>
            </a:ln>
          </c:spPr>
          <c:marker>
            <c:symbol val="none"/>
          </c:marker>
          <c:xVal>
            <c:numRef>
              <c:f>'Chart Data'!$A$2:$A$337</c:f>
              <c:numCache>
                <c:formatCode>General</c:formatCode>
                <c:ptCount val="336"/>
                <c:pt idx="0">
                  <c:v>-335</c:v>
                </c:pt>
                <c:pt idx="1">
                  <c:v>-334</c:v>
                </c:pt>
                <c:pt idx="2">
                  <c:v>-333</c:v>
                </c:pt>
                <c:pt idx="3">
                  <c:v>-332</c:v>
                </c:pt>
                <c:pt idx="4">
                  <c:v>-331</c:v>
                </c:pt>
                <c:pt idx="5">
                  <c:v>-330</c:v>
                </c:pt>
                <c:pt idx="6">
                  <c:v>-329</c:v>
                </c:pt>
                <c:pt idx="7">
                  <c:v>-328</c:v>
                </c:pt>
                <c:pt idx="8">
                  <c:v>-327</c:v>
                </c:pt>
                <c:pt idx="9">
                  <c:v>-326</c:v>
                </c:pt>
                <c:pt idx="10">
                  <c:v>-325</c:v>
                </c:pt>
                <c:pt idx="11">
                  <c:v>-324</c:v>
                </c:pt>
                <c:pt idx="12">
                  <c:v>-323</c:v>
                </c:pt>
                <c:pt idx="13">
                  <c:v>-322</c:v>
                </c:pt>
                <c:pt idx="14">
                  <c:v>-321</c:v>
                </c:pt>
                <c:pt idx="15">
                  <c:v>-320</c:v>
                </c:pt>
                <c:pt idx="16">
                  <c:v>-319</c:v>
                </c:pt>
                <c:pt idx="17">
                  <c:v>-318</c:v>
                </c:pt>
                <c:pt idx="18">
                  <c:v>-317</c:v>
                </c:pt>
                <c:pt idx="19">
                  <c:v>-316</c:v>
                </c:pt>
                <c:pt idx="20">
                  <c:v>-315</c:v>
                </c:pt>
                <c:pt idx="21">
                  <c:v>-314</c:v>
                </c:pt>
                <c:pt idx="22">
                  <c:v>-313</c:v>
                </c:pt>
                <c:pt idx="23">
                  <c:v>-312</c:v>
                </c:pt>
                <c:pt idx="24">
                  <c:v>-311</c:v>
                </c:pt>
                <c:pt idx="25">
                  <c:v>-310</c:v>
                </c:pt>
                <c:pt idx="26">
                  <c:v>-309</c:v>
                </c:pt>
                <c:pt idx="27">
                  <c:v>-308</c:v>
                </c:pt>
                <c:pt idx="28">
                  <c:v>-307</c:v>
                </c:pt>
                <c:pt idx="29">
                  <c:v>-306</c:v>
                </c:pt>
                <c:pt idx="30">
                  <c:v>-305</c:v>
                </c:pt>
                <c:pt idx="31">
                  <c:v>-304</c:v>
                </c:pt>
                <c:pt idx="32">
                  <c:v>-303</c:v>
                </c:pt>
                <c:pt idx="33">
                  <c:v>-302</c:v>
                </c:pt>
                <c:pt idx="34">
                  <c:v>-301</c:v>
                </c:pt>
                <c:pt idx="35">
                  <c:v>-300</c:v>
                </c:pt>
                <c:pt idx="36">
                  <c:v>-299</c:v>
                </c:pt>
                <c:pt idx="37">
                  <c:v>-298</c:v>
                </c:pt>
                <c:pt idx="38">
                  <c:v>-297</c:v>
                </c:pt>
                <c:pt idx="39">
                  <c:v>-296</c:v>
                </c:pt>
                <c:pt idx="40">
                  <c:v>-295</c:v>
                </c:pt>
                <c:pt idx="41">
                  <c:v>-294</c:v>
                </c:pt>
                <c:pt idx="42">
                  <c:v>-293</c:v>
                </c:pt>
                <c:pt idx="43">
                  <c:v>-292</c:v>
                </c:pt>
                <c:pt idx="44">
                  <c:v>-291</c:v>
                </c:pt>
                <c:pt idx="45">
                  <c:v>-290</c:v>
                </c:pt>
                <c:pt idx="46">
                  <c:v>-289</c:v>
                </c:pt>
                <c:pt idx="47">
                  <c:v>-288</c:v>
                </c:pt>
                <c:pt idx="48">
                  <c:v>-287</c:v>
                </c:pt>
                <c:pt idx="49">
                  <c:v>-286</c:v>
                </c:pt>
                <c:pt idx="50">
                  <c:v>-285</c:v>
                </c:pt>
                <c:pt idx="51">
                  <c:v>-284</c:v>
                </c:pt>
                <c:pt idx="52">
                  <c:v>-283</c:v>
                </c:pt>
                <c:pt idx="53">
                  <c:v>-282</c:v>
                </c:pt>
                <c:pt idx="54">
                  <c:v>-281</c:v>
                </c:pt>
                <c:pt idx="55">
                  <c:v>-280</c:v>
                </c:pt>
                <c:pt idx="56">
                  <c:v>-279</c:v>
                </c:pt>
                <c:pt idx="57">
                  <c:v>-278</c:v>
                </c:pt>
                <c:pt idx="58">
                  <c:v>-277</c:v>
                </c:pt>
                <c:pt idx="59">
                  <c:v>-276</c:v>
                </c:pt>
                <c:pt idx="60">
                  <c:v>-275</c:v>
                </c:pt>
                <c:pt idx="61">
                  <c:v>-274</c:v>
                </c:pt>
                <c:pt idx="62">
                  <c:v>-273</c:v>
                </c:pt>
                <c:pt idx="63">
                  <c:v>-272</c:v>
                </c:pt>
                <c:pt idx="64">
                  <c:v>-271</c:v>
                </c:pt>
                <c:pt idx="65">
                  <c:v>-270</c:v>
                </c:pt>
                <c:pt idx="66">
                  <c:v>-269</c:v>
                </c:pt>
                <c:pt idx="67">
                  <c:v>-268</c:v>
                </c:pt>
                <c:pt idx="68">
                  <c:v>-267</c:v>
                </c:pt>
                <c:pt idx="69">
                  <c:v>-266</c:v>
                </c:pt>
                <c:pt idx="70">
                  <c:v>-265</c:v>
                </c:pt>
                <c:pt idx="71">
                  <c:v>-264</c:v>
                </c:pt>
                <c:pt idx="72">
                  <c:v>-263</c:v>
                </c:pt>
                <c:pt idx="73">
                  <c:v>-262</c:v>
                </c:pt>
                <c:pt idx="74">
                  <c:v>-261</c:v>
                </c:pt>
                <c:pt idx="75">
                  <c:v>-260</c:v>
                </c:pt>
                <c:pt idx="76">
                  <c:v>-259</c:v>
                </c:pt>
                <c:pt idx="77">
                  <c:v>-258</c:v>
                </c:pt>
                <c:pt idx="78">
                  <c:v>-257</c:v>
                </c:pt>
                <c:pt idx="79">
                  <c:v>-256</c:v>
                </c:pt>
                <c:pt idx="80">
                  <c:v>-255</c:v>
                </c:pt>
                <c:pt idx="81">
                  <c:v>-254</c:v>
                </c:pt>
                <c:pt idx="82">
                  <c:v>-253</c:v>
                </c:pt>
                <c:pt idx="83">
                  <c:v>-252</c:v>
                </c:pt>
                <c:pt idx="84">
                  <c:v>-251</c:v>
                </c:pt>
                <c:pt idx="85">
                  <c:v>-250</c:v>
                </c:pt>
                <c:pt idx="86">
                  <c:v>-249</c:v>
                </c:pt>
                <c:pt idx="87">
                  <c:v>-248</c:v>
                </c:pt>
                <c:pt idx="88">
                  <c:v>-247</c:v>
                </c:pt>
                <c:pt idx="89">
                  <c:v>-246</c:v>
                </c:pt>
                <c:pt idx="90">
                  <c:v>-245</c:v>
                </c:pt>
                <c:pt idx="91">
                  <c:v>-244</c:v>
                </c:pt>
                <c:pt idx="92">
                  <c:v>-243</c:v>
                </c:pt>
                <c:pt idx="93">
                  <c:v>-242</c:v>
                </c:pt>
                <c:pt idx="94">
                  <c:v>-241</c:v>
                </c:pt>
                <c:pt idx="95">
                  <c:v>-240</c:v>
                </c:pt>
                <c:pt idx="96">
                  <c:v>-239</c:v>
                </c:pt>
                <c:pt idx="97">
                  <c:v>-238</c:v>
                </c:pt>
                <c:pt idx="98">
                  <c:v>-237</c:v>
                </c:pt>
                <c:pt idx="99">
                  <c:v>-236</c:v>
                </c:pt>
                <c:pt idx="100">
                  <c:v>-235</c:v>
                </c:pt>
                <c:pt idx="101">
                  <c:v>-234</c:v>
                </c:pt>
                <c:pt idx="102">
                  <c:v>-233</c:v>
                </c:pt>
                <c:pt idx="103">
                  <c:v>-232</c:v>
                </c:pt>
                <c:pt idx="104">
                  <c:v>-231</c:v>
                </c:pt>
                <c:pt idx="105">
                  <c:v>-230</c:v>
                </c:pt>
                <c:pt idx="106">
                  <c:v>-229</c:v>
                </c:pt>
                <c:pt idx="107">
                  <c:v>-228</c:v>
                </c:pt>
                <c:pt idx="108">
                  <c:v>-227</c:v>
                </c:pt>
                <c:pt idx="109">
                  <c:v>-226</c:v>
                </c:pt>
                <c:pt idx="110">
                  <c:v>-225</c:v>
                </c:pt>
                <c:pt idx="111">
                  <c:v>-224</c:v>
                </c:pt>
                <c:pt idx="112">
                  <c:v>-223</c:v>
                </c:pt>
                <c:pt idx="113">
                  <c:v>-222</c:v>
                </c:pt>
                <c:pt idx="114">
                  <c:v>-221</c:v>
                </c:pt>
                <c:pt idx="115">
                  <c:v>-220</c:v>
                </c:pt>
                <c:pt idx="116">
                  <c:v>-219</c:v>
                </c:pt>
                <c:pt idx="117">
                  <c:v>-218</c:v>
                </c:pt>
                <c:pt idx="118">
                  <c:v>-217</c:v>
                </c:pt>
                <c:pt idx="119">
                  <c:v>-216</c:v>
                </c:pt>
                <c:pt idx="120">
                  <c:v>-215</c:v>
                </c:pt>
                <c:pt idx="121">
                  <c:v>-214</c:v>
                </c:pt>
                <c:pt idx="122">
                  <c:v>-213</c:v>
                </c:pt>
                <c:pt idx="123">
                  <c:v>-212</c:v>
                </c:pt>
                <c:pt idx="124">
                  <c:v>-211</c:v>
                </c:pt>
                <c:pt idx="125">
                  <c:v>-210</c:v>
                </c:pt>
                <c:pt idx="126">
                  <c:v>-209</c:v>
                </c:pt>
                <c:pt idx="127">
                  <c:v>-208</c:v>
                </c:pt>
                <c:pt idx="128">
                  <c:v>-207</c:v>
                </c:pt>
                <c:pt idx="129">
                  <c:v>-206</c:v>
                </c:pt>
                <c:pt idx="130">
                  <c:v>-205</c:v>
                </c:pt>
                <c:pt idx="131">
                  <c:v>-204</c:v>
                </c:pt>
                <c:pt idx="132">
                  <c:v>-203</c:v>
                </c:pt>
                <c:pt idx="133">
                  <c:v>-202</c:v>
                </c:pt>
                <c:pt idx="134">
                  <c:v>-201</c:v>
                </c:pt>
                <c:pt idx="135">
                  <c:v>-200</c:v>
                </c:pt>
                <c:pt idx="136">
                  <c:v>-199</c:v>
                </c:pt>
                <c:pt idx="137">
                  <c:v>-198</c:v>
                </c:pt>
                <c:pt idx="138">
                  <c:v>-197</c:v>
                </c:pt>
                <c:pt idx="139">
                  <c:v>-196</c:v>
                </c:pt>
                <c:pt idx="140">
                  <c:v>-195</c:v>
                </c:pt>
                <c:pt idx="141">
                  <c:v>-194</c:v>
                </c:pt>
                <c:pt idx="142">
                  <c:v>-193</c:v>
                </c:pt>
                <c:pt idx="143">
                  <c:v>-192</c:v>
                </c:pt>
                <c:pt idx="144">
                  <c:v>-191</c:v>
                </c:pt>
                <c:pt idx="145">
                  <c:v>-190</c:v>
                </c:pt>
                <c:pt idx="146">
                  <c:v>-189</c:v>
                </c:pt>
                <c:pt idx="147">
                  <c:v>-188</c:v>
                </c:pt>
                <c:pt idx="148">
                  <c:v>-187</c:v>
                </c:pt>
                <c:pt idx="149">
                  <c:v>-186</c:v>
                </c:pt>
                <c:pt idx="150">
                  <c:v>-185</c:v>
                </c:pt>
                <c:pt idx="151">
                  <c:v>-184</c:v>
                </c:pt>
                <c:pt idx="152">
                  <c:v>-183</c:v>
                </c:pt>
                <c:pt idx="153">
                  <c:v>-182</c:v>
                </c:pt>
                <c:pt idx="154">
                  <c:v>-181</c:v>
                </c:pt>
                <c:pt idx="155">
                  <c:v>-180</c:v>
                </c:pt>
                <c:pt idx="156">
                  <c:v>-179</c:v>
                </c:pt>
                <c:pt idx="157">
                  <c:v>-178</c:v>
                </c:pt>
                <c:pt idx="158">
                  <c:v>-177</c:v>
                </c:pt>
                <c:pt idx="159">
                  <c:v>-176</c:v>
                </c:pt>
                <c:pt idx="160">
                  <c:v>-175</c:v>
                </c:pt>
                <c:pt idx="161">
                  <c:v>-174</c:v>
                </c:pt>
                <c:pt idx="162">
                  <c:v>-173</c:v>
                </c:pt>
                <c:pt idx="163">
                  <c:v>-172</c:v>
                </c:pt>
                <c:pt idx="164">
                  <c:v>-171</c:v>
                </c:pt>
                <c:pt idx="165">
                  <c:v>-170</c:v>
                </c:pt>
                <c:pt idx="166">
                  <c:v>-169</c:v>
                </c:pt>
                <c:pt idx="167">
                  <c:v>-168</c:v>
                </c:pt>
                <c:pt idx="168">
                  <c:v>-167</c:v>
                </c:pt>
                <c:pt idx="169">
                  <c:v>-166</c:v>
                </c:pt>
                <c:pt idx="170">
                  <c:v>-165</c:v>
                </c:pt>
                <c:pt idx="171">
                  <c:v>-164</c:v>
                </c:pt>
                <c:pt idx="172">
                  <c:v>-163</c:v>
                </c:pt>
                <c:pt idx="173">
                  <c:v>-162</c:v>
                </c:pt>
                <c:pt idx="174">
                  <c:v>-161</c:v>
                </c:pt>
                <c:pt idx="175">
                  <c:v>-160</c:v>
                </c:pt>
                <c:pt idx="176">
                  <c:v>-159</c:v>
                </c:pt>
                <c:pt idx="177">
                  <c:v>-158</c:v>
                </c:pt>
                <c:pt idx="178">
                  <c:v>-157</c:v>
                </c:pt>
                <c:pt idx="179">
                  <c:v>-156</c:v>
                </c:pt>
                <c:pt idx="180">
                  <c:v>-155</c:v>
                </c:pt>
                <c:pt idx="181">
                  <c:v>-154</c:v>
                </c:pt>
                <c:pt idx="182">
                  <c:v>-153</c:v>
                </c:pt>
                <c:pt idx="183">
                  <c:v>-152</c:v>
                </c:pt>
                <c:pt idx="184">
                  <c:v>-151</c:v>
                </c:pt>
                <c:pt idx="185">
                  <c:v>-150</c:v>
                </c:pt>
                <c:pt idx="186">
                  <c:v>-149</c:v>
                </c:pt>
                <c:pt idx="187">
                  <c:v>-148</c:v>
                </c:pt>
                <c:pt idx="188">
                  <c:v>-147</c:v>
                </c:pt>
                <c:pt idx="189">
                  <c:v>-146</c:v>
                </c:pt>
                <c:pt idx="190">
                  <c:v>-145</c:v>
                </c:pt>
                <c:pt idx="191">
                  <c:v>-144</c:v>
                </c:pt>
                <c:pt idx="192">
                  <c:v>-143</c:v>
                </c:pt>
                <c:pt idx="193">
                  <c:v>-142</c:v>
                </c:pt>
                <c:pt idx="194">
                  <c:v>-141</c:v>
                </c:pt>
                <c:pt idx="195">
                  <c:v>-140</c:v>
                </c:pt>
                <c:pt idx="196">
                  <c:v>-139</c:v>
                </c:pt>
                <c:pt idx="197">
                  <c:v>-138</c:v>
                </c:pt>
                <c:pt idx="198">
                  <c:v>-137</c:v>
                </c:pt>
                <c:pt idx="199">
                  <c:v>-136</c:v>
                </c:pt>
                <c:pt idx="200">
                  <c:v>-135</c:v>
                </c:pt>
                <c:pt idx="201">
                  <c:v>-134</c:v>
                </c:pt>
                <c:pt idx="202">
                  <c:v>-133</c:v>
                </c:pt>
                <c:pt idx="203">
                  <c:v>-132</c:v>
                </c:pt>
                <c:pt idx="204">
                  <c:v>-131</c:v>
                </c:pt>
                <c:pt idx="205">
                  <c:v>-130</c:v>
                </c:pt>
                <c:pt idx="206">
                  <c:v>-129</c:v>
                </c:pt>
                <c:pt idx="207">
                  <c:v>-128</c:v>
                </c:pt>
                <c:pt idx="208">
                  <c:v>-127</c:v>
                </c:pt>
                <c:pt idx="209">
                  <c:v>-126</c:v>
                </c:pt>
                <c:pt idx="210">
                  <c:v>-125</c:v>
                </c:pt>
                <c:pt idx="211">
                  <c:v>-124</c:v>
                </c:pt>
                <c:pt idx="212">
                  <c:v>-123</c:v>
                </c:pt>
                <c:pt idx="213">
                  <c:v>-122</c:v>
                </c:pt>
                <c:pt idx="214">
                  <c:v>-121</c:v>
                </c:pt>
                <c:pt idx="215">
                  <c:v>-120</c:v>
                </c:pt>
                <c:pt idx="216">
                  <c:v>-119</c:v>
                </c:pt>
                <c:pt idx="217">
                  <c:v>-118</c:v>
                </c:pt>
                <c:pt idx="218">
                  <c:v>-117</c:v>
                </c:pt>
                <c:pt idx="219">
                  <c:v>-116</c:v>
                </c:pt>
                <c:pt idx="220">
                  <c:v>-115</c:v>
                </c:pt>
                <c:pt idx="221">
                  <c:v>-114</c:v>
                </c:pt>
                <c:pt idx="222">
                  <c:v>-113</c:v>
                </c:pt>
                <c:pt idx="223">
                  <c:v>-112</c:v>
                </c:pt>
                <c:pt idx="224">
                  <c:v>-111</c:v>
                </c:pt>
                <c:pt idx="225">
                  <c:v>-110</c:v>
                </c:pt>
                <c:pt idx="226">
                  <c:v>-109</c:v>
                </c:pt>
                <c:pt idx="227">
                  <c:v>-108</c:v>
                </c:pt>
                <c:pt idx="228">
                  <c:v>-107</c:v>
                </c:pt>
                <c:pt idx="229">
                  <c:v>-106</c:v>
                </c:pt>
                <c:pt idx="230">
                  <c:v>-105</c:v>
                </c:pt>
                <c:pt idx="231">
                  <c:v>-104</c:v>
                </c:pt>
                <c:pt idx="232">
                  <c:v>-103</c:v>
                </c:pt>
                <c:pt idx="233">
                  <c:v>-102</c:v>
                </c:pt>
                <c:pt idx="234">
                  <c:v>-101</c:v>
                </c:pt>
                <c:pt idx="235">
                  <c:v>-100</c:v>
                </c:pt>
                <c:pt idx="236">
                  <c:v>-99</c:v>
                </c:pt>
                <c:pt idx="237">
                  <c:v>-98</c:v>
                </c:pt>
                <c:pt idx="238">
                  <c:v>-97</c:v>
                </c:pt>
                <c:pt idx="239">
                  <c:v>-96</c:v>
                </c:pt>
                <c:pt idx="240">
                  <c:v>-95</c:v>
                </c:pt>
                <c:pt idx="241">
                  <c:v>-94</c:v>
                </c:pt>
                <c:pt idx="242">
                  <c:v>-93</c:v>
                </c:pt>
                <c:pt idx="243">
                  <c:v>-92</c:v>
                </c:pt>
                <c:pt idx="244">
                  <c:v>-91</c:v>
                </c:pt>
                <c:pt idx="245">
                  <c:v>-90</c:v>
                </c:pt>
                <c:pt idx="246">
                  <c:v>-89</c:v>
                </c:pt>
                <c:pt idx="247">
                  <c:v>-88</c:v>
                </c:pt>
                <c:pt idx="248">
                  <c:v>-87</c:v>
                </c:pt>
                <c:pt idx="249">
                  <c:v>-86</c:v>
                </c:pt>
                <c:pt idx="250">
                  <c:v>-85</c:v>
                </c:pt>
                <c:pt idx="251">
                  <c:v>-84</c:v>
                </c:pt>
                <c:pt idx="252">
                  <c:v>-83</c:v>
                </c:pt>
                <c:pt idx="253">
                  <c:v>-82</c:v>
                </c:pt>
                <c:pt idx="254">
                  <c:v>-81</c:v>
                </c:pt>
                <c:pt idx="255">
                  <c:v>-80</c:v>
                </c:pt>
                <c:pt idx="256">
                  <c:v>-79</c:v>
                </c:pt>
                <c:pt idx="257">
                  <c:v>-78</c:v>
                </c:pt>
                <c:pt idx="258">
                  <c:v>-77</c:v>
                </c:pt>
                <c:pt idx="259">
                  <c:v>-76</c:v>
                </c:pt>
                <c:pt idx="260">
                  <c:v>-75</c:v>
                </c:pt>
                <c:pt idx="261">
                  <c:v>-74</c:v>
                </c:pt>
                <c:pt idx="262">
                  <c:v>-73</c:v>
                </c:pt>
                <c:pt idx="263">
                  <c:v>-72</c:v>
                </c:pt>
                <c:pt idx="264">
                  <c:v>-71</c:v>
                </c:pt>
                <c:pt idx="265">
                  <c:v>-70</c:v>
                </c:pt>
                <c:pt idx="266">
                  <c:v>-69</c:v>
                </c:pt>
                <c:pt idx="267">
                  <c:v>-68</c:v>
                </c:pt>
                <c:pt idx="268">
                  <c:v>-67</c:v>
                </c:pt>
                <c:pt idx="269">
                  <c:v>-66</c:v>
                </c:pt>
                <c:pt idx="270">
                  <c:v>-65</c:v>
                </c:pt>
                <c:pt idx="271">
                  <c:v>-64</c:v>
                </c:pt>
                <c:pt idx="272">
                  <c:v>-63</c:v>
                </c:pt>
                <c:pt idx="273">
                  <c:v>-62</c:v>
                </c:pt>
                <c:pt idx="274">
                  <c:v>-61</c:v>
                </c:pt>
                <c:pt idx="275">
                  <c:v>-60</c:v>
                </c:pt>
                <c:pt idx="276">
                  <c:v>-59</c:v>
                </c:pt>
                <c:pt idx="277">
                  <c:v>-58</c:v>
                </c:pt>
                <c:pt idx="278">
                  <c:v>-57</c:v>
                </c:pt>
                <c:pt idx="279">
                  <c:v>-56</c:v>
                </c:pt>
                <c:pt idx="280">
                  <c:v>-55</c:v>
                </c:pt>
                <c:pt idx="281">
                  <c:v>-54</c:v>
                </c:pt>
                <c:pt idx="282">
                  <c:v>-53</c:v>
                </c:pt>
                <c:pt idx="283">
                  <c:v>-52</c:v>
                </c:pt>
                <c:pt idx="284">
                  <c:v>-51</c:v>
                </c:pt>
                <c:pt idx="285">
                  <c:v>-50</c:v>
                </c:pt>
                <c:pt idx="286">
                  <c:v>-49</c:v>
                </c:pt>
                <c:pt idx="287">
                  <c:v>-48</c:v>
                </c:pt>
                <c:pt idx="288">
                  <c:v>-47</c:v>
                </c:pt>
                <c:pt idx="289">
                  <c:v>-46</c:v>
                </c:pt>
                <c:pt idx="290">
                  <c:v>-45</c:v>
                </c:pt>
                <c:pt idx="291">
                  <c:v>-44</c:v>
                </c:pt>
                <c:pt idx="292">
                  <c:v>-43</c:v>
                </c:pt>
                <c:pt idx="293">
                  <c:v>-42</c:v>
                </c:pt>
                <c:pt idx="294">
                  <c:v>-41</c:v>
                </c:pt>
                <c:pt idx="295">
                  <c:v>-40</c:v>
                </c:pt>
                <c:pt idx="296">
                  <c:v>-39</c:v>
                </c:pt>
                <c:pt idx="297">
                  <c:v>-38</c:v>
                </c:pt>
                <c:pt idx="298">
                  <c:v>-37</c:v>
                </c:pt>
                <c:pt idx="299">
                  <c:v>-36</c:v>
                </c:pt>
                <c:pt idx="300">
                  <c:v>-35</c:v>
                </c:pt>
                <c:pt idx="301">
                  <c:v>-34</c:v>
                </c:pt>
                <c:pt idx="302">
                  <c:v>-33</c:v>
                </c:pt>
                <c:pt idx="303">
                  <c:v>-32</c:v>
                </c:pt>
                <c:pt idx="304">
                  <c:v>-31</c:v>
                </c:pt>
                <c:pt idx="305">
                  <c:v>-30</c:v>
                </c:pt>
                <c:pt idx="306">
                  <c:v>-29</c:v>
                </c:pt>
                <c:pt idx="307">
                  <c:v>-28</c:v>
                </c:pt>
                <c:pt idx="308">
                  <c:v>-27</c:v>
                </c:pt>
                <c:pt idx="309">
                  <c:v>-26</c:v>
                </c:pt>
                <c:pt idx="310">
                  <c:v>-25</c:v>
                </c:pt>
                <c:pt idx="311">
                  <c:v>-24</c:v>
                </c:pt>
                <c:pt idx="312">
                  <c:v>-23</c:v>
                </c:pt>
                <c:pt idx="313">
                  <c:v>-22</c:v>
                </c:pt>
                <c:pt idx="314">
                  <c:v>-21</c:v>
                </c:pt>
                <c:pt idx="315">
                  <c:v>-20</c:v>
                </c:pt>
                <c:pt idx="316">
                  <c:v>-19</c:v>
                </c:pt>
                <c:pt idx="317">
                  <c:v>-18</c:v>
                </c:pt>
                <c:pt idx="318">
                  <c:v>-17</c:v>
                </c:pt>
                <c:pt idx="319">
                  <c:v>-16</c:v>
                </c:pt>
                <c:pt idx="320">
                  <c:v>-15</c:v>
                </c:pt>
                <c:pt idx="321">
                  <c:v>-14</c:v>
                </c:pt>
                <c:pt idx="322">
                  <c:v>-13</c:v>
                </c:pt>
                <c:pt idx="323">
                  <c:v>-12</c:v>
                </c:pt>
                <c:pt idx="324">
                  <c:v>-11</c:v>
                </c:pt>
                <c:pt idx="325">
                  <c:v>-10</c:v>
                </c:pt>
                <c:pt idx="326">
                  <c:v>-9</c:v>
                </c:pt>
                <c:pt idx="327">
                  <c:v>-8</c:v>
                </c:pt>
                <c:pt idx="328">
                  <c:v>-7</c:v>
                </c:pt>
                <c:pt idx="329">
                  <c:v>-6</c:v>
                </c:pt>
                <c:pt idx="330">
                  <c:v>-5</c:v>
                </c:pt>
                <c:pt idx="331">
                  <c:v>-4</c:v>
                </c:pt>
                <c:pt idx="332">
                  <c:v>-3</c:v>
                </c:pt>
                <c:pt idx="333">
                  <c:v>-2</c:v>
                </c:pt>
                <c:pt idx="334">
                  <c:v>-1</c:v>
                </c:pt>
                <c:pt idx="335">
                  <c:v>0</c:v>
                </c:pt>
              </c:numCache>
            </c:numRef>
          </c:xVal>
          <c:yVal>
            <c:numRef>
              <c:f>'Chart Data'!$B$2:$B$337</c:f>
              <c:numCache>
                <c:formatCode>0.0</c:formatCode>
                <c:ptCount val="336"/>
                <c:pt idx="0">
                  <c:v>0.1243660972</c:v>
                </c:pt>
                <c:pt idx="1">
                  <c:v>0.1243285239</c:v>
                </c:pt>
                <c:pt idx="2">
                  <c:v>0.1238025054</c:v>
                </c:pt>
                <c:pt idx="3">
                  <c:v>0.1235394999</c:v>
                </c:pt>
                <c:pt idx="4">
                  <c:v>0.1235394999</c:v>
                </c:pt>
                <c:pt idx="5">
                  <c:v>0.1235394999</c:v>
                </c:pt>
                <c:pt idx="6">
                  <c:v>0.1235394999</c:v>
                </c:pt>
                <c:pt idx="7">
                  <c:v>0.1229007617</c:v>
                </c:pt>
                <c:pt idx="8">
                  <c:v>0.1231261939</c:v>
                </c:pt>
                <c:pt idx="9">
                  <c:v>0.1228631884</c:v>
                </c:pt>
                <c:pt idx="10">
                  <c:v>0.1233892068</c:v>
                </c:pt>
                <c:pt idx="11">
                  <c:v>0.1239903718</c:v>
                </c:pt>
                <c:pt idx="12">
                  <c:v>0.1233892068</c:v>
                </c:pt>
                <c:pt idx="13">
                  <c:v>0.1233892068</c:v>
                </c:pt>
                <c:pt idx="14">
                  <c:v>0.1245915368</c:v>
                </c:pt>
                <c:pt idx="15">
                  <c:v>0.1248169765</c:v>
                </c:pt>
                <c:pt idx="16">
                  <c:v>0.1259441525</c:v>
                </c:pt>
                <c:pt idx="17">
                  <c:v>0.1270337701</c:v>
                </c:pt>
                <c:pt idx="18">
                  <c:v>0.130490467</c:v>
                </c:pt>
                <c:pt idx="19">
                  <c:v>0.1334587187</c:v>
                </c:pt>
                <c:pt idx="20">
                  <c:v>0.1369154304</c:v>
                </c:pt>
                <c:pt idx="21">
                  <c:v>0.141799897</c:v>
                </c:pt>
                <c:pt idx="22">
                  <c:v>0.1489387304</c:v>
                </c:pt>
                <c:pt idx="23">
                  <c:v>0.1611874849</c:v>
                </c:pt>
                <c:pt idx="24">
                  <c:v>0.1735865176</c:v>
                </c:pt>
                <c:pt idx="25">
                  <c:v>0.200263232</c:v>
                </c:pt>
                <c:pt idx="26">
                  <c:v>0.2585011423</c:v>
                </c:pt>
                <c:pt idx="27">
                  <c:v>0.2915652394</c:v>
                </c:pt>
                <c:pt idx="28">
                  <c:v>0.290438056</c:v>
                </c:pt>
                <c:pt idx="29">
                  <c:v>0.2814205587</c:v>
                </c:pt>
                <c:pt idx="30">
                  <c:v>0.2716516256</c:v>
                </c:pt>
                <c:pt idx="31">
                  <c:v>0.2622584105</c:v>
                </c:pt>
                <c:pt idx="32">
                  <c:v>0.2566224933</c:v>
                </c:pt>
                <c:pt idx="33">
                  <c:v>0.251362294</c:v>
                </c:pt>
                <c:pt idx="34">
                  <c:v>0.2494836599</c:v>
                </c:pt>
                <c:pt idx="35">
                  <c:v>0.2536166608</c:v>
                </c:pt>
                <c:pt idx="36">
                  <c:v>0.2603797913</c:v>
                </c:pt>
                <c:pt idx="37">
                  <c:v>0.2709001601</c:v>
                </c:pt>
                <c:pt idx="38">
                  <c:v>0.2938196063</c:v>
                </c:pt>
                <c:pt idx="39">
                  <c:v>0.3227506876</c:v>
                </c:pt>
                <c:pt idx="40">
                  <c:v>0.3467973173</c:v>
                </c:pt>
                <c:pt idx="41">
                  <c:v>0.3622021675</c:v>
                </c:pt>
                <c:pt idx="42">
                  <c:v>0.3742254674</c:v>
                </c:pt>
                <c:pt idx="43">
                  <c:v>0.3779827654</c:v>
                </c:pt>
                <c:pt idx="44">
                  <c:v>0.3764798641</c:v>
                </c:pt>
                <c:pt idx="45">
                  <c:v>0.3761041164</c:v>
                </c:pt>
                <c:pt idx="46">
                  <c:v>0.3843701482</c:v>
                </c:pt>
                <c:pt idx="47">
                  <c:v>0.4069138467</c:v>
                </c:pt>
                <c:pt idx="48">
                  <c:v>0.4305847287</c:v>
                </c:pt>
                <c:pt idx="49">
                  <c:v>0.4489954412</c:v>
                </c:pt>
                <c:pt idx="50">
                  <c:v>0.465151757</c:v>
                </c:pt>
                <c:pt idx="51">
                  <c:v>0.4813080728</c:v>
                </c:pt>
                <c:pt idx="52">
                  <c:v>0.5049789548</c:v>
                </c:pt>
                <c:pt idx="53">
                  <c:v>0.5327828526</c:v>
                </c:pt>
                <c:pt idx="54">
                  <c:v>0.5650954843</c:v>
                </c:pt>
                <c:pt idx="55">
                  <c:v>0.58463341</c:v>
                </c:pt>
                <c:pt idx="56">
                  <c:v>0.5883906484</c:v>
                </c:pt>
                <c:pt idx="57">
                  <c:v>0.5703557134</c:v>
                </c:pt>
                <c:pt idx="58">
                  <c:v>0.5504420996</c:v>
                </c:pt>
                <c:pt idx="59">
                  <c:v>0.5290255547</c:v>
                </c:pt>
                <c:pt idx="60">
                  <c:v>0.5109906197</c:v>
                </c:pt>
                <c:pt idx="61">
                  <c:v>0.4944585562</c:v>
                </c:pt>
                <c:pt idx="62">
                  <c:v>0.4783022404</c:v>
                </c:pt>
                <c:pt idx="63">
                  <c:v>0.4655274749</c:v>
                </c:pt>
                <c:pt idx="64">
                  <c:v>0.4535041749</c:v>
                </c:pt>
                <c:pt idx="65">
                  <c:v>0.439602226</c:v>
                </c:pt>
                <c:pt idx="66">
                  <c:v>0.4294575453</c:v>
                </c:pt>
                <c:pt idx="67">
                  <c:v>0.4163070619</c:v>
                </c:pt>
                <c:pt idx="68">
                  <c:v>0.4050351977</c:v>
                </c:pt>
                <c:pt idx="69">
                  <c:v>0.3922604322</c:v>
                </c:pt>
                <c:pt idx="70">
                  <c:v>0.3806128502</c:v>
                </c:pt>
                <c:pt idx="71">
                  <c:v>0.3712196648</c:v>
                </c:pt>
                <c:pt idx="72">
                  <c:v>0.3633293509</c:v>
                </c:pt>
                <c:pt idx="73">
                  <c:v>0.3535604179</c:v>
                </c:pt>
                <c:pt idx="74">
                  <c:v>0.3437914848</c:v>
                </c:pt>
                <c:pt idx="75">
                  <c:v>0.3385312855</c:v>
                </c:pt>
                <c:pt idx="76">
                  <c:v>0.3306410015</c:v>
                </c:pt>
                <c:pt idx="77">
                  <c:v>0.3227506876</c:v>
                </c:pt>
                <c:pt idx="78">
                  <c:v>0.3167390227</c:v>
                </c:pt>
                <c:pt idx="79">
                  <c:v>0.3107273877</c:v>
                </c:pt>
                <c:pt idx="80">
                  <c:v>0.3054671884</c:v>
                </c:pt>
                <c:pt idx="81">
                  <c:v>0.3013341725</c:v>
                </c:pt>
                <c:pt idx="82">
                  <c:v>0.2956982553</c:v>
                </c:pt>
                <c:pt idx="83">
                  <c:v>0.2911894917</c:v>
                </c:pt>
                <c:pt idx="84">
                  <c:v>0.2874322236</c:v>
                </c:pt>
                <c:pt idx="85">
                  <c:v>0.2840506732</c:v>
                </c:pt>
                <c:pt idx="86">
                  <c:v>0.2806691229</c:v>
                </c:pt>
                <c:pt idx="87">
                  <c:v>0.2776632905</c:v>
                </c:pt>
                <c:pt idx="88">
                  <c:v>0.2742817402</c:v>
                </c:pt>
                <c:pt idx="89">
                  <c:v>0.2716516256</c:v>
                </c:pt>
                <c:pt idx="90">
                  <c:v>0.2678943574</c:v>
                </c:pt>
                <c:pt idx="91">
                  <c:v>0.2645127773</c:v>
                </c:pt>
                <c:pt idx="92">
                  <c:v>0.2622584105</c:v>
                </c:pt>
                <c:pt idx="93">
                  <c:v>0.2585011423</c:v>
                </c:pt>
                <c:pt idx="94">
                  <c:v>0.2554953098</c:v>
                </c:pt>
                <c:pt idx="95">
                  <c:v>0.2524894774</c:v>
                </c:pt>
                <c:pt idx="96">
                  <c:v>0.2502351105</c:v>
                </c:pt>
                <c:pt idx="97">
                  <c:v>0.2464778274</c:v>
                </c:pt>
                <c:pt idx="98">
                  <c:v>0.2445991784</c:v>
                </c:pt>
                <c:pt idx="99">
                  <c:v>0.2423448116</c:v>
                </c:pt>
                <c:pt idx="100">
                  <c:v>0.2382117957</c:v>
                </c:pt>
                <c:pt idx="101">
                  <c:v>0.2355817109</c:v>
                </c:pt>
                <c:pt idx="102">
                  <c:v>0.2340787947</c:v>
                </c:pt>
                <c:pt idx="103">
                  <c:v>0.2314486951</c:v>
                </c:pt>
                <c:pt idx="104">
                  <c:v>0.2299457788</c:v>
                </c:pt>
                <c:pt idx="105">
                  <c:v>0.2288185954</c:v>
                </c:pt>
                <c:pt idx="106">
                  <c:v>0.2265642285</c:v>
                </c:pt>
                <c:pt idx="107">
                  <c:v>0.225812763</c:v>
                </c:pt>
                <c:pt idx="108">
                  <c:v>0.2228069454</c:v>
                </c:pt>
                <c:pt idx="109">
                  <c:v>0.2205525637</c:v>
                </c:pt>
                <c:pt idx="110">
                  <c:v>0.2194253802</c:v>
                </c:pt>
                <c:pt idx="111">
                  <c:v>0.217922464</c:v>
                </c:pt>
                <c:pt idx="112">
                  <c:v>0.2164195627</c:v>
                </c:pt>
                <c:pt idx="113">
                  <c:v>0.2149166465</c:v>
                </c:pt>
                <c:pt idx="114">
                  <c:v>0.2152923644</c:v>
                </c:pt>
                <c:pt idx="115">
                  <c:v>0.2134137303</c:v>
                </c:pt>
                <c:pt idx="116">
                  <c:v>0.213789463</c:v>
                </c:pt>
                <c:pt idx="117">
                  <c:v>0.2134137303</c:v>
                </c:pt>
                <c:pt idx="118">
                  <c:v>0.2134137303</c:v>
                </c:pt>
                <c:pt idx="119">
                  <c:v>0.2145409137</c:v>
                </c:pt>
                <c:pt idx="120">
                  <c:v>0.2164195627</c:v>
                </c:pt>
                <c:pt idx="121">
                  <c:v>0.2228069454</c:v>
                </c:pt>
                <c:pt idx="122">
                  <c:v>0.2329516113</c:v>
                </c:pt>
                <c:pt idx="123">
                  <c:v>0.2660157084</c:v>
                </c:pt>
                <c:pt idx="124">
                  <c:v>0.3783584833</c:v>
                </c:pt>
                <c:pt idx="125">
                  <c:v>0.5883906484</c:v>
                </c:pt>
                <c:pt idx="126">
                  <c:v>0.7848966122</c:v>
                </c:pt>
                <c:pt idx="127">
                  <c:v>0.981402576</c:v>
                </c:pt>
                <c:pt idx="128">
                  <c:v>1.177532792</c:v>
                </c:pt>
                <c:pt idx="129">
                  <c:v>1.407478571</c:v>
                </c:pt>
                <c:pt idx="130">
                  <c:v>1.656962276</c:v>
                </c:pt>
                <c:pt idx="131">
                  <c:v>1.867370129</c:v>
                </c:pt>
                <c:pt idx="132">
                  <c:v>1.987603188</c:v>
                </c:pt>
                <c:pt idx="133">
                  <c:v>2.130379915</c:v>
                </c:pt>
                <c:pt idx="134">
                  <c:v>2.306972265</c:v>
                </c:pt>
                <c:pt idx="135">
                  <c:v>2.39338994</c:v>
                </c:pt>
                <c:pt idx="136">
                  <c:v>2.415933609</c:v>
                </c:pt>
                <c:pt idx="137">
                  <c:v>2.430962801</c:v>
                </c:pt>
                <c:pt idx="138">
                  <c:v>2.547438622</c:v>
                </c:pt>
                <c:pt idx="139">
                  <c:v>2.675186157</c:v>
                </c:pt>
                <c:pt idx="140">
                  <c:v>2.765361071</c:v>
                </c:pt>
                <c:pt idx="141">
                  <c:v>2.80669117</c:v>
                </c:pt>
                <c:pt idx="142">
                  <c:v>2.697729826</c:v>
                </c:pt>
                <c:pt idx="143">
                  <c:v>2.63009882</c:v>
                </c:pt>
                <c:pt idx="144">
                  <c:v>2.415933609</c:v>
                </c:pt>
                <c:pt idx="145">
                  <c:v>2.261884928</c:v>
                </c:pt>
                <c:pt idx="146">
                  <c:v>2.070263386</c:v>
                </c:pt>
                <c:pt idx="147">
                  <c:v>1.882399321</c:v>
                </c:pt>
                <c:pt idx="148">
                  <c:v>1.758408904</c:v>
                </c:pt>
                <c:pt idx="149">
                  <c:v>1.630661249</c:v>
                </c:pt>
                <c:pt idx="150">
                  <c:v>1.540486455</c:v>
                </c:pt>
                <c:pt idx="151">
                  <c:v>1.460456252</c:v>
                </c:pt>
                <c:pt idx="152">
                  <c:v>1.39057076</c:v>
                </c:pt>
                <c:pt idx="153">
                  <c:v>1.315800786</c:v>
                </c:pt>
                <c:pt idx="154">
                  <c:v>1.254557133</c:v>
                </c:pt>
                <c:pt idx="155">
                  <c:v>1.199700713</c:v>
                </c:pt>
                <c:pt idx="156">
                  <c:v>1.152359009</c:v>
                </c:pt>
                <c:pt idx="157">
                  <c:v>1.112156034</c:v>
                </c:pt>
                <c:pt idx="158">
                  <c:v>1.085855007</c:v>
                </c:pt>
                <c:pt idx="159">
                  <c:v>1.055045366</c:v>
                </c:pt>
                <c:pt idx="160">
                  <c:v>1.041894794</c:v>
                </c:pt>
                <c:pt idx="161">
                  <c:v>1.010333657</c:v>
                </c:pt>
                <c:pt idx="162">
                  <c:v>0.9979346395</c:v>
                </c:pt>
                <c:pt idx="163">
                  <c:v>1.001691937</c:v>
                </c:pt>
                <c:pt idx="164">
                  <c:v>1.012588024</c:v>
                </c:pt>
                <c:pt idx="165">
                  <c:v>1.019726872</c:v>
                </c:pt>
                <c:pt idx="166">
                  <c:v>1.037010312</c:v>
                </c:pt>
                <c:pt idx="167">
                  <c:v>1.052790999</c:v>
                </c:pt>
                <c:pt idx="168">
                  <c:v>1.031750202</c:v>
                </c:pt>
                <c:pt idx="169">
                  <c:v>1.004322052</c:v>
                </c:pt>
                <c:pt idx="170">
                  <c:v>0.9746394753</c:v>
                </c:pt>
                <c:pt idx="171">
                  <c:v>0.9314306974</c:v>
                </c:pt>
                <c:pt idx="172">
                  <c:v>0.8885976672</c:v>
                </c:pt>
                <c:pt idx="173">
                  <c:v>0.8510248065</c:v>
                </c:pt>
                <c:pt idx="174">
                  <c:v>0.8149548769</c:v>
                </c:pt>
                <c:pt idx="175">
                  <c:v>0.7856480479</c:v>
                </c:pt>
                <c:pt idx="176">
                  <c:v>0.757468462</c:v>
                </c:pt>
                <c:pt idx="177">
                  <c:v>0.7300402522</c:v>
                </c:pt>
                <c:pt idx="178">
                  <c:v>0.7138839364</c:v>
                </c:pt>
                <c:pt idx="179">
                  <c:v>0.6973518729</c:v>
                </c:pt>
                <c:pt idx="180">
                  <c:v>0.6796926856</c:v>
                </c:pt>
                <c:pt idx="181">
                  <c:v>0.6661664248</c:v>
                </c:pt>
                <c:pt idx="182">
                  <c:v>0.6552703381</c:v>
                </c:pt>
                <c:pt idx="183">
                  <c:v>0.6432470083</c:v>
                </c:pt>
                <c:pt idx="184">
                  <c:v>0.6304722428</c:v>
                </c:pt>
                <c:pt idx="185">
                  <c:v>0.6135644913</c:v>
                </c:pt>
                <c:pt idx="186">
                  <c:v>0.6034197807</c:v>
                </c:pt>
                <c:pt idx="187">
                  <c:v>0.5891421437</c:v>
                </c:pt>
                <c:pt idx="188">
                  <c:v>0.5778702497</c:v>
                </c:pt>
                <c:pt idx="189">
                  <c:v>0.569604218</c:v>
                </c:pt>
                <c:pt idx="190">
                  <c:v>0.5568294525</c:v>
                </c:pt>
                <c:pt idx="191">
                  <c:v>0.5470605493</c:v>
                </c:pt>
                <c:pt idx="192">
                  <c:v>0.5327828526</c:v>
                </c:pt>
                <c:pt idx="193">
                  <c:v>0.5226382017</c:v>
                </c:pt>
                <c:pt idx="194">
                  <c:v>0.51437217</c:v>
                </c:pt>
                <c:pt idx="195">
                  <c:v>0.5046032071</c:v>
                </c:pt>
                <c:pt idx="196">
                  <c:v>0.4974643886</c:v>
                </c:pt>
                <c:pt idx="197">
                  <c:v>0.4858168066</c:v>
                </c:pt>
                <c:pt idx="198">
                  <c:v>0.4771750569</c:v>
                </c:pt>
                <c:pt idx="199">
                  <c:v>0.4689090252</c:v>
                </c:pt>
                <c:pt idx="200">
                  <c:v>0.4595158398</c:v>
                </c:pt>
                <c:pt idx="201">
                  <c:v>0.4520012736</c:v>
                </c:pt>
                <c:pt idx="202">
                  <c:v>0.4471167922</c:v>
                </c:pt>
                <c:pt idx="203">
                  <c:v>0.437723577</c:v>
                </c:pt>
                <c:pt idx="204">
                  <c:v>0.4320876598</c:v>
                </c:pt>
                <c:pt idx="205">
                  <c:v>0.4264517426</c:v>
                </c:pt>
                <c:pt idx="206">
                  <c:v>0.4204400778</c:v>
                </c:pt>
                <c:pt idx="207">
                  <c:v>0.414052695</c:v>
                </c:pt>
                <c:pt idx="208">
                  <c:v>0.4072895944</c:v>
                </c:pt>
                <c:pt idx="209">
                  <c:v>0.4001507461</c:v>
                </c:pt>
                <c:pt idx="210">
                  <c:v>0.3945148289</c:v>
                </c:pt>
                <c:pt idx="211">
                  <c:v>0.390381813</c:v>
                </c:pt>
                <c:pt idx="212">
                  <c:v>0.3854973316</c:v>
                </c:pt>
                <c:pt idx="213">
                  <c:v>0.3817400634</c:v>
                </c:pt>
                <c:pt idx="214">
                  <c:v>0.3776070476</c:v>
                </c:pt>
                <c:pt idx="215">
                  <c:v>0.3783584833</c:v>
                </c:pt>
                <c:pt idx="216">
                  <c:v>0.3779827654</c:v>
                </c:pt>
                <c:pt idx="217">
                  <c:v>0.3764798641</c:v>
                </c:pt>
                <c:pt idx="218">
                  <c:v>0.3779827654</c:v>
                </c:pt>
                <c:pt idx="219">
                  <c:v>0.3798614144</c:v>
                </c:pt>
                <c:pt idx="220">
                  <c:v>0.3783584833</c:v>
                </c:pt>
                <c:pt idx="221">
                  <c:v>0.3798614144</c:v>
                </c:pt>
                <c:pt idx="222">
                  <c:v>0.374976933</c:v>
                </c:pt>
                <c:pt idx="223">
                  <c:v>0.3746012151</c:v>
                </c:pt>
                <c:pt idx="224">
                  <c:v>0.3734740317</c:v>
                </c:pt>
                <c:pt idx="225">
                  <c:v>0.3712196648</c:v>
                </c:pt>
                <c:pt idx="226">
                  <c:v>0.3704681993</c:v>
                </c:pt>
                <c:pt idx="227">
                  <c:v>0.3697167337</c:v>
                </c:pt>
                <c:pt idx="228">
                  <c:v>0.3704681993</c:v>
                </c:pt>
                <c:pt idx="229">
                  <c:v>0.3682138324</c:v>
                </c:pt>
                <c:pt idx="230">
                  <c:v>0.3659594655</c:v>
                </c:pt>
                <c:pt idx="231">
                  <c:v>0.3633293509</c:v>
                </c:pt>
                <c:pt idx="232">
                  <c:v>0.3584448993</c:v>
                </c:pt>
                <c:pt idx="233">
                  <c:v>0.3569419682</c:v>
                </c:pt>
                <c:pt idx="234">
                  <c:v>0.3535604179</c:v>
                </c:pt>
                <c:pt idx="235">
                  <c:v>0.3490516841</c:v>
                </c:pt>
                <c:pt idx="236">
                  <c:v>0.3430400193</c:v>
                </c:pt>
                <c:pt idx="237">
                  <c:v>0.3411613703</c:v>
                </c:pt>
                <c:pt idx="238">
                  <c:v>0.33777982</c:v>
                </c:pt>
                <c:pt idx="239">
                  <c:v>0.3336468041</c:v>
                </c:pt>
                <c:pt idx="240">
                  <c:v>0.3298895359</c:v>
                </c:pt>
                <c:pt idx="241">
                  <c:v>0.32575652</c:v>
                </c:pt>
                <c:pt idx="242">
                  <c:v>0.3223749697</c:v>
                </c:pt>
                <c:pt idx="243">
                  <c:v>0.3193691373</c:v>
                </c:pt>
                <c:pt idx="244">
                  <c:v>0.3171147704</c:v>
                </c:pt>
                <c:pt idx="245">
                  <c:v>0.3114788532</c:v>
                </c:pt>
                <c:pt idx="246">
                  <c:v>0.3088487387</c:v>
                </c:pt>
                <c:pt idx="247">
                  <c:v>0.3058429062</c:v>
                </c:pt>
                <c:pt idx="248">
                  <c:v>0.3032128215</c:v>
                </c:pt>
                <c:pt idx="249">
                  <c:v>0.3017098904</c:v>
                </c:pt>
                <c:pt idx="250">
                  <c:v>0.2972011566</c:v>
                </c:pt>
                <c:pt idx="251">
                  <c:v>0.2956982553</c:v>
                </c:pt>
                <c:pt idx="252">
                  <c:v>0.2938196063</c:v>
                </c:pt>
                <c:pt idx="253">
                  <c:v>0.290438056</c:v>
                </c:pt>
                <c:pt idx="254">
                  <c:v>0.2881836891</c:v>
                </c:pt>
                <c:pt idx="255">
                  <c:v>0.2863050401</c:v>
                </c:pt>
                <c:pt idx="256">
                  <c:v>0.2832992077</c:v>
                </c:pt>
                <c:pt idx="257">
                  <c:v>0.2814205587</c:v>
                </c:pt>
                <c:pt idx="258">
                  <c:v>0.2780390084</c:v>
                </c:pt>
                <c:pt idx="259">
                  <c:v>0.2761603594</c:v>
                </c:pt>
                <c:pt idx="260">
                  <c:v>0.2742817402</c:v>
                </c:pt>
                <c:pt idx="261">
                  <c:v>0.2720273435</c:v>
                </c:pt>
                <c:pt idx="262">
                  <c:v>0.2705244422</c:v>
                </c:pt>
                <c:pt idx="263">
                  <c:v>0.2678943574</c:v>
                </c:pt>
                <c:pt idx="264">
                  <c:v>0.2660157084</c:v>
                </c:pt>
                <c:pt idx="265">
                  <c:v>0.264888525</c:v>
                </c:pt>
                <c:pt idx="266">
                  <c:v>0.261131227</c:v>
                </c:pt>
                <c:pt idx="267">
                  <c:v>0.2600040436</c:v>
                </c:pt>
                <c:pt idx="268">
                  <c:v>0.2581253946</c:v>
                </c:pt>
                <c:pt idx="269">
                  <c:v>0.2569982111</c:v>
                </c:pt>
                <c:pt idx="270">
                  <c:v>0.2547438443</c:v>
                </c:pt>
                <c:pt idx="271">
                  <c:v>0.2528652251</c:v>
                </c:pt>
                <c:pt idx="272">
                  <c:v>0.2506108284</c:v>
                </c:pt>
                <c:pt idx="273">
                  <c:v>0.2491079271</c:v>
                </c:pt>
                <c:pt idx="274">
                  <c:v>0.2479807436</c:v>
                </c:pt>
                <c:pt idx="275">
                  <c:v>0.2461020947</c:v>
                </c:pt>
                <c:pt idx="276">
                  <c:v>0.2449749112</c:v>
                </c:pt>
                <c:pt idx="277">
                  <c:v>0.2427205443</c:v>
                </c:pt>
                <c:pt idx="278">
                  <c:v>0.2412176281</c:v>
                </c:pt>
                <c:pt idx="279">
                  <c:v>0.2389632612</c:v>
                </c:pt>
                <c:pt idx="280">
                  <c:v>0.237460345</c:v>
                </c:pt>
                <c:pt idx="281">
                  <c:v>0.2363331616</c:v>
                </c:pt>
                <c:pt idx="282">
                  <c:v>0.2352059782</c:v>
                </c:pt>
                <c:pt idx="283">
                  <c:v>0.2333273292</c:v>
                </c:pt>
                <c:pt idx="284">
                  <c:v>0.2325758785</c:v>
                </c:pt>
                <c:pt idx="285">
                  <c:v>0.2314486951</c:v>
                </c:pt>
                <c:pt idx="286">
                  <c:v>0.2295700461</c:v>
                </c:pt>
                <c:pt idx="287">
                  <c:v>0.227691412</c:v>
                </c:pt>
                <c:pt idx="288">
                  <c:v>0.2261884958</c:v>
                </c:pt>
                <c:pt idx="289">
                  <c:v>0.2254370302</c:v>
                </c:pt>
                <c:pt idx="290">
                  <c:v>0.2235583961</c:v>
                </c:pt>
                <c:pt idx="291">
                  <c:v>0.2224312127</c:v>
                </c:pt>
                <c:pt idx="292">
                  <c:v>0.2220554799</c:v>
                </c:pt>
                <c:pt idx="293">
                  <c:v>0.2201768458</c:v>
                </c:pt>
                <c:pt idx="294">
                  <c:v>0.2194253802</c:v>
                </c:pt>
                <c:pt idx="295">
                  <c:v>0.2182981968</c:v>
                </c:pt>
                <c:pt idx="296">
                  <c:v>0.2171710134</c:v>
                </c:pt>
                <c:pt idx="297">
                  <c:v>0.2160438299</c:v>
                </c:pt>
                <c:pt idx="298">
                  <c:v>0.2145409137</c:v>
                </c:pt>
                <c:pt idx="299">
                  <c:v>0.2141651809</c:v>
                </c:pt>
                <c:pt idx="300">
                  <c:v>0.2122865468</c:v>
                </c:pt>
                <c:pt idx="301">
                  <c:v>0.2115350813</c:v>
                </c:pt>
                <c:pt idx="302">
                  <c:v>0.21003218</c:v>
                </c:pt>
                <c:pt idx="303">
                  <c:v>0.2096564472</c:v>
                </c:pt>
                <c:pt idx="304">
                  <c:v>0.2077777982</c:v>
                </c:pt>
                <c:pt idx="305">
                  <c:v>0.2074020803</c:v>
                </c:pt>
                <c:pt idx="306">
                  <c:v>0.206274882</c:v>
                </c:pt>
                <c:pt idx="307">
                  <c:v>0.2051476985</c:v>
                </c:pt>
                <c:pt idx="308">
                  <c:v>0.2040205151</c:v>
                </c:pt>
                <c:pt idx="309">
                  <c:v>0.2013904154</c:v>
                </c:pt>
                <c:pt idx="310">
                  <c:v>0.2010146976</c:v>
                </c:pt>
                <c:pt idx="311">
                  <c:v>0.1995117813</c:v>
                </c:pt>
                <c:pt idx="312">
                  <c:v>0.1991360486</c:v>
                </c:pt>
                <c:pt idx="313">
                  <c:v>0.1983845979</c:v>
                </c:pt>
                <c:pt idx="314">
                  <c:v>0.1972574145</c:v>
                </c:pt>
                <c:pt idx="315">
                  <c:v>0.1957544982</c:v>
                </c:pt>
                <c:pt idx="316">
                  <c:v>0.1953787655</c:v>
                </c:pt>
                <c:pt idx="317">
                  <c:v>0.1935001165</c:v>
                </c:pt>
                <c:pt idx="318">
                  <c:v>0.1927486658</c:v>
                </c:pt>
                <c:pt idx="319">
                  <c:v>0.1916214824</c:v>
                </c:pt>
                <c:pt idx="320">
                  <c:v>0.1908700317</c:v>
                </c:pt>
                <c:pt idx="321">
                  <c:v>0.1908700317</c:v>
                </c:pt>
                <c:pt idx="322">
                  <c:v>0.1893671155</c:v>
                </c:pt>
                <c:pt idx="323">
                  <c:v>0.1893671155</c:v>
                </c:pt>
                <c:pt idx="324">
                  <c:v>0.1893671155</c:v>
                </c:pt>
                <c:pt idx="325">
                  <c:v>0.1886156499</c:v>
                </c:pt>
                <c:pt idx="326">
                  <c:v>0.1878641993</c:v>
                </c:pt>
                <c:pt idx="327">
                  <c:v>0.1871127337</c:v>
                </c:pt>
                <c:pt idx="328">
                  <c:v>0.1863612831</c:v>
                </c:pt>
                <c:pt idx="329">
                  <c:v>0.1863612831</c:v>
                </c:pt>
                <c:pt idx="330">
                  <c:v>0.1856098324</c:v>
                </c:pt>
                <c:pt idx="331">
                  <c:v>0.1848583668</c:v>
                </c:pt>
                <c:pt idx="332">
                  <c:v>0.1833554506</c:v>
                </c:pt>
                <c:pt idx="333">
                  <c:v>0.1829797328</c:v>
                </c:pt>
                <c:pt idx="334">
                  <c:v>0.1818525493</c:v>
                </c:pt>
                <c:pt idx="335">
                  <c:v>0.1814768165</c:v>
                </c:pt>
              </c:numCache>
            </c:numRef>
          </c:yVal>
        </c:ser>
        <c:dLbls>
          <c:txPr>
            <a:bodyPr anchorCtr="1"/>
            <a:lstStyle/>
            <a:p>
              <a:pPr>
                <a:defRPr>
                  <a:latin typeface="Helvetica Neue"/>
                  <a:ea typeface="Helvetica Neue"/>
                  <a:cs typeface="Helvetica Neue"/>
                </a:defRPr>
              </a:pPr>
            </a:p>
          </c:txPr>
          <c:showLegendKey val="0"/>
          <c:showVal val="0"/>
          <c:showCatName val="0"/>
          <c:showSerName val="0"/>
          <c:showPercent val="0"/>
          <c:showBubbleSize val="0"/>
          <c:showLeaderLines val="0"/>
        </c:dLbls>
        <c:axId val="48650112"/>
        <c:axId val="48672768"/>
      </c:scatterChart>
      <c:valAx>
        <c:axId val="48672768"/>
        <c:scaling>
          <c:orientation val="minMax"/>
          <c:min val="0"/>
        </c:scaling>
        <c:delete val="0"/>
        <c:axPos val="l"/>
        <c:majorGridlines>
          <c:spPr>
            <a:ln w="9525">
              <a:solidFill>
                <a:srgbClr val="E4E8EB"/>
              </a:solidFill>
              <a:prstDash val="solid"/>
            </a:ln>
          </c:spPr>
        </c:majorGridlines>
        <c:title>
          <c:tx>
            <c:rich>
              <a:bodyPr/>
              <a:lstStyle/>
              <a:p>
                <a:r>
                  <a:rPr sz="1575">
                    <a:latin typeface="Helvetica Neue"/>
                    <a:ea typeface="Helvetica Neue"/>
                    <a:cs typeface="Helvetica Neue"/>
                  </a:rPr>
                  <a:t>Caudal específico (mm/h)</a:t>
                </a:r>
              </a:p>
            </c:rich>
          </c:tx>
          <c:overlay val="0"/>
          <c:txPr>
            <a:bodyPr anchorCtr="1"/>
            <a:lstStyle/>
            <a:p>
              <a:pPr>
                <a:defRPr sz="1575">
                  <a:latin typeface="Helvetica Neue"/>
                  <a:ea typeface="Helvetica Neue"/>
                  <a:cs typeface="Helvetica Neue"/>
                </a:defRPr>
              </a:pPr>
            </a:p>
          </c:txPr>
        </c:title>
        <c:numFmt formatCode="0.0"/>
        <c:majorTickMark val="none"/>
        <c:minorTickMark val="none"/>
        <c:spPr>
          <a:ln w="9525">
            <a:solidFill>
              <a:srgbClr val="D4D4D4"/>
            </a:solidFill>
            <a:prstDash val="solid"/>
          </a:ln>
        </c:spPr>
        <c:txPr>
          <a:bodyPr anchorCtr="1"/>
          <a:lstStyle/>
          <a:p>
            <a:pPr>
              <a:defRPr sz="1425">
                <a:solidFill>
                  <a:srgbClr val="5D6267"/>
                </a:solidFill>
                <a:latin typeface="Helvetica Neue"/>
                <a:ea typeface="Helvetica Neue"/>
                <a:cs typeface="Helvetica Neue"/>
              </a:defRPr>
            </a:pPr>
          </a:p>
        </c:txPr>
        <c:crossAx val="48650112"/>
      </c:valAx>
      <c:valAx>
        <c:axId val="48650112"/>
        <c:scaling>
          <c:orientation val="minMax"/>
          <c:max val="0"/>
          <c:min val="-335"/>
        </c:scaling>
        <c:delete val="0"/>
        <c:axPos val="b"/>
        <c:title>
          <c:tx>
            <c:rich>
              <a:bodyPr/>
              <a:lstStyle/>
              <a:p>
                <a:r>
                  <a:rPr sz="1575">
                    <a:latin typeface="Helvetica Neue"/>
                    <a:ea typeface="Helvetica Neue"/>
                    <a:cs typeface="Helvetica Neue"/>
                  </a:rPr>
                  <a:t>Horas respecto al final de la historia</a:t>
                </a:r>
              </a:p>
            </c:rich>
          </c:tx>
          <c:overlay val="0"/>
          <c:txPr>
            <a:bodyPr anchorCtr="1"/>
            <a:lstStyle/>
            <a:p>
              <a:pPr>
                <a:defRPr sz="1575">
                  <a:latin typeface="Helvetica Neue"/>
                  <a:ea typeface="Helvetica Neue"/>
                  <a:cs typeface="Helvetica Neue"/>
                </a:defRPr>
              </a:pPr>
            </a:p>
          </c:txPr>
        </c:title>
        <c:numFmt formatCode="0"/>
        <c:majorTickMark val="none"/>
        <c:minorTickMark val="none"/>
        <c:spPr>
          <a:ln w="9525">
            <a:solidFill>
              <a:srgbClr val="D4D4D4"/>
            </a:solidFill>
            <a:prstDash val="solid"/>
          </a:ln>
        </c:spPr>
        <c:txPr>
          <a:bodyPr anchorCtr="1"/>
          <a:lstStyle/>
          <a:p>
            <a:pPr>
              <a:defRPr sz="1425">
                <a:solidFill>
                  <a:srgbClr val="5D6267"/>
                </a:solidFill>
                <a:latin typeface="Helvetica Neue"/>
                <a:ea typeface="Helvetica Neue"/>
                <a:cs typeface="Helvetica Neue"/>
              </a:defRPr>
            </a:pPr>
          </a:p>
        </c:txPr>
        <c:crossAx val="48672768"/>
        <c:majorUnit val="48"/>
      </c:valAx>
      <c:spPr>
        <a:solidFill>
          <a:srgbClr val="FFFFFF"/>
        </a:solidFill>
        <a:ln w="0">
          <a:noFill/>
        </a:ln>
      </c:spPr>
    </c:plotArea>
    <c:plotVisOnly val="1"/>
  </c:chart>
  <c:spPr>
    <a:solidFill>
      <a:srgbClr val="FFFFFF"/>
    </a:solidFill>
    <a:ln w="0">
      <a:noFill/>
    </a:ln>
  </c:spPr>
  <c:externalData r:id="rIdChartSnapshot1">
    <c:autoUpdate val="0"/>
  </c:externalData>
</c:chartSpace>
</file>

<file path=ppt/slides/charts/chart2.xml><?xml version="1.0" encoding="utf-8"?>
<c:chartSpace xmlns:a="http://schemas.openxmlformats.org/drawingml/2006/main" xmlns:c="http://schemas.openxmlformats.org/drawingml/2006/chart" xmlns:r="http://schemas.openxmlformats.org/officeDocument/2006/relationships">
  <c:lang val="en-US"/>
  <c:chart>
    <c:plotArea>
      <c:scatterChart>
        <c:scatterStyle val="line"/>
        <c:ser>
          <c:idx val="0"/>
          <c:order val="0"/>
          <c:tx>
            <c:v>Alta complejidad</c:v>
          </c:tx>
          <c:spPr>
            <a:ln w="21908">
              <a:solidFill>
                <a:srgbClr val="007FA3"/>
              </a:solidFill>
              <a:prstDash val="solid"/>
            </a:ln>
          </c:spPr>
          <c:marker>
            <c:symbol val="none"/>
          </c:marker>
          <c:xVal>
            <c:numRef>
              <c:f>'Chart Data'!$A$2:$A$337</c:f>
              <c:numCache>
                <c:formatCode>General</c:formatCode>
                <c:ptCount val="336"/>
                <c:pt idx="0">
                  <c:v>-335</c:v>
                </c:pt>
                <c:pt idx="1">
                  <c:v>-334</c:v>
                </c:pt>
                <c:pt idx="2">
                  <c:v>-333</c:v>
                </c:pt>
                <c:pt idx="3">
                  <c:v>-332</c:v>
                </c:pt>
                <c:pt idx="4">
                  <c:v>-331</c:v>
                </c:pt>
                <c:pt idx="5">
                  <c:v>-330</c:v>
                </c:pt>
                <c:pt idx="6">
                  <c:v>-329</c:v>
                </c:pt>
                <c:pt idx="7">
                  <c:v>-328</c:v>
                </c:pt>
                <c:pt idx="8">
                  <c:v>-327</c:v>
                </c:pt>
                <c:pt idx="9">
                  <c:v>-326</c:v>
                </c:pt>
                <c:pt idx="10">
                  <c:v>-325</c:v>
                </c:pt>
                <c:pt idx="11">
                  <c:v>-324</c:v>
                </c:pt>
                <c:pt idx="12">
                  <c:v>-323</c:v>
                </c:pt>
                <c:pt idx="13">
                  <c:v>-322</c:v>
                </c:pt>
                <c:pt idx="14">
                  <c:v>-321</c:v>
                </c:pt>
                <c:pt idx="15">
                  <c:v>-320</c:v>
                </c:pt>
                <c:pt idx="16">
                  <c:v>-319</c:v>
                </c:pt>
                <c:pt idx="17">
                  <c:v>-318</c:v>
                </c:pt>
                <c:pt idx="18">
                  <c:v>-317</c:v>
                </c:pt>
                <c:pt idx="19">
                  <c:v>-316</c:v>
                </c:pt>
                <c:pt idx="20">
                  <c:v>-315</c:v>
                </c:pt>
                <c:pt idx="21">
                  <c:v>-314</c:v>
                </c:pt>
                <c:pt idx="22">
                  <c:v>-313</c:v>
                </c:pt>
                <c:pt idx="23">
                  <c:v>-312</c:v>
                </c:pt>
                <c:pt idx="24">
                  <c:v>-311</c:v>
                </c:pt>
                <c:pt idx="25">
                  <c:v>-310</c:v>
                </c:pt>
                <c:pt idx="26">
                  <c:v>-309</c:v>
                </c:pt>
                <c:pt idx="27">
                  <c:v>-308</c:v>
                </c:pt>
                <c:pt idx="28">
                  <c:v>-307</c:v>
                </c:pt>
                <c:pt idx="29">
                  <c:v>-306</c:v>
                </c:pt>
                <c:pt idx="30">
                  <c:v>-305</c:v>
                </c:pt>
                <c:pt idx="31">
                  <c:v>-304</c:v>
                </c:pt>
                <c:pt idx="32">
                  <c:v>-303</c:v>
                </c:pt>
                <c:pt idx="33">
                  <c:v>-302</c:v>
                </c:pt>
                <c:pt idx="34">
                  <c:v>-301</c:v>
                </c:pt>
                <c:pt idx="35">
                  <c:v>-300</c:v>
                </c:pt>
                <c:pt idx="36">
                  <c:v>-299</c:v>
                </c:pt>
                <c:pt idx="37">
                  <c:v>-298</c:v>
                </c:pt>
                <c:pt idx="38">
                  <c:v>-297</c:v>
                </c:pt>
                <c:pt idx="39">
                  <c:v>-296</c:v>
                </c:pt>
                <c:pt idx="40">
                  <c:v>-295</c:v>
                </c:pt>
                <c:pt idx="41">
                  <c:v>-294</c:v>
                </c:pt>
                <c:pt idx="42">
                  <c:v>-293</c:v>
                </c:pt>
                <c:pt idx="43">
                  <c:v>-292</c:v>
                </c:pt>
                <c:pt idx="44">
                  <c:v>-291</c:v>
                </c:pt>
                <c:pt idx="45">
                  <c:v>-290</c:v>
                </c:pt>
                <c:pt idx="46">
                  <c:v>-289</c:v>
                </c:pt>
                <c:pt idx="47">
                  <c:v>-288</c:v>
                </c:pt>
                <c:pt idx="48">
                  <c:v>-287</c:v>
                </c:pt>
                <c:pt idx="49">
                  <c:v>-286</c:v>
                </c:pt>
                <c:pt idx="50">
                  <c:v>-285</c:v>
                </c:pt>
                <c:pt idx="51">
                  <c:v>-284</c:v>
                </c:pt>
                <c:pt idx="52">
                  <c:v>-283</c:v>
                </c:pt>
                <c:pt idx="53">
                  <c:v>-282</c:v>
                </c:pt>
                <c:pt idx="54">
                  <c:v>-281</c:v>
                </c:pt>
                <c:pt idx="55">
                  <c:v>-280</c:v>
                </c:pt>
                <c:pt idx="56">
                  <c:v>-279</c:v>
                </c:pt>
                <c:pt idx="57">
                  <c:v>-278</c:v>
                </c:pt>
                <c:pt idx="58">
                  <c:v>-277</c:v>
                </c:pt>
                <c:pt idx="59">
                  <c:v>-276</c:v>
                </c:pt>
                <c:pt idx="60">
                  <c:v>-275</c:v>
                </c:pt>
                <c:pt idx="61">
                  <c:v>-274</c:v>
                </c:pt>
                <c:pt idx="62">
                  <c:v>-273</c:v>
                </c:pt>
                <c:pt idx="63">
                  <c:v>-272</c:v>
                </c:pt>
                <c:pt idx="64">
                  <c:v>-271</c:v>
                </c:pt>
                <c:pt idx="65">
                  <c:v>-270</c:v>
                </c:pt>
                <c:pt idx="66">
                  <c:v>-269</c:v>
                </c:pt>
                <c:pt idx="67">
                  <c:v>-268</c:v>
                </c:pt>
                <c:pt idx="68">
                  <c:v>-267</c:v>
                </c:pt>
                <c:pt idx="69">
                  <c:v>-266</c:v>
                </c:pt>
                <c:pt idx="70">
                  <c:v>-265</c:v>
                </c:pt>
                <c:pt idx="71">
                  <c:v>-264</c:v>
                </c:pt>
                <c:pt idx="72">
                  <c:v>-263</c:v>
                </c:pt>
                <c:pt idx="73">
                  <c:v>-262</c:v>
                </c:pt>
                <c:pt idx="74">
                  <c:v>-261</c:v>
                </c:pt>
                <c:pt idx="75">
                  <c:v>-260</c:v>
                </c:pt>
                <c:pt idx="76">
                  <c:v>-259</c:v>
                </c:pt>
                <c:pt idx="77">
                  <c:v>-258</c:v>
                </c:pt>
                <c:pt idx="78">
                  <c:v>-257</c:v>
                </c:pt>
                <c:pt idx="79">
                  <c:v>-256</c:v>
                </c:pt>
                <c:pt idx="80">
                  <c:v>-255</c:v>
                </c:pt>
                <c:pt idx="81">
                  <c:v>-254</c:v>
                </c:pt>
                <c:pt idx="82">
                  <c:v>-253</c:v>
                </c:pt>
                <c:pt idx="83">
                  <c:v>-252</c:v>
                </c:pt>
                <c:pt idx="84">
                  <c:v>-251</c:v>
                </c:pt>
                <c:pt idx="85">
                  <c:v>-250</c:v>
                </c:pt>
                <c:pt idx="86">
                  <c:v>-249</c:v>
                </c:pt>
                <c:pt idx="87">
                  <c:v>-248</c:v>
                </c:pt>
                <c:pt idx="88">
                  <c:v>-247</c:v>
                </c:pt>
                <c:pt idx="89">
                  <c:v>-246</c:v>
                </c:pt>
                <c:pt idx="90">
                  <c:v>-245</c:v>
                </c:pt>
                <c:pt idx="91">
                  <c:v>-244</c:v>
                </c:pt>
                <c:pt idx="92">
                  <c:v>-243</c:v>
                </c:pt>
                <c:pt idx="93">
                  <c:v>-242</c:v>
                </c:pt>
                <c:pt idx="94">
                  <c:v>-241</c:v>
                </c:pt>
                <c:pt idx="95">
                  <c:v>-240</c:v>
                </c:pt>
                <c:pt idx="96">
                  <c:v>-239</c:v>
                </c:pt>
                <c:pt idx="97">
                  <c:v>-238</c:v>
                </c:pt>
                <c:pt idx="98">
                  <c:v>-237</c:v>
                </c:pt>
                <c:pt idx="99">
                  <c:v>-236</c:v>
                </c:pt>
                <c:pt idx="100">
                  <c:v>-235</c:v>
                </c:pt>
                <c:pt idx="101">
                  <c:v>-234</c:v>
                </c:pt>
                <c:pt idx="102">
                  <c:v>-233</c:v>
                </c:pt>
                <c:pt idx="103">
                  <c:v>-232</c:v>
                </c:pt>
                <c:pt idx="104">
                  <c:v>-231</c:v>
                </c:pt>
                <c:pt idx="105">
                  <c:v>-230</c:v>
                </c:pt>
                <c:pt idx="106">
                  <c:v>-229</c:v>
                </c:pt>
                <c:pt idx="107">
                  <c:v>-228</c:v>
                </c:pt>
                <c:pt idx="108">
                  <c:v>-227</c:v>
                </c:pt>
                <c:pt idx="109">
                  <c:v>-226</c:v>
                </c:pt>
                <c:pt idx="110">
                  <c:v>-225</c:v>
                </c:pt>
                <c:pt idx="111">
                  <c:v>-224</c:v>
                </c:pt>
                <c:pt idx="112">
                  <c:v>-223</c:v>
                </c:pt>
                <c:pt idx="113">
                  <c:v>-222</c:v>
                </c:pt>
                <c:pt idx="114">
                  <c:v>-221</c:v>
                </c:pt>
                <c:pt idx="115">
                  <c:v>-220</c:v>
                </c:pt>
                <c:pt idx="116">
                  <c:v>-219</c:v>
                </c:pt>
                <c:pt idx="117">
                  <c:v>-218</c:v>
                </c:pt>
                <c:pt idx="118">
                  <c:v>-217</c:v>
                </c:pt>
                <c:pt idx="119">
                  <c:v>-216</c:v>
                </c:pt>
                <c:pt idx="120">
                  <c:v>-215</c:v>
                </c:pt>
                <c:pt idx="121">
                  <c:v>-214</c:v>
                </c:pt>
                <c:pt idx="122">
                  <c:v>-213</c:v>
                </c:pt>
                <c:pt idx="123">
                  <c:v>-212</c:v>
                </c:pt>
                <c:pt idx="124">
                  <c:v>-211</c:v>
                </c:pt>
                <c:pt idx="125">
                  <c:v>-210</c:v>
                </c:pt>
                <c:pt idx="126">
                  <c:v>-209</c:v>
                </c:pt>
                <c:pt idx="127">
                  <c:v>-208</c:v>
                </c:pt>
                <c:pt idx="128">
                  <c:v>-207</c:v>
                </c:pt>
                <c:pt idx="129">
                  <c:v>-206</c:v>
                </c:pt>
                <c:pt idx="130">
                  <c:v>-205</c:v>
                </c:pt>
                <c:pt idx="131">
                  <c:v>-204</c:v>
                </c:pt>
                <c:pt idx="132">
                  <c:v>-203</c:v>
                </c:pt>
                <c:pt idx="133">
                  <c:v>-202</c:v>
                </c:pt>
                <c:pt idx="134">
                  <c:v>-201</c:v>
                </c:pt>
                <c:pt idx="135">
                  <c:v>-200</c:v>
                </c:pt>
                <c:pt idx="136">
                  <c:v>-199</c:v>
                </c:pt>
                <c:pt idx="137">
                  <c:v>-198</c:v>
                </c:pt>
                <c:pt idx="138">
                  <c:v>-197</c:v>
                </c:pt>
                <c:pt idx="139">
                  <c:v>-196</c:v>
                </c:pt>
                <c:pt idx="140">
                  <c:v>-195</c:v>
                </c:pt>
                <c:pt idx="141">
                  <c:v>-194</c:v>
                </c:pt>
                <c:pt idx="142">
                  <c:v>-193</c:v>
                </c:pt>
                <c:pt idx="143">
                  <c:v>-192</c:v>
                </c:pt>
                <c:pt idx="144">
                  <c:v>-191</c:v>
                </c:pt>
                <c:pt idx="145">
                  <c:v>-190</c:v>
                </c:pt>
                <c:pt idx="146">
                  <c:v>-189</c:v>
                </c:pt>
                <c:pt idx="147">
                  <c:v>-188</c:v>
                </c:pt>
                <c:pt idx="148">
                  <c:v>-187</c:v>
                </c:pt>
                <c:pt idx="149">
                  <c:v>-186</c:v>
                </c:pt>
                <c:pt idx="150">
                  <c:v>-185</c:v>
                </c:pt>
                <c:pt idx="151">
                  <c:v>-184</c:v>
                </c:pt>
                <c:pt idx="152">
                  <c:v>-183</c:v>
                </c:pt>
                <c:pt idx="153">
                  <c:v>-182</c:v>
                </c:pt>
                <c:pt idx="154">
                  <c:v>-181</c:v>
                </c:pt>
                <c:pt idx="155">
                  <c:v>-180</c:v>
                </c:pt>
                <c:pt idx="156">
                  <c:v>-179</c:v>
                </c:pt>
                <c:pt idx="157">
                  <c:v>-178</c:v>
                </c:pt>
                <c:pt idx="158">
                  <c:v>-177</c:v>
                </c:pt>
                <c:pt idx="159">
                  <c:v>-176</c:v>
                </c:pt>
                <c:pt idx="160">
                  <c:v>-175</c:v>
                </c:pt>
                <c:pt idx="161">
                  <c:v>-174</c:v>
                </c:pt>
                <c:pt idx="162">
                  <c:v>-173</c:v>
                </c:pt>
                <c:pt idx="163">
                  <c:v>-172</c:v>
                </c:pt>
                <c:pt idx="164">
                  <c:v>-171</c:v>
                </c:pt>
                <c:pt idx="165">
                  <c:v>-170</c:v>
                </c:pt>
                <c:pt idx="166">
                  <c:v>-169</c:v>
                </c:pt>
                <c:pt idx="167">
                  <c:v>-168</c:v>
                </c:pt>
                <c:pt idx="168">
                  <c:v>-167</c:v>
                </c:pt>
                <c:pt idx="169">
                  <c:v>-166</c:v>
                </c:pt>
                <c:pt idx="170">
                  <c:v>-165</c:v>
                </c:pt>
                <c:pt idx="171">
                  <c:v>-164</c:v>
                </c:pt>
                <c:pt idx="172">
                  <c:v>-163</c:v>
                </c:pt>
                <c:pt idx="173">
                  <c:v>-162</c:v>
                </c:pt>
                <c:pt idx="174">
                  <c:v>-161</c:v>
                </c:pt>
                <c:pt idx="175">
                  <c:v>-160</c:v>
                </c:pt>
                <c:pt idx="176">
                  <c:v>-159</c:v>
                </c:pt>
                <c:pt idx="177">
                  <c:v>-158</c:v>
                </c:pt>
                <c:pt idx="178">
                  <c:v>-157</c:v>
                </c:pt>
                <c:pt idx="179">
                  <c:v>-156</c:v>
                </c:pt>
                <c:pt idx="180">
                  <c:v>-155</c:v>
                </c:pt>
                <c:pt idx="181">
                  <c:v>-154</c:v>
                </c:pt>
                <c:pt idx="182">
                  <c:v>-153</c:v>
                </c:pt>
                <c:pt idx="183">
                  <c:v>-152</c:v>
                </c:pt>
                <c:pt idx="184">
                  <c:v>-151</c:v>
                </c:pt>
                <c:pt idx="185">
                  <c:v>-150</c:v>
                </c:pt>
                <c:pt idx="186">
                  <c:v>-149</c:v>
                </c:pt>
                <c:pt idx="187">
                  <c:v>-148</c:v>
                </c:pt>
                <c:pt idx="188">
                  <c:v>-147</c:v>
                </c:pt>
                <c:pt idx="189">
                  <c:v>-146</c:v>
                </c:pt>
                <c:pt idx="190">
                  <c:v>-145</c:v>
                </c:pt>
                <c:pt idx="191">
                  <c:v>-144</c:v>
                </c:pt>
                <c:pt idx="192">
                  <c:v>-143</c:v>
                </c:pt>
                <c:pt idx="193">
                  <c:v>-142</c:v>
                </c:pt>
                <c:pt idx="194">
                  <c:v>-141</c:v>
                </c:pt>
                <c:pt idx="195">
                  <c:v>-140</c:v>
                </c:pt>
                <c:pt idx="196">
                  <c:v>-139</c:v>
                </c:pt>
                <c:pt idx="197">
                  <c:v>-138</c:v>
                </c:pt>
                <c:pt idx="198">
                  <c:v>-137</c:v>
                </c:pt>
                <c:pt idx="199">
                  <c:v>-136</c:v>
                </c:pt>
                <c:pt idx="200">
                  <c:v>-135</c:v>
                </c:pt>
                <c:pt idx="201">
                  <c:v>-134</c:v>
                </c:pt>
                <c:pt idx="202">
                  <c:v>-133</c:v>
                </c:pt>
                <c:pt idx="203">
                  <c:v>-132</c:v>
                </c:pt>
                <c:pt idx="204">
                  <c:v>-131</c:v>
                </c:pt>
                <c:pt idx="205">
                  <c:v>-130</c:v>
                </c:pt>
                <c:pt idx="206">
                  <c:v>-129</c:v>
                </c:pt>
                <c:pt idx="207">
                  <c:v>-128</c:v>
                </c:pt>
                <c:pt idx="208">
                  <c:v>-127</c:v>
                </c:pt>
                <c:pt idx="209">
                  <c:v>-126</c:v>
                </c:pt>
                <c:pt idx="210">
                  <c:v>-125</c:v>
                </c:pt>
                <c:pt idx="211">
                  <c:v>-124</c:v>
                </c:pt>
                <c:pt idx="212">
                  <c:v>-123</c:v>
                </c:pt>
                <c:pt idx="213">
                  <c:v>-122</c:v>
                </c:pt>
                <c:pt idx="214">
                  <c:v>-121</c:v>
                </c:pt>
                <c:pt idx="215">
                  <c:v>-120</c:v>
                </c:pt>
                <c:pt idx="216">
                  <c:v>-119</c:v>
                </c:pt>
                <c:pt idx="217">
                  <c:v>-118</c:v>
                </c:pt>
                <c:pt idx="218">
                  <c:v>-117</c:v>
                </c:pt>
                <c:pt idx="219">
                  <c:v>-116</c:v>
                </c:pt>
                <c:pt idx="220">
                  <c:v>-115</c:v>
                </c:pt>
                <c:pt idx="221">
                  <c:v>-114</c:v>
                </c:pt>
                <c:pt idx="222">
                  <c:v>-113</c:v>
                </c:pt>
                <c:pt idx="223">
                  <c:v>-112</c:v>
                </c:pt>
                <c:pt idx="224">
                  <c:v>-111</c:v>
                </c:pt>
                <c:pt idx="225">
                  <c:v>-110</c:v>
                </c:pt>
                <c:pt idx="226">
                  <c:v>-109</c:v>
                </c:pt>
                <c:pt idx="227">
                  <c:v>-108</c:v>
                </c:pt>
                <c:pt idx="228">
                  <c:v>-107</c:v>
                </c:pt>
                <c:pt idx="229">
                  <c:v>-106</c:v>
                </c:pt>
                <c:pt idx="230">
                  <c:v>-105</c:v>
                </c:pt>
                <c:pt idx="231">
                  <c:v>-104</c:v>
                </c:pt>
                <c:pt idx="232">
                  <c:v>-103</c:v>
                </c:pt>
                <c:pt idx="233">
                  <c:v>-102</c:v>
                </c:pt>
                <c:pt idx="234">
                  <c:v>-101</c:v>
                </c:pt>
                <c:pt idx="235">
                  <c:v>-100</c:v>
                </c:pt>
                <c:pt idx="236">
                  <c:v>-99</c:v>
                </c:pt>
                <c:pt idx="237">
                  <c:v>-98</c:v>
                </c:pt>
                <c:pt idx="238">
                  <c:v>-97</c:v>
                </c:pt>
                <c:pt idx="239">
                  <c:v>-96</c:v>
                </c:pt>
                <c:pt idx="240">
                  <c:v>-95</c:v>
                </c:pt>
                <c:pt idx="241">
                  <c:v>-94</c:v>
                </c:pt>
                <c:pt idx="242">
                  <c:v>-93</c:v>
                </c:pt>
                <c:pt idx="243">
                  <c:v>-92</c:v>
                </c:pt>
                <c:pt idx="244">
                  <c:v>-91</c:v>
                </c:pt>
                <c:pt idx="245">
                  <c:v>-90</c:v>
                </c:pt>
                <c:pt idx="246">
                  <c:v>-89</c:v>
                </c:pt>
                <c:pt idx="247">
                  <c:v>-88</c:v>
                </c:pt>
                <c:pt idx="248">
                  <c:v>-87</c:v>
                </c:pt>
                <c:pt idx="249">
                  <c:v>-86</c:v>
                </c:pt>
                <c:pt idx="250">
                  <c:v>-85</c:v>
                </c:pt>
                <c:pt idx="251">
                  <c:v>-84</c:v>
                </c:pt>
                <c:pt idx="252">
                  <c:v>-83</c:v>
                </c:pt>
                <c:pt idx="253">
                  <c:v>-82</c:v>
                </c:pt>
                <c:pt idx="254">
                  <c:v>-81</c:v>
                </c:pt>
                <c:pt idx="255">
                  <c:v>-80</c:v>
                </c:pt>
                <c:pt idx="256">
                  <c:v>-79</c:v>
                </c:pt>
                <c:pt idx="257">
                  <c:v>-78</c:v>
                </c:pt>
                <c:pt idx="258">
                  <c:v>-77</c:v>
                </c:pt>
                <c:pt idx="259">
                  <c:v>-76</c:v>
                </c:pt>
                <c:pt idx="260">
                  <c:v>-75</c:v>
                </c:pt>
                <c:pt idx="261">
                  <c:v>-74</c:v>
                </c:pt>
                <c:pt idx="262">
                  <c:v>-73</c:v>
                </c:pt>
                <c:pt idx="263">
                  <c:v>-72</c:v>
                </c:pt>
                <c:pt idx="264">
                  <c:v>-71</c:v>
                </c:pt>
                <c:pt idx="265">
                  <c:v>-70</c:v>
                </c:pt>
                <c:pt idx="266">
                  <c:v>-69</c:v>
                </c:pt>
                <c:pt idx="267">
                  <c:v>-68</c:v>
                </c:pt>
                <c:pt idx="268">
                  <c:v>-67</c:v>
                </c:pt>
                <c:pt idx="269">
                  <c:v>-66</c:v>
                </c:pt>
                <c:pt idx="270">
                  <c:v>-65</c:v>
                </c:pt>
                <c:pt idx="271">
                  <c:v>-64</c:v>
                </c:pt>
                <c:pt idx="272">
                  <c:v>-63</c:v>
                </c:pt>
                <c:pt idx="273">
                  <c:v>-62</c:v>
                </c:pt>
                <c:pt idx="274">
                  <c:v>-61</c:v>
                </c:pt>
                <c:pt idx="275">
                  <c:v>-60</c:v>
                </c:pt>
                <c:pt idx="276">
                  <c:v>-59</c:v>
                </c:pt>
                <c:pt idx="277">
                  <c:v>-58</c:v>
                </c:pt>
                <c:pt idx="278">
                  <c:v>-57</c:v>
                </c:pt>
                <c:pt idx="279">
                  <c:v>-56</c:v>
                </c:pt>
                <c:pt idx="280">
                  <c:v>-55</c:v>
                </c:pt>
                <c:pt idx="281">
                  <c:v>-54</c:v>
                </c:pt>
                <c:pt idx="282">
                  <c:v>-53</c:v>
                </c:pt>
                <c:pt idx="283">
                  <c:v>-52</c:v>
                </c:pt>
                <c:pt idx="284">
                  <c:v>-51</c:v>
                </c:pt>
                <c:pt idx="285">
                  <c:v>-50</c:v>
                </c:pt>
                <c:pt idx="286">
                  <c:v>-49</c:v>
                </c:pt>
                <c:pt idx="287">
                  <c:v>-48</c:v>
                </c:pt>
                <c:pt idx="288">
                  <c:v>-47</c:v>
                </c:pt>
                <c:pt idx="289">
                  <c:v>-46</c:v>
                </c:pt>
                <c:pt idx="290">
                  <c:v>-45</c:v>
                </c:pt>
                <c:pt idx="291">
                  <c:v>-44</c:v>
                </c:pt>
                <c:pt idx="292">
                  <c:v>-43</c:v>
                </c:pt>
                <c:pt idx="293">
                  <c:v>-42</c:v>
                </c:pt>
                <c:pt idx="294">
                  <c:v>-41</c:v>
                </c:pt>
                <c:pt idx="295">
                  <c:v>-40</c:v>
                </c:pt>
                <c:pt idx="296">
                  <c:v>-39</c:v>
                </c:pt>
                <c:pt idx="297">
                  <c:v>-38</c:v>
                </c:pt>
                <c:pt idx="298">
                  <c:v>-37</c:v>
                </c:pt>
                <c:pt idx="299">
                  <c:v>-36</c:v>
                </c:pt>
                <c:pt idx="300">
                  <c:v>-35</c:v>
                </c:pt>
                <c:pt idx="301">
                  <c:v>-34</c:v>
                </c:pt>
                <c:pt idx="302">
                  <c:v>-33</c:v>
                </c:pt>
                <c:pt idx="303">
                  <c:v>-32</c:v>
                </c:pt>
                <c:pt idx="304">
                  <c:v>-31</c:v>
                </c:pt>
                <c:pt idx="305">
                  <c:v>-30</c:v>
                </c:pt>
                <c:pt idx="306">
                  <c:v>-29</c:v>
                </c:pt>
                <c:pt idx="307">
                  <c:v>-28</c:v>
                </c:pt>
                <c:pt idx="308">
                  <c:v>-27</c:v>
                </c:pt>
                <c:pt idx="309">
                  <c:v>-26</c:v>
                </c:pt>
                <c:pt idx="310">
                  <c:v>-25</c:v>
                </c:pt>
                <c:pt idx="311">
                  <c:v>-24</c:v>
                </c:pt>
                <c:pt idx="312">
                  <c:v>-23</c:v>
                </c:pt>
                <c:pt idx="313">
                  <c:v>-22</c:v>
                </c:pt>
                <c:pt idx="314">
                  <c:v>-21</c:v>
                </c:pt>
                <c:pt idx="315">
                  <c:v>-20</c:v>
                </c:pt>
                <c:pt idx="316">
                  <c:v>-19</c:v>
                </c:pt>
                <c:pt idx="317">
                  <c:v>-18</c:v>
                </c:pt>
                <c:pt idx="318">
                  <c:v>-17</c:v>
                </c:pt>
                <c:pt idx="319">
                  <c:v>-16</c:v>
                </c:pt>
                <c:pt idx="320">
                  <c:v>-15</c:v>
                </c:pt>
                <c:pt idx="321">
                  <c:v>-14</c:v>
                </c:pt>
                <c:pt idx="322">
                  <c:v>-13</c:v>
                </c:pt>
                <c:pt idx="323">
                  <c:v>-12</c:v>
                </c:pt>
                <c:pt idx="324">
                  <c:v>-11</c:v>
                </c:pt>
                <c:pt idx="325">
                  <c:v>-10</c:v>
                </c:pt>
                <c:pt idx="326">
                  <c:v>-9</c:v>
                </c:pt>
                <c:pt idx="327">
                  <c:v>-8</c:v>
                </c:pt>
                <c:pt idx="328">
                  <c:v>-7</c:v>
                </c:pt>
                <c:pt idx="329">
                  <c:v>-6</c:v>
                </c:pt>
                <c:pt idx="330">
                  <c:v>-5</c:v>
                </c:pt>
                <c:pt idx="331">
                  <c:v>-4</c:v>
                </c:pt>
                <c:pt idx="332">
                  <c:v>-3</c:v>
                </c:pt>
                <c:pt idx="333">
                  <c:v>-2</c:v>
                </c:pt>
                <c:pt idx="334">
                  <c:v>-1</c:v>
                </c:pt>
                <c:pt idx="335">
                  <c:v>0</c:v>
                </c:pt>
              </c:numCache>
            </c:numRef>
          </c:xVal>
          <c:yVal>
            <c:numRef>
              <c:f>'Chart Data'!$B$2:$B$337</c:f>
              <c:numCache>
                <c:formatCode>0.0</c:formatCode>
                <c:ptCount val="336"/>
                <c:pt idx="0">
                  <c:v>-0.3926588297</c:v>
                </c:pt>
                <c:pt idx="1">
                  <c:v>-0.3927249312</c:v>
                </c:pt>
                <c:pt idx="2">
                  <c:v>-0.3932975233</c:v>
                </c:pt>
                <c:pt idx="3">
                  <c:v>-0.3936268389</c:v>
                </c:pt>
                <c:pt idx="4">
                  <c:v>-0.3937135637</c:v>
                </c:pt>
                <c:pt idx="5">
                  <c:v>-0.3938206136</c:v>
                </c:pt>
                <c:pt idx="6">
                  <c:v>-0.3939476013</c:v>
                </c:pt>
                <c:pt idx="7">
                  <c:v>-0.3947328329</c:v>
                </c:pt>
                <c:pt idx="8">
                  <c:v>-0.3946729898</c:v>
                </c:pt>
                <c:pt idx="9">
                  <c:v>-0.3951203525</c:v>
                </c:pt>
                <c:pt idx="10">
                  <c:v>-0.3947971165</c:v>
                </c:pt>
                <c:pt idx="11">
                  <c:v>-0.3944168091</c:v>
                </c:pt>
                <c:pt idx="12">
                  <c:v>-0.3952565789</c:v>
                </c:pt>
                <c:pt idx="13">
                  <c:v>-0.3955125809</c:v>
                </c:pt>
                <c:pt idx="14">
                  <c:v>-0.3945832551</c:v>
                </c:pt>
                <c:pt idx="15">
                  <c:v>-0.3946474791</c:v>
                </c:pt>
                <c:pt idx="16">
                  <c:v>-0.3938263059</c:v>
                </c:pt>
                <c:pt idx="17">
                  <c:v>-0.3930586874</c:v>
                </c:pt>
                <c:pt idx="18">
                  <c:v>-0.3899396062</c:v>
                </c:pt>
                <c:pt idx="19">
                  <c:v>-0.3873242736</c:v>
                </c:pt>
                <c:pt idx="20">
                  <c:v>-0.3842354417</c:v>
                </c:pt>
                <c:pt idx="21">
                  <c:v>-0.3797334731</c:v>
                </c:pt>
                <c:pt idx="22">
                  <c:v>-0.3729914129</c:v>
                </c:pt>
                <c:pt idx="23">
                  <c:v>-0.3611533046</c:v>
                </c:pt>
                <c:pt idx="24">
                  <c:v>-0.349178493</c:v>
                </c:pt>
                <c:pt idx="25">
                  <c:v>-0.3229391575</c:v>
                </c:pt>
                <c:pt idx="26">
                  <c:v>-0.2651514709</c:v>
                </c:pt>
                <c:pt idx="27">
                  <c:v>-0.2325500995</c:v>
                </c:pt>
                <c:pt idx="28">
                  <c:v>-0.2341520786</c:v>
                </c:pt>
                <c:pt idx="29">
                  <c:v>-0.243656069</c:v>
                </c:pt>
                <c:pt idx="30">
                  <c:v>-0.2539228797</c:v>
                </c:pt>
                <c:pt idx="31">
                  <c:v>-0.2638250291</c:v>
                </c:pt>
                <c:pt idx="32">
                  <c:v>-0.2699806392</c:v>
                </c:pt>
                <c:pt idx="33">
                  <c:v>-0.2757709026</c:v>
                </c:pt>
                <c:pt idx="34">
                  <c:v>-0.2781896293</c:v>
                </c:pt>
                <c:pt idx="35">
                  <c:v>-0.2746064663</c:v>
                </c:pt>
                <c:pt idx="36">
                  <c:v>-0.2684025764</c:v>
                </c:pt>
                <c:pt idx="37">
                  <c:v>-0.2584505081</c:v>
                </c:pt>
                <c:pt idx="38">
                  <c:v>-0.2361081094</c:v>
                </c:pt>
                <c:pt idx="39">
                  <c:v>-0.2077626437</c:v>
                </c:pt>
                <c:pt idx="40">
                  <c:v>-0.1843099892</c:v>
                </c:pt>
                <c:pt idx="41">
                  <c:v>-0.1695072949</c:v>
                </c:pt>
                <c:pt idx="42">
                  <c:v>-0.1580942422</c:v>
                </c:pt>
                <c:pt idx="43">
                  <c:v>-0.1549551934</c:v>
                </c:pt>
                <c:pt idx="44">
                  <c:v>-0.1570843905</c:v>
                </c:pt>
                <c:pt idx="45">
                  <c:v>-0.1580946147</c:v>
                </c:pt>
                <c:pt idx="46">
                  <c:v>-0.1504714638</c:v>
                </c:pt>
                <c:pt idx="47">
                  <c:v>-0.1285792589</c:v>
                </c:pt>
                <c:pt idx="48">
                  <c:v>-0.105568707</c:v>
                </c:pt>
                <c:pt idx="49">
                  <c:v>-0.08782737702</c:v>
                </c:pt>
                <c:pt idx="50">
                  <c:v>-0.07234974205</c:v>
                </c:pt>
                <c:pt idx="51">
                  <c:v>-0.05688164011</c:v>
                </c:pt>
                <c:pt idx="52">
                  <c:v>-0.03390869871</c:v>
                </c:pt>
                <c:pt idx="53">
                  <c:v>-0.006812641397</c:v>
                </c:pt>
                <c:pt idx="54">
                  <c:v>0.02478208393</c:v>
                </c:pt>
                <c:pt idx="55">
                  <c:v>0.04359187931</c:v>
                </c:pt>
                <c:pt idx="56">
                  <c:v>0.04661060125</c:v>
                </c:pt>
                <c:pt idx="57">
                  <c:v>0.02782656439</c:v>
                </c:pt>
                <c:pt idx="58">
                  <c:v>0.007153052837</c:v>
                </c:pt>
                <c:pt idx="59">
                  <c:v>-0.01503441576</c:v>
                </c:pt>
                <c:pt idx="60">
                  <c:v>-0.03385160118</c:v>
                </c:pt>
                <c:pt idx="61">
                  <c:v>-0.05117758736</c:v>
                </c:pt>
                <c:pt idx="62">
                  <c:v>-0.06813985854</c:v>
                </c:pt>
                <c:pt idx="63">
                  <c:v>-0.08173301816</c:v>
                </c:pt>
                <c:pt idx="64">
                  <c:v>-0.09458760917</c:v>
                </c:pt>
                <c:pt idx="65">
                  <c:v>-0.1093342081</c:v>
                </c:pt>
                <c:pt idx="66">
                  <c:v>-0.120337382</c:v>
                </c:pt>
                <c:pt idx="67">
                  <c:v>-0.1343606412</c:v>
                </c:pt>
                <c:pt idx="68">
                  <c:v>-0.1465199888</c:v>
                </c:pt>
                <c:pt idx="69">
                  <c:v>-0.1601973474</c:v>
                </c:pt>
                <c:pt idx="70">
                  <c:v>-0.1727630049</c:v>
                </c:pt>
                <c:pt idx="71">
                  <c:v>-0.1830900013</c:v>
                </c:pt>
                <c:pt idx="72">
                  <c:v>-0.1919302046</c:v>
                </c:pt>
                <c:pt idx="73">
                  <c:v>-0.2026654631</c:v>
                </c:pt>
                <c:pt idx="74">
                  <c:v>-0.2134175152</c:v>
                </c:pt>
                <c:pt idx="75">
                  <c:v>-0.2196780443</c:v>
                </c:pt>
                <c:pt idx="76">
                  <c:v>-0.2285861969</c:v>
                </c:pt>
                <c:pt idx="77">
                  <c:v>-0.2375122607</c:v>
                </c:pt>
                <c:pt idx="78">
                  <c:v>-0.2445777506</c:v>
                </c:pt>
                <c:pt idx="79">
                  <c:v>-0.2516614795</c:v>
                </c:pt>
                <c:pt idx="80">
                  <c:v>-0.2580121756</c:v>
                </c:pt>
                <c:pt idx="81">
                  <c:v>-0.2632541955</c:v>
                </c:pt>
                <c:pt idx="82">
                  <c:v>-0.2700177133</c:v>
                </c:pt>
                <c:pt idx="83">
                  <c:v>-0.275672853</c:v>
                </c:pt>
                <c:pt idx="84">
                  <c:v>-0.2805953026</c:v>
                </c:pt>
                <c:pt idx="85">
                  <c:v>-0.285160929</c:v>
                </c:pt>
                <c:pt idx="86">
                  <c:v>-0.2897453606</c:v>
                </c:pt>
                <c:pt idx="87">
                  <c:v>-0.2939727604</c:v>
                </c:pt>
                <c:pt idx="88">
                  <c:v>-0.2985945642</c:v>
                </c:pt>
                <c:pt idx="89">
                  <c:v>-0.3024834096</c:v>
                </c:pt>
                <c:pt idx="90">
                  <c:v>-0.3075177073</c:v>
                </c:pt>
                <c:pt idx="91">
                  <c:v>-0.3121943474</c:v>
                </c:pt>
                <c:pt idx="92">
                  <c:v>-0.3157616854</c:v>
                </c:pt>
                <c:pt idx="93">
                  <c:v>-0.3208495975</c:v>
                </c:pt>
                <c:pt idx="94">
                  <c:v>-0.3252032399</c:v>
                </c:pt>
                <c:pt idx="95">
                  <c:v>-0.3295734525</c:v>
                </c:pt>
                <c:pt idx="96">
                  <c:v>-0.3332080245</c:v>
                </c:pt>
                <c:pt idx="97">
                  <c:v>-0.3383604586</c:v>
                </c:pt>
                <c:pt idx="98">
                  <c:v>-0.3416484296</c:v>
                </c:pt>
                <c:pt idx="99">
                  <c:v>-0.34532547</c:v>
                </c:pt>
                <c:pt idx="100">
                  <c:v>-0.3508935571</c:v>
                </c:pt>
                <c:pt idx="101">
                  <c:v>-0.3549702764</c:v>
                </c:pt>
                <c:pt idx="102">
                  <c:v>-0.3579304814</c:v>
                </c:pt>
                <c:pt idx="103">
                  <c:v>-0.3620275557</c:v>
                </c:pt>
                <c:pt idx="104">
                  <c:v>-0.3650062382</c:v>
                </c:pt>
                <c:pt idx="105">
                  <c:v>-0.3676170409</c:v>
                </c:pt>
                <c:pt idx="106">
                  <c:v>-0.3713618517</c:v>
                </c:pt>
                <c:pt idx="107">
                  <c:v>-0.3736095726</c:v>
                </c:pt>
                <c:pt idx="108">
                  <c:v>-0.3781163692</c:v>
                </c:pt>
                <c:pt idx="109">
                  <c:v>-0.3818754256</c:v>
                </c:pt>
                <c:pt idx="110">
                  <c:v>-0.3845098913</c:v>
                </c:pt>
                <c:pt idx="111">
                  <c:v>-0.3875216544</c:v>
                </c:pt>
                <c:pt idx="112">
                  <c:v>-0.3905339241</c:v>
                </c:pt>
                <c:pt idx="113">
                  <c:v>-0.3935456574</c:v>
                </c:pt>
                <c:pt idx="114">
                  <c:v>-0.394677043</c:v>
                </c:pt>
                <c:pt idx="115">
                  <c:v>-0.398059994</c:v>
                </c:pt>
                <c:pt idx="116">
                  <c:v>-0.3991847932</c:v>
                </c:pt>
                <c:pt idx="117">
                  <c:v>-0.4010562003</c:v>
                </c:pt>
                <c:pt idx="118">
                  <c:v>-0.4025459886</c:v>
                </c:pt>
                <c:pt idx="119">
                  <c:v>-0.4029017389</c:v>
                </c:pt>
                <c:pt idx="120">
                  <c:v>-0.4024983346</c:v>
                </c:pt>
                <c:pt idx="121">
                  <c:v>-0.3975776136</c:v>
                </c:pt>
                <c:pt idx="122">
                  <c:v>-0.3888902068</c:v>
                </c:pt>
                <c:pt idx="123">
                  <c:v>-0.3572731614</c:v>
                </c:pt>
                <c:pt idx="124">
                  <c:v>-0.2463664562</c:v>
                </c:pt>
                <c:pt idx="125">
                  <c:v>-0.03775862604</c:v>
                </c:pt>
                <c:pt idx="126">
                  <c:v>0.1573354602</c:v>
                </c:pt>
                <c:pt idx="127">
                  <c:v>0.3524427414</c:v>
                </c:pt>
                <c:pt idx="128">
                  <c:v>0.5471881628</c:v>
                </c:pt>
                <c:pt idx="129">
                  <c:v>0.7757638097</c:v>
                </c:pt>
                <c:pt idx="130">
                  <c:v>1.023892641</c:v>
                </c:pt>
                <c:pt idx="131">
                  <c:v>1.232961297</c:v>
                </c:pt>
                <c:pt idx="132">
                  <c:v>1.35187149</c:v>
                </c:pt>
                <c:pt idx="133">
                  <c:v>1.493341923</c:v>
                </c:pt>
                <c:pt idx="134">
                  <c:v>1.668645024</c:v>
                </c:pt>
                <c:pt idx="135">
                  <c:v>1.753790736</c:v>
                </c:pt>
                <c:pt idx="136">
                  <c:v>1.775080204</c:v>
                </c:pt>
                <c:pt idx="137">
                  <c:v>1.788873315</c:v>
                </c:pt>
                <c:pt idx="138">
                  <c:v>1.904131413</c:v>
                </c:pt>
                <c:pt idx="139">
                  <c:v>2.030679941</c:v>
                </c:pt>
                <c:pt idx="140">
                  <c:v>2.119675159</c:v>
                </c:pt>
                <c:pt idx="141">
                  <c:v>2.159844875</c:v>
                </c:pt>
                <c:pt idx="142">
                  <c:v>2.049743414</c:v>
                </c:pt>
                <c:pt idx="143">
                  <c:v>1.980992675</c:v>
                </c:pt>
                <c:pt idx="144">
                  <c:v>1.765728474</c:v>
                </c:pt>
                <c:pt idx="145">
                  <c:v>1.610601664</c:v>
                </c:pt>
                <c:pt idx="146">
                  <c:v>1.417922974</c:v>
                </c:pt>
                <c:pt idx="147">
                  <c:v>1.229022026</c:v>
                </c:pt>
                <c:pt idx="148">
                  <c:v>1.104014397</c:v>
                </c:pt>
                <c:pt idx="149">
                  <c:v>0.9752687216</c:v>
                </c:pt>
                <c:pt idx="150">
                  <c:v>0.8841142058</c:v>
                </c:pt>
                <c:pt idx="151">
                  <c:v>0.8031219244</c:v>
                </c:pt>
                <c:pt idx="152">
                  <c:v>0.7322911024</c:v>
                </c:pt>
                <c:pt idx="153">
                  <c:v>0.6565915942</c:v>
                </c:pt>
                <c:pt idx="154">
                  <c:v>0.5944333076</c:v>
                </c:pt>
                <c:pt idx="155">
                  <c:v>0.5386761427</c:v>
                </c:pt>
                <c:pt idx="156">
                  <c:v>0.4904465973</c:v>
                </c:pt>
                <c:pt idx="157">
                  <c:v>0.4493676424</c:v>
                </c:pt>
                <c:pt idx="158">
                  <c:v>0.4222014546</c:v>
                </c:pt>
                <c:pt idx="159">
                  <c:v>0.3905364275</c:v>
                </c:pt>
                <c:pt idx="160">
                  <c:v>0.3765391111</c:v>
                </c:pt>
                <c:pt idx="161">
                  <c:v>0.3441388607</c:v>
                </c:pt>
                <c:pt idx="162">
                  <c:v>0.3309073448</c:v>
                </c:pt>
                <c:pt idx="163">
                  <c:v>0.3338377774</c:v>
                </c:pt>
                <c:pt idx="164">
                  <c:v>0.3439115584</c:v>
                </c:pt>
                <c:pt idx="165">
                  <c:v>0.3502317071</c:v>
                </c:pt>
                <c:pt idx="166">
                  <c:v>0.3666990995</c:v>
                </c:pt>
                <c:pt idx="167">
                  <c:v>0.3816654384</c:v>
                </c:pt>
                <c:pt idx="168">
                  <c:v>0.359811008</c:v>
                </c:pt>
                <c:pt idx="169">
                  <c:v>0.3315689266</c:v>
                </c:pt>
                <c:pt idx="170">
                  <c:v>0.3010711372</c:v>
                </c:pt>
                <c:pt idx="171">
                  <c:v>0.257044822</c:v>
                </c:pt>
                <c:pt idx="172">
                  <c:v>0.2133913636</c:v>
                </c:pt>
                <c:pt idx="173">
                  <c:v>0.174994871</c:v>
                </c:pt>
                <c:pt idx="174">
                  <c:v>0.1380978823</c:v>
                </c:pt>
                <c:pt idx="175">
                  <c:v>0.1079604253</c:v>
                </c:pt>
                <c:pt idx="176">
                  <c:v>0.07894643396</c:v>
                </c:pt>
                <c:pt idx="177">
                  <c:v>0.05067984387</c:v>
                </c:pt>
                <c:pt idx="178">
                  <c:v>0.03368096426</c:v>
                </c:pt>
                <c:pt idx="179">
                  <c:v>0.0163020622</c:v>
                </c:pt>
                <c:pt idx="180">
                  <c:v>-0.002208272228</c:v>
                </c:pt>
                <c:pt idx="181">
                  <c:v>-0.0165899992</c:v>
                </c:pt>
                <c:pt idx="182">
                  <c:v>-0.02834582143</c:v>
                </c:pt>
                <c:pt idx="183">
                  <c:v>-0.04123299569</c:v>
                </c:pt>
                <c:pt idx="184">
                  <c:v>-0.05487546697</c:v>
                </c:pt>
                <c:pt idx="185">
                  <c:v>-0.0726544857</c:v>
                </c:pt>
                <c:pt idx="186">
                  <c:v>-0.08367367089</c:v>
                </c:pt>
                <c:pt idx="187">
                  <c:v>-0.0988285467</c:v>
                </c:pt>
                <c:pt idx="188">
                  <c:v>-0.110979937</c:v>
                </c:pt>
                <c:pt idx="189">
                  <c:v>-0.1201271564</c:v>
                </c:pt>
                <c:pt idx="190">
                  <c:v>-0.1337842047</c:v>
                </c:pt>
                <c:pt idx="191">
                  <c:v>-0.1444358975</c:v>
                </c:pt>
                <c:pt idx="192">
                  <c:v>-0.1595963389</c:v>
                </c:pt>
                <c:pt idx="193">
                  <c:v>-0.1706229746</c:v>
                </c:pt>
                <c:pt idx="194">
                  <c:v>-0.179769516</c:v>
                </c:pt>
                <c:pt idx="195">
                  <c:v>-0.190416798</c:v>
                </c:pt>
                <c:pt idx="196">
                  <c:v>-0.198431015</c:v>
                </c:pt>
                <c:pt idx="197">
                  <c:v>-0.2109503597</c:v>
                </c:pt>
                <c:pt idx="198">
                  <c:v>-0.2204594761</c:v>
                </c:pt>
                <c:pt idx="199">
                  <c:v>-0.2295879126</c:v>
                </c:pt>
                <c:pt idx="200">
                  <c:v>-0.2398383915</c:v>
                </c:pt>
                <c:pt idx="201">
                  <c:v>-0.2482050806</c:v>
                </c:pt>
                <c:pt idx="202">
                  <c:v>-0.2539364398</c:v>
                </c:pt>
                <c:pt idx="203">
                  <c:v>-0.2641711235</c:v>
                </c:pt>
                <c:pt idx="204">
                  <c:v>-0.2706429958</c:v>
                </c:pt>
                <c:pt idx="205">
                  <c:v>-0.2771091163</c:v>
                </c:pt>
                <c:pt idx="206">
                  <c:v>-0.2839452922</c:v>
                </c:pt>
                <c:pt idx="207">
                  <c:v>-0.2911516726</c:v>
                </c:pt>
                <c:pt idx="208">
                  <c:v>-0.2987285256</c:v>
                </c:pt>
                <c:pt idx="209">
                  <c:v>-0.306676209</c:v>
                </c:pt>
                <c:pt idx="210">
                  <c:v>-0.313116461</c:v>
                </c:pt>
                <c:pt idx="211">
                  <c:v>-0.3180496693</c:v>
                </c:pt>
                <c:pt idx="212">
                  <c:v>-0.3237306178</c:v>
                </c:pt>
                <c:pt idx="213">
                  <c:v>-0.3282810152</c:v>
                </c:pt>
                <c:pt idx="214">
                  <c:v>-0.3332042694</c:v>
                </c:pt>
                <c:pt idx="215">
                  <c:v>-0.3332405984</c:v>
                </c:pt>
                <c:pt idx="216">
                  <c:v>-0.3344019651</c:v>
                </c:pt>
                <c:pt idx="217">
                  <c:v>-0.3366887271</c:v>
                </c:pt>
                <c:pt idx="218">
                  <c:v>-0.3359681666</c:v>
                </c:pt>
                <c:pt idx="219">
                  <c:v>-0.3348705769</c:v>
                </c:pt>
                <c:pt idx="220">
                  <c:v>-0.337153405</c:v>
                </c:pt>
                <c:pt idx="221">
                  <c:v>-0.3364293277</c:v>
                </c:pt>
                <c:pt idx="222">
                  <c:v>-0.3420917988</c:v>
                </c:pt>
                <c:pt idx="223">
                  <c:v>-0.3432446718</c:v>
                </c:pt>
                <c:pt idx="224">
                  <c:v>-0.3451482654</c:v>
                </c:pt>
                <c:pt idx="225">
                  <c:v>-0.3481782675</c:v>
                </c:pt>
                <c:pt idx="226">
                  <c:v>-0.3497045338</c:v>
                </c:pt>
                <c:pt idx="227">
                  <c:v>-0.3512298763</c:v>
                </c:pt>
                <c:pt idx="228">
                  <c:v>-0.3512513638</c:v>
                </c:pt>
                <c:pt idx="229">
                  <c:v>-0.3542776406</c:v>
                </c:pt>
                <c:pt idx="230">
                  <c:v>-0.3573029339</c:v>
                </c:pt>
                <c:pt idx="231">
                  <c:v>-0.3607029021</c:v>
                </c:pt>
                <c:pt idx="232">
                  <c:v>-0.3663561344</c:v>
                </c:pt>
                <c:pt idx="233">
                  <c:v>-0.3686267138</c:v>
                </c:pt>
                <c:pt idx="234">
                  <c:v>-0.3727747202</c:v>
                </c:pt>
                <c:pt idx="235">
                  <c:v>-0.3780484796</c:v>
                </c:pt>
                <c:pt idx="236">
                  <c:v>-0.3848235607</c:v>
                </c:pt>
                <c:pt idx="237">
                  <c:v>-0.3874637485</c:v>
                </c:pt>
                <c:pt idx="238">
                  <c:v>-0.3916046917</c:v>
                </c:pt>
                <c:pt idx="239">
                  <c:v>-0.3964946866</c:v>
                </c:pt>
                <c:pt idx="240">
                  <c:v>-0.401006043</c:v>
                </c:pt>
                <c:pt idx="241">
                  <c:v>-0.4058898687</c:v>
                </c:pt>
                <c:pt idx="242">
                  <c:v>-0.4100185335</c:v>
                </c:pt>
                <c:pt idx="243">
                  <c:v>-0.4137672782</c:v>
                </c:pt>
                <c:pt idx="244">
                  <c:v>-0.4167599976</c:v>
                </c:pt>
                <c:pt idx="245">
                  <c:v>-0.4231294692</c:v>
                </c:pt>
                <c:pt idx="246">
                  <c:v>-0.4264881313</c:v>
                </c:pt>
                <c:pt idx="247">
                  <c:v>-0.4302172363</c:v>
                </c:pt>
                <c:pt idx="248">
                  <c:v>-0.4335651994</c:v>
                </c:pt>
                <c:pt idx="249">
                  <c:v>-0.4357804656</c:v>
                </c:pt>
                <c:pt idx="250">
                  <c:v>-0.4409958422</c:v>
                </c:pt>
                <c:pt idx="251">
                  <c:v>-0.4431995451</c:v>
                </c:pt>
                <c:pt idx="252">
                  <c:v>-0.4457729459</c:v>
                </c:pt>
                <c:pt idx="253">
                  <c:v>-0.4498429</c:v>
                </c:pt>
                <c:pt idx="254">
                  <c:v>-0.4527790546</c:v>
                </c:pt>
                <c:pt idx="255">
                  <c:v>-0.4553324878</c:v>
                </c:pt>
                <c:pt idx="256">
                  <c:v>-0.4590058327</c:v>
                </c:pt>
                <c:pt idx="257">
                  <c:v>-0.4615443647</c:v>
                </c:pt>
                <c:pt idx="258">
                  <c:v>-0.4655777812</c:v>
                </c:pt>
                <c:pt idx="259">
                  <c:v>-0.4680998921</c:v>
                </c:pt>
                <c:pt idx="260">
                  <c:v>-0.4706131816</c:v>
                </c:pt>
                <c:pt idx="261">
                  <c:v>-0.4734930098</c:v>
                </c:pt>
                <c:pt idx="262">
                  <c:v>-0.4756117761</c:v>
                </c:pt>
                <c:pt idx="263">
                  <c:v>-0.4788478315</c:v>
                </c:pt>
                <c:pt idx="264">
                  <c:v>-0.4813221991</c:v>
                </c:pt>
                <c:pt idx="265">
                  <c:v>-0.4830345511</c:v>
                </c:pt>
                <c:pt idx="266">
                  <c:v>-0.4873661995</c:v>
                </c:pt>
                <c:pt idx="267">
                  <c:v>-0.489056766</c:v>
                </c:pt>
                <c:pt idx="268">
                  <c:v>-0.4914876223</c:v>
                </c:pt>
                <c:pt idx="269">
                  <c:v>-0.4931557477</c:v>
                </c:pt>
                <c:pt idx="270">
                  <c:v>-0.4959396422</c:v>
                </c:pt>
                <c:pt idx="271">
                  <c:v>-0.4983362556</c:v>
                </c:pt>
                <c:pt idx="272">
                  <c:v>-0.5010969639</c:v>
                </c:pt>
                <c:pt idx="273">
                  <c:v>-0.5030943155</c:v>
                </c:pt>
                <c:pt idx="274">
                  <c:v>-0.504703939</c:v>
                </c:pt>
                <c:pt idx="275">
                  <c:v>-0.5070530772</c:v>
                </c:pt>
                <c:pt idx="276">
                  <c:v>-0.50863868</c:v>
                </c:pt>
                <c:pt idx="277">
                  <c:v>-0.5113393664</c:v>
                </c:pt>
                <c:pt idx="278">
                  <c:v>-0.5132765174</c:v>
                </c:pt>
                <c:pt idx="279">
                  <c:v>-0.5159530044</c:v>
                </c:pt>
                <c:pt idx="280">
                  <c:v>-0.5178659558</c:v>
                </c:pt>
                <c:pt idx="281">
                  <c:v>-0.5193910003</c:v>
                </c:pt>
                <c:pt idx="282">
                  <c:v>-0.520903945</c:v>
                </c:pt>
                <c:pt idx="283">
                  <c:v>-0.5231562257</c:v>
                </c:pt>
                <c:pt idx="284">
                  <c:v>-0.5242692232</c:v>
                </c:pt>
                <c:pt idx="285">
                  <c:v>-0.5257461071</c:v>
                </c:pt>
                <c:pt idx="286">
                  <c:v>-0.527962625</c:v>
                </c:pt>
                <c:pt idx="287">
                  <c:v>-0.53016752</c:v>
                </c:pt>
                <c:pt idx="288">
                  <c:v>-0.5319852829</c:v>
                </c:pt>
                <c:pt idx="289">
                  <c:v>-0.5330404639</c:v>
                </c:pt>
                <c:pt idx="290">
                  <c:v>-0.5352118611</c:v>
                </c:pt>
                <c:pt idx="291">
                  <c:v>-0.5366211534</c:v>
                </c:pt>
                <c:pt idx="292">
                  <c:v>-0.5372686386</c:v>
                </c:pt>
                <c:pt idx="293">
                  <c:v>-0.5394088626</c:v>
                </c:pt>
                <c:pt idx="294">
                  <c:v>-0.5404120684</c:v>
                </c:pt>
                <c:pt idx="295">
                  <c:v>-0.5417813063</c:v>
                </c:pt>
                <c:pt idx="296">
                  <c:v>-0.5431411862</c:v>
                </c:pt>
                <c:pt idx="297">
                  <c:v>-0.5444917679</c:v>
                </c:pt>
                <c:pt idx="298">
                  <c:v>-0.5462090969</c:v>
                </c:pt>
                <c:pt idx="299">
                  <c:v>-0.5467904806</c:v>
                </c:pt>
                <c:pt idx="300">
                  <c:v>-0.5488661528</c:v>
                </c:pt>
                <c:pt idx="301">
                  <c:v>-0.5498063564</c:v>
                </c:pt>
                <c:pt idx="302">
                  <c:v>-0.5514899492</c:v>
                </c:pt>
                <c:pt idx="303">
                  <c:v>-0.5520385504</c:v>
                </c:pt>
                <c:pt idx="304">
                  <c:v>-0.5540825725</c:v>
                </c:pt>
                <c:pt idx="305">
                  <c:v>-0.5546163917</c:v>
                </c:pt>
                <c:pt idx="306">
                  <c:v>-0.5558946729</c:v>
                </c:pt>
                <c:pt idx="307">
                  <c:v>-0.5571660995</c:v>
                </c:pt>
                <c:pt idx="308">
                  <c:v>-0.5584309697</c:v>
                </c:pt>
                <c:pt idx="309">
                  <c:v>-0.5611923933</c:v>
                </c:pt>
                <c:pt idx="310">
                  <c:v>-0.5616933703</c:v>
                </c:pt>
                <c:pt idx="311">
                  <c:v>-0.5633155704</c:v>
                </c:pt>
                <c:pt idx="312">
                  <c:v>-0.5638048649</c:v>
                </c:pt>
                <c:pt idx="313">
                  <c:v>-0.5646642447</c:v>
                </c:pt>
                <c:pt idx="314">
                  <c:v>-0.5658938289</c:v>
                </c:pt>
                <c:pt idx="315">
                  <c:v>-0.5674936175</c:v>
                </c:pt>
                <c:pt idx="316">
                  <c:v>-0.5679607987</c:v>
                </c:pt>
                <c:pt idx="317">
                  <c:v>-0.5699256063</c:v>
                </c:pt>
                <c:pt idx="318">
                  <c:v>-0.5707578063</c:v>
                </c:pt>
                <c:pt idx="319">
                  <c:v>-0.5719605088</c:v>
                </c:pt>
                <c:pt idx="320">
                  <c:v>-0.5727820992</c:v>
                </c:pt>
                <c:pt idx="321">
                  <c:v>-0.5728469491</c:v>
                </c:pt>
                <c:pt idx="322">
                  <c:v>-0.5744094253</c:v>
                </c:pt>
                <c:pt idx="323">
                  <c:v>-0.5744637251</c:v>
                </c:pt>
                <c:pt idx="324">
                  <c:v>-0.5745127201</c:v>
                </c:pt>
                <c:pt idx="325">
                  <c:v>-0.5753079057</c:v>
                </c:pt>
                <c:pt idx="326">
                  <c:v>-0.5760976672</c:v>
                </c:pt>
                <c:pt idx="327">
                  <c:v>-0.5768820643</c:v>
                </c:pt>
                <c:pt idx="328">
                  <c:v>-0.5776609182</c:v>
                </c:pt>
                <c:pt idx="329">
                  <c:v>-0.5776827335</c:v>
                </c:pt>
                <c:pt idx="330">
                  <c:v>-0.5784503222</c:v>
                </c:pt>
                <c:pt idx="331">
                  <c:v>-0.5792123675</c:v>
                </c:pt>
                <c:pt idx="332">
                  <c:v>-0.580720365</c:v>
                </c:pt>
                <c:pt idx="333">
                  <c:v>-0.5810961127</c:v>
                </c:pt>
                <c:pt idx="334">
                  <c:v>-0.582218647</c:v>
                </c:pt>
                <c:pt idx="335">
                  <c:v>-0.5825853348</c:v>
                </c:pt>
              </c:numCache>
            </c:numRef>
          </c:yVal>
        </c:ser>
        <c:ser>
          <c:idx val="1"/>
          <c:order val="1"/>
          <c:tx>
            <c:v>Baja complejidad</c:v>
          </c:tx>
          <c:spPr>
            <a:ln w="21908">
              <a:solidFill>
                <a:srgbClr val="697681"/>
              </a:solidFill>
              <a:prstDash val="solid"/>
            </a:ln>
          </c:spPr>
          <c:marker>
            <c:symbol val="none"/>
          </c:marker>
          <c:xVal>
            <c:numRef>
              <c:f>'Chart Data'!$C$2:$C$337</c:f>
              <c:numCache>
                <c:formatCode>General</c:formatCode>
                <c:ptCount val="336"/>
                <c:pt idx="0">
                  <c:v>-335</c:v>
                </c:pt>
                <c:pt idx="1">
                  <c:v>-334</c:v>
                </c:pt>
                <c:pt idx="2">
                  <c:v>-333</c:v>
                </c:pt>
                <c:pt idx="3">
                  <c:v>-332</c:v>
                </c:pt>
                <c:pt idx="4">
                  <c:v>-331</c:v>
                </c:pt>
                <c:pt idx="5">
                  <c:v>-330</c:v>
                </c:pt>
                <c:pt idx="6">
                  <c:v>-329</c:v>
                </c:pt>
                <c:pt idx="7">
                  <c:v>-328</c:v>
                </c:pt>
                <c:pt idx="8">
                  <c:v>-327</c:v>
                </c:pt>
                <c:pt idx="9">
                  <c:v>-326</c:v>
                </c:pt>
                <c:pt idx="10">
                  <c:v>-325</c:v>
                </c:pt>
                <c:pt idx="11">
                  <c:v>-324</c:v>
                </c:pt>
                <c:pt idx="12">
                  <c:v>-323</c:v>
                </c:pt>
                <c:pt idx="13">
                  <c:v>-322</c:v>
                </c:pt>
                <c:pt idx="14">
                  <c:v>-321</c:v>
                </c:pt>
                <c:pt idx="15">
                  <c:v>-320</c:v>
                </c:pt>
                <c:pt idx="16">
                  <c:v>-319</c:v>
                </c:pt>
                <c:pt idx="17">
                  <c:v>-318</c:v>
                </c:pt>
                <c:pt idx="18">
                  <c:v>-317</c:v>
                </c:pt>
                <c:pt idx="19">
                  <c:v>-316</c:v>
                </c:pt>
                <c:pt idx="20">
                  <c:v>-315</c:v>
                </c:pt>
                <c:pt idx="21">
                  <c:v>-314</c:v>
                </c:pt>
                <c:pt idx="22">
                  <c:v>-313</c:v>
                </c:pt>
                <c:pt idx="23">
                  <c:v>-312</c:v>
                </c:pt>
                <c:pt idx="24">
                  <c:v>-311</c:v>
                </c:pt>
                <c:pt idx="25">
                  <c:v>-310</c:v>
                </c:pt>
                <c:pt idx="26">
                  <c:v>-309</c:v>
                </c:pt>
                <c:pt idx="27">
                  <c:v>-308</c:v>
                </c:pt>
                <c:pt idx="28">
                  <c:v>-307</c:v>
                </c:pt>
                <c:pt idx="29">
                  <c:v>-306</c:v>
                </c:pt>
                <c:pt idx="30">
                  <c:v>-305</c:v>
                </c:pt>
                <c:pt idx="31">
                  <c:v>-304</c:v>
                </c:pt>
                <c:pt idx="32">
                  <c:v>-303</c:v>
                </c:pt>
                <c:pt idx="33">
                  <c:v>-302</c:v>
                </c:pt>
                <c:pt idx="34">
                  <c:v>-301</c:v>
                </c:pt>
                <c:pt idx="35">
                  <c:v>-300</c:v>
                </c:pt>
                <c:pt idx="36">
                  <c:v>-299</c:v>
                </c:pt>
                <c:pt idx="37">
                  <c:v>-298</c:v>
                </c:pt>
                <c:pt idx="38">
                  <c:v>-297</c:v>
                </c:pt>
                <c:pt idx="39">
                  <c:v>-296</c:v>
                </c:pt>
                <c:pt idx="40">
                  <c:v>-295</c:v>
                </c:pt>
                <c:pt idx="41">
                  <c:v>-294</c:v>
                </c:pt>
                <c:pt idx="42">
                  <c:v>-293</c:v>
                </c:pt>
                <c:pt idx="43">
                  <c:v>-292</c:v>
                </c:pt>
                <c:pt idx="44">
                  <c:v>-291</c:v>
                </c:pt>
                <c:pt idx="45">
                  <c:v>-290</c:v>
                </c:pt>
                <c:pt idx="46">
                  <c:v>-289</c:v>
                </c:pt>
                <c:pt idx="47">
                  <c:v>-288</c:v>
                </c:pt>
                <c:pt idx="48">
                  <c:v>-287</c:v>
                </c:pt>
                <c:pt idx="49">
                  <c:v>-286</c:v>
                </c:pt>
                <c:pt idx="50">
                  <c:v>-285</c:v>
                </c:pt>
                <c:pt idx="51">
                  <c:v>-284</c:v>
                </c:pt>
                <c:pt idx="52">
                  <c:v>-283</c:v>
                </c:pt>
                <c:pt idx="53">
                  <c:v>-282</c:v>
                </c:pt>
                <c:pt idx="54">
                  <c:v>-281</c:v>
                </c:pt>
                <c:pt idx="55">
                  <c:v>-280</c:v>
                </c:pt>
                <c:pt idx="56">
                  <c:v>-279</c:v>
                </c:pt>
                <c:pt idx="57">
                  <c:v>-278</c:v>
                </c:pt>
                <c:pt idx="58">
                  <c:v>-277</c:v>
                </c:pt>
                <c:pt idx="59">
                  <c:v>-276</c:v>
                </c:pt>
                <c:pt idx="60">
                  <c:v>-275</c:v>
                </c:pt>
                <c:pt idx="61">
                  <c:v>-274</c:v>
                </c:pt>
                <c:pt idx="62">
                  <c:v>-273</c:v>
                </c:pt>
                <c:pt idx="63">
                  <c:v>-272</c:v>
                </c:pt>
                <c:pt idx="64">
                  <c:v>-271</c:v>
                </c:pt>
                <c:pt idx="65">
                  <c:v>-270</c:v>
                </c:pt>
                <c:pt idx="66">
                  <c:v>-269</c:v>
                </c:pt>
                <c:pt idx="67">
                  <c:v>-268</c:v>
                </c:pt>
                <c:pt idx="68">
                  <c:v>-267</c:v>
                </c:pt>
                <c:pt idx="69">
                  <c:v>-266</c:v>
                </c:pt>
                <c:pt idx="70">
                  <c:v>-265</c:v>
                </c:pt>
                <c:pt idx="71">
                  <c:v>-264</c:v>
                </c:pt>
                <c:pt idx="72">
                  <c:v>-263</c:v>
                </c:pt>
                <c:pt idx="73">
                  <c:v>-262</c:v>
                </c:pt>
                <c:pt idx="74">
                  <c:v>-261</c:v>
                </c:pt>
                <c:pt idx="75">
                  <c:v>-260</c:v>
                </c:pt>
                <c:pt idx="76">
                  <c:v>-259</c:v>
                </c:pt>
                <c:pt idx="77">
                  <c:v>-258</c:v>
                </c:pt>
                <c:pt idx="78">
                  <c:v>-257</c:v>
                </c:pt>
                <c:pt idx="79">
                  <c:v>-256</c:v>
                </c:pt>
                <c:pt idx="80">
                  <c:v>-255</c:v>
                </c:pt>
                <c:pt idx="81">
                  <c:v>-254</c:v>
                </c:pt>
                <c:pt idx="82">
                  <c:v>-253</c:v>
                </c:pt>
                <c:pt idx="83">
                  <c:v>-252</c:v>
                </c:pt>
                <c:pt idx="84">
                  <c:v>-251</c:v>
                </c:pt>
                <c:pt idx="85">
                  <c:v>-250</c:v>
                </c:pt>
                <c:pt idx="86">
                  <c:v>-249</c:v>
                </c:pt>
                <c:pt idx="87">
                  <c:v>-248</c:v>
                </c:pt>
                <c:pt idx="88">
                  <c:v>-247</c:v>
                </c:pt>
                <c:pt idx="89">
                  <c:v>-246</c:v>
                </c:pt>
                <c:pt idx="90">
                  <c:v>-245</c:v>
                </c:pt>
                <c:pt idx="91">
                  <c:v>-244</c:v>
                </c:pt>
                <c:pt idx="92">
                  <c:v>-243</c:v>
                </c:pt>
                <c:pt idx="93">
                  <c:v>-242</c:v>
                </c:pt>
                <c:pt idx="94">
                  <c:v>-241</c:v>
                </c:pt>
                <c:pt idx="95">
                  <c:v>-240</c:v>
                </c:pt>
                <c:pt idx="96">
                  <c:v>-239</c:v>
                </c:pt>
                <c:pt idx="97">
                  <c:v>-238</c:v>
                </c:pt>
                <c:pt idx="98">
                  <c:v>-237</c:v>
                </c:pt>
                <c:pt idx="99">
                  <c:v>-236</c:v>
                </c:pt>
                <c:pt idx="100">
                  <c:v>-235</c:v>
                </c:pt>
                <c:pt idx="101">
                  <c:v>-234</c:v>
                </c:pt>
                <c:pt idx="102">
                  <c:v>-233</c:v>
                </c:pt>
                <c:pt idx="103">
                  <c:v>-232</c:v>
                </c:pt>
                <c:pt idx="104">
                  <c:v>-231</c:v>
                </c:pt>
                <c:pt idx="105">
                  <c:v>-230</c:v>
                </c:pt>
                <c:pt idx="106">
                  <c:v>-229</c:v>
                </c:pt>
                <c:pt idx="107">
                  <c:v>-228</c:v>
                </c:pt>
                <c:pt idx="108">
                  <c:v>-227</c:v>
                </c:pt>
                <c:pt idx="109">
                  <c:v>-226</c:v>
                </c:pt>
                <c:pt idx="110">
                  <c:v>-225</c:v>
                </c:pt>
                <c:pt idx="111">
                  <c:v>-224</c:v>
                </c:pt>
                <c:pt idx="112">
                  <c:v>-223</c:v>
                </c:pt>
                <c:pt idx="113">
                  <c:v>-222</c:v>
                </c:pt>
                <c:pt idx="114">
                  <c:v>-221</c:v>
                </c:pt>
                <c:pt idx="115">
                  <c:v>-220</c:v>
                </c:pt>
                <c:pt idx="116">
                  <c:v>-219</c:v>
                </c:pt>
                <c:pt idx="117">
                  <c:v>-218</c:v>
                </c:pt>
                <c:pt idx="118">
                  <c:v>-217</c:v>
                </c:pt>
                <c:pt idx="119">
                  <c:v>-216</c:v>
                </c:pt>
                <c:pt idx="120">
                  <c:v>-215</c:v>
                </c:pt>
                <c:pt idx="121">
                  <c:v>-214</c:v>
                </c:pt>
                <c:pt idx="122">
                  <c:v>-213</c:v>
                </c:pt>
                <c:pt idx="123">
                  <c:v>-212</c:v>
                </c:pt>
                <c:pt idx="124">
                  <c:v>-211</c:v>
                </c:pt>
                <c:pt idx="125">
                  <c:v>-210</c:v>
                </c:pt>
                <c:pt idx="126">
                  <c:v>-209</c:v>
                </c:pt>
                <c:pt idx="127">
                  <c:v>-208</c:v>
                </c:pt>
                <c:pt idx="128">
                  <c:v>-207</c:v>
                </c:pt>
                <c:pt idx="129">
                  <c:v>-206</c:v>
                </c:pt>
                <c:pt idx="130">
                  <c:v>-205</c:v>
                </c:pt>
                <c:pt idx="131">
                  <c:v>-204</c:v>
                </c:pt>
                <c:pt idx="132">
                  <c:v>-203</c:v>
                </c:pt>
                <c:pt idx="133">
                  <c:v>-202</c:v>
                </c:pt>
                <c:pt idx="134">
                  <c:v>-201</c:v>
                </c:pt>
                <c:pt idx="135">
                  <c:v>-200</c:v>
                </c:pt>
                <c:pt idx="136">
                  <c:v>-199</c:v>
                </c:pt>
                <c:pt idx="137">
                  <c:v>-198</c:v>
                </c:pt>
                <c:pt idx="138">
                  <c:v>-197</c:v>
                </c:pt>
                <c:pt idx="139">
                  <c:v>-196</c:v>
                </c:pt>
                <c:pt idx="140">
                  <c:v>-195</c:v>
                </c:pt>
                <c:pt idx="141">
                  <c:v>-194</c:v>
                </c:pt>
                <c:pt idx="142">
                  <c:v>-193</c:v>
                </c:pt>
                <c:pt idx="143">
                  <c:v>-192</c:v>
                </c:pt>
                <c:pt idx="144">
                  <c:v>-191</c:v>
                </c:pt>
                <c:pt idx="145">
                  <c:v>-190</c:v>
                </c:pt>
                <c:pt idx="146">
                  <c:v>-189</c:v>
                </c:pt>
                <c:pt idx="147">
                  <c:v>-188</c:v>
                </c:pt>
                <c:pt idx="148">
                  <c:v>-187</c:v>
                </c:pt>
                <c:pt idx="149">
                  <c:v>-186</c:v>
                </c:pt>
                <c:pt idx="150">
                  <c:v>-185</c:v>
                </c:pt>
                <c:pt idx="151">
                  <c:v>-184</c:v>
                </c:pt>
                <c:pt idx="152">
                  <c:v>-183</c:v>
                </c:pt>
                <c:pt idx="153">
                  <c:v>-182</c:v>
                </c:pt>
                <c:pt idx="154">
                  <c:v>-181</c:v>
                </c:pt>
                <c:pt idx="155">
                  <c:v>-180</c:v>
                </c:pt>
                <c:pt idx="156">
                  <c:v>-179</c:v>
                </c:pt>
                <c:pt idx="157">
                  <c:v>-178</c:v>
                </c:pt>
                <c:pt idx="158">
                  <c:v>-177</c:v>
                </c:pt>
                <c:pt idx="159">
                  <c:v>-176</c:v>
                </c:pt>
                <c:pt idx="160">
                  <c:v>-175</c:v>
                </c:pt>
                <c:pt idx="161">
                  <c:v>-174</c:v>
                </c:pt>
                <c:pt idx="162">
                  <c:v>-173</c:v>
                </c:pt>
                <c:pt idx="163">
                  <c:v>-172</c:v>
                </c:pt>
                <c:pt idx="164">
                  <c:v>-171</c:v>
                </c:pt>
                <c:pt idx="165">
                  <c:v>-170</c:v>
                </c:pt>
                <c:pt idx="166">
                  <c:v>-169</c:v>
                </c:pt>
                <c:pt idx="167">
                  <c:v>-168</c:v>
                </c:pt>
                <c:pt idx="168">
                  <c:v>-167</c:v>
                </c:pt>
                <c:pt idx="169">
                  <c:v>-166</c:v>
                </c:pt>
                <c:pt idx="170">
                  <c:v>-165</c:v>
                </c:pt>
                <c:pt idx="171">
                  <c:v>-164</c:v>
                </c:pt>
                <c:pt idx="172">
                  <c:v>-163</c:v>
                </c:pt>
                <c:pt idx="173">
                  <c:v>-162</c:v>
                </c:pt>
                <c:pt idx="174">
                  <c:v>-161</c:v>
                </c:pt>
                <c:pt idx="175">
                  <c:v>-160</c:v>
                </c:pt>
                <c:pt idx="176">
                  <c:v>-159</c:v>
                </c:pt>
                <c:pt idx="177">
                  <c:v>-158</c:v>
                </c:pt>
                <c:pt idx="178">
                  <c:v>-157</c:v>
                </c:pt>
                <c:pt idx="179">
                  <c:v>-156</c:v>
                </c:pt>
                <c:pt idx="180">
                  <c:v>-155</c:v>
                </c:pt>
                <c:pt idx="181">
                  <c:v>-154</c:v>
                </c:pt>
                <c:pt idx="182">
                  <c:v>-153</c:v>
                </c:pt>
                <c:pt idx="183">
                  <c:v>-152</c:v>
                </c:pt>
                <c:pt idx="184">
                  <c:v>-151</c:v>
                </c:pt>
                <c:pt idx="185">
                  <c:v>-150</c:v>
                </c:pt>
                <c:pt idx="186">
                  <c:v>-149</c:v>
                </c:pt>
                <c:pt idx="187">
                  <c:v>-148</c:v>
                </c:pt>
                <c:pt idx="188">
                  <c:v>-147</c:v>
                </c:pt>
                <c:pt idx="189">
                  <c:v>-146</c:v>
                </c:pt>
                <c:pt idx="190">
                  <c:v>-145</c:v>
                </c:pt>
                <c:pt idx="191">
                  <c:v>-144</c:v>
                </c:pt>
                <c:pt idx="192">
                  <c:v>-143</c:v>
                </c:pt>
                <c:pt idx="193">
                  <c:v>-142</c:v>
                </c:pt>
                <c:pt idx="194">
                  <c:v>-141</c:v>
                </c:pt>
                <c:pt idx="195">
                  <c:v>-140</c:v>
                </c:pt>
                <c:pt idx="196">
                  <c:v>-139</c:v>
                </c:pt>
                <c:pt idx="197">
                  <c:v>-138</c:v>
                </c:pt>
                <c:pt idx="198">
                  <c:v>-137</c:v>
                </c:pt>
                <c:pt idx="199">
                  <c:v>-136</c:v>
                </c:pt>
                <c:pt idx="200">
                  <c:v>-135</c:v>
                </c:pt>
                <c:pt idx="201">
                  <c:v>-134</c:v>
                </c:pt>
                <c:pt idx="202">
                  <c:v>-133</c:v>
                </c:pt>
                <c:pt idx="203">
                  <c:v>-132</c:v>
                </c:pt>
                <c:pt idx="204">
                  <c:v>-131</c:v>
                </c:pt>
                <c:pt idx="205">
                  <c:v>-130</c:v>
                </c:pt>
                <c:pt idx="206">
                  <c:v>-129</c:v>
                </c:pt>
                <c:pt idx="207">
                  <c:v>-128</c:v>
                </c:pt>
                <c:pt idx="208">
                  <c:v>-127</c:v>
                </c:pt>
                <c:pt idx="209">
                  <c:v>-126</c:v>
                </c:pt>
                <c:pt idx="210">
                  <c:v>-125</c:v>
                </c:pt>
                <c:pt idx="211">
                  <c:v>-124</c:v>
                </c:pt>
                <c:pt idx="212">
                  <c:v>-123</c:v>
                </c:pt>
                <c:pt idx="213">
                  <c:v>-122</c:v>
                </c:pt>
                <c:pt idx="214">
                  <c:v>-121</c:v>
                </c:pt>
                <c:pt idx="215">
                  <c:v>-120</c:v>
                </c:pt>
                <c:pt idx="216">
                  <c:v>-119</c:v>
                </c:pt>
                <c:pt idx="217">
                  <c:v>-118</c:v>
                </c:pt>
                <c:pt idx="218">
                  <c:v>-117</c:v>
                </c:pt>
                <c:pt idx="219">
                  <c:v>-116</c:v>
                </c:pt>
                <c:pt idx="220">
                  <c:v>-115</c:v>
                </c:pt>
                <c:pt idx="221">
                  <c:v>-114</c:v>
                </c:pt>
                <c:pt idx="222">
                  <c:v>-113</c:v>
                </c:pt>
                <c:pt idx="223">
                  <c:v>-112</c:v>
                </c:pt>
                <c:pt idx="224">
                  <c:v>-111</c:v>
                </c:pt>
                <c:pt idx="225">
                  <c:v>-110</c:v>
                </c:pt>
                <c:pt idx="226">
                  <c:v>-109</c:v>
                </c:pt>
                <c:pt idx="227">
                  <c:v>-108</c:v>
                </c:pt>
                <c:pt idx="228">
                  <c:v>-107</c:v>
                </c:pt>
                <c:pt idx="229">
                  <c:v>-106</c:v>
                </c:pt>
                <c:pt idx="230">
                  <c:v>-105</c:v>
                </c:pt>
                <c:pt idx="231">
                  <c:v>-104</c:v>
                </c:pt>
                <c:pt idx="232">
                  <c:v>-103</c:v>
                </c:pt>
                <c:pt idx="233">
                  <c:v>-102</c:v>
                </c:pt>
                <c:pt idx="234">
                  <c:v>-101</c:v>
                </c:pt>
                <c:pt idx="235">
                  <c:v>-100</c:v>
                </c:pt>
                <c:pt idx="236">
                  <c:v>-99</c:v>
                </c:pt>
                <c:pt idx="237">
                  <c:v>-98</c:v>
                </c:pt>
                <c:pt idx="238">
                  <c:v>-97</c:v>
                </c:pt>
                <c:pt idx="239">
                  <c:v>-96</c:v>
                </c:pt>
                <c:pt idx="240">
                  <c:v>-95</c:v>
                </c:pt>
                <c:pt idx="241">
                  <c:v>-94</c:v>
                </c:pt>
                <c:pt idx="242">
                  <c:v>-93</c:v>
                </c:pt>
                <c:pt idx="243">
                  <c:v>-92</c:v>
                </c:pt>
                <c:pt idx="244">
                  <c:v>-91</c:v>
                </c:pt>
                <c:pt idx="245">
                  <c:v>-90</c:v>
                </c:pt>
                <c:pt idx="246">
                  <c:v>-89</c:v>
                </c:pt>
                <c:pt idx="247">
                  <c:v>-88</c:v>
                </c:pt>
                <c:pt idx="248">
                  <c:v>-87</c:v>
                </c:pt>
                <c:pt idx="249">
                  <c:v>-86</c:v>
                </c:pt>
                <c:pt idx="250">
                  <c:v>-85</c:v>
                </c:pt>
                <c:pt idx="251">
                  <c:v>-84</c:v>
                </c:pt>
                <c:pt idx="252">
                  <c:v>-83</c:v>
                </c:pt>
                <c:pt idx="253">
                  <c:v>-82</c:v>
                </c:pt>
                <c:pt idx="254">
                  <c:v>-81</c:v>
                </c:pt>
                <c:pt idx="255">
                  <c:v>-80</c:v>
                </c:pt>
                <c:pt idx="256">
                  <c:v>-79</c:v>
                </c:pt>
                <c:pt idx="257">
                  <c:v>-78</c:v>
                </c:pt>
                <c:pt idx="258">
                  <c:v>-77</c:v>
                </c:pt>
                <c:pt idx="259">
                  <c:v>-76</c:v>
                </c:pt>
                <c:pt idx="260">
                  <c:v>-75</c:v>
                </c:pt>
                <c:pt idx="261">
                  <c:v>-74</c:v>
                </c:pt>
                <c:pt idx="262">
                  <c:v>-73</c:v>
                </c:pt>
                <c:pt idx="263">
                  <c:v>-72</c:v>
                </c:pt>
                <c:pt idx="264">
                  <c:v>-71</c:v>
                </c:pt>
                <c:pt idx="265">
                  <c:v>-70</c:v>
                </c:pt>
                <c:pt idx="266">
                  <c:v>-69</c:v>
                </c:pt>
                <c:pt idx="267">
                  <c:v>-68</c:v>
                </c:pt>
                <c:pt idx="268">
                  <c:v>-67</c:v>
                </c:pt>
                <c:pt idx="269">
                  <c:v>-66</c:v>
                </c:pt>
                <c:pt idx="270">
                  <c:v>-65</c:v>
                </c:pt>
                <c:pt idx="271">
                  <c:v>-64</c:v>
                </c:pt>
                <c:pt idx="272">
                  <c:v>-63</c:v>
                </c:pt>
                <c:pt idx="273">
                  <c:v>-62</c:v>
                </c:pt>
                <c:pt idx="274">
                  <c:v>-61</c:v>
                </c:pt>
                <c:pt idx="275">
                  <c:v>-60</c:v>
                </c:pt>
                <c:pt idx="276">
                  <c:v>-59</c:v>
                </c:pt>
                <c:pt idx="277">
                  <c:v>-58</c:v>
                </c:pt>
                <c:pt idx="278">
                  <c:v>-57</c:v>
                </c:pt>
                <c:pt idx="279">
                  <c:v>-56</c:v>
                </c:pt>
                <c:pt idx="280">
                  <c:v>-55</c:v>
                </c:pt>
                <c:pt idx="281">
                  <c:v>-54</c:v>
                </c:pt>
                <c:pt idx="282">
                  <c:v>-53</c:v>
                </c:pt>
                <c:pt idx="283">
                  <c:v>-52</c:v>
                </c:pt>
                <c:pt idx="284">
                  <c:v>-51</c:v>
                </c:pt>
                <c:pt idx="285">
                  <c:v>-50</c:v>
                </c:pt>
                <c:pt idx="286">
                  <c:v>-49</c:v>
                </c:pt>
                <c:pt idx="287">
                  <c:v>-48</c:v>
                </c:pt>
                <c:pt idx="288">
                  <c:v>-47</c:v>
                </c:pt>
                <c:pt idx="289">
                  <c:v>-46</c:v>
                </c:pt>
                <c:pt idx="290">
                  <c:v>-45</c:v>
                </c:pt>
                <c:pt idx="291">
                  <c:v>-44</c:v>
                </c:pt>
                <c:pt idx="292">
                  <c:v>-43</c:v>
                </c:pt>
                <c:pt idx="293">
                  <c:v>-42</c:v>
                </c:pt>
                <c:pt idx="294">
                  <c:v>-41</c:v>
                </c:pt>
                <c:pt idx="295">
                  <c:v>-40</c:v>
                </c:pt>
                <c:pt idx="296">
                  <c:v>-39</c:v>
                </c:pt>
                <c:pt idx="297">
                  <c:v>-38</c:v>
                </c:pt>
                <c:pt idx="298">
                  <c:v>-37</c:v>
                </c:pt>
                <c:pt idx="299">
                  <c:v>-36</c:v>
                </c:pt>
                <c:pt idx="300">
                  <c:v>-35</c:v>
                </c:pt>
                <c:pt idx="301">
                  <c:v>-34</c:v>
                </c:pt>
                <c:pt idx="302">
                  <c:v>-33</c:v>
                </c:pt>
                <c:pt idx="303">
                  <c:v>-32</c:v>
                </c:pt>
                <c:pt idx="304">
                  <c:v>-31</c:v>
                </c:pt>
                <c:pt idx="305">
                  <c:v>-30</c:v>
                </c:pt>
                <c:pt idx="306">
                  <c:v>-29</c:v>
                </c:pt>
                <c:pt idx="307">
                  <c:v>-28</c:v>
                </c:pt>
                <c:pt idx="308">
                  <c:v>-27</c:v>
                </c:pt>
                <c:pt idx="309">
                  <c:v>-26</c:v>
                </c:pt>
                <c:pt idx="310">
                  <c:v>-25</c:v>
                </c:pt>
                <c:pt idx="311">
                  <c:v>-24</c:v>
                </c:pt>
                <c:pt idx="312">
                  <c:v>-23</c:v>
                </c:pt>
                <c:pt idx="313">
                  <c:v>-22</c:v>
                </c:pt>
                <c:pt idx="314">
                  <c:v>-21</c:v>
                </c:pt>
                <c:pt idx="315">
                  <c:v>-20</c:v>
                </c:pt>
                <c:pt idx="316">
                  <c:v>-19</c:v>
                </c:pt>
                <c:pt idx="317">
                  <c:v>-18</c:v>
                </c:pt>
                <c:pt idx="318">
                  <c:v>-17</c:v>
                </c:pt>
                <c:pt idx="319">
                  <c:v>-16</c:v>
                </c:pt>
                <c:pt idx="320">
                  <c:v>-15</c:v>
                </c:pt>
                <c:pt idx="321">
                  <c:v>-14</c:v>
                </c:pt>
                <c:pt idx="322">
                  <c:v>-13</c:v>
                </c:pt>
                <c:pt idx="323">
                  <c:v>-12</c:v>
                </c:pt>
                <c:pt idx="324">
                  <c:v>-11</c:v>
                </c:pt>
                <c:pt idx="325">
                  <c:v>-10</c:v>
                </c:pt>
                <c:pt idx="326">
                  <c:v>-9</c:v>
                </c:pt>
                <c:pt idx="327">
                  <c:v>-8</c:v>
                </c:pt>
                <c:pt idx="328">
                  <c:v>-7</c:v>
                </c:pt>
                <c:pt idx="329">
                  <c:v>-6</c:v>
                </c:pt>
                <c:pt idx="330">
                  <c:v>-5</c:v>
                </c:pt>
                <c:pt idx="331">
                  <c:v>-4</c:v>
                </c:pt>
                <c:pt idx="332">
                  <c:v>-3</c:v>
                </c:pt>
                <c:pt idx="333">
                  <c:v>-2</c:v>
                </c:pt>
                <c:pt idx="334">
                  <c:v>-1</c:v>
                </c:pt>
                <c:pt idx="335">
                  <c:v>0</c:v>
                </c:pt>
              </c:numCache>
            </c:numRef>
          </c:xVal>
          <c:yVal>
            <c:numRef>
              <c:f>'Chart Data'!$D$2:$D$337</c:f>
              <c:numCache>
                <c:formatCode>0.0</c:formatCode>
                <c:ptCount val="336"/>
                <c:pt idx="0">
                  <c:v>0.5170249343</c:v>
                </c:pt>
                <c:pt idx="1">
                  <c:v>0.5170534849</c:v>
                </c:pt>
                <c:pt idx="2">
                  <c:v>0.5171000361</c:v>
                </c:pt>
                <c:pt idx="3">
                  <c:v>0.5171663165</c:v>
                </c:pt>
                <c:pt idx="4">
                  <c:v>0.5172530413</c:v>
                </c:pt>
                <c:pt idx="5">
                  <c:v>0.5173601508</c:v>
                </c:pt>
                <c:pt idx="6">
                  <c:v>0.5174871087</c:v>
                </c:pt>
                <c:pt idx="7">
                  <c:v>0.5176336169</c:v>
                </c:pt>
                <c:pt idx="8">
                  <c:v>0.5177991986</c:v>
                </c:pt>
                <c:pt idx="9">
                  <c:v>0.5179835558</c:v>
                </c:pt>
                <c:pt idx="10">
                  <c:v>0.5181863308</c:v>
                </c:pt>
                <c:pt idx="11">
                  <c:v>0.518407166</c:v>
                </c:pt>
                <c:pt idx="12">
                  <c:v>0.5186457634</c:v>
                </c:pt>
                <c:pt idx="13">
                  <c:v>0.5189017653</c:v>
                </c:pt>
                <c:pt idx="14">
                  <c:v>0.5191747546</c:v>
                </c:pt>
                <c:pt idx="15">
                  <c:v>0.5194644928</c:v>
                </c:pt>
                <c:pt idx="16">
                  <c:v>0.5197704434</c:v>
                </c:pt>
                <c:pt idx="17">
                  <c:v>0.5200924277</c:v>
                </c:pt>
                <c:pt idx="18">
                  <c:v>0.520430088</c:v>
                </c:pt>
                <c:pt idx="19">
                  <c:v>0.5207830071</c:v>
                </c:pt>
                <c:pt idx="20">
                  <c:v>0.521150887</c:v>
                </c:pt>
                <c:pt idx="21">
                  <c:v>0.52153337</c:v>
                </c:pt>
                <c:pt idx="22">
                  <c:v>0.5219301581</c:v>
                </c:pt>
                <c:pt idx="23">
                  <c:v>0.5223407745</c:v>
                </c:pt>
                <c:pt idx="24">
                  <c:v>0.5227649808</c:v>
                </c:pt>
                <c:pt idx="25">
                  <c:v>0.5232024193</c:v>
                </c:pt>
                <c:pt idx="26">
                  <c:v>0.5236526132</c:v>
                </c:pt>
                <c:pt idx="27">
                  <c:v>0.524115324</c:v>
                </c:pt>
                <c:pt idx="28">
                  <c:v>0.5245901346</c:v>
                </c:pt>
                <c:pt idx="29">
                  <c:v>0.5250766277</c:v>
                </c:pt>
                <c:pt idx="30">
                  <c:v>0.5255745053</c:v>
                </c:pt>
                <c:pt idx="31">
                  <c:v>0.5260834694</c:v>
                </c:pt>
                <c:pt idx="32">
                  <c:v>0.5266031027</c:v>
                </c:pt>
                <c:pt idx="33">
                  <c:v>0.5271331668</c:v>
                </c:pt>
                <c:pt idx="34">
                  <c:v>0.5276733041</c:v>
                </c:pt>
                <c:pt idx="35">
                  <c:v>0.5282230973</c:v>
                </c:pt>
                <c:pt idx="36">
                  <c:v>0.5287823677</c:v>
                </c:pt>
                <c:pt idx="37">
                  <c:v>0.5293506384</c:v>
                </c:pt>
                <c:pt idx="38">
                  <c:v>0.5299277306</c:v>
                </c:pt>
                <c:pt idx="39">
                  <c:v>0.5305133462</c:v>
                </c:pt>
                <c:pt idx="40">
                  <c:v>0.5311073065</c:v>
                </c:pt>
                <c:pt idx="41">
                  <c:v>0.5317094922</c:v>
                </c:pt>
                <c:pt idx="42">
                  <c:v>0.5323197246</c:v>
                </c:pt>
                <c:pt idx="43">
                  <c:v>0.5329379439</c:v>
                </c:pt>
                <c:pt idx="44">
                  <c:v>0.5335642695</c:v>
                </c:pt>
                <c:pt idx="45">
                  <c:v>0.534198761</c:v>
                </c:pt>
                <c:pt idx="46">
                  <c:v>0.5348415971</c:v>
                </c:pt>
                <c:pt idx="47">
                  <c:v>0.5354931355</c:v>
                </c:pt>
                <c:pt idx="48">
                  <c:v>0.5361534357</c:v>
                </c:pt>
                <c:pt idx="49">
                  <c:v>0.5368227959</c:v>
                </c:pt>
                <c:pt idx="50">
                  <c:v>0.537501514</c:v>
                </c:pt>
                <c:pt idx="51">
                  <c:v>0.5381897092</c:v>
                </c:pt>
                <c:pt idx="52">
                  <c:v>0.5388876796</c:v>
                </c:pt>
                <c:pt idx="53">
                  <c:v>0.5395954847</c:v>
                </c:pt>
                <c:pt idx="54">
                  <c:v>0.5403134227</c:v>
                </c:pt>
                <c:pt idx="55">
                  <c:v>0.541041553</c:v>
                </c:pt>
                <c:pt idx="56">
                  <c:v>0.5417800546</c:v>
                </c:pt>
                <c:pt idx="57">
                  <c:v>0.5425291657</c:v>
                </c:pt>
                <c:pt idx="58">
                  <c:v>0.5432890654</c:v>
                </c:pt>
                <c:pt idx="59">
                  <c:v>0.5440599918</c:v>
                </c:pt>
                <c:pt idx="60">
                  <c:v>0.5448422432</c:v>
                </c:pt>
                <c:pt idx="61">
                  <c:v>0.5456361175</c:v>
                </c:pt>
                <c:pt idx="62">
                  <c:v>0.5464420915</c:v>
                </c:pt>
                <c:pt idx="63">
                  <c:v>0.5472604632</c:v>
                </c:pt>
                <c:pt idx="64">
                  <c:v>0.5480917692</c:v>
                </c:pt>
                <c:pt idx="65">
                  <c:v>0.5489364266</c:v>
                </c:pt>
                <c:pt idx="66">
                  <c:v>0.5497949123</c:v>
                </c:pt>
                <c:pt idx="67">
                  <c:v>0.5506677032</c:v>
                </c:pt>
                <c:pt idx="68">
                  <c:v>0.5515551567</c:v>
                </c:pt>
                <c:pt idx="69">
                  <c:v>0.5524577498</c:v>
                </c:pt>
                <c:pt idx="70">
                  <c:v>0.5533758402</c:v>
                </c:pt>
                <c:pt idx="71">
                  <c:v>0.5543096662</c:v>
                </c:pt>
                <c:pt idx="72">
                  <c:v>0.5552595854</c:v>
                </c:pt>
                <c:pt idx="73">
                  <c:v>0.5562258959</c:v>
                </c:pt>
                <c:pt idx="74">
                  <c:v>0.5572090149</c:v>
                </c:pt>
                <c:pt idx="75">
                  <c:v>0.5582093</c:v>
                </c:pt>
                <c:pt idx="76">
                  <c:v>0.5592271686</c:v>
                </c:pt>
                <c:pt idx="77">
                  <c:v>0.5602629185</c:v>
                </c:pt>
                <c:pt idx="78">
                  <c:v>0.5613167882</c:v>
                </c:pt>
                <c:pt idx="79">
                  <c:v>0.5623888969</c:v>
                </c:pt>
                <c:pt idx="80">
                  <c:v>0.5634793639</c:v>
                </c:pt>
                <c:pt idx="81">
                  <c:v>0.5645883679</c:v>
                </c:pt>
                <c:pt idx="82">
                  <c:v>0.5657159686</c:v>
                </c:pt>
                <c:pt idx="83">
                  <c:v>0.5668623447</c:v>
                </c:pt>
                <c:pt idx="84">
                  <c:v>0.5680274963</c:v>
                </c:pt>
                <c:pt idx="85">
                  <c:v>0.5692116022</c:v>
                </c:pt>
                <c:pt idx="86">
                  <c:v>0.5704144835</c:v>
                </c:pt>
                <c:pt idx="87">
                  <c:v>0.5716360807</c:v>
                </c:pt>
                <c:pt idx="88">
                  <c:v>0.5728763342</c:v>
                </c:pt>
                <c:pt idx="89">
                  <c:v>0.5741350651</c:v>
                </c:pt>
                <c:pt idx="90">
                  <c:v>0.575412035</c:v>
                </c:pt>
                <c:pt idx="91">
                  <c:v>0.5767071247</c:v>
                </c:pt>
                <c:pt idx="92">
                  <c:v>0.5780200958</c:v>
                </c:pt>
                <c:pt idx="93">
                  <c:v>0.5793507099</c:v>
                </c:pt>
                <c:pt idx="94">
                  <c:v>0.5806985497</c:v>
                </c:pt>
                <c:pt idx="95">
                  <c:v>0.5820629597</c:v>
                </c:pt>
                <c:pt idx="96">
                  <c:v>0.5834431052</c:v>
                </c:pt>
                <c:pt idx="97">
                  <c:v>0.5848382711</c:v>
                </c:pt>
                <c:pt idx="98">
                  <c:v>0.586247623</c:v>
                </c:pt>
                <c:pt idx="99">
                  <c:v>0.5876702666</c:v>
                </c:pt>
                <c:pt idx="100">
                  <c:v>0.5891053677</c:v>
                </c:pt>
                <c:pt idx="101">
                  <c:v>0.5905519724</c:v>
                </c:pt>
                <c:pt idx="102">
                  <c:v>0.5920092463</c:v>
                </c:pt>
                <c:pt idx="103">
                  <c:v>0.5934762359</c:v>
                </c:pt>
                <c:pt idx="104">
                  <c:v>0.5949520469</c:v>
                </c:pt>
                <c:pt idx="105">
                  <c:v>0.5964356065</c:v>
                </c:pt>
                <c:pt idx="106">
                  <c:v>0.5979260802</c:v>
                </c:pt>
                <c:pt idx="107">
                  <c:v>0.5994223356</c:v>
                </c:pt>
                <c:pt idx="108">
                  <c:v>0.6009232998</c:v>
                </c:pt>
                <c:pt idx="109">
                  <c:v>0.6024279594</c:v>
                </c:pt>
                <c:pt idx="110">
                  <c:v>0.6039352417</c:v>
                </c:pt>
                <c:pt idx="111">
                  <c:v>0.6054441333</c:v>
                </c:pt>
                <c:pt idx="112">
                  <c:v>0.6069535017</c:v>
                </c:pt>
                <c:pt idx="113">
                  <c:v>0.6084622741</c:v>
                </c:pt>
                <c:pt idx="114">
                  <c:v>0.6099693775</c:v>
                </c:pt>
                <c:pt idx="115">
                  <c:v>0.6114737391</c:v>
                </c:pt>
                <c:pt idx="116">
                  <c:v>0.6129742265</c:v>
                </c:pt>
                <c:pt idx="117">
                  <c:v>0.6144699454</c:v>
                </c:pt>
                <c:pt idx="118">
                  <c:v>0.6159597039</c:v>
                </c:pt>
                <c:pt idx="119">
                  <c:v>0.6174426675</c:v>
                </c:pt>
                <c:pt idx="120">
                  <c:v>0.6189178824</c:v>
                </c:pt>
                <c:pt idx="121">
                  <c:v>0.6203845739</c:v>
                </c:pt>
                <c:pt idx="122">
                  <c:v>0.6218417883</c:v>
                </c:pt>
                <c:pt idx="123">
                  <c:v>0.6232888699</c:v>
                </c:pt>
                <c:pt idx="124">
                  <c:v>0.6247249246</c:v>
                </c:pt>
                <c:pt idx="125">
                  <c:v>0.6261492968</c:v>
                </c:pt>
                <c:pt idx="126">
                  <c:v>0.627561152</c:v>
                </c:pt>
                <c:pt idx="127">
                  <c:v>0.6289598346</c:v>
                </c:pt>
                <c:pt idx="128">
                  <c:v>0.6303446293</c:v>
                </c:pt>
                <c:pt idx="129">
                  <c:v>0.6317147613</c:v>
                </c:pt>
                <c:pt idx="130">
                  <c:v>0.633069694</c:v>
                </c:pt>
                <c:pt idx="131">
                  <c:v>0.6344088316</c:v>
                </c:pt>
                <c:pt idx="132">
                  <c:v>0.6357316971</c:v>
                </c:pt>
                <c:pt idx="133">
                  <c:v>0.6370379925</c:v>
                </c:pt>
                <c:pt idx="134">
                  <c:v>0.6383273005</c:v>
                </c:pt>
                <c:pt idx="135">
                  <c:v>0.6395992041</c:v>
                </c:pt>
                <c:pt idx="136">
                  <c:v>0.6408533454</c:v>
                </c:pt>
                <c:pt idx="137">
                  <c:v>0.6420894861</c:v>
                </c:pt>
                <c:pt idx="138">
                  <c:v>0.643307209</c:v>
                </c:pt>
                <c:pt idx="139">
                  <c:v>0.6445061564</c:v>
                </c:pt>
                <c:pt idx="140">
                  <c:v>0.6456859708</c:v>
                </c:pt>
                <c:pt idx="141">
                  <c:v>0.6468461752</c:v>
                </c:pt>
                <c:pt idx="142">
                  <c:v>0.647986412</c:v>
                </c:pt>
                <c:pt idx="143">
                  <c:v>0.6491062045</c:v>
                </c:pt>
                <c:pt idx="144">
                  <c:v>0.650205195</c:v>
                </c:pt>
                <c:pt idx="145">
                  <c:v>0.6512832046</c:v>
                </c:pt>
                <c:pt idx="146">
                  <c:v>0.6523404121</c:v>
                </c:pt>
                <c:pt idx="147">
                  <c:v>0.6533772945</c:v>
                </c:pt>
                <c:pt idx="148">
                  <c:v>0.6543944478</c:v>
                </c:pt>
                <c:pt idx="149">
                  <c:v>0.6553925276</c:v>
                </c:pt>
                <c:pt idx="150">
                  <c:v>0.6563722491</c:v>
                </c:pt>
                <c:pt idx="151">
                  <c:v>0.6573343277</c:v>
                </c:pt>
                <c:pt idx="152">
                  <c:v>0.6582796574</c:v>
                </c:pt>
                <c:pt idx="153">
                  <c:v>0.6592091918</c:v>
                </c:pt>
                <c:pt idx="154">
                  <c:v>0.6601238251</c:v>
                </c:pt>
                <c:pt idx="155">
                  <c:v>0.6610245705</c:v>
                </c:pt>
                <c:pt idx="156">
                  <c:v>0.6619124413</c:v>
                </c:pt>
                <c:pt idx="157">
                  <c:v>0.6627883911</c:v>
                </c:pt>
                <c:pt idx="158">
                  <c:v>0.6636535525</c:v>
                </c:pt>
                <c:pt idx="159">
                  <c:v>0.6645089388</c:v>
                </c:pt>
                <c:pt idx="160">
                  <c:v>0.6653556824</c:v>
                </c:pt>
                <c:pt idx="161">
                  <c:v>0.6661947966</c:v>
                </c:pt>
                <c:pt idx="162">
                  <c:v>0.6670272946</c:v>
                </c:pt>
                <c:pt idx="163">
                  <c:v>0.6678541303</c:v>
                </c:pt>
                <c:pt idx="164">
                  <c:v>0.6686764956</c:v>
                </c:pt>
                <c:pt idx="165">
                  <c:v>0.6694951653</c:v>
                </c:pt>
                <c:pt idx="166">
                  <c:v>0.6703112125</c:v>
                </c:pt>
                <c:pt idx="167">
                  <c:v>0.6711255312</c:v>
                </c:pt>
                <c:pt idx="168">
                  <c:v>0.6719391942</c:v>
                </c:pt>
                <c:pt idx="169">
                  <c:v>0.6727530956</c:v>
                </c:pt>
                <c:pt idx="170">
                  <c:v>0.673568368</c:v>
                </c:pt>
                <c:pt idx="171">
                  <c:v>0.6743858457</c:v>
                </c:pt>
                <c:pt idx="172">
                  <c:v>0.6752063036</c:v>
                </c:pt>
                <c:pt idx="173">
                  <c:v>0.6760299206</c:v>
                </c:pt>
                <c:pt idx="174">
                  <c:v>0.6768569946</c:v>
                </c:pt>
                <c:pt idx="175">
                  <c:v>0.677687645</c:v>
                </c:pt>
                <c:pt idx="176">
                  <c:v>0.6785220504</c:v>
                </c:pt>
                <c:pt idx="177">
                  <c:v>0.6793603897</c:v>
                </c:pt>
                <c:pt idx="178">
                  <c:v>0.680202961</c:v>
                </c:pt>
                <c:pt idx="179">
                  <c:v>0.6810498238</c:v>
                </c:pt>
                <c:pt idx="180">
                  <c:v>0.6819009781</c:v>
                </c:pt>
                <c:pt idx="181">
                  <c:v>0.682756424</c:v>
                </c:pt>
                <c:pt idx="182">
                  <c:v>0.6836161613</c:v>
                </c:pt>
                <c:pt idx="183">
                  <c:v>0.6844800115</c:v>
                </c:pt>
                <c:pt idx="184">
                  <c:v>0.6853477359</c:v>
                </c:pt>
                <c:pt idx="185">
                  <c:v>0.686218977</c:v>
                </c:pt>
                <c:pt idx="186">
                  <c:v>0.6870934367</c:v>
                </c:pt>
                <c:pt idx="187">
                  <c:v>0.6879706979</c:v>
                </c:pt>
                <c:pt idx="188">
                  <c:v>0.6888501644</c:v>
                </c:pt>
                <c:pt idx="189">
                  <c:v>0.6897313595</c:v>
                </c:pt>
                <c:pt idx="190">
                  <c:v>0.6906136274</c:v>
                </c:pt>
                <c:pt idx="191">
                  <c:v>0.6914964318</c:v>
                </c:pt>
                <c:pt idx="192">
                  <c:v>0.6923791766</c:v>
                </c:pt>
                <c:pt idx="193">
                  <c:v>0.6932612062</c:v>
                </c:pt>
                <c:pt idx="194">
                  <c:v>0.694141686</c:v>
                </c:pt>
                <c:pt idx="195">
                  <c:v>0.69502002</c:v>
                </c:pt>
                <c:pt idx="196">
                  <c:v>0.6958954334</c:v>
                </c:pt>
                <c:pt idx="197">
                  <c:v>0.6967671514</c:v>
                </c:pt>
                <c:pt idx="198">
                  <c:v>0.6976345181</c:v>
                </c:pt>
                <c:pt idx="199">
                  <c:v>0.6984969378</c:v>
                </c:pt>
                <c:pt idx="200">
                  <c:v>0.6993542314</c:v>
                </c:pt>
                <c:pt idx="201">
                  <c:v>0.7002063394</c:v>
                </c:pt>
                <c:pt idx="202">
                  <c:v>0.7010532022</c:v>
                </c:pt>
                <c:pt idx="203">
                  <c:v>0.7018947005</c:v>
                </c:pt>
                <c:pt idx="204">
                  <c:v>0.7027306557</c:v>
                </c:pt>
                <c:pt idx="205">
                  <c:v>0.7035608888</c:v>
                </c:pt>
                <c:pt idx="206">
                  <c:v>0.7043853402</c:v>
                </c:pt>
                <c:pt idx="207">
                  <c:v>0.7052043676</c:v>
                </c:pt>
                <c:pt idx="208">
                  <c:v>0.7060180902</c:v>
                </c:pt>
                <c:pt idx="209">
                  <c:v>0.7068269849</c:v>
                </c:pt>
                <c:pt idx="210">
                  <c:v>0.70763129</c:v>
                </c:pt>
                <c:pt idx="211">
                  <c:v>0.7084314823</c:v>
                </c:pt>
                <c:pt idx="212">
                  <c:v>0.7092279792</c:v>
                </c:pt>
                <c:pt idx="213">
                  <c:v>0.7100210786</c:v>
                </c:pt>
                <c:pt idx="214">
                  <c:v>0.710811317</c:v>
                </c:pt>
                <c:pt idx="215">
                  <c:v>0.711599052</c:v>
                </c:pt>
                <c:pt idx="216">
                  <c:v>0.7123847008</c:v>
                </c:pt>
                <c:pt idx="217">
                  <c:v>0.7131686211</c:v>
                </c:pt>
                <c:pt idx="218">
                  <c:v>0.713950932</c:v>
                </c:pt>
                <c:pt idx="219">
                  <c:v>0.7147319913</c:v>
                </c:pt>
                <c:pt idx="220">
                  <c:v>0.7155118585</c:v>
                </c:pt>
                <c:pt idx="221">
                  <c:v>0.716290772</c:v>
                </c:pt>
                <c:pt idx="222">
                  <c:v>0.7170687318</c:v>
                </c:pt>
                <c:pt idx="223">
                  <c:v>0.7178459167</c:v>
                </c:pt>
                <c:pt idx="224">
                  <c:v>0.7186222672</c:v>
                </c:pt>
                <c:pt idx="225">
                  <c:v>0.7193979025</c:v>
                </c:pt>
                <c:pt idx="226">
                  <c:v>0.7201727033</c:v>
                </c:pt>
                <c:pt idx="227">
                  <c:v>0.72094661</c:v>
                </c:pt>
                <c:pt idx="228">
                  <c:v>0.721719563</c:v>
                </c:pt>
                <c:pt idx="229">
                  <c:v>0.7224915028</c:v>
                </c:pt>
                <c:pt idx="230">
                  <c:v>0.7232624292</c:v>
                </c:pt>
                <c:pt idx="231">
                  <c:v>0.7240322828</c:v>
                </c:pt>
                <c:pt idx="232">
                  <c:v>0.7248010039</c:v>
                </c:pt>
                <c:pt idx="233">
                  <c:v>0.7255687118</c:v>
                </c:pt>
                <c:pt idx="234">
                  <c:v>0.7263351083</c:v>
                </c:pt>
                <c:pt idx="235">
                  <c:v>0.7271001339</c:v>
                </c:pt>
                <c:pt idx="236">
                  <c:v>0.7278635502</c:v>
                </c:pt>
                <c:pt idx="237">
                  <c:v>0.7286251187</c:v>
                </c:pt>
                <c:pt idx="238">
                  <c:v>0.7293845415</c:v>
                </c:pt>
                <c:pt idx="239">
                  <c:v>0.7301414609</c:v>
                </c:pt>
                <c:pt idx="240">
                  <c:v>0.7308955789</c:v>
                </c:pt>
                <c:pt idx="241">
                  <c:v>0.7316464186</c:v>
                </c:pt>
                <c:pt idx="242">
                  <c:v>0.7323935032</c:v>
                </c:pt>
                <c:pt idx="243">
                  <c:v>0.7331364155</c:v>
                </c:pt>
                <c:pt idx="244">
                  <c:v>0.7338747978</c:v>
                </c:pt>
                <c:pt idx="245">
                  <c:v>0.7346083522</c:v>
                </c:pt>
                <c:pt idx="246">
                  <c:v>0.7353368402</c:v>
                </c:pt>
                <c:pt idx="247">
                  <c:v>0.7360601425</c:v>
                </c:pt>
                <c:pt idx="248">
                  <c:v>0.7367780209</c:v>
                </c:pt>
                <c:pt idx="249">
                  <c:v>0.737490356</c:v>
                </c:pt>
                <c:pt idx="250">
                  <c:v>0.7381970286</c:v>
                </c:pt>
                <c:pt idx="251">
                  <c:v>0.7388978004</c:v>
                </c:pt>
                <c:pt idx="252">
                  <c:v>0.7395925522</c:v>
                </c:pt>
                <c:pt idx="253">
                  <c:v>0.7402809858</c:v>
                </c:pt>
                <c:pt idx="254">
                  <c:v>0.7409627438</c:v>
                </c:pt>
                <c:pt idx="255">
                  <c:v>0.7416375279</c:v>
                </c:pt>
                <c:pt idx="256">
                  <c:v>0.7423050404</c:v>
                </c:pt>
                <c:pt idx="257">
                  <c:v>0.7429649234</c:v>
                </c:pt>
                <c:pt idx="258">
                  <c:v>0.7436168194</c:v>
                </c:pt>
                <c:pt idx="259">
                  <c:v>0.7442602515</c:v>
                </c:pt>
                <c:pt idx="260">
                  <c:v>0.7448949218</c:v>
                </c:pt>
                <c:pt idx="261">
                  <c:v>0.7455203533</c:v>
                </c:pt>
                <c:pt idx="262">
                  <c:v>0.7461362481</c:v>
                </c:pt>
                <c:pt idx="263">
                  <c:v>0.7467421889</c:v>
                </c:pt>
                <c:pt idx="264">
                  <c:v>0.7473378778</c:v>
                </c:pt>
                <c:pt idx="265">
                  <c:v>0.7479230762</c:v>
                </c:pt>
                <c:pt idx="266">
                  <c:v>0.7484974265</c:v>
                </c:pt>
                <c:pt idx="267">
                  <c:v>0.7490608096</c:v>
                </c:pt>
                <c:pt idx="268">
                  <c:v>0.749612987</c:v>
                </c:pt>
                <c:pt idx="269">
                  <c:v>0.7501539588</c:v>
                </c:pt>
                <c:pt idx="270">
                  <c:v>0.7506834865</c:v>
                </c:pt>
                <c:pt idx="271">
                  <c:v>0.7512015104</c:v>
                </c:pt>
                <c:pt idx="272">
                  <c:v>0.7517077923</c:v>
                </c:pt>
                <c:pt idx="273">
                  <c:v>0.7522022128</c:v>
                </c:pt>
                <c:pt idx="274">
                  <c:v>0.7526847124</c:v>
                </c:pt>
                <c:pt idx="275">
                  <c:v>0.7531551719</c:v>
                </c:pt>
                <c:pt idx="276">
                  <c:v>0.7536135912</c:v>
                </c:pt>
                <c:pt idx="277">
                  <c:v>0.7540599108</c:v>
                </c:pt>
                <c:pt idx="278">
                  <c:v>0.7544941902</c:v>
                </c:pt>
                <c:pt idx="279">
                  <c:v>0.7549163103</c:v>
                </c:pt>
                <c:pt idx="280">
                  <c:v>0.7553262711</c:v>
                </c:pt>
                <c:pt idx="281">
                  <c:v>0.7557241917</c:v>
                </c:pt>
                <c:pt idx="282">
                  <c:v>0.7561098933</c:v>
                </c:pt>
                <c:pt idx="283">
                  <c:v>0.7564835548</c:v>
                </c:pt>
                <c:pt idx="284">
                  <c:v>0.7568451166</c:v>
                </c:pt>
                <c:pt idx="285">
                  <c:v>0.7571947575</c:v>
                </c:pt>
                <c:pt idx="286">
                  <c:v>0.7575326562</c:v>
                </c:pt>
                <c:pt idx="287">
                  <c:v>0.757858932</c:v>
                </c:pt>
                <c:pt idx="288">
                  <c:v>0.7581738234</c:v>
                </c:pt>
                <c:pt idx="289">
                  <c:v>0.758477509</c:v>
                </c:pt>
                <c:pt idx="290">
                  <c:v>0.758770287</c:v>
                </c:pt>
                <c:pt idx="291">
                  <c:v>0.7590523958</c:v>
                </c:pt>
                <c:pt idx="292">
                  <c:v>0.7593241334</c:v>
                </c:pt>
                <c:pt idx="293">
                  <c:v>0.7595857382</c:v>
                </c:pt>
                <c:pt idx="294">
                  <c:v>0.7598374486</c:v>
                </c:pt>
                <c:pt idx="295">
                  <c:v>0.7600795031</c:v>
                </c:pt>
                <c:pt idx="296">
                  <c:v>0.7603121996</c:v>
                </c:pt>
                <c:pt idx="297">
                  <c:v>0.7605355978</c:v>
                </c:pt>
                <c:pt idx="298">
                  <c:v>0.7607500553</c:v>
                </c:pt>
                <c:pt idx="299">
                  <c:v>0.7609556317</c:v>
                </c:pt>
                <c:pt idx="300">
                  <c:v>0.7611526847</c:v>
                </c:pt>
                <c:pt idx="301">
                  <c:v>0.7613414526</c:v>
                </c:pt>
                <c:pt idx="302">
                  <c:v>0.7615221143</c:v>
                </c:pt>
                <c:pt idx="303">
                  <c:v>0.7616950274</c:v>
                </c:pt>
                <c:pt idx="304">
                  <c:v>0.7618603706</c:v>
                </c:pt>
                <c:pt idx="305">
                  <c:v>0.7620185018</c:v>
                </c:pt>
                <c:pt idx="306">
                  <c:v>0.7621695399</c:v>
                </c:pt>
                <c:pt idx="307">
                  <c:v>0.7623137832</c:v>
                </c:pt>
                <c:pt idx="308">
                  <c:v>0.7624514699</c:v>
                </c:pt>
                <c:pt idx="309">
                  <c:v>0.7625828385</c:v>
                </c:pt>
                <c:pt idx="310">
                  <c:v>0.7627080679</c:v>
                </c:pt>
                <c:pt idx="311">
                  <c:v>0.7628273964</c:v>
                </c:pt>
                <c:pt idx="312">
                  <c:v>0.7629409432</c:v>
                </c:pt>
                <c:pt idx="313">
                  <c:v>0.7630488873</c:v>
                </c:pt>
                <c:pt idx="314">
                  <c:v>0.7631512284</c:v>
                </c:pt>
                <c:pt idx="315">
                  <c:v>0.763248086</c:v>
                </c:pt>
                <c:pt idx="316">
                  <c:v>0.7633395791</c:v>
                </c:pt>
                <c:pt idx="317">
                  <c:v>0.7634257078</c:v>
                </c:pt>
                <c:pt idx="318">
                  <c:v>0.7635064721</c:v>
                </c:pt>
                <c:pt idx="319">
                  <c:v>0.7635819912</c:v>
                </c:pt>
                <c:pt idx="320">
                  <c:v>0.7636521459</c:v>
                </c:pt>
                <c:pt idx="321">
                  <c:v>0.7637169957</c:v>
                </c:pt>
                <c:pt idx="322">
                  <c:v>0.7637765408</c:v>
                </c:pt>
                <c:pt idx="323">
                  <c:v>0.7638308406</c:v>
                </c:pt>
                <c:pt idx="324">
                  <c:v>0.7638798356</c:v>
                </c:pt>
                <c:pt idx="325">
                  <c:v>0.7639235258</c:v>
                </c:pt>
                <c:pt idx="326">
                  <c:v>0.7639619112</c:v>
                </c:pt>
                <c:pt idx="327">
                  <c:v>0.763994813</c:v>
                </c:pt>
                <c:pt idx="328">
                  <c:v>0.7640222311</c:v>
                </c:pt>
                <c:pt idx="329">
                  <c:v>0.7640440464</c:v>
                </c:pt>
                <c:pt idx="330">
                  <c:v>0.7640601993</c:v>
                </c:pt>
                <c:pt idx="331">
                  <c:v>0.7640707493</c:v>
                </c:pt>
                <c:pt idx="332">
                  <c:v>0.7640758157</c:v>
                </c:pt>
                <c:pt idx="333">
                  <c:v>0.7640758753</c:v>
                </c:pt>
                <c:pt idx="334">
                  <c:v>0.7640712261</c:v>
                </c:pt>
                <c:pt idx="335">
                  <c:v>0.7640621662</c:v>
                </c:pt>
              </c:numCache>
            </c:numRef>
          </c:yVal>
        </c:ser>
        <c:dLbls>
          <c:txPr>
            <a:bodyPr anchorCtr="1"/>
            <a:lstStyle/>
            <a:p>
              <a:pPr>
                <a:defRPr>
                  <a:latin typeface="Helvetica Neue"/>
                  <a:ea typeface="Helvetica Neue"/>
                  <a:cs typeface="Helvetica Neue"/>
                </a:defRPr>
              </a:pPr>
            </a:p>
          </c:txPr>
          <c:showLegendKey val="0"/>
          <c:showVal val="0"/>
          <c:showCatName val="0"/>
          <c:showSerName val="0"/>
          <c:showPercent val="0"/>
          <c:showBubbleSize val="0"/>
          <c:showLeaderLines val="0"/>
        </c:dLbls>
        <c:axId val="48650112"/>
        <c:axId val="48672768"/>
      </c:scatterChart>
      <c:valAx>
        <c:axId val="48672768"/>
        <c:scaling>
          <c:orientation val="minMax"/>
        </c:scaling>
        <c:delete val="0"/>
        <c:axPos val="l"/>
        <c:majorGridlines>
          <c:spPr>
            <a:ln w="9525">
              <a:solidFill>
                <a:srgbClr val="E4E8EB"/>
              </a:solidFill>
              <a:prstDash val="solid"/>
            </a:ln>
          </c:spPr>
        </c:majorGridlines>
        <c:title>
          <c:tx>
            <c:rich>
              <a:bodyPr/>
              <a:lstStyle/>
              <a:p>
                <a:r>
                  <a:rPr sz="1575">
                    <a:latin typeface="Helvetica Neue"/>
                    <a:ea typeface="Helvetica Neue"/>
                    <a:cs typeface="Helvetica Neue"/>
                  </a:rPr>
                  <a:t>Componentes (mm/h)</a:t>
                </a:r>
              </a:p>
            </c:rich>
          </c:tx>
          <c:overlay val="0"/>
          <c:txPr>
            <a:bodyPr anchorCtr="1"/>
            <a:lstStyle/>
            <a:p>
              <a:pPr>
                <a:defRPr sz="1575">
                  <a:latin typeface="Helvetica Neue"/>
                  <a:ea typeface="Helvetica Neue"/>
                  <a:cs typeface="Helvetica Neue"/>
                </a:defRPr>
              </a:pPr>
            </a:p>
          </c:txPr>
        </c:title>
        <c:numFmt formatCode="0.0"/>
        <c:majorTickMark val="none"/>
        <c:minorTickMark val="none"/>
        <c:spPr>
          <a:ln w="9525">
            <a:solidFill>
              <a:srgbClr val="D4D4D4"/>
            </a:solidFill>
            <a:prstDash val="solid"/>
          </a:ln>
        </c:spPr>
        <c:txPr>
          <a:bodyPr anchorCtr="1"/>
          <a:lstStyle/>
          <a:p>
            <a:pPr>
              <a:defRPr sz="1425">
                <a:solidFill>
                  <a:srgbClr val="5D6267"/>
                </a:solidFill>
                <a:latin typeface="Helvetica Neue"/>
                <a:ea typeface="Helvetica Neue"/>
                <a:cs typeface="Helvetica Neue"/>
              </a:defRPr>
            </a:pPr>
          </a:p>
        </c:txPr>
        <c:crossAx val="48650112"/>
      </c:valAx>
      <c:valAx>
        <c:axId val="48650112"/>
        <c:scaling>
          <c:orientation val="minMax"/>
          <c:max val="0"/>
          <c:min val="-335"/>
        </c:scaling>
        <c:delete val="0"/>
        <c:axPos val="b"/>
        <c:title>
          <c:tx>
            <c:rich>
              <a:bodyPr/>
              <a:lstStyle/>
              <a:p>
                <a:r>
                  <a:rPr sz="1575">
                    <a:latin typeface="Helvetica Neue"/>
                    <a:ea typeface="Helvetica Neue"/>
                    <a:cs typeface="Helvetica Neue"/>
                  </a:rPr>
                  <a:t>Horas respecto al final de la historia</a:t>
                </a:r>
              </a:p>
            </c:rich>
          </c:tx>
          <c:overlay val="0"/>
          <c:txPr>
            <a:bodyPr anchorCtr="1"/>
            <a:lstStyle/>
            <a:p>
              <a:pPr>
                <a:defRPr sz="1575">
                  <a:latin typeface="Helvetica Neue"/>
                  <a:ea typeface="Helvetica Neue"/>
                  <a:cs typeface="Helvetica Neue"/>
                </a:defRPr>
              </a:pPr>
            </a:p>
          </c:txPr>
        </c:title>
        <c:numFmt formatCode="0"/>
        <c:majorTickMark val="none"/>
        <c:minorTickMark val="none"/>
        <c:spPr>
          <a:ln w="9525">
            <a:solidFill>
              <a:srgbClr val="D4D4D4"/>
            </a:solidFill>
            <a:prstDash val="solid"/>
          </a:ln>
        </c:spPr>
        <c:txPr>
          <a:bodyPr anchorCtr="1"/>
          <a:lstStyle/>
          <a:p>
            <a:pPr>
              <a:defRPr sz="1425">
                <a:solidFill>
                  <a:srgbClr val="5D6267"/>
                </a:solidFill>
                <a:latin typeface="Helvetica Neue"/>
                <a:ea typeface="Helvetica Neue"/>
                <a:cs typeface="Helvetica Neue"/>
              </a:defRPr>
            </a:pPr>
          </a:p>
        </c:txPr>
        <c:crossAx val="48672768"/>
        <c:majorUnit val="48"/>
      </c:valAx>
      <c:spPr>
        <a:solidFill>
          <a:srgbClr val="FFFFFF"/>
        </a:solidFill>
        <a:ln w="0">
          <a:noFill/>
        </a:ln>
      </c:spPr>
    </c:plotArea>
    <c:legend>
      <c:legendPos val="b"/>
      <c:overlay val="0"/>
      <c:txPr>
        <a:bodyPr anchorCtr="1"/>
        <a:lstStyle/>
        <a:p>
          <a:pPr>
            <a:defRPr sz="1650">
              <a:solidFill>
                <a:srgbClr val="242C33"/>
              </a:solidFill>
              <a:latin typeface="Helvetica Neue"/>
              <a:ea typeface="Helvetica Neue"/>
              <a:cs typeface="Helvetica Neue"/>
            </a:defRPr>
          </a:pPr>
        </a:p>
      </c:txPr>
    </c:legend>
    <c:plotVisOnly val="1"/>
  </c:chart>
  <c:spPr>
    <a:solidFill>
      <a:srgbClr val="FFFFFF"/>
    </a:solidFill>
    <a:l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scatterChart>
        <c:scatterStyle val="line"/>
        <c:ser>
          <c:idx val="0"/>
          <c:order val="0"/>
          <c:tx>
            <c:v>LSTM</c:v>
          </c:tx>
          <c:spPr>
            <a:ln xmlns:a="http://schemas.openxmlformats.org/drawingml/2006/main" w="26670">
              <a:solidFill>
                <a:srgbClr val="064B6B"/>
              </a:solidFill>
              <a:prstDash val="solid"/>
            </a:ln>
          </c:spPr>
          <c:marker>
            <c:symbol val="none"/>
          </c:marker>
          <c:xVal>
            <c:numRef>
              <c:f>'Chart Data'!$A$2:$A$21</c:f>
              <c:numCache>
                <c:formatCode>General</c:formatCod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numCache>
            </c:numRef>
          </c:xVal>
          <c:yVal>
            <c:numRef>
              <c:f>'Chart Data'!$B$2:$B$21</c:f>
              <c:numCache>
                <c:formatCode>0.00</c:formatCode>
                <c:ptCount val="20"/>
                <c:pt idx="0">
                  <c:v>0.4543403115</c:v>
                </c:pt>
                <c:pt idx="1">
                  <c:v>0.4086203716</c:v>
                </c:pt>
                <c:pt idx="2">
                  <c:v>0.3977067604</c:v>
                </c:pt>
                <c:pt idx="3">
                  <c:v>0.3904987351</c:v>
                </c:pt>
                <c:pt idx="4">
                  <c:v>0.3859228356</c:v>
                </c:pt>
                <c:pt idx="5">
                  <c:v>0.3803223738</c:v>
                </c:pt>
                <c:pt idx="6">
                  <c:v>0.3777067817</c:v>
                </c:pt>
                <c:pt idx="7">
                  <c:v>0.372412981</c:v>
                </c:pt>
                <c:pt idx="8">
                  <c:v>0.3701943089</c:v>
                </c:pt>
                <c:pt idx="9">
                  <c:v>0.3651318729</c:v>
                </c:pt>
                <c:pt idx="10">
                  <c:v>0.3609924156</c:v>
                </c:pt>
                <c:pt idx="11">
                  <c:v>0.3578091695</c:v>
                </c:pt>
                <c:pt idx="12">
                  <c:v>0.3545382808</c:v>
                </c:pt>
                <c:pt idx="13">
                  <c:v>0.3485748396</c:v>
                </c:pt>
                <c:pt idx="14">
                  <c:v>0.3444824215</c:v>
                </c:pt>
                <c:pt idx="15">
                  <c:v>0.3401333168</c:v>
                </c:pt>
                <c:pt idx="16">
                  <c:v>0.3362670536</c:v>
                </c:pt>
                <c:pt idx="17">
                  <c:v>0.3304385486</c:v>
                </c:pt>
                <c:pt idx="18">
                  <c:v>0.3251891718</c:v>
                </c:pt>
                <c:pt idx="19">
                  <c:v>0.3215722725</c:v>
                </c:pt>
              </c:numCache>
            </c:numRef>
          </c:yVal>
        </c:ser>
        <c:ser>
          <c:idx val="1"/>
          <c:order val="1"/>
          <c:tx>
            <c:v>DMEL</c:v>
          </c:tx>
          <c:spPr>
            <a:ln xmlns:a="http://schemas.openxmlformats.org/drawingml/2006/main" w="26670">
              <a:solidFill>
                <a:srgbClr val="AA5834"/>
              </a:solidFill>
              <a:prstDash val="solid"/>
            </a:ln>
          </c:spPr>
          <c:marker>
            <c:symbol val="none"/>
          </c:marker>
          <c:xVal>
            <c:numRef>
              <c:f>'Chart Data'!$C$2:$C$21</c:f>
              <c:numCache>
                <c:formatCode>General</c:formatCod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numCache>
            </c:numRef>
          </c:xVal>
          <c:yVal>
            <c:numRef>
              <c:f>'Chart Data'!$D$2:$D$21</c:f>
              <c:numCache>
                <c:formatCode>0.00</c:formatCode>
                <c:ptCount val="20"/>
                <c:pt idx="0">
                  <c:v>0.4800317551</c:v>
                </c:pt>
                <c:pt idx="1">
                  <c:v>0.4432140333</c:v>
                </c:pt>
                <c:pt idx="2">
                  <c:v>0.4326726082</c:v>
                </c:pt>
                <c:pt idx="3">
                  <c:v>0.4269713481</c:v>
                </c:pt>
                <c:pt idx="4">
                  <c:v>0.4202306811</c:v>
                </c:pt>
                <c:pt idx="5">
                  <c:v>0.4136764498</c:v>
                </c:pt>
                <c:pt idx="6">
                  <c:v>0.4097784059</c:v>
                </c:pt>
                <c:pt idx="7">
                  <c:v>0.4022333961</c:v>
                </c:pt>
                <c:pt idx="8">
                  <c:v>0.4007058797</c:v>
                </c:pt>
                <c:pt idx="9">
                  <c:v>0.3971430779</c:v>
                </c:pt>
                <c:pt idx="10">
                  <c:v>0.3939040781</c:v>
                </c:pt>
                <c:pt idx="11">
                  <c:v>0.3874224836</c:v>
                </c:pt>
                <c:pt idx="12">
                  <c:v>0.3836990736</c:v>
                </c:pt>
                <c:pt idx="13">
                  <c:v>0.3775705702</c:v>
                </c:pt>
                <c:pt idx="14">
                  <c:v>0.3723169706</c:v>
                </c:pt>
                <c:pt idx="15">
                  <c:v>0.37277265</c:v>
                </c:pt>
                <c:pt idx="16">
                  <c:v>0.3656034653</c:v>
                </c:pt>
                <c:pt idx="17">
                  <c:v>0.3577179543</c:v>
                </c:pt>
                <c:pt idx="18">
                  <c:v>0.3515963079</c:v>
                </c:pt>
                <c:pt idx="19">
                  <c:v>0.3522255458</c:v>
                </c:pt>
              </c:numCache>
            </c:numRef>
          </c:y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axId val="48650112"/>
        <c:axId val="48672768"/>
      </c:scatterChart>
      <c:valAx>
        <c:axId val="48672768"/>
        <c:scaling>
          <c:orientation val="minMax"/>
          <c:max val="0.5"/>
          <c:min val="0.3"/>
        </c:scaling>
        <c:delete val="0"/>
        <c:axPos val="l"/>
        <c:majorGridlines>
          <c:spPr>
            <a:ln xmlns:a="http://schemas.openxmlformats.org/drawingml/2006/main" w="9525">
              <a:solidFill>
                <a:srgbClr val="DEE4E8"/>
              </a:solidFill>
              <a:prstDash val="solid"/>
            </a:ln>
          </c:spPr>
        </c:majorGridlines>
        <c:title>
          <c:tx>
            <c:rich>
              <a:bodyPr xmlns:a="http://schemas.openxmlformats.org/drawingml/2006/main"/>
              <a:lstStyle xmlns:a="http://schemas.openxmlformats.org/drawingml/2006/main"/>
              <a:p xmlns:a="http://schemas.openxmlformats.org/drawingml/2006/main">
                <a:r>
                  <a:rPr sz="1500">
                    <a:latin typeface="Helvetica Neue"/>
                    <a:ea typeface="Helvetica Neue"/>
                    <a:cs typeface="Helvetica Neue"/>
                  </a:rPr>
                  <a:t>MSE normalizado</a:t>
                </a:r>
              </a:p>
            </c:rich>
          </c:tx>
          <c:overlay val="0"/>
          <c:txPr>
            <a:bodyPr xmlns:a="http://schemas.openxmlformats.org/drawingml/2006/main" anchorCtr="1"/>
            <a:lstStyle xmlns:a="http://schemas.openxmlformats.org/drawingml/2006/main"/>
            <a:p xmlns:a="http://schemas.openxmlformats.org/drawingml/2006/main">
              <a:pPr>
                <a:defRPr sz="1500">
                  <a:latin typeface="Helvetica Neue"/>
                  <a:ea typeface="Helvetica Neue"/>
                  <a:cs typeface="Helvetica Neue"/>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D6267"/>
                </a:solidFill>
                <a:latin typeface="Helvetica Neue"/>
                <a:ea typeface="Helvetica Neue"/>
                <a:cs typeface="Helvetica Neue"/>
              </a:defRPr>
            </a:pPr>
          </a:p>
        </c:txPr>
        <c:crossAx val="48650112"/>
        <c:majorUnit val="0.05"/>
      </c:valAx>
      <c:valAx>
        <c:axId val="48650112"/>
        <c:scaling>
          <c:orientation val="minMax"/>
          <c:max val="20"/>
          <c:min val="0"/>
        </c:scaling>
        <c:delete val="0"/>
        <c:axPos val="b"/>
        <c:title>
          <c:tx>
            <c:rich>
              <a:bodyPr xmlns:a="http://schemas.openxmlformats.org/drawingml/2006/main"/>
              <a:lstStyle xmlns:a="http://schemas.openxmlformats.org/drawingml/2006/main"/>
              <a:p xmlns:a="http://schemas.openxmlformats.org/drawingml/2006/main">
                <a:r>
                  <a:rPr sz="1500">
                    <a:latin typeface="Helvetica Neue"/>
                    <a:ea typeface="Helvetica Neue"/>
                    <a:cs typeface="Helvetica Neue"/>
                  </a:rPr>
                  <a:t>Época</a:t>
                </a:r>
              </a:p>
            </c:rich>
          </c:tx>
          <c:overlay val="0"/>
          <c:txPr>
            <a:bodyPr xmlns:a="http://schemas.openxmlformats.org/drawingml/2006/main" anchorCtr="1"/>
            <a:lstStyle xmlns:a="http://schemas.openxmlformats.org/drawingml/2006/main"/>
            <a:p xmlns:a="http://schemas.openxmlformats.org/drawingml/2006/main">
              <a:pPr>
                <a:defRPr sz="1500">
                  <a:latin typeface="Helvetica Neue"/>
                  <a:ea typeface="Helvetica Neue"/>
                  <a:cs typeface="Helvetica Neue"/>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D6267"/>
                </a:solidFill>
                <a:latin typeface="Helvetica Neue"/>
                <a:ea typeface="Helvetica Neue"/>
                <a:cs typeface="Helvetica Neue"/>
              </a:defRPr>
            </a:pPr>
          </a:p>
        </c:txPr>
        <c:crossAx val="48672768"/>
        <c:majorUnit val="5"/>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242C33"/>
              </a:solidFill>
              <a:latin typeface="Helvetica Neue"/>
              <a:ea typeface="Helvetica Neue"/>
              <a:cs typeface="Helvetica Neue"/>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scatterChart>
        <c:scatterStyle val="line"/>
        <c:ser>
          <c:idx val="0"/>
          <c:order val="0"/>
          <c:tx>
            <c:v>LSTM</c:v>
          </c:tx>
          <c:spPr>
            <a:ln xmlns:a="http://schemas.openxmlformats.org/drawingml/2006/main" w="26670">
              <a:solidFill>
                <a:srgbClr val="064B6B"/>
              </a:solidFill>
              <a:prstDash val="solid"/>
            </a:ln>
          </c:spPr>
          <c:marker>
            <c:symbol val="none"/>
          </c:marker>
          <c:xVal>
            <c:numRef>
              <c:f>'Chart Data'!$A$2:$A$21</c:f>
              <c:numCache>
                <c:formatCode>General</c:formatCod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numCache>
            </c:numRef>
          </c:xVal>
          <c:yVal>
            <c:numRef>
              <c:f>'Chart Data'!$B$2:$B$21</c:f>
              <c:numCache>
                <c:formatCode>0.000</c:formatCode>
                <c:ptCount val="20"/>
                <c:pt idx="0">
                  <c:v>0.1077059515</c:v>
                </c:pt>
                <c:pt idx="1">
                  <c:v>0.1064897597</c:v>
                </c:pt>
                <c:pt idx="2">
                  <c:v>0.1044919738</c:v>
                </c:pt>
                <c:pt idx="3">
                  <c:v>0.1038984243</c:v>
                </c:pt>
                <c:pt idx="4">
                  <c:v>0.1031391072</c:v>
                </c:pt>
                <c:pt idx="5">
                  <c:v>0.1031681413</c:v>
                </c:pt>
                <c:pt idx="6">
                  <c:v>0.1026050642</c:v>
                </c:pt>
                <c:pt idx="7">
                  <c:v>0.1023678481</c:v>
                </c:pt>
                <c:pt idx="8">
                  <c:v>0.1029633738</c:v>
                </c:pt>
                <c:pt idx="9">
                  <c:v>0.102283062</c:v>
                </c:pt>
                <c:pt idx="10">
                  <c:v>0.1027317068</c:v>
                </c:pt>
                <c:pt idx="11">
                  <c:v>0.1031232473</c:v>
                </c:pt>
                <c:pt idx="12">
                  <c:v>0.1028641233</c:v>
                </c:pt>
                <c:pt idx="13">
                  <c:v>0.1023421829</c:v>
                </c:pt>
                <c:pt idx="14">
                  <c:v>0.1024326325</c:v>
                </c:pt>
                <c:pt idx="15">
                  <c:v>0.1034709919</c:v>
                </c:pt>
                <c:pt idx="16">
                  <c:v>0.1047892471</c:v>
                </c:pt>
                <c:pt idx="17">
                  <c:v>0.1045882732</c:v>
                </c:pt>
                <c:pt idx="18">
                  <c:v>0.1053612001</c:v>
                </c:pt>
                <c:pt idx="19">
                  <c:v>0.1066446567</c:v>
                </c:pt>
              </c:numCache>
            </c:numRef>
          </c:yVal>
        </c:ser>
        <c:ser>
          <c:idx val="1"/>
          <c:order val="1"/>
          <c:tx>
            <c:v>DMEL</c:v>
          </c:tx>
          <c:spPr>
            <a:ln xmlns:a="http://schemas.openxmlformats.org/drawingml/2006/main" w="26670">
              <a:solidFill>
                <a:srgbClr val="AA5834"/>
              </a:solidFill>
              <a:prstDash val="solid"/>
            </a:ln>
          </c:spPr>
          <c:marker>
            <c:symbol val="none"/>
          </c:marker>
          <c:xVal>
            <c:numRef>
              <c:f>'Chart Data'!$C$2:$C$21</c:f>
              <c:numCache>
                <c:formatCode>General</c:formatCod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numCache>
            </c:numRef>
          </c:xVal>
          <c:yVal>
            <c:numRef>
              <c:f>'Chart Data'!$D$2:$D$21</c:f>
              <c:numCache>
                <c:formatCode>0.000</c:formatCode>
                <c:ptCount val="20"/>
                <c:pt idx="0">
                  <c:v>0.1133780709</c:v>
                </c:pt>
                <c:pt idx="1">
                  <c:v>0.1124066461</c:v>
                </c:pt>
                <c:pt idx="2">
                  <c:v>0.1103576179</c:v>
                </c:pt>
                <c:pt idx="3">
                  <c:v>0.1087785963</c:v>
                </c:pt>
                <c:pt idx="4">
                  <c:v>0.1097241943</c:v>
                </c:pt>
                <c:pt idx="5">
                  <c:v>0.1079381548</c:v>
                </c:pt>
                <c:pt idx="6">
                  <c:v>0.1079868606</c:v>
                </c:pt>
                <c:pt idx="7">
                  <c:v>0.1079010421</c:v>
                </c:pt>
                <c:pt idx="8">
                  <c:v>0.1089255579</c:v>
                </c:pt>
                <c:pt idx="9">
                  <c:v>0.1056661151</c:v>
                </c:pt>
                <c:pt idx="10">
                  <c:v>0.1078284105</c:v>
                </c:pt>
                <c:pt idx="11">
                  <c:v>0.1062339726</c:v>
                </c:pt>
                <c:pt idx="12">
                  <c:v>0.1067604606</c:v>
                </c:pt>
                <c:pt idx="13">
                  <c:v>0.1086974561</c:v>
                </c:pt>
                <c:pt idx="14">
                  <c:v>0.1072935185</c:v>
                </c:pt>
                <c:pt idx="15">
                  <c:v>0.1076597529</c:v>
                </c:pt>
                <c:pt idx="16">
                  <c:v>0.1073361844</c:v>
                </c:pt>
                <c:pt idx="17">
                  <c:v>0.1089585124</c:v>
                </c:pt>
                <c:pt idx="18">
                  <c:v>0.1077135531</c:v>
                </c:pt>
                <c:pt idx="19">
                  <c:v>0.1079396847</c:v>
                </c:pt>
              </c:numCache>
            </c:numRef>
          </c:y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axId val="48650112"/>
        <c:axId val="48672768"/>
      </c:scatterChart>
      <c:valAx>
        <c:axId val="48672768"/>
        <c:scaling>
          <c:orientation val="minMax"/>
          <c:max val="0.115"/>
          <c:min val="0.1"/>
        </c:scaling>
        <c:delete val="0"/>
        <c:axPos val="l"/>
        <c:majorGridlines>
          <c:spPr>
            <a:ln xmlns:a="http://schemas.openxmlformats.org/drawingml/2006/main" w="9525">
              <a:solidFill>
                <a:srgbClr val="DEE4E8"/>
              </a:solidFill>
              <a:prstDash val="solid"/>
            </a:ln>
          </c:spPr>
        </c:majorGridlines>
        <c:title>
          <c:tx>
            <c:rich>
              <a:bodyPr xmlns:a="http://schemas.openxmlformats.org/drawingml/2006/main"/>
              <a:lstStyle xmlns:a="http://schemas.openxmlformats.org/drawingml/2006/main"/>
              <a:p xmlns:a="http://schemas.openxmlformats.org/drawingml/2006/main">
                <a:r>
                  <a:rPr sz="1500">
                    <a:latin typeface="Helvetica Neue"/>
                    <a:ea typeface="Helvetica Neue"/>
                    <a:cs typeface="Helvetica Neue"/>
                  </a:rPr>
                  <a:t>RMSE (mm/h)</a:t>
                </a:r>
              </a:p>
            </c:rich>
          </c:tx>
          <c:overlay val="0"/>
          <c:txPr>
            <a:bodyPr xmlns:a="http://schemas.openxmlformats.org/drawingml/2006/main" anchorCtr="1"/>
            <a:lstStyle xmlns:a="http://schemas.openxmlformats.org/drawingml/2006/main"/>
            <a:p xmlns:a="http://schemas.openxmlformats.org/drawingml/2006/main">
              <a:pPr>
                <a:defRPr sz="1500">
                  <a:latin typeface="Helvetica Neue"/>
                  <a:ea typeface="Helvetica Neue"/>
                  <a:cs typeface="Helvetica Neue"/>
                </a:defRPr>
              </a:pPr>
            </a:p>
          </c:txPr>
        </c:title>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D6267"/>
                </a:solidFill>
                <a:latin typeface="Helvetica Neue"/>
                <a:ea typeface="Helvetica Neue"/>
                <a:cs typeface="Helvetica Neue"/>
              </a:defRPr>
            </a:pPr>
          </a:p>
        </c:txPr>
        <c:crossAx val="48650112"/>
        <c:majorUnit val="0.005"/>
      </c:valAx>
      <c:valAx>
        <c:axId val="48650112"/>
        <c:scaling>
          <c:orientation val="minMax"/>
          <c:max val="20"/>
          <c:min val="0"/>
        </c:scaling>
        <c:delete val="0"/>
        <c:axPos val="b"/>
        <c:title>
          <c:tx>
            <c:rich>
              <a:bodyPr xmlns:a="http://schemas.openxmlformats.org/drawingml/2006/main"/>
              <a:lstStyle xmlns:a="http://schemas.openxmlformats.org/drawingml/2006/main"/>
              <a:p xmlns:a="http://schemas.openxmlformats.org/drawingml/2006/main">
                <a:r>
                  <a:rPr sz="1500">
                    <a:latin typeface="Helvetica Neue"/>
                    <a:ea typeface="Helvetica Neue"/>
                    <a:cs typeface="Helvetica Neue"/>
                  </a:rPr>
                  <a:t>Época</a:t>
                </a:r>
              </a:p>
            </c:rich>
          </c:tx>
          <c:overlay val="0"/>
          <c:txPr>
            <a:bodyPr xmlns:a="http://schemas.openxmlformats.org/drawingml/2006/main" anchorCtr="1"/>
            <a:lstStyle xmlns:a="http://schemas.openxmlformats.org/drawingml/2006/main"/>
            <a:p xmlns:a="http://schemas.openxmlformats.org/drawingml/2006/main">
              <a:pPr>
                <a:defRPr sz="1500">
                  <a:latin typeface="Helvetica Neue"/>
                  <a:ea typeface="Helvetica Neue"/>
                  <a:cs typeface="Helvetica Neue"/>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D6267"/>
                </a:solidFill>
                <a:latin typeface="Helvetica Neue"/>
                <a:ea typeface="Helvetica Neue"/>
                <a:cs typeface="Helvetica Neue"/>
              </a:defRPr>
            </a:pPr>
          </a:p>
        </c:txPr>
        <c:crossAx val="48672768"/>
        <c:majorUnit val="5"/>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242C33"/>
              </a:solidFill>
              <a:latin typeface="Helvetica Neue"/>
              <a:ea typeface="Helvetica Neue"/>
              <a:cs typeface="Helvetica Neue"/>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scatterChart>
        <c:scatterStyle val="line"/>
        <c:ser>
          <c:idx val="0"/>
          <c:order val="0"/>
          <c:tx>
            <c:v>LSTM</c:v>
          </c:tx>
          <c:spPr>
            <a:ln xmlns:a="http://schemas.openxmlformats.org/drawingml/2006/main" w="26670">
              <a:solidFill>
                <a:srgbClr val="064B6B"/>
              </a:solidFill>
              <a:prstDash val="solid"/>
            </a:ln>
          </c:spPr>
          <c:marker>
            <c:symbol val="none"/>
          </c:marker>
          <c:xVal>
            <c:numRef>
              <c:f>'Chart Data'!$A$2:$A$49</c:f>
              <c:numCache>
                <c:formatCode>General</c:formatCode>
                <c:ptCount val="48"/>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numCache>
            </c:numRef>
          </c:xVal>
          <c:yVal>
            <c:numRef>
              <c:f>'Chart Data'!$B$2:$B$49</c:f>
              <c:numCache>
                <c:formatCode>0.000</c:formatCode>
                <c:ptCount val="48"/>
                <c:pt idx="0">
                  <c:v>0.03270539668</c:v>
                </c:pt>
                <c:pt idx="1">
                  <c:v>0.04480947079</c:v>
                </c:pt>
                <c:pt idx="2">
                  <c:v>0.05296073717</c:v>
                </c:pt>
                <c:pt idx="3">
                  <c:v>0.05941315373</c:v>
                </c:pt>
                <c:pt idx="4">
                  <c:v>0.06197837077</c:v>
                </c:pt>
                <c:pt idx="5">
                  <c:v>0.06333737563</c:v>
                </c:pt>
                <c:pt idx="6">
                  <c:v>0.06386187067</c:v>
                </c:pt>
                <c:pt idx="7">
                  <c:v>0.0637551909</c:v>
                </c:pt>
                <c:pt idx="8">
                  <c:v>0.06333618036</c:v>
                </c:pt>
                <c:pt idx="9">
                  <c:v>0.06560454874</c:v>
                </c:pt>
                <c:pt idx="10">
                  <c:v>0.07054181123</c:v>
                </c:pt>
                <c:pt idx="11">
                  <c:v>0.0746522644</c:v>
                </c:pt>
                <c:pt idx="12">
                  <c:v>0.07802518451</c:v>
                </c:pt>
                <c:pt idx="13">
                  <c:v>0.08025236331</c:v>
                </c:pt>
                <c:pt idx="14">
                  <c:v>0.08302942299</c:v>
                </c:pt>
                <c:pt idx="15">
                  <c:v>0.08538970172</c:v>
                </c:pt>
                <c:pt idx="16">
                  <c:v>0.08817889611</c:v>
                </c:pt>
                <c:pt idx="17">
                  <c:v>0.09116999389</c:v>
                </c:pt>
                <c:pt idx="18">
                  <c:v>0.0961041639</c:v>
                </c:pt>
                <c:pt idx="19">
                  <c:v>0.1124298731</c:v>
                </c:pt>
                <c:pt idx="20">
                  <c:v>0.1322524023</c:v>
                </c:pt>
                <c:pt idx="21">
                  <c:v>0.142800816</c:v>
                </c:pt>
                <c:pt idx="22">
                  <c:v>0.1259789928</c:v>
                </c:pt>
                <c:pt idx="23">
                  <c:v>0.1096931989</c:v>
                </c:pt>
                <c:pt idx="24">
                  <c:v>0.1028126282</c:v>
                </c:pt>
                <c:pt idx="25">
                  <c:v>0.1018049136</c:v>
                </c:pt>
                <c:pt idx="26">
                  <c:v>0.1055082023</c:v>
                </c:pt>
                <c:pt idx="27">
                  <c:v>0.1127080109</c:v>
                </c:pt>
                <c:pt idx="28">
                  <c:v>0.1122350499</c:v>
                </c:pt>
                <c:pt idx="29">
                  <c:v>0.1131979365</c:v>
                </c:pt>
                <c:pt idx="30">
                  <c:v>0.1103754287</c:v>
                </c:pt>
                <c:pt idx="31">
                  <c:v>0.1101759057</c:v>
                </c:pt>
                <c:pt idx="32">
                  <c:v>0.1152520532</c:v>
                </c:pt>
                <c:pt idx="33">
                  <c:v>0.1188196435</c:v>
                </c:pt>
                <c:pt idx="34">
                  <c:v>0.1189083245</c:v>
                </c:pt>
                <c:pt idx="35">
                  <c:v>0.1187857974</c:v>
                </c:pt>
                <c:pt idx="36">
                  <c:v>0.1196778493</c:v>
                </c:pt>
                <c:pt idx="37">
                  <c:v>0.1208216404</c:v>
                </c:pt>
                <c:pt idx="38">
                  <c:v>0.1215579955</c:v>
                </c:pt>
                <c:pt idx="39">
                  <c:v>0.1213643704</c:v>
                </c:pt>
                <c:pt idx="40">
                  <c:v>0.1210762615</c:v>
                </c:pt>
                <c:pt idx="41">
                  <c:v>0.1215738423</c:v>
                </c:pt>
                <c:pt idx="42">
                  <c:v>0.1237463998</c:v>
                </c:pt>
                <c:pt idx="43">
                  <c:v>0.1237248165</c:v>
                </c:pt>
                <c:pt idx="44">
                  <c:v>0.1222581391</c:v>
                </c:pt>
                <c:pt idx="45">
                  <c:v>0.1221808988</c:v>
                </c:pt>
                <c:pt idx="46">
                  <c:v>0.1208372513</c:v>
                </c:pt>
                <c:pt idx="47">
                  <c:v>0.1196457737</c:v>
                </c:pt>
              </c:numCache>
            </c:numRef>
          </c:yVal>
        </c:ser>
        <c:ser>
          <c:idx val="1"/>
          <c:order val="1"/>
          <c:tx>
            <c:v>DMEL</c:v>
          </c:tx>
          <c:spPr>
            <a:ln xmlns:a="http://schemas.openxmlformats.org/drawingml/2006/main" w="26670">
              <a:solidFill>
                <a:srgbClr val="AA5834"/>
              </a:solidFill>
              <a:prstDash val="solid"/>
            </a:ln>
          </c:spPr>
          <c:marker>
            <c:symbol val="none"/>
          </c:marker>
          <c:xVal>
            <c:numRef>
              <c:f>'Chart Data'!$C$2:$C$49</c:f>
              <c:numCache>
                <c:formatCode>General</c:formatCode>
                <c:ptCount val="48"/>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numCache>
            </c:numRef>
          </c:xVal>
          <c:yVal>
            <c:numRef>
              <c:f>'Chart Data'!$D$2:$D$49</c:f>
              <c:numCache>
                <c:formatCode>0.000</c:formatCode>
                <c:ptCount val="48"/>
                <c:pt idx="0">
                  <c:v>0.03366723689</c:v>
                </c:pt>
                <c:pt idx="1">
                  <c:v>0.04729804254</c:v>
                </c:pt>
                <c:pt idx="2">
                  <c:v>0.05668535518</c:v>
                </c:pt>
                <c:pt idx="3">
                  <c:v>0.06327552801</c:v>
                </c:pt>
                <c:pt idx="4">
                  <c:v>0.0662691357</c:v>
                </c:pt>
                <c:pt idx="5">
                  <c:v>0.06786811459</c:v>
                </c:pt>
                <c:pt idx="6">
                  <c:v>0.06927839133</c:v>
                </c:pt>
                <c:pt idx="7">
                  <c:v>0.06977847674</c:v>
                </c:pt>
                <c:pt idx="8">
                  <c:v>0.06983413154</c:v>
                </c:pt>
                <c:pt idx="9">
                  <c:v>0.07206904681</c:v>
                </c:pt>
                <c:pt idx="10">
                  <c:v>0.07657600957</c:v>
                </c:pt>
                <c:pt idx="11">
                  <c:v>0.07909605843</c:v>
                </c:pt>
                <c:pt idx="12">
                  <c:v>0.08199287326</c:v>
                </c:pt>
                <c:pt idx="13">
                  <c:v>0.08412479441</c:v>
                </c:pt>
                <c:pt idx="14">
                  <c:v>0.08633891926</c:v>
                </c:pt>
                <c:pt idx="15">
                  <c:v>0.08851656581</c:v>
                </c:pt>
                <c:pt idx="16">
                  <c:v>0.09086338223</c:v>
                </c:pt>
                <c:pt idx="17">
                  <c:v>0.09418817876</c:v>
                </c:pt>
                <c:pt idx="18">
                  <c:v>0.09899552339</c:v>
                </c:pt>
                <c:pt idx="19">
                  <c:v>0.1149390976</c:v>
                </c:pt>
                <c:pt idx="20">
                  <c:v>0.1346927512</c:v>
                </c:pt>
                <c:pt idx="21">
                  <c:v>0.1451566301</c:v>
                </c:pt>
                <c:pt idx="22">
                  <c:v>0.1286448511</c:v>
                </c:pt>
                <c:pt idx="23">
                  <c:v>0.1125737002</c:v>
                </c:pt>
                <c:pt idx="24">
                  <c:v>0.1058815334</c:v>
                </c:pt>
                <c:pt idx="25">
                  <c:v>0.1048849878</c:v>
                </c:pt>
                <c:pt idx="26">
                  <c:v>0.1085032918</c:v>
                </c:pt>
                <c:pt idx="27">
                  <c:v>0.1152508121</c:v>
                </c:pt>
                <c:pt idx="28">
                  <c:v>0.1152719489</c:v>
                </c:pt>
                <c:pt idx="29">
                  <c:v>0.1160798728</c:v>
                </c:pt>
                <c:pt idx="30">
                  <c:v>0.1135464614</c:v>
                </c:pt>
                <c:pt idx="31">
                  <c:v>0.1136209033</c:v>
                </c:pt>
                <c:pt idx="32">
                  <c:v>0.1185640376</c:v>
                </c:pt>
                <c:pt idx="33">
                  <c:v>0.1222535863</c:v>
                </c:pt>
                <c:pt idx="34">
                  <c:v>0.1223722881</c:v>
                </c:pt>
                <c:pt idx="35">
                  <c:v>0.1227515136</c:v>
                </c:pt>
                <c:pt idx="36">
                  <c:v>0.1235853811</c:v>
                </c:pt>
                <c:pt idx="37">
                  <c:v>0.1246242147</c:v>
                </c:pt>
                <c:pt idx="38">
                  <c:v>0.1252897279</c:v>
                </c:pt>
                <c:pt idx="39">
                  <c:v>0.1250971383</c:v>
                </c:pt>
                <c:pt idx="40">
                  <c:v>0.1247799559</c:v>
                </c:pt>
                <c:pt idx="41">
                  <c:v>0.1253065875</c:v>
                </c:pt>
                <c:pt idx="42">
                  <c:v>0.1271831851</c:v>
                </c:pt>
                <c:pt idx="43">
                  <c:v>0.1271312293</c:v>
                </c:pt>
                <c:pt idx="44">
                  <c:v>0.125650978</c:v>
                </c:pt>
                <c:pt idx="45">
                  <c:v>0.1256624755</c:v>
                </c:pt>
                <c:pt idx="46">
                  <c:v>0.1243894724</c:v>
                </c:pt>
                <c:pt idx="47">
                  <c:v>0.1230311382</c:v>
                </c:pt>
              </c:numCache>
            </c:numRef>
          </c:y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axId val="48650112"/>
        <c:axId val="48672768"/>
      </c:scatterChart>
      <c:valAx>
        <c:axId val="48672768"/>
        <c:scaling>
          <c:orientation val="minMax"/>
          <c:max val="0.16"/>
          <c:min val="0"/>
        </c:scaling>
        <c:delete val="0"/>
        <c:axPos val="l"/>
        <c:majorGridlines>
          <c:spPr>
            <a:ln xmlns:a="http://schemas.openxmlformats.org/drawingml/2006/main" w="9525">
              <a:solidFill>
                <a:srgbClr val="DEE4E8"/>
              </a:solidFill>
              <a:prstDash val="solid"/>
            </a:ln>
          </c:spPr>
        </c:majorGridlines>
        <c:title>
          <c:tx>
            <c:rich>
              <a:bodyPr xmlns:a="http://schemas.openxmlformats.org/drawingml/2006/main"/>
              <a:lstStyle xmlns:a="http://schemas.openxmlformats.org/drawingml/2006/main"/>
              <a:p xmlns:a="http://schemas.openxmlformats.org/drawingml/2006/main">
                <a:r>
                  <a:rPr sz="1500">
                    <a:latin typeface="Helvetica Neue"/>
                    <a:ea typeface="Helvetica Neue"/>
                    <a:cs typeface="Helvetica Neue"/>
                  </a:rPr>
                  <a:t>RMSE (mm/h)</a:t>
                </a:r>
              </a:p>
            </c:rich>
          </c:tx>
          <c:overlay val="0"/>
          <c:txPr>
            <a:bodyPr xmlns:a="http://schemas.openxmlformats.org/drawingml/2006/main" anchorCtr="1"/>
            <a:lstStyle xmlns:a="http://schemas.openxmlformats.org/drawingml/2006/main"/>
            <a:p xmlns:a="http://schemas.openxmlformats.org/drawingml/2006/main">
              <a:pPr>
                <a:defRPr sz="1500">
                  <a:latin typeface="Helvetica Neue"/>
                  <a:ea typeface="Helvetica Neue"/>
                  <a:cs typeface="Helvetica Neue"/>
                </a:defRPr>
              </a:pPr>
            </a:p>
          </c:txPr>
        </c:title>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D6267"/>
                </a:solidFill>
                <a:latin typeface="Helvetica Neue"/>
                <a:ea typeface="Helvetica Neue"/>
                <a:cs typeface="Helvetica Neue"/>
              </a:defRPr>
            </a:pPr>
          </a:p>
        </c:txPr>
        <c:crossAx val="48650112"/>
        <c:majorUnit val="0.04"/>
      </c:valAx>
      <c:valAx>
        <c:axId val="48650112"/>
        <c:scaling>
          <c:orientation val="minMax"/>
          <c:max val="48"/>
          <c:min val="0"/>
        </c:scaling>
        <c:delete val="0"/>
        <c:axPos val="b"/>
        <c:title>
          <c:tx>
            <c:rich>
              <a:bodyPr xmlns:a="http://schemas.openxmlformats.org/drawingml/2006/main"/>
              <a:lstStyle xmlns:a="http://schemas.openxmlformats.org/drawingml/2006/main"/>
              <a:p xmlns:a="http://schemas.openxmlformats.org/drawingml/2006/main">
                <a:r>
                  <a:rPr sz="1500">
                    <a:latin typeface="Helvetica Neue"/>
                    <a:ea typeface="Helvetica Neue"/>
                    <a:cs typeface="Helvetica Neue"/>
                  </a:rPr>
                  <a:t>Horizonte (horas)</a:t>
                </a:r>
              </a:p>
            </c:rich>
          </c:tx>
          <c:overlay val="0"/>
          <c:txPr>
            <a:bodyPr xmlns:a="http://schemas.openxmlformats.org/drawingml/2006/main" anchorCtr="1"/>
            <a:lstStyle xmlns:a="http://schemas.openxmlformats.org/drawingml/2006/main"/>
            <a:p xmlns:a="http://schemas.openxmlformats.org/drawingml/2006/main">
              <a:pPr>
                <a:defRPr sz="1500">
                  <a:latin typeface="Helvetica Neue"/>
                  <a:ea typeface="Helvetica Neue"/>
                  <a:cs typeface="Helvetica Neue"/>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D6267"/>
                </a:solidFill>
                <a:latin typeface="Helvetica Neue"/>
                <a:ea typeface="Helvetica Neue"/>
                <a:cs typeface="Helvetica Neue"/>
              </a:defRPr>
            </a:pPr>
          </a:p>
        </c:txPr>
        <c:crossAx val="48672768"/>
        <c:majorUnit val="12"/>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242C33"/>
              </a:solidFill>
              <a:latin typeface="Helvetica Neue"/>
              <a:ea typeface="Helvetica Neue"/>
              <a:cs typeface="Helvetica Neue"/>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scatterChart>
        <c:scatterStyle val="line"/>
        <c:ser>
          <c:idx val="0"/>
          <c:order val="0"/>
          <c:tx>
            <c:v>LSTM</c:v>
          </c:tx>
          <c:spPr>
            <a:ln xmlns:a="http://schemas.openxmlformats.org/drawingml/2006/main" w="26670">
              <a:solidFill>
                <a:srgbClr val="064B6B"/>
              </a:solidFill>
              <a:prstDash val="solid"/>
            </a:ln>
          </c:spPr>
          <c:marker>
            <c:symbol val="none"/>
          </c:marker>
          <c:xVal>
            <c:numRef>
              <c:f>'Chart Data'!$A$2:$A$49</c:f>
              <c:numCache>
                <c:formatCode>General</c:formatCode>
                <c:ptCount val="48"/>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numCache>
            </c:numRef>
          </c:xVal>
          <c:yVal>
            <c:numRef>
              <c:f>'Chart Data'!$B$2:$B$49</c:f>
              <c:numCache>
                <c:formatCode>0.00</c:formatCode>
                <c:ptCount val="48"/>
                <c:pt idx="0">
                  <c:v>0.968538625</c:v>
                </c:pt>
                <c:pt idx="1">
                  <c:v>0.9433284422</c:v>
                </c:pt>
                <c:pt idx="2">
                  <c:v>0.9227993892</c:v>
                </c:pt>
                <c:pt idx="3">
                  <c:v>0.9039396465</c:v>
                </c:pt>
                <c:pt idx="4">
                  <c:v>0.8943707466</c:v>
                </c:pt>
                <c:pt idx="5">
                  <c:v>0.8857554587</c:v>
                </c:pt>
                <c:pt idx="6">
                  <c:v>0.8792475288</c:v>
                </c:pt>
                <c:pt idx="7">
                  <c:v>0.8734796717</c:v>
                </c:pt>
                <c:pt idx="8">
                  <c:v>0.8690325351</c:v>
                </c:pt>
                <c:pt idx="9">
                  <c:v>0.854189835</c:v>
                </c:pt>
                <c:pt idx="10">
                  <c:v>0.8302074852</c:v>
                </c:pt>
                <c:pt idx="11">
                  <c:v>0.8079299609</c:v>
                </c:pt>
                <c:pt idx="12">
                  <c:v>0.7865064514</c:v>
                </c:pt>
                <c:pt idx="13">
                  <c:v>0.7693030117</c:v>
                </c:pt>
                <c:pt idx="14">
                  <c:v>0.7493837572</c:v>
                </c:pt>
                <c:pt idx="15">
                  <c:v>0.7327192779</c:v>
                </c:pt>
                <c:pt idx="16">
                  <c:v>0.713576069</c:v>
                </c:pt>
                <c:pt idx="17">
                  <c:v>0.6939672854</c:v>
                </c:pt>
                <c:pt idx="18">
                  <c:v>0.6642096578</c:v>
                </c:pt>
                <c:pt idx="19">
                  <c:v>0.5840720625</c:v>
                </c:pt>
                <c:pt idx="20">
                  <c:v>0.4976277404</c:v>
                </c:pt>
                <c:pt idx="21">
                  <c:v>0.4512656832</c:v>
                </c:pt>
                <c:pt idx="22">
                  <c:v>0.5049610112</c:v>
                </c:pt>
                <c:pt idx="23">
                  <c:v>0.5660353508</c:v>
                </c:pt>
                <c:pt idx="24">
                  <c:v>0.5917460205</c:v>
                </c:pt>
                <c:pt idx="25">
                  <c:v>0.5915350243</c:v>
                </c:pt>
                <c:pt idx="26">
                  <c:v>0.5697704853</c:v>
                </c:pt>
                <c:pt idx="27">
                  <c:v>0.5326840824</c:v>
                </c:pt>
                <c:pt idx="28">
                  <c:v>0.5326853276</c:v>
                </c:pt>
                <c:pt idx="29">
                  <c:v>0.5253298711</c:v>
                </c:pt>
                <c:pt idx="30">
                  <c:v>0.5354723363</c:v>
                </c:pt>
                <c:pt idx="31">
                  <c:v>0.5349902373</c:v>
                </c:pt>
                <c:pt idx="32">
                  <c:v>0.5100366295</c:v>
                </c:pt>
                <c:pt idx="33">
                  <c:v>0.4950969891</c:v>
                </c:pt>
                <c:pt idx="34">
                  <c:v>0.4935111789</c:v>
                </c:pt>
                <c:pt idx="35">
                  <c:v>0.4932607005</c:v>
                </c:pt>
                <c:pt idx="36">
                  <c:v>0.4879980674</c:v>
                </c:pt>
                <c:pt idx="37">
                  <c:v>0.4806798691</c:v>
                </c:pt>
                <c:pt idx="38">
                  <c:v>0.4753761003</c:v>
                </c:pt>
                <c:pt idx="39">
                  <c:v>0.4748497367</c:v>
                </c:pt>
                <c:pt idx="40">
                  <c:v>0.4752202862</c:v>
                </c:pt>
                <c:pt idx="41">
                  <c:v>0.4745381186</c:v>
                </c:pt>
                <c:pt idx="42">
                  <c:v>0.467177215</c:v>
                </c:pt>
                <c:pt idx="43">
                  <c:v>0.4687353689</c:v>
                </c:pt>
                <c:pt idx="44">
                  <c:v>0.4748558437</c:v>
                </c:pt>
                <c:pt idx="45">
                  <c:v>0.4749069953</c:v>
                </c:pt>
                <c:pt idx="46">
                  <c:v>0.4784776083</c:v>
                </c:pt>
                <c:pt idx="47">
                  <c:v>0.4798022995</c:v>
                </c:pt>
              </c:numCache>
            </c:numRef>
          </c:yVal>
        </c:ser>
        <c:ser>
          <c:idx val="1"/>
          <c:order val="1"/>
          <c:tx>
            <c:v>DMEL</c:v>
          </c:tx>
          <c:spPr>
            <a:ln xmlns:a="http://schemas.openxmlformats.org/drawingml/2006/main" w="26670">
              <a:solidFill>
                <a:srgbClr val="AA5834"/>
              </a:solidFill>
              <a:prstDash val="solid"/>
            </a:ln>
          </c:spPr>
          <c:marker>
            <c:symbol val="none"/>
          </c:marker>
          <c:xVal>
            <c:numRef>
              <c:f>'Chart Data'!$C$2:$C$49</c:f>
              <c:numCache>
                <c:formatCode>General</c:formatCode>
                <c:ptCount val="48"/>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numCache>
            </c:numRef>
          </c:xVal>
          <c:yVal>
            <c:numRef>
              <c:f>'Chart Data'!$D$2:$D$49</c:f>
              <c:numCache>
                <c:formatCode>0.00</c:formatCode>
                <c:ptCount val="48"/>
                <c:pt idx="0">
                  <c:v>0.966660905</c:v>
                </c:pt>
                <c:pt idx="1">
                  <c:v>0.9368589418</c:v>
                </c:pt>
                <c:pt idx="2">
                  <c:v>0.9115588384</c:v>
                </c:pt>
                <c:pt idx="3">
                  <c:v>0.8910441572</c:v>
                </c:pt>
                <c:pt idx="4">
                  <c:v>0.8792390526</c:v>
                </c:pt>
                <c:pt idx="5">
                  <c:v>0.868826261</c:v>
                </c:pt>
                <c:pt idx="6">
                  <c:v>0.8578953318</c:v>
                </c:pt>
                <c:pt idx="7">
                  <c:v>0.8484443337</c:v>
                </c:pt>
                <c:pt idx="8">
                  <c:v>0.8407809028</c:v>
                </c:pt>
                <c:pt idx="9">
                  <c:v>0.8240385823</c:v>
                </c:pt>
                <c:pt idx="10">
                  <c:v>0.7999167237</c:v>
                </c:pt>
                <c:pt idx="11">
                  <c:v>0.784382832</c:v>
                </c:pt>
                <c:pt idx="12">
                  <c:v>0.7642415007</c:v>
                </c:pt>
                <c:pt idx="13">
                  <c:v>0.7465021411</c:v>
                </c:pt>
                <c:pt idx="14">
                  <c:v>0.7290068011</c:v>
                </c:pt>
                <c:pt idx="15">
                  <c:v>0.7127859009</c:v>
                </c:pt>
                <c:pt idx="16">
                  <c:v>0.6958710358</c:v>
                </c:pt>
                <c:pt idx="17">
                  <c:v>0.6733694502</c:v>
                </c:pt>
                <c:pt idx="18">
                  <c:v>0.6437007536</c:v>
                </c:pt>
                <c:pt idx="19">
                  <c:v>0.5652994219</c:v>
                </c:pt>
                <c:pt idx="20">
                  <c:v>0.4789169356</c:v>
                </c:pt>
                <c:pt idx="21">
                  <c:v>0.4330111777</c:v>
                </c:pt>
                <c:pt idx="22">
                  <c:v>0.4837881641</c:v>
                </c:pt>
                <c:pt idx="23">
                  <c:v>0.5429446127</c:v>
                </c:pt>
                <c:pt idx="24">
                  <c:v>0.567009918</c:v>
                </c:pt>
                <c:pt idx="25">
                  <c:v>0.5664451913</c:v>
                </c:pt>
                <c:pt idx="26">
                  <c:v>0.5449977096</c:v>
                </c:pt>
                <c:pt idx="27">
                  <c:v>0.5113600265</c:v>
                </c:pt>
                <c:pt idx="28">
                  <c:v>0.5070536215</c:v>
                </c:pt>
                <c:pt idx="29">
                  <c:v>0.5008526968</c:v>
                </c:pt>
                <c:pt idx="30">
                  <c:v>0.5083976118</c:v>
                </c:pt>
                <c:pt idx="31">
                  <c:v>0.5054556016</c:v>
                </c:pt>
                <c:pt idx="32">
                  <c:v>0.481471977</c:v>
                </c:pt>
                <c:pt idx="33">
                  <c:v>0.4654914133</c:v>
                </c:pt>
                <c:pt idx="34">
                  <c:v>0.4635719169</c:v>
                </c:pt>
                <c:pt idx="35">
                  <c:v>0.4588604649</c:v>
                </c:pt>
                <c:pt idx="36">
                  <c:v>0.4540180937</c:v>
                </c:pt>
                <c:pt idx="37">
                  <c:v>0.4474767328</c:v>
                </c:pt>
                <c:pt idx="38">
                  <c:v>0.4426706122</c:v>
                </c:pt>
                <c:pt idx="39">
                  <c:v>0.4420491772</c:v>
                </c:pt>
                <c:pt idx="40">
                  <c:v>0.4426234553</c:v>
                </c:pt>
                <c:pt idx="41">
                  <c:v>0.4417757006</c:v>
                </c:pt>
                <c:pt idx="42">
                  <c:v>0.4371702612</c:v>
                </c:pt>
                <c:pt idx="43">
                  <c:v>0.4390789222</c:v>
                </c:pt>
                <c:pt idx="44">
                  <c:v>0.4453043993</c:v>
                </c:pt>
                <c:pt idx="45">
                  <c:v>0.4445553052</c:v>
                </c:pt>
                <c:pt idx="46">
                  <c:v>0.4473648102</c:v>
                </c:pt>
                <c:pt idx="47">
                  <c:v>0.4499479513</c:v>
                </c:pt>
              </c:numCache>
            </c:numRef>
          </c:y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0"/>
        <c:axPos val="l"/>
        <c:majorGridlines>
          <c:spPr>
            <a:ln xmlns:a="http://schemas.openxmlformats.org/drawingml/2006/main" w="9525">
              <a:solidFill>
                <a:srgbClr val="DEE4E8"/>
              </a:solidFill>
              <a:prstDash val="solid"/>
            </a:ln>
          </c:spPr>
        </c:majorGridlines>
        <c:title>
          <c:tx>
            <c:rich>
              <a:bodyPr xmlns:a="http://schemas.openxmlformats.org/drawingml/2006/main"/>
              <a:lstStyle xmlns:a="http://schemas.openxmlformats.org/drawingml/2006/main"/>
              <a:p xmlns:a="http://schemas.openxmlformats.org/drawingml/2006/main">
                <a:r>
                  <a:rPr sz="1500">
                    <a:latin typeface="Helvetica Neue"/>
                    <a:ea typeface="Helvetica Neue"/>
                    <a:cs typeface="Helvetica Neue"/>
                  </a:rPr>
                  <a:t>NSE</a:t>
                </a:r>
              </a:p>
            </c:rich>
          </c:tx>
          <c:overlay val="0"/>
          <c:txPr>
            <a:bodyPr xmlns:a="http://schemas.openxmlformats.org/drawingml/2006/main" anchorCtr="1"/>
            <a:lstStyle xmlns:a="http://schemas.openxmlformats.org/drawingml/2006/main"/>
            <a:p xmlns:a="http://schemas.openxmlformats.org/drawingml/2006/main">
              <a:pPr>
                <a:defRPr sz="1500">
                  <a:latin typeface="Helvetica Neue"/>
                  <a:ea typeface="Helvetica Neue"/>
                  <a:cs typeface="Helvetica Neue"/>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D6267"/>
                </a:solidFill>
                <a:latin typeface="Helvetica Neue"/>
                <a:ea typeface="Helvetica Neue"/>
                <a:cs typeface="Helvetica Neue"/>
              </a:defRPr>
            </a:pPr>
          </a:p>
        </c:txPr>
        <c:crossAx val="48650112"/>
        <c:majorUnit val="0.25"/>
      </c:valAx>
      <c:valAx>
        <c:axId val="48650112"/>
        <c:scaling>
          <c:orientation val="minMax"/>
          <c:max val="48"/>
          <c:min val="0"/>
        </c:scaling>
        <c:delete val="0"/>
        <c:axPos val="b"/>
        <c:title>
          <c:tx>
            <c:rich>
              <a:bodyPr xmlns:a="http://schemas.openxmlformats.org/drawingml/2006/main"/>
              <a:lstStyle xmlns:a="http://schemas.openxmlformats.org/drawingml/2006/main"/>
              <a:p xmlns:a="http://schemas.openxmlformats.org/drawingml/2006/main">
                <a:r>
                  <a:rPr sz="1500">
                    <a:latin typeface="Helvetica Neue"/>
                    <a:ea typeface="Helvetica Neue"/>
                    <a:cs typeface="Helvetica Neue"/>
                  </a:rPr>
                  <a:t>Horizonte (horas)</a:t>
                </a:r>
              </a:p>
            </c:rich>
          </c:tx>
          <c:overlay val="0"/>
          <c:txPr>
            <a:bodyPr xmlns:a="http://schemas.openxmlformats.org/drawingml/2006/main" anchorCtr="1"/>
            <a:lstStyle xmlns:a="http://schemas.openxmlformats.org/drawingml/2006/main"/>
            <a:p xmlns:a="http://schemas.openxmlformats.org/drawingml/2006/main">
              <a:pPr>
                <a:defRPr sz="1500">
                  <a:latin typeface="Helvetica Neue"/>
                  <a:ea typeface="Helvetica Neue"/>
                  <a:cs typeface="Helvetica Neue"/>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D6267"/>
                </a:solidFill>
                <a:latin typeface="Helvetica Neue"/>
                <a:ea typeface="Helvetica Neue"/>
                <a:cs typeface="Helvetica Neue"/>
              </a:defRPr>
            </a:pPr>
          </a:p>
        </c:txPr>
        <c:crossAx val="48672768"/>
        <c:majorUnit val="12"/>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242C33"/>
              </a:solidFill>
              <a:latin typeface="Helvetica Neue"/>
              <a:ea typeface="Helvetica Neue"/>
              <a:cs typeface="Helvetica Neue"/>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01">
            <a:extLst xmlns:a="http://schemas.openxmlformats.org/drawingml/2006/main">
              <a:ext uri="{FF2B5EF4-FFF2-40B4-BE49-F238E27FC236}">
                <a16:creationId xmlns:a16="http://schemas.microsoft.com/office/drawing/2014/main" id="{5E2D36D9-E22B-4CA9-9D30-BE0797CD3FA9}"/>
              </a:ext>
            </a:extLst>
          </p:cNvPr>
          <p:cNvSpPr>
            <a:spLocks xmlns:a="http://schemas.openxmlformats.org/drawingml/2006/main" noGrp="1"/>
          </p:cNvSpPr>
          <p:nvPr/>
        </p:nvSpPr>
        <p:spPr>
          <a:xfrm xmlns:a="http://schemas.openxmlformats.org/drawingml/2006/main">
            <a:off x="10953750" y="639127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buNone/>
              <a:defRPr sz="1425" b="0">
                <a:solidFill>
                  <a:srgbClr val="5D6267"/>
                </a:solidFill>
                <a:latin typeface="Helvetica Neue"/>
                <a:ea typeface="Helvetica Neue"/>
                <a:cs typeface="Helvetica Neue"/>
              </a:defRPr>
            </a:pPr>
            <a:r>
              <a:rPr sz="1425" b="0">
                <a:solidFill>
                  <a:srgbClr val="5D6267"/>
                </a:solidFill>
                <a:latin typeface="Helvetica Neue"/>
                <a:ea typeface="Helvetica Neue"/>
                <a:cs typeface="Helvetica Neue"/>
              </a:rPr>
              <a:t>01</a:t>
            </a:r>
          </a:p>
        </p:txBody>
      </p:sp>
      <p:sp>
        <p:nvSpPr>
          <p:cNvPr id="2" name="DMEL">
            <a:extLst xmlns:a="http://schemas.openxmlformats.org/drawingml/2006/main">
              <a:ext uri="{FF2B5EF4-FFF2-40B4-BE49-F238E27FC236}">
                <a16:creationId xmlns:a16="http://schemas.microsoft.com/office/drawing/2014/main" id="{C458442D-710E-42F4-A208-EC13ED33BDA8}"/>
              </a:ext>
            </a:extLst>
          </p:cNvPr>
          <p:cNvSpPr>
            <a:spLocks xmlns:a="http://schemas.openxmlformats.org/drawingml/2006/main" noGrp="1"/>
          </p:cNvSpPr>
          <p:nvPr/>
        </p:nvSpPr>
        <p:spPr>
          <a:xfrm xmlns:a="http://schemas.openxmlformats.org/drawingml/2006/main">
            <a:off x="685800" y="207645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8400" b="1">
                <a:solidFill>
                  <a:srgbClr val="FFFFFF"/>
                </a:solidFill>
                <a:latin typeface="Helvetica Neue"/>
                <a:ea typeface="Helvetica Neue"/>
                <a:cs typeface="Helvetica Neue"/>
              </a:defRPr>
            </a:pPr>
            <a:r>
              <a:rPr sz="5400" b="1">
                <a:solidFill>
                  <a:srgbClr val="064B6B"/>
                </a:solidFill>
                <a:latin typeface="Helvetica Neue"/>
                <a:ea typeface="Helvetica Neue"/>
                <a:cs typeface="Helvetica Neue"/>
              </a:rPr>
              <a:t>DMEL</a:t>
            </a:r>
          </a:p>
        </p:txBody>
      </p:sp>
      <p:sp>
        <p:nvSpPr>
          <p:cNvPr id="3" name="Pronóstico de caudal&#10;con dos ramas de aprendizaje">
            <a:extLst xmlns:a="http://schemas.openxmlformats.org/drawingml/2006/main">
              <a:ext uri="{FF2B5EF4-FFF2-40B4-BE49-F238E27FC236}">
                <a16:creationId xmlns:a16="http://schemas.microsoft.com/office/drawing/2014/main" id="{DCD490E8-654B-4E00-9ECD-21C9B005E215}"/>
              </a:ext>
            </a:extLst>
          </p:cNvPr>
          <p:cNvSpPr>
            <a:spLocks xmlns:a="http://schemas.openxmlformats.org/drawingml/2006/main" noGrp="1"/>
          </p:cNvSpPr>
          <p:nvPr/>
        </p:nvSpPr>
        <p:spPr>
          <a:xfrm xmlns:a="http://schemas.openxmlformats.org/drawingml/2006/main">
            <a:off x="685800" y="3086100"/>
            <a:ext cx="104775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3900" b="1">
                <a:solidFill>
                  <a:srgbClr val="FFFFFF"/>
                </a:solidFill>
                <a:latin typeface="Helvetica Neue"/>
                <a:ea typeface="Helvetica Neue"/>
                <a:cs typeface="Helvetica Neue"/>
              </a:defRPr>
            </a:pPr>
            <a:r>
              <a:rPr sz="3150" b="1">
                <a:solidFill>
                  <a:srgbClr val="242C33"/>
                </a:solidFill>
                <a:latin typeface="Helvetica Neue"/>
                <a:ea typeface="Helvetica Neue"/>
                <a:cs typeface="Helvetica Neue"/>
              </a:rPr>
              <a:t>Pronóstico de caudal</a:t>
            </a:r>
          </a:p>
          <a:p xmlns:a="http://schemas.openxmlformats.org/drawingml/2006/main">
            <a:pPr algn="l">
              <a:buNone/>
              <a:defRPr sz="3900" b="1">
                <a:solidFill>
                  <a:srgbClr val="FFFFFF"/>
                </a:solidFill>
                <a:latin typeface="Helvetica Neue"/>
                <a:ea typeface="Helvetica Neue"/>
                <a:cs typeface="Helvetica Neue"/>
              </a:defRPr>
            </a:pPr>
            <a:r>
              <a:rPr sz="3150" b="1">
                <a:solidFill>
                  <a:srgbClr val="242C33"/>
                </a:solidFill>
                <a:latin typeface="Helvetica Neue"/>
                <a:ea typeface="Helvetica Neue"/>
                <a:cs typeface="Helvetica Neue"/>
              </a:rPr>
              <a:t>con dos ramas de aprendizaje</a:t>
            </a:r>
          </a:p>
        </p:txBody>
      </p:sp>
      <p:sp>
        <p:nvSpPr>
          <p:cNvPr id="4" name="Aplicación al dataset Rainfall–Runoff">
            <a:extLst xmlns:a="http://schemas.openxmlformats.org/drawingml/2006/main">
              <a:ext uri="{FF2B5EF4-FFF2-40B4-BE49-F238E27FC236}">
                <a16:creationId xmlns:a16="http://schemas.microsoft.com/office/drawing/2014/main" id="{6C3D4B8E-1300-43F2-BBC5-252C66B4DEBD}"/>
              </a:ext>
            </a:extLst>
          </p:cNvPr>
          <p:cNvSpPr>
            <a:spLocks xmlns:a="http://schemas.openxmlformats.org/drawingml/2006/main" noGrp="1"/>
          </p:cNvSpPr>
          <p:nvPr/>
        </p:nvSpPr>
        <p:spPr>
          <a:xfrm xmlns:a="http://schemas.openxmlformats.org/drawingml/2006/main">
            <a:off x="704850" y="4572000"/>
            <a:ext cx="10287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400" b="0">
                <a:solidFill>
                  <a:srgbClr val="007FA3"/>
                </a:solidFill>
                <a:latin typeface="Helvetica Neue"/>
                <a:ea typeface="Helvetica Neue"/>
                <a:cs typeface="Helvetica Neue"/>
              </a:defRPr>
            </a:pPr>
            <a:r>
              <a:rPr sz="2175" b="0">
                <a:solidFill>
                  <a:srgbClr val="007FA3"/>
                </a:solidFill>
                <a:latin typeface="Helvetica Neue"/>
                <a:ea typeface="Helvetica Neue"/>
                <a:cs typeface="Helvetica Neue"/>
              </a:rPr>
              <a:t>Aplicación al dataset Rainfall–Runoff</a:t>
            </a:r>
          </a:p>
        </p:txBody>
      </p:sp>
      <p:sp>
        <p:nvSpPr>
          <p:cNvPr id="5" name="Laboratorio 2 · Deep Learning · UTEC">
            <a:extLst xmlns:a="http://schemas.openxmlformats.org/drawingml/2006/main">
              <a:ext uri="{FF2B5EF4-FFF2-40B4-BE49-F238E27FC236}">
                <a16:creationId xmlns:a16="http://schemas.microsoft.com/office/drawing/2014/main" id="{0C73385D-F74E-480F-B09D-F258FBCC7FBA}"/>
              </a:ext>
            </a:extLst>
          </p:cNvPr>
          <p:cNvSpPr>
            <a:spLocks xmlns:a="http://schemas.openxmlformats.org/drawingml/2006/main" noGrp="1"/>
          </p:cNvSpPr>
          <p:nvPr/>
        </p:nvSpPr>
        <p:spPr>
          <a:xfrm xmlns:a="http://schemas.openxmlformats.org/drawingml/2006/main">
            <a:off x="704850" y="5448300"/>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875" b="0">
                <a:solidFill>
                  <a:srgbClr val="5D6267"/>
                </a:solidFill>
                <a:latin typeface="Helvetica Neue"/>
                <a:ea typeface="Helvetica Neue"/>
                <a:cs typeface="Helvetica Neue"/>
              </a:defRPr>
            </a:pPr>
            <a:r>
              <a:rPr sz="1800" b="0">
                <a:solidFill>
                  <a:srgbClr val="5D6267"/>
                </a:solidFill>
                <a:latin typeface="Helvetica Neue"/>
                <a:ea typeface="Helvetica Neue"/>
                <a:cs typeface="Helvetica Neue"/>
              </a:rPr>
              <a:t>Laboratorio 2   Deep Learning   UTEC</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389effc9827c44f5"/>
          <a:stretch xmlns:a="http://schemas.openxmlformats.org/drawingml/2006/main"/>
        </p:blipFill>
        <p:spPr>
          <a:xfrm xmlns:a="http://schemas.openxmlformats.org/drawingml/2006/main">
            <a:off x="685952" y="571500"/>
            <a:ext cx="2323796" cy="858949"/>
          </a:xfrm>
          <a:prstGeom xmlns:a="http://schemas.openxmlformats.org/drawingml/2006/main" prst="rect">
            <a:avLst/>
          </a:prstGeom>
        </p:spPr>
      </p:pic>
    </p:spTree>
    <p:extLst>
      <p:ext uri="{BB962C8B-B14F-4D97-AF65-F5344CB8AC3E}">
        <p14:creationId xmlns:p14="http://schemas.microsoft.com/office/powerpoint/2010/main" val="208098495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El problema que aborda DMEL">
            <a:extLst xmlns:a="http://schemas.openxmlformats.org/drawingml/2006/main">
              <a:ext uri="{FF2B5EF4-FFF2-40B4-BE49-F238E27FC236}">
                <a16:creationId xmlns:a16="http://schemas.microsoft.com/office/drawing/2014/main" id="{6472F103-7650-4EF7-B3F6-367E831DE87B}"/>
              </a:ext>
            </a:extLst>
          </p:cNvPr>
          <p:cNvSpPr>
            <a:spLocks xmlns:a="http://schemas.openxmlformats.org/drawingml/2006/main" noGrp="1"/>
          </p:cNvSpPr>
          <p:nvPr/>
        </p:nvSpPr>
        <p:spPr>
          <a:xfrm xmlns:a="http://schemas.openxmlformats.org/drawingml/2006/main">
            <a:off x="609600" y="42862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3300" b="1">
                <a:solidFill>
                  <a:srgbClr val="242C33"/>
                </a:solidFill>
                <a:latin typeface="Helvetica Neue"/>
                <a:ea typeface="Helvetica Neue"/>
                <a:cs typeface="Helvetica Neue"/>
              </a:defRPr>
            </a:pPr>
            <a:r>
              <a:rPr sz="3300" b="1">
                <a:solidFill>
                  <a:srgbClr val="064B6B"/>
                </a:solidFill>
                <a:latin typeface="Helvetica Neue"/>
                <a:ea typeface="Helvetica Neue"/>
                <a:cs typeface="Helvetica Neue"/>
              </a:rPr>
              <a:t>El problema que aborda DMEL</a:t>
            </a:r>
          </a:p>
        </p:txBody>
      </p:sp>
      <p:sp>
        <p:nvSpPr>
          <p:cNvPr id="2" name="Wang et al. (2026), secciones 2–3, figura 5 y tabla 6">
            <a:extLst xmlns:a="http://schemas.openxmlformats.org/drawingml/2006/main">
              <a:ext uri="{FF2B5EF4-FFF2-40B4-BE49-F238E27FC236}">
                <a16:creationId xmlns:a16="http://schemas.microsoft.com/office/drawing/2014/main" id="{853D25FC-7A4B-47BA-9E6F-88BCC1DC19F7}"/>
              </a:ext>
            </a:extLst>
          </p:cNvPr>
          <p:cNvSpPr>
            <a:spLocks xmlns:a="http://schemas.openxmlformats.org/drawingml/2006/main" noGrp="1"/>
          </p:cNvSpPr>
          <p:nvPr/>
        </p:nvSpPr>
        <p:spPr>
          <a:xfrm xmlns:a="http://schemas.openxmlformats.org/drawingml/2006/main">
            <a:off x="628650" y="6429375"/>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200" b="0">
                <a:solidFill>
                  <a:srgbClr val="5D6267"/>
                </a:solidFill>
                <a:latin typeface="Helvetica Neue"/>
                <a:ea typeface="Helvetica Neue"/>
                <a:cs typeface="Helvetica Neue"/>
              </a:defRPr>
            </a:pPr>
            <a:r>
              <a:rPr sz="1200" b="0">
                <a:solidFill>
                  <a:srgbClr val="5D6267"/>
                </a:solidFill>
                <a:latin typeface="Helvetica Neue"/>
                <a:ea typeface="Helvetica Neue"/>
                <a:cs typeface="Helvetica Neue"/>
              </a:rPr>
              <a:t>Wang et al. (2026), secciones 2–3, figura 5 y tabla 6</a:t>
            </a:r>
          </a:p>
        </p:txBody>
      </p:sp>
      <p:sp>
        <p:nvSpPr>
          <p:cNvPr id="3" name="02">
            <a:extLst xmlns:a="http://schemas.openxmlformats.org/drawingml/2006/main">
              <a:ext uri="{FF2B5EF4-FFF2-40B4-BE49-F238E27FC236}">
                <a16:creationId xmlns:a16="http://schemas.microsoft.com/office/drawing/2014/main" id="{CE6FE671-9AA4-4C17-987F-E39F18895C9B}"/>
              </a:ext>
            </a:extLst>
          </p:cNvPr>
          <p:cNvSpPr>
            <a:spLocks xmlns:a="http://schemas.openxmlformats.org/drawingml/2006/main" noGrp="1"/>
          </p:cNvSpPr>
          <p:nvPr/>
        </p:nvSpPr>
        <p:spPr>
          <a:xfrm xmlns:a="http://schemas.openxmlformats.org/drawingml/2006/main">
            <a:off x="10953750" y="639127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buNone/>
              <a:defRPr sz="1425" b="0">
                <a:solidFill>
                  <a:srgbClr val="5D6267"/>
                </a:solidFill>
                <a:latin typeface="Helvetica Neue"/>
                <a:ea typeface="Helvetica Neue"/>
                <a:cs typeface="Helvetica Neue"/>
              </a:defRPr>
            </a:pPr>
            <a:r>
              <a:rPr sz="1425" b="0">
                <a:solidFill>
                  <a:srgbClr val="5D6267"/>
                </a:solidFill>
                <a:latin typeface="Helvetica Neue"/>
                <a:ea typeface="Helvetica Neue"/>
                <a:cs typeface="Helvetica Neue"/>
              </a:rPr>
              <a:t>02</a:t>
            </a:r>
          </a:p>
        </p:txBody>
      </p:sp>
      <p:sp>
        <p:nvSpPr>
          <p:cNvPr id="4" name="Patrones de distinta complejidad">
            <a:extLst xmlns:a="http://schemas.openxmlformats.org/drawingml/2006/main">
              <a:ext uri="{FF2B5EF4-FFF2-40B4-BE49-F238E27FC236}">
                <a16:creationId xmlns:a16="http://schemas.microsoft.com/office/drawing/2014/main" id="{B6A52482-D431-4115-8E42-DEF50762F2FE}"/>
              </a:ext>
            </a:extLst>
          </p:cNvPr>
          <p:cNvSpPr>
            <a:spLocks xmlns:a="http://schemas.openxmlformats.org/drawingml/2006/main" noGrp="1"/>
          </p:cNvSpPr>
          <p:nvPr/>
        </p:nvSpPr>
        <p:spPr>
          <a:xfrm xmlns:a="http://schemas.openxmlformats.org/drawingml/2006/main">
            <a:off x="647700" y="1657350"/>
            <a:ext cx="5619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025" b="1">
                <a:solidFill>
                  <a:srgbClr val="007FA3"/>
                </a:solidFill>
                <a:latin typeface="Helvetica Neue"/>
                <a:ea typeface="Helvetica Neue"/>
                <a:cs typeface="Helvetica Neue"/>
              </a:defRPr>
            </a:pPr>
            <a:r>
              <a:rPr sz="2025" b="1">
                <a:solidFill>
                  <a:srgbClr val="007FA3"/>
                </a:solidFill>
                <a:latin typeface="Helvetica Neue"/>
                <a:ea typeface="Helvetica Neue"/>
                <a:cs typeface="Helvetica Neue"/>
              </a:rPr>
              <a:t>Patrones de distinta complejidad</a:t>
            </a:r>
          </a:p>
        </p:txBody>
      </p:sp>
      <p:sp>
        <p:nvSpPr>
          <p:cNvPr id="5" name="Los picos y las variaciones suaves plantean desafíos diferen">
            <a:extLst xmlns:a="http://schemas.openxmlformats.org/drawingml/2006/main">
              <a:ext uri="{FF2B5EF4-FFF2-40B4-BE49-F238E27FC236}">
                <a16:creationId xmlns:a16="http://schemas.microsoft.com/office/drawing/2014/main" id="{D2393071-A147-41EC-AD2E-65637A85E168}"/>
              </a:ext>
            </a:extLst>
          </p:cNvPr>
          <p:cNvSpPr>
            <a:spLocks xmlns:a="http://schemas.openxmlformats.org/drawingml/2006/main" noGrp="1"/>
          </p:cNvSpPr>
          <p:nvPr/>
        </p:nvSpPr>
        <p:spPr>
          <a:xfrm xmlns:a="http://schemas.openxmlformats.org/drawingml/2006/main">
            <a:off x="647700" y="2085975"/>
            <a:ext cx="5619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950" b="0">
                <a:solidFill>
                  <a:srgbClr val="242C33"/>
                </a:solidFill>
                <a:latin typeface="Helvetica Neue"/>
                <a:ea typeface="Helvetica Neue"/>
                <a:cs typeface="Helvetica Neue"/>
              </a:defRPr>
            </a:pPr>
            <a:r>
              <a:rPr sz="1950" b="0">
                <a:solidFill>
                  <a:srgbClr val="242C33"/>
                </a:solidFill>
                <a:latin typeface="Helvetica Neue"/>
                <a:ea typeface="Helvetica Neue"/>
                <a:cs typeface="Helvetica Neue"/>
              </a:rPr>
              <a:t>Los picos y las variaciones suaves plantean desafíos diferentes al predictor.</a:t>
            </a:r>
          </a:p>
        </p:txBody>
      </p:sp>
      <p:sp>
        <p:nvSpPr>
          <p:cNvPr id="6" name="Experimento original">
            <a:extLst xmlns:a="http://schemas.openxmlformats.org/drawingml/2006/main">
              <a:ext uri="{FF2B5EF4-FFF2-40B4-BE49-F238E27FC236}">
                <a16:creationId xmlns:a16="http://schemas.microsoft.com/office/drawing/2014/main" id="{E5379656-296A-4F74-BF7C-0AE36D01D687}"/>
              </a:ext>
            </a:extLst>
          </p:cNvPr>
          <p:cNvSpPr>
            <a:spLocks xmlns:a="http://schemas.openxmlformats.org/drawingml/2006/main" noGrp="1"/>
          </p:cNvSpPr>
          <p:nvPr/>
        </p:nvSpPr>
        <p:spPr>
          <a:xfrm xmlns:a="http://schemas.openxmlformats.org/drawingml/2006/main">
            <a:off x="647700" y="3095625"/>
            <a:ext cx="5619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025" b="1">
                <a:solidFill>
                  <a:srgbClr val="007FA3"/>
                </a:solidFill>
                <a:latin typeface="Helvetica Neue"/>
                <a:ea typeface="Helvetica Neue"/>
                <a:cs typeface="Helvetica Neue"/>
              </a:defRPr>
            </a:pPr>
            <a:r>
              <a:rPr sz="2025" b="1">
                <a:solidFill>
                  <a:srgbClr val="007FA3"/>
                </a:solidFill>
                <a:latin typeface="Helvetica Neue"/>
                <a:ea typeface="Helvetica Neue"/>
                <a:cs typeface="Helvetica Neue"/>
              </a:rPr>
              <a:t>Experimento original</a:t>
            </a:r>
          </a:p>
        </p:txBody>
      </p:sp>
      <p:sp>
        <p:nvSpPr>
          <p:cNvPr id="7" name="Shuangpai y Fenghuang, China. Registros diarios de 2002 a 20">
            <a:extLst xmlns:a="http://schemas.openxmlformats.org/drawingml/2006/main">
              <a:ext uri="{FF2B5EF4-FFF2-40B4-BE49-F238E27FC236}">
                <a16:creationId xmlns:a16="http://schemas.microsoft.com/office/drawing/2014/main" id="{431DC34A-D8EA-4109-BE72-BED21062D860}"/>
              </a:ext>
            </a:extLst>
          </p:cNvPr>
          <p:cNvSpPr>
            <a:spLocks xmlns:a="http://schemas.openxmlformats.org/drawingml/2006/main" noGrp="1"/>
          </p:cNvSpPr>
          <p:nvPr/>
        </p:nvSpPr>
        <p:spPr>
          <a:xfrm xmlns:a="http://schemas.openxmlformats.org/drawingml/2006/main">
            <a:off x="647700" y="3524250"/>
            <a:ext cx="5619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950" b="0">
                <a:solidFill>
                  <a:srgbClr val="242C33"/>
                </a:solidFill>
                <a:latin typeface="Helvetica Neue"/>
                <a:ea typeface="Helvetica Neue"/>
                <a:cs typeface="Helvetica Neue"/>
              </a:defRPr>
            </a:pPr>
            <a:r>
              <a:rPr sz="1950" b="0">
                <a:solidFill>
                  <a:srgbClr val="242C33"/>
                </a:solidFill>
                <a:latin typeface="Helvetica Neue"/>
                <a:ea typeface="Helvetica Neue"/>
                <a:cs typeface="Helvetica Neue"/>
              </a:rPr>
              <a:t>Shuangpai y Fenghuang, China. Registros diarios de 2002 a 2005.</a:t>
            </a:r>
          </a:p>
        </p:txBody>
      </p:sp>
      <p:sp>
        <p:nvSpPr>
          <p:cNvPr id="8" name="Pronóstico de varios pasos">
            <a:extLst xmlns:a="http://schemas.openxmlformats.org/drawingml/2006/main">
              <a:ext uri="{FF2B5EF4-FFF2-40B4-BE49-F238E27FC236}">
                <a16:creationId xmlns:a16="http://schemas.microsoft.com/office/drawing/2014/main" id="{2D1340EE-47FC-47D9-AF68-0A951EA06517}"/>
              </a:ext>
            </a:extLst>
          </p:cNvPr>
          <p:cNvSpPr>
            <a:spLocks xmlns:a="http://schemas.openxmlformats.org/drawingml/2006/main" noGrp="1"/>
          </p:cNvSpPr>
          <p:nvPr/>
        </p:nvSpPr>
        <p:spPr>
          <a:xfrm xmlns:a="http://schemas.openxmlformats.org/drawingml/2006/main">
            <a:off x="647700" y="4533900"/>
            <a:ext cx="5619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025" b="1">
                <a:solidFill>
                  <a:srgbClr val="007FA3"/>
                </a:solidFill>
                <a:latin typeface="Helvetica Neue"/>
                <a:ea typeface="Helvetica Neue"/>
                <a:cs typeface="Helvetica Neue"/>
              </a:defRPr>
            </a:pPr>
            <a:r>
              <a:rPr sz="2025" b="1">
                <a:solidFill>
                  <a:srgbClr val="007FA3"/>
                </a:solidFill>
                <a:latin typeface="Helvetica Neue"/>
                <a:ea typeface="Helvetica Neue"/>
                <a:cs typeface="Helvetica Neue"/>
              </a:rPr>
              <a:t>Pronóstico de varios pasos</a:t>
            </a:r>
          </a:p>
        </p:txBody>
      </p:sp>
      <p:sp>
        <p:nvSpPr>
          <p:cNvPr id="9" name="Historia de 7 días. Horizontes de 1, 3, 5 y 7 días.">
            <a:extLst xmlns:a="http://schemas.openxmlformats.org/drawingml/2006/main">
              <a:ext uri="{FF2B5EF4-FFF2-40B4-BE49-F238E27FC236}">
                <a16:creationId xmlns:a16="http://schemas.microsoft.com/office/drawing/2014/main" id="{C3C8A380-4065-4F8D-A562-50BC1930A2FC}"/>
              </a:ext>
            </a:extLst>
          </p:cNvPr>
          <p:cNvSpPr>
            <a:spLocks xmlns:a="http://schemas.openxmlformats.org/drawingml/2006/main" noGrp="1"/>
          </p:cNvSpPr>
          <p:nvPr/>
        </p:nvSpPr>
        <p:spPr>
          <a:xfrm xmlns:a="http://schemas.openxmlformats.org/drawingml/2006/main">
            <a:off x="647700" y="4962525"/>
            <a:ext cx="5619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950" b="0">
                <a:solidFill>
                  <a:srgbClr val="242C33"/>
                </a:solidFill>
                <a:latin typeface="Helvetica Neue"/>
                <a:ea typeface="Helvetica Neue"/>
                <a:cs typeface="Helvetica Neue"/>
              </a:defRPr>
            </a:pPr>
            <a:r>
              <a:rPr sz="1950" b="0">
                <a:solidFill>
                  <a:srgbClr val="242C33"/>
                </a:solidFill>
                <a:latin typeface="Helvetica Neue"/>
                <a:ea typeface="Helvetica Neue"/>
                <a:cs typeface="Helvetica Neue"/>
              </a:rPr>
              <a:t>Historia de 7 días. Horizontes de 1, 3, 5 y 7 días.</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c57b5f3045ae4dac"/>
          <a:stretch xmlns:a="http://schemas.openxmlformats.org/drawingml/2006/main"/>
        </p:blipFill>
        <p:spPr>
          <a:xfrm xmlns:a="http://schemas.openxmlformats.org/drawingml/2006/main">
            <a:off x="6896100" y="1569958"/>
            <a:ext cx="4333875" cy="4203859"/>
          </a:xfrm>
          <a:prstGeom xmlns:a="http://schemas.openxmlformats.org/drawingml/2006/main" prst="rect">
            <a:avLst/>
          </a:prstGeom>
        </p:spPr>
      </p:pic>
      <p:sp>
        <p:nvSpPr>
          <p:cNvPr id="11" name="Cuenca del estudio original">
            <a:extLst xmlns:a="http://schemas.openxmlformats.org/drawingml/2006/main">
              <a:ext uri="{FF2B5EF4-FFF2-40B4-BE49-F238E27FC236}">
                <a16:creationId xmlns:a16="http://schemas.microsoft.com/office/drawing/2014/main" id="{B2D5765A-3C89-4BA5-AA81-8F08A8C5FE14}"/>
              </a:ext>
            </a:extLst>
          </p:cNvPr>
          <p:cNvSpPr>
            <a:spLocks xmlns:a="http://schemas.openxmlformats.org/drawingml/2006/main" noGrp="1"/>
          </p:cNvSpPr>
          <p:nvPr/>
        </p:nvSpPr>
        <p:spPr>
          <a:xfrm xmlns:a="http://schemas.openxmlformats.org/drawingml/2006/main">
            <a:off x="6991350" y="5953125"/>
            <a:ext cx="433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425" b="0">
                <a:solidFill>
                  <a:srgbClr val="5D6267"/>
                </a:solidFill>
                <a:latin typeface="Helvetica Neue"/>
                <a:ea typeface="Helvetica Neue"/>
                <a:cs typeface="Helvetica Neue"/>
              </a:defRPr>
            </a:pPr>
            <a:r>
              <a:rPr sz="1425" b="0">
                <a:solidFill>
                  <a:srgbClr val="5D6267"/>
                </a:solidFill>
                <a:latin typeface="Helvetica Neue"/>
                <a:ea typeface="Helvetica Neue"/>
                <a:cs typeface="Helvetica Neue"/>
              </a:rPr>
              <a:t>Cuenca del estudio original</a:t>
            </a:r>
          </a:p>
        </p:txBody>
      </p:sp>
      <p:sp>
        <p:nvSpPr>
          <p:cNvPr id="12" name="DMEL, Shuangpai a 7 días: NSE 0.8255">
            <a:extLst xmlns:a="http://schemas.openxmlformats.org/drawingml/2006/main">
              <a:ext uri="{FF2B5EF4-FFF2-40B4-BE49-F238E27FC236}">
                <a16:creationId xmlns:a16="http://schemas.microsoft.com/office/drawing/2014/main" id="{38C5D9CB-4DA5-423B-9D3D-2FAB2B166E14}"/>
              </a:ext>
            </a:extLst>
          </p:cNvPr>
          <p:cNvSpPr>
            <a:spLocks xmlns:a="http://schemas.openxmlformats.org/drawingml/2006/main" noGrp="1"/>
          </p:cNvSpPr>
          <p:nvPr/>
        </p:nvSpPr>
        <p:spPr>
          <a:xfrm xmlns:a="http://schemas.openxmlformats.org/drawingml/2006/main">
            <a:off x="695325" y="5886450"/>
            <a:ext cx="6000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800" b="1">
                <a:solidFill>
                  <a:srgbClr val="007FA3"/>
                </a:solidFill>
                <a:latin typeface="Helvetica Neue"/>
                <a:ea typeface="Helvetica Neue"/>
                <a:cs typeface="Helvetica Neue"/>
              </a:defRPr>
            </a:pPr>
            <a:r>
              <a:rPr sz="1800" b="1">
                <a:solidFill>
                  <a:srgbClr val="007FA3"/>
                </a:solidFill>
                <a:latin typeface="Helvetica Neue"/>
                <a:ea typeface="Helvetica Neue"/>
                <a:cs typeface="Helvetica Neue"/>
              </a:rPr>
              <a:t>DMEL, Shuangpai a 7 días: NSE 0.8255</a:t>
            </a:r>
          </a:p>
        </p:txBody>
      </p:sp>
    </p:spTree>
    <p:extLst>
      <p:ext uri="{BB962C8B-B14F-4D97-AF65-F5344CB8AC3E}">
        <p14:creationId xmlns:p14="http://schemas.microsoft.com/office/powerpoint/2010/main" val="134256497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La propuesta central de DMEL">
            <a:extLst xmlns:a="http://schemas.openxmlformats.org/drawingml/2006/main">
              <a:ext uri="{FF2B5EF4-FFF2-40B4-BE49-F238E27FC236}">
                <a16:creationId xmlns:a16="http://schemas.microsoft.com/office/drawing/2014/main" id="{A700939F-301D-4F55-A1D3-6BFE99276B2E}"/>
              </a:ext>
            </a:extLst>
          </p:cNvPr>
          <p:cNvSpPr>
            <a:spLocks xmlns:a="http://schemas.openxmlformats.org/drawingml/2006/main" noGrp="1"/>
          </p:cNvSpPr>
          <p:nvPr/>
        </p:nvSpPr>
        <p:spPr>
          <a:xfrm xmlns:a="http://schemas.openxmlformats.org/drawingml/2006/main">
            <a:off x="609600" y="42862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3300" b="1">
                <a:solidFill>
                  <a:srgbClr val="242C33"/>
                </a:solidFill>
                <a:latin typeface="Helvetica Neue"/>
                <a:ea typeface="Helvetica Neue"/>
                <a:cs typeface="Helvetica Neue"/>
              </a:defRPr>
            </a:pPr>
            <a:r>
              <a:rPr sz="3300" b="1">
                <a:solidFill>
                  <a:srgbClr val="064B6B"/>
                </a:solidFill>
                <a:latin typeface="Helvetica Neue"/>
                <a:ea typeface="Helvetica Neue"/>
                <a:cs typeface="Helvetica Neue"/>
              </a:rPr>
              <a:t>La propuesta central de DMEL</a:t>
            </a:r>
          </a:p>
        </p:txBody>
      </p:sp>
      <p:sp>
        <p:nvSpPr>
          <p:cNvPr id="2" name="Wang et al. (2026), fig. 3. Detalle de preprocesamiento y pr">
            <a:extLst xmlns:a="http://schemas.openxmlformats.org/drawingml/2006/main">
              <a:ext uri="{FF2B5EF4-FFF2-40B4-BE49-F238E27FC236}">
                <a16:creationId xmlns:a16="http://schemas.microsoft.com/office/drawing/2014/main" id="{FE53786C-3824-4F85-9AE6-92488EB4EA8D}"/>
              </a:ext>
            </a:extLst>
          </p:cNvPr>
          <p:cNvSpPr>
            <a:spLocks xmlns:a="http://schemas.openxmlformats.org/drawingml/2006/main" noGrp="1"/>
          </p:cNvSpPr>
          <p:nvPr/>
        </p:nvSpPr>
        <p:spPr>
          <a:xfrm xmlns:a="http://schemas.openxmlformats.org/drawingml/2006/main">
            <a:off x="628650" y="6429375"/>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200" b="0">
                <a:solidFill>
                  <a:srgbClr val="5D6267"/>
                </a:solidFill>
                <a:latin typeface="Helvetica Neue"/>
                <a:ea typeface="Helvetica Neue"/>
                <a:cs typeface="Helvetica Neue"/>
              </a:defRPr>
            </a:pPr>
            <a:r>
              <a:rPr sz="1200" b="0">
                <a:solidFill>
                  <a:srgbClr val="5D6267"/>
                </a:solidFill>
                <a:latin typeface="Helvetica Neue"/>
                <a:ea typeface="Helvetica Neue"/>
                <a:cs typeface="Helvetica Neue"/>
              </a:rPr>
              <a:t>Wang et al. (2026), fig. 3. Detalle de preprocesamiento y predicción</a:t>
            </a:r>
          </a:p>
        </p:txBody>
      </p:sp>
      <p:sp>
        <p:nvSpPr>
          <p:cNvPr id="3" name="03">
            <a:extLst xmlns:a="http://schemas.openxmlformats.org/drawingml/2006/main">
              <a:ext uri="{FF2B5EF4-FFF2-40B4-BE49-F238E27FC236}">
                <a16:creationId xmlns:a16="http://schemas.microsoft.com/office/drawing/2014/main" id="{E0589DCC-BCE5-4D8C-9998-96924D85DD0F}"/>
              </a:ext>
            </a:extLst>
          </p:cNvPr>
          <p:cNvSpPr>
            <a:spLocks xmlns:a="http://schemas.openxmlformats.org/drawingml/2006/main" noGrp="1"/>
          </p:cNvSpPr>
          <p:nvPr/>
        </p:nvSpPr>
        <p:spPr>
          <a:xfrm xmlns:a="http://schemas.openxmlformats.org/drawingml/2006/main">
            <a:off x="10953750" y="639127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buNone/>
              <a:defRPr sz="1425" b="0">
                <a:solidFill>
                  <a:srgbClr val="5D6267"/>
                </a:solidFill>
                <a:latin typeface="Helvetica Neue"/>
                <a:ea typeface="Helvetica Neue"/>
                <a:cs typeface="Helvetica Neue"/>
              </a:defRPr>
            </a:pPr>
            <a:r>
              <a:rPr sz="1425" b="0">
                <a:solidFill>
                  <a:srgbClr val="5D6267"/>
                </a:solidFill>
                <a:latin typeface="Helvetica Neue"/>
                <a:ea typeface="Helvetica Neue"/>
                <a:cs typeface="Helvetica Neue"/>
              </a:rPr>
              <a:t>03</a:t>
            </a:r>
          </a:p>
        </p:txBody>
      </p:sp>
      <p:sp>
        <p:nvSpPr>
          <p:cNvPr id="4" name="1. Separar la señal">
            <a:extLst xmlns:a="http://schemas.openxmlformats.org/drawingml/2006/main">
              <a:ext uri="{FF2B5EF4-FFF2-40B4-BE49-F238E27FC236}">
                <a16:creationId xmlns:a16="http://schemas.microsoft.com/office/drawing/2014/main" id="{A213E681-C6A9-4CD2-ACE4-9B7FA1C733D1}"/>
              </a:ext>
            </a:extLst>
          </p:cNvPr>
          <p:cNvSpPr>
            <a:spLocks xmlns:a="http://schemas.openxmlformats.org/drawingml/2006/main" noGrp="1"/>
          </p:cNvSpPr>
          <p:nvPr/>
        </p:nvSpPr>
        <p:spPr>
          <a:xfrm xmlns:a="http://schemas.openxmlformats.org/drawingml/2006/main">
            <a:off x="647700" y="1657350"/>
            <a:ext cx="5334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025" b="1">
                <a:solidFill>
                  <a:srgbClr val="007FA3"/>
                </a:solidFill>
                <a:latin typeface="Helvetica Neue"/>
                <a:ea typeface="Helvetica Neue"/>
                <a:cs typeface="Helvetica Neue"/>
              </a:defRPr>
            </a:pPr>
            <a:r>
              <a:rPr sz="2025" b="1">
                <a:solidFill>
                  <a:srgbClr val="007FA3"/>
                </a:solidFill>
                <a:latin typeface="Helvetica Neue"/>
                <a:ea typeface="Helvetica Neue"/>
                <a:cs typeface="Helvetica Neue"/>
              </a:rPr>
              <a:t>1. Separar la señal</a:t>
            </a:r>
          </a:p>
        </p:txBody>
      </p:sp>
      <p:sp>
        <p:nvSpPr>
          <p:cNvPr id="5" name="CEEMDAN extrae modos y conserva un residuo.">
            <a:extLst xmlns:a="http://schemas.openxmlformats.org/drawingml/2006/main">
              <a:ext uri="{FF2B5EF4-FFF2-40B4-BE49-F238E27FC236}">
                <a16:creationId xmlns:a16="http://schemas.microsoft.com/office/drawing/2014/main" id="{4C46455E-4ED9-4573-8858-7D894063E065}"/>
              </a:ext>
            </a:extLst>
          </p:cNvPr>
          <p:cNvSpPr>
            <a:spLocks xmlns:a="http://schemas.openxmlformats.org/drawingml/2006/main" noGrp="1"/>
          </p:cNvSpPr>
          <p:nvPr/>
        </p:nvSpPr>
        <p:spPr>
          <a:xfrm xmlns:a="http://schemas.openxmlformats.org/drawingml/2006/main">
            <a:off x="647700" y="2085975"/>
            <a:ext cx="5334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950" b="0">
                <a:solidFill>
                  <a:srgbClr val="242C33"/>
                </a:solidFill>
                <a:latin typeface="Helvetica Neue"/>
                <a:ea typeface="Helvetica Neue"/>
                <a:cs typeface="Helvetica Neue"/>
              </a:defRPr>
            </a:pPr>
            <a:r>
              <a:rPr sz="1950" b="0">
                <a:solidFill>
                  <a:srgbClr val="242C33"/>
                </a:solidFill>
                <a:latin typeface="Helvetica Neue"/>
                <a:ea typeface="Helvetica Neue"/>
                <a:cs typeface="Helvetica Neue"/>
              </a:rPr>
              <a:t>CEEMDAN extrae modos y conserva un residuo.</a:t>
            </a:r>
          </a:p>
        </p:txBody>
      </p:sp>
      <p:sp>
        <p:nvSpPr>
          <p:cNvPr id="6" name="2. Reconocer los modos">
            <a:extLst xmlns:a="http://schemas.openxmlformats.org/drawingml/2006/main">
              <a:ext uri="{FF2B5EF4-FFF2-40B4-BE49-F238E27FC236}">
                <a16:creationId xmlns:a16="http://schemas.microsoft.com/office/drawing/2014/main" id="{6045E59E-2EA6-4C14-B8EB-C37FDFE9ABA0}"/>
              </a:ext>
            </a:extLst>
          </p:cNvPr>
          <p:cNvSpPr>
            <a:spLocks xmlns:a="http://schemas.openxmlformats.org/drawingml/2006/main" noGrp="1"/>
          </p:cNvSpPr>
          <p:nvPr/>
        </p:nvSpPr>
        <p:spPr>
          <a:xfrm xmlns:a="http://schemas.openxmlformats.org/drawingml/2006/main">
            <a:off x="647700" y="3095625"/>
            <a:ext cx="5334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025" b="1">
                <a:solidFill>
                  <a:srgbClr val="007FA3"/>
                </a:solidFill>
                <a:latin typeface="Helvetica Neue"/>
                <a:ea typeface="Helvetica Neue"/>
                <a:cs typeface="Helvetica Neue"/>
              </a:defRPr>
            </a:pPr>
            <a:r>
              <a:rPr sz="2025" b="1">
                <a:solidFill>
                  <a:srgbClr val="007FA3"/>
                </a:solidFill>
                <a:latin typeface="Helvetica Neue"/>
                <a:ea typeface="Helvetica Neue"/>
                <a:cs typeface="Helvetica Neue"/>
              </a:rPr>
              <a:t>2. Reconocer los modos</a:t>
            </a:r>
          </a:p>
        </p:txBody>
      </p:sp>
      <p:sp>
        <p:nvSpPr>
          <p:cNvPr id="7" name="MRS combina componentes de entropía similar y decide su ruta">
            <a:extLst xmlns:a="http://schemas.openxmlformats.org/drawingml/2006/main">
              <a:ext uri="{FF2B5EF4-FFF2-40B4-BE49-F238E27FC236}">
                <a16:creationId xmlns:a16="http://schemas.microsoft.com/office/drawing/2014/main" id="{ECDD0E80-1962-4615-A750-64C001E0DDE2}"/>
              </a:ext>
            </a:extLst>
          </p:cNvPr>
          <p:cNvSpPr>
            <a:spLocks xmlns:a="http://schemas.openxmlformats.org/drawingml/2006/main" noGrp="1"/>
          </p:cNvSpPr>
          <p:nvPr/>
        </p:nvSpPr>
        <p:spPr>
          <a:xfrm xmlns:a="http://schemas.openxmlformats.org/drawingml/2006/main">
            <a:off x="647700" y="3524250"/>
            <a:ext cx="5334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950" b="0">
                <a:solidFill>
                  <a:srgbClr val="242C33"/>
                </a:solidFill>
                <a:latin typeface="Helvetica Neue"/>
                <a:ea typeface="Helvetica Neue"/>
                <a:cs typeface="Helvetica Neue"/>
              </a:defRPr>
            </a:pPr>
            <a:r>
              <a:rPr sz="1950" b="0">
                <a:solidFill>
                  <a:srgbClr val="242C33"/>
                </a:solidFill>
                <a:latin typeface="Helvetica Neue"/>
                <a:ea typeface="Helvetica Neue"/>
                <a:cs typeface="Helvetica Neue"/>
              </a:rPr>
              <a:t>MRS combina componentes de entropía similar y decide su ruta.</a:t>
            </a:r>
          </a:p>
        </p:txBody>
      </p:sp>
      <p:sp>
        <p:nvSpPr>
          <p:cNvPr id="8" name="3. Especializar los predictores">
            <a:extLst xmlns:a="http://schemas.openxmlformats.org/drawingml/2006/main">
              <a:ext uri="{FF2B5EF4-FFF2-40B4-BE49-F238E27FC236}">
                <a16:creationId xmlns:a16="http://schemas.microsoft.com/office/drawing/2014/main" id="{BF6D81E6-70D1-4BEC-B981-BE3FB4696301}"/>
              </a:ext>
            </a:extLst>
          </p:cNvPr>
          <p:cNvSpPr>
            <a:spLocks xmlns:a="http://schemas.openxmlformats.org/drawingml/2006/main" noGrp="1"/>
          </p:cNvSpPr>
          <p:nvPr/>
        </p:nvSpPr>
        <p:spPr>
          <a:xfrm xmlns:a="http://schemas.openxmlformats.org/drawingml/2006/main">
            <a:off x="647700" y="4533900"/>
            <a:ext cx="5334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025" b="1">
                <a:solidFill>
                  <a:srgbClr val="007FA3"/>
                </a:solidFill>
                <a:latin typeface="Helvetica Neue"/>
                <a:ea typeface="Helvetica Neue"/>
                <a:cs typeface="Helvetica Neue"/>
              </a:defRPr>
            </a:pPr>
            <a:r>
              <a:rPr sz="2025" b="1">
                <a:solidFill>
                  <a:srgbClr val="007FA3"/>
                </a:solidFill>
                <a:latin typeface="Helvetica Neue"/>
                <a:ea typeface="Helvetica Neue"/>
                <a:cs typeface="Helvetica Neue"/>
              </a:rPr>
              <a:t>3. Especializar los predictores</a:t>
            </a:r>
          </a:p>
        </p:txBody>
      </p:sp>
      <p:sp>
        <p:nvSpPr>
          <p:cNvPr id="9" name="Informer y LSTM pronostican grupos distintos. El ensamble su">
            <a:extLst xmlns:a="http://schemas.openxmlformats.org/drawingml/2006/main">
              <a:ext uri="{FF2B5EF4-FFF2-40B4-BE49-F238E27FC236}">
                <a16:creationId xmlns:a16="http://schemas.microsoft.com/office/drawing/2014/main" id="{F0F5D232-C201-481F-8579-98826E36146B}"/>
              </a:ext>
            </a:extLst>
          </p:cNvPr>
          <p:cNvSpPr>
            <a:spLocks xmlns:a="http://schemas.openxmlformats.org/drawingml/2006/main" noGrp="1"/>
          </p:cNvSpPr>
          <p:nvPr/>
        </p:nvSpPr>
        <p:spPr>
          <a:xfrm xmlns:a="http://schemas.openxmlformats.org/drawingml/2006/main">
            <a:off x="647700" y="4962525"/>
            <a:ext cx="5334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950" b="0">
                <a:solidFill>
                  <a:srgbClr val="242C33"/>
                </a:solidFill>
                <a:latin typeface="Helvetica Neue"/>
                <a:ea typeface="Helvetica Neue"/>
                <a:cs typeface="Helvetica Neue"/>
              </a:defRPr>
            </a:pPr>
            <a:r>
              <a:rPr sz="1950" b="0">
                <a:solidFill>
                  <a:srgbClr val="242C33"/>
                </a:solidFill>
                <a:latin typeface="Helvetica Neue"/>
                <a:ea typeface="Helvetica Neue"/>
                <a:cs typeface="Helvetica Neue"/>
              </a:rPr>
              <a:t>Informer y LSTM pronostican grupos distintos. El ensamble suma sus salidas.</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be73492f0e3f41c4"/>
          <a:stretch xmlns:a="http://schemas.openxmlformats.org/drawingml/2006/main"/>
        </p:blipFill>
        <p:spPr>
          <a:xfrm xmlns:a="http://schemas.openxmlformats.org/drawingml/2006/main">
            <a:off x="6663659" y="1428750"/>
            <a:ext cx="4703508" cy="4905375"/>
          </a:xfrm>
          <a:prstGeom xmlns:a="http://schemas.openxmlformats.org/drawingml/2006/main" prst="rect">
            <a:avLst/>
          </a:prstGeom>
        </p:spPr>
      </p:pic>
    </p:spTree>
    <p:extLst>
      <p:ext uri="{BB962C8B-B14F-4D97-AF65-F5344CB8AC3E}">
        <p14:creationId xmlns:p14="http://schemas.microsoft.com/office/powerpoint/2010/main" val="156786889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CEEMDAN: descomposición de la señal">
            <a:extLst xmlns:a="http://schemas.openxmlformats.org/drawingml/2006/main">
              <a:ext uri="{FF2B5EF4-FFF2-40B4-BE49-F238E27FC236}">
                <a16:creationId xmlns:a16="http://schemas.microsoft.com/office/drawing/2014/main" id="{70DEFAB3-5DE2-42AC-BC32-A6BBC49232C1}"/>
              </a:ext>
            </a:extLst>
          </p:cNvPr>
          <p:cNvSpPr>
            <a:spLocks xmlns:a="http://schemas.openxmlformats.org/drawingml/2006/main" noGrp="1"/>
          </p:cNvSpPr>
          <p:nvPr/>
        </p:nvSpPr>
        <p:spPr>
          <a:xfrm xmlns:a="http://schemas.openxmlformats.org/drawingml/2006/main">
            <a:off x="609600" y="42862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3300" b="1">
                <a:solidFill>
                  <a:srgbClr val="242C33"/>
                </a:solidFill>
                <a:latin typeface="Helvetica Neue"/>
                <a:ea typeface="Helvetica Neue"/>
                <a:cs typeface="Helvetica Neue"/>
              </a:defRPr>
            </a:pPr>
            <a:r>
              <a:rPr sz="3300" b="1">
                <a:solidFill>
                  <a:srgbClr val="064B6B"/>
                </a:solidFill>
                <a:latin typeface="Helvetica Neue"/>
                <a:ea typeface="Helvetica Neue"/>
                <a:cs typeface="Helvetica Neue"/>
              </a:rPr>
              <a:t>CEEMDAN: descomposición de la señal</a:t>
            </a:r>
          </a:p>
        </p:txBody>
      </p:sp>
      <p:sp>
        <p:nvSpPr>
          <p:cNvPr id="2" name="Wang et al. (2026), secciones 2.1.1 y 4.1; Torres et al. (20">
            <a:extLst xmlns:a="http://schemas.openxmlformats.org/drawingml/2006/main">
              <a:ext uri="{FF2B5EF4-FFF2-40B4-BE49-F238E27FC236}">
                <a16:creationId xmlns:a16="http://schemas.microsoft.com/office/drawing/2014/main" id="{41E2193B-D47E-4AAF-83CB-1C5D6777AD38}"/>
              </a:ext>
            </a:extLst>
          </p:cNvPr>
          <p:cNvSpPr>
            <a:spLocks xmlns:a="http://schemas.openxmlformats.org/drawingml/2006/main" noGrp="1"/>
          </p:cNvSpPr>
          <p:nvPr/>
        </p:nvSpPr>
        <p:spPr>
          <a:xfrm xmlns:a="http://schemas.openxmlformats.org/drawingml/2006/main">
            <a:off x="628650" y="6429375"/>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200" b="0">
                <a:solidFill>
                  <a:srgbClr val="5D6267"/>
                </a:solidFill>
                <a:latin typeface="Helvetica Neue"/>
                <a:ea typeface="Helvetica Neue"/>
                <a:cs typeface="Helvetica Neue"/>
              </a:defRPr>
            </a:pPr>
            <a:r>
              <a:rPr sz="1200" b="0">
                <a:solidFill>
                  <a:srgbClr val="5D6267"/>
                </a:solidFill>
                <a:latin typeface="Helvetica Neue"/>
                <a:ea typeface="Helvetica Neue"/>
                <a:cs typeface="Helvetica Neue"/>
              </a:rPr>
              <a:t>Wang et al. (2026), secciones 2.1.1 y 4.1; Torres et al. (2011)</a:t>
            </a:r>
          </a:p>
        </p:txBody>
      </p:sp>
      <p:sp>
        <p:nvSpPr>
          <p:cNvPr id="3" name="04">
            <a:extLst xmlns:a="http://schemas.openxmlformats.org/drawingml/2006/main">
              <a:ext uri="{FF2B5EF4-FFF2-40B4-BE49-F238E27FC236}">
                <a16:creationId xmlns:a16="http://schemas.microsoft.com/office/drawing/2014/main" id="{65EB3167-F56B-4608-AE06-F0A13EF07CFF}"/>
              </a:ext>
            </a:extLst>
          </p:cNvPr>
          <p:cNvSpPr>
            <a:spLocks xmlns:a="http://schemas.openxmlformats.org/drawingml/2006/main" noGrp="1"/>
          </p:cNvSpPr>
          <p:nvPr/>
        </p:nvSpPr>
        <p:spPr>
          <a:xfrm xmlns:a="http://schemas.openxmlformats.org/drawingml/2006/main">
            <a:off x="10953750" y="639127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buNone/>
              <a:defRPr sz="1425" b="0">
                <a:solidFill>
                  <a:srgbClr val="5D6267"/>
                </a:solidFill>
                <a:latin typeface="Helvetica Neue"/>
                <a:ea typeface="Helvetica Neue"/>
                <a:cs typeface="Helvetica Neue"/>
              </a:defRPr>
            </a:pPr>
            <a:r>
              <a:rPr sz="1425" b="0">
                <a:solidFill>
                  <a:srgbClr val="5D6267"/>
                </a:solidFill>
                <a:latin typeface="Helvetica Neue"/>
                <a:ea typeface="Helvetica Neue"/>
                <a:cs typeface="Helvetica Neue"/>
              </a:rPr>
              <a:t>04</a:t>
            </a:r>
          </a:p>
        </p:txBody>
      </p:sp>
      <p:sp>
        <p:nvSpPr>
          <p:cNvPr id="4" name="q(t) = Σ IMFₖ(t) + r(t)">
            <a:extLst xmlns:a="http://schemas.openxmlformats.org/drawingml/2006/main">
              <a:ext uri="{FF2B5EF4-FFF2-40B4-BE49-F238E27FC236}">
                <a16:creationId xmlns:a16="http://schemas.microsoft.com/office/drawing/2014/main" id="{EDCD10B3-DF67-4181-993D-2E1BE873584E}"/>
              </a:ext>
            </a:extLst>
          </p:cNvPr>
          <p:cNvSpPr>
            <a:spLocks xmlns:a="http://schemas.openxmlformats.org/drawingml/2006/main" noGrp="1"/>
          </p:cNvSpPr>
          <p:nvPr/>
        </p:nvSpPr>
        <p:spPr>
          <a:xfrm xmlns:a="http://schemas.openxmlformats.org/drawingml/2006/main">
            <a:off x="704850" y="171450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4575" b="1">
                <a:solidFill>
                  <a:srgbClr val="007FA3"/>
                </a:solidFill>
                <a:latin typeface="Helvetica Neue"/>
                <a:ea typeface="Helvetica Neue"/>
                <a:cs typeface="Helvetica Neue"/>
              </a:defRPr>
            </a:pPr>
            <a:r>
              <a:rPr sz="4575" b="1">
                <a:solidFill>
                  <a:srgbClr val="007FA3"/>
                </a:solidFill>
                <a:latin typeface="Helvetica Neue"/>
                <a:ea typeface="Helvetica Neue"/>
                <a:cs typeface="Helvetica Neue"/>
              </a:rPr>
              <a:t>q(t) = Σ IMFₖ(t) + r(t)</a:t>
            </a:r>
          </a:p>
        </p:txBody>
      </p:sp>
      <p:sp>
        <p:nvSpPr>
          <p:cNvPr id="5" name="Modos intrínsecos, IMF">
            <a:extLst xmlns:a="http://schemas.openxmlformats.org/drawingml/2006/main">
              <a:ext uri="{FF2B5EF4-FFF2-40B4-BE49-F238E27FC236}">
                <a16:creationId xmlns:a16="http://schemas.microsoft.com/office/drawing/2014/main" id="{7F0271E1-D97C-43B6-AE29-0E2D971A0D4B}"/>
              </a:ext>
            </a:extLst>
          </p:cNvPr>
          <p:cNvSpPr>
            <a:spLocks xmlns:a="http://schemas.openxmlformats.org/drawingml/2006/main" noGrp="1"/>
          </p:cNvSpPr>
          <p:nvPr/>
        </p:nvSpPr>
        <p:spPr>
          <a:xfrm xmlns:a="http://schemas.openxmlformats.org/drawingml/2006/main">
            <a:off x="714375" y="3095625"/>
            <a:ext cx="10191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025" b="1">
                <a:solidFill>
                  <a:srgbClr val="007FA3"/>
                </a:solidFill>
                <a:latin typeface="Helvetica Neue"/>
                <a:ea typeface="Helvetica Neue"/>
                <a:cs typeface="Helvetica Neue"/>
              </a:defRPr>
            </a:pPr>
            <a:r>
              <a:rPr sz="2025" b="1">
                <a:solidFill>
                  <a:srgbClr val="007FA3"/>
                </a:solidFill>
                <a:latin typeface="Helvetica Neue"/>
                <a:ea typeface="Helvetica Neue"/>
                <a:cs typeface="Helvetica Neue"/>
              </a:rPr>
              <a:t>Modos intrínsecos, IMF</a:t>
            </a:r>
          </a:p>
        </p:txBody>
      </p:sp>
      <p:sp>
        <p:nvSpPr>
          <p:cNvPr id="6" name="Oscilaciones que la descomposición extrae de la propia señal">
            <a:extLst xmlns:a="http://schemas.openxmlformats.org/drawingml/2006/main">
              <a:ext uri="{FF2B5EF4-FFF2-40B4-BE49-F238E27FC236}">
                <a16:creationId xmlns:a16="http://schemas.microsoft.com/office/drawing/2014/main" id="{FA4B113C-F29A-48D1-87F2-5DAC18719783}"/>
              </a:ext>
            </a:extLst>
          </p:cNvPr>
          <p:cNvSpPr>
            <a:spLocks xmlns:a="http://schemas.openxmlformats.org/drawingml/2006/main" noGrp="1"/>
          </p:cNvSpPr>
          <p:nvPr/>
        </p:nvSpPr>
        <p:spPr>
          <a:xfrm xmlns:a="http://schemas.openxmlformats.org/drawingml/2006/main">
            <a:off x="714375" y="3524250"/>
            <a:ext cx="10191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950" b="0">
                <a:solidFill>
                  <a:srgbClr val="242C33"/>
                </a:solidFill>
                <a:latin typeface="Helvetica Neue"/>
                <a:ea typeface="Helvetica Neue"/>
                <a:cs typeface="Helvetica Neue"/>
              </a:defRPr>
            </a:pPr>
            <a:r>
              <a:rPr sz="1950" b="0">
                <a:solidFill>
                  <a:srgbClr val="242C33"/>
                </a:solidFill>
                <a:latin typeface="Helvetica Neue"/>
                <a:ea typeface="Helvetica Neue"/>
                <a:cs typeface="Helvetica Neue"/>
              </a:rPr>
              <a:t>Oscilaciones que la descomposición extrae de la propia señal.</a:t>
            </a:r>
          </a:p>
        </p:txBody>
      </p:sp>
      <p:sp>
        <p:nvSpPr>
          <p:cNvPr id="7" name="Ruido adaptativo y promedio">
            <a:extLst xmlns:a="http://schemas.openxmlformats.org/drawingml/2006/main">
              <a:ext uri="{FF2B5EF4-FFF2-40B4-BE49-F238E27FC236}">
                <a16:creationId xmlns:a16="http://schemas.microsoft.com/office/drawing/2014/main" id="{31ECD89D-506C-47D5-8D4E-35D5D59E3652}"/>
              </a:ext>
            </a:extLst>
          </p:cNvPr>
          <p:cNvSpPr>
            <a:spLocks xmlns:a="http://schemas.openxmlformats.org/drawingml/2006/main" noGrp="1"/>
          </p:cNvSpPr>
          <p:nvPr/>
        </p:nvSpPr>
        <p:spPr>
          <a:xfrm xmlns:a="http://schemas.openxmlformats.org/drawingml/2006/main">
            <a:off x="714375" y="4352925"/>
            <a:ext cx="10191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025" b="1">
                <a:solidFill>
                  <a:srgbClr val="007FA3"/>
                </a:solidFill>
                <a:latin typeface="Helvetica Neue"/>
                <a:ea typeface="Helvetica Neue"/>
                <a:cs typeface="Helvetica Neue"/>
              </a:defRPr>
            </a:pPr>
            <a:r>
              <a:rPr sz="2025" b="1">
                <a:solidFill>
                  <a:srgbClr val="007FA3"/>
                </a:solidFill>
                <a:latin typeface="Helvetica Neue"/>
                <a:ea typeface="Helvetica Neue"/>
                <a:cs typeface="Helvetica Neue"/>
              </a:rPr>
              <a:t>Ruido adaptativo y promedio</a:t>
            </a:r>
          </a:p>
        </p:txBody>
      </p:sp>
      <p:sp>
        <p:nvSpPr>
          <p:cNvPr id="8" name="CEEMDAN usa múltiples realizaciones para reducir la mezcla d">
            <a:extLst xmlns:a="http://schemas.openxmlformats.org/drawingml/2006/main">
              <a:ext uri="{FF2B5EF4-FFF2-40B4-BE49-F238E27FC236}">
                <a16:creationId xmlns:a16="http://schemas.microsoft.com/office/drawing/2014/main" id="{4EEAE984-0181-4BBF-845E-228B460C3C80}"/>
              </a:ext>
            </a:extLst>
          </p:cNvPr>
          <p:cNvSpPr>
            <a:spLocks xmlns:a="http://schemas.openxmlformats.org/drawingml/2006/main" noGrp="1"/>
          </p:cNvSpPr>
          <p:nvPr/>
        </p:nvSpPr>
        <p:spPr>
          <a:xfrm xmlns:a="http://schemas.openxmlformats.org/drawingml/2006/main">
            <a:off x="714375" y="4781550"/>
            <a:ext cx="10191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950" b="0">
                <a:solidFill>
                  <a:srgbClr val="242C33"/>
                </a:solidFill>
                <a:latin typeface="Helvetica Neue"/>
                <a:ea typeface="Helvetica Neue"/>
                <a:cs typeface="Helvetica Neue"/>
              </a:defRPr>
            </a:pPr>
            <a:r>
              <a:rPr sz="1950" b="0">
                <a:solidFill>
                  <a:srgbClr val="242C33"/>
                </a:solidFill>
                <a:latin typeface="Helvetica Neue"/>
                <a:ea typeface="Helvetica Neue"/>
                <a:cs typeface="Helvetica Neue"/>
              </a:rPr>
              <a:t>CEEMDAN usa múltiples realizaciones para reducir la mezcla de modos.</a:t>
            </a:r>
          </a:p>
        </p:txBody>
      </p:sp>
      <p:sp>
        <p:nvSpPr>
          <p:cNvPr id="9" name="Paper: 100 realizaciones y ruido reportado de 0.2. El residu">
            <a:extLst xmlns:a="http://schemas.openxmlformats.org/drawingml/2006/main">
              <a:ext uri="{FF2B5EF4-FFF2-40B4-BE49-F238E27FC236}">
                <a16:creationId xmlns:a16="http://schemas.microsoft.com/office/drawing/2014/main" id="{82B2B79D-9F06-4D26-9D8B-FD6585E3775D}"/>
              </a:ext>
            </a:extLst>
          </p:cNvPr>
          <p:cNvSpPr>
            <a:spLocks xmlns:a="http://schemas.openxmlformats.org/drawingml/2006/main" noGrp="1"/>
          </p:cNvSpPr>
          <p:nvPr/>
        </p:nvSpPr>
        <p:spPr>
          <a:xfrm xmlns:a="http://schemas.openxmlformats.org/drawingml/2006/main">
            <a:off x="714375" y="576262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725" b="0">
                <a:solidFill>
                  <a:srgbClr val="5D6267"/>
                </a:solidFill>
                <a:latin typeface="Helvetica Neue"/>
                <a:ea typeface="Helvetica Neue"/>
                <a:cs typeface="Helvetica Neue"/>
              </a:defRPr>
            </a:pPr>
            <a:r>
              <a:rPr sz="1725" b="0">
                <a:solidFill>
                  <a:srgbClr val="5D6267"/>
                </a:solidFill>
                <a:latin typeface="Helvetica Neue"/>
                <a:ea typeface="Helvetica Neue"/>
                <a:cs typeface="Helvetica Neue"/>
              </a:rPr>
              <a:t>Paper: 100 realizaciones y ruido reportado de 0.2. El residuo forma parte de la reconstrucción.</a:t>
            </a:r>
          </a:p>
        </p:txBody>
      </p:sp>
    </p:spTree>
    <p:extLst>
      <p:ext uri="{BB962C8B-B14F-4D97-AF65-F5344CB8AC3E}">
        <p14:creationId xmlns:p14="http://schemas.microsoft.com/office/powerpoint/2010/main" val="98847063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Entropía muestral y reconocimiento modal">
            <a:extLst xmlns:a="http://schemas.openxmlformats.org/drawingml/2006/main">
              <a:ext uri="{FF2B5EF4-FFF2-40B4-BE49-F238E27FC236}">
                <a16:creationId xmlns:a16="http://schemas.microsoft.com/office/drawing/2014/main" id="{D9C3E026-0B7F-45AC-81AA-58E2EFF298A6}"/>
              </a:ext>
            </a:extLst>
          </p:cNvPr>
          <p:cNvSpPr>
            <a:spLocks xmlns:a="http://schemas.openxmlformats.org/drawingml/2006/main" noGrp="1"/>
          </p:cNvSpPr>
          <p:nvPr/>
        </p:nvSpPr>
        <p:spPr>
          <a:xfrm xmlns:a="http://schemas.openxmlformats.org/drawingml/2006/main">
            <a:off x="609600" y="42862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3300" b="1">
                <a:solidFill>
                  <a:srgbClr val="242C33"/>
                </a:solidFill>
                <a:latin typeface="Helvetica Neue"/>
                <a:ea typeface="Helvetica Neue"/>
                <a:cs typeface="Helvetica Neue"/>
              </a:defRPr>
            </a:pPr>
            <a:r>
              <a:rPr sz="3300" b="1">
                <a:solidFill>
                  <a:srgbClr val="064B6B"/>
                </a:solidFill>
                <a:latin typeface="Helvetica Neue"/>
                <a:ea typeface="Helvetica Neue"/>
                <a:cs typeface="Helvetica Neue"/>
              </a:rPr>
              <a:t>Entropía muestral y reconocimiento modal</a:t>
            </a:r>
          </a:p>
        </p:txBody>
      </p:sp>
      <p:sp>
        <p:nvSpPr>
          <p:cNvPr id="2" name="Wang et al. (2026), secciones 2.1.2 y 2.2.1">
            <a:extLst xmlns:a="http://schemas.openxmlformats.org/drawingml/2006/main">
              <a:ext uri="{FF2B5EF4-FFF2-40B4-BE49-F238E27FC236}">
                <a16:creationId xmlns:a16="http://schemas.microsoft.com/office/drawing/2014/main" id="{080B035A-44CD-4EEB-89EB-F7C0CB467E4E}"/>
              </a:ext>
            </a:extLst>
          </p:cNvPr>
          <p:cNvSpPr>
            <a:spLocks xmlns:a="http://schemas.openxmlformats.org/drawingml/2006/main" noGrp="1"/>
          </p:cNvSpPr>
          <p:nvPr/>
        </p:nvSpPr>
        <p:spPr>
          <a:xfrm xmlns:a="http://schemas.openxmlformats.org/drawingml/2006/main">
            <a:off x="628650" y="6429375"/>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200" b="0">
                <a:solidFill>
                  <a:srgbClr val="5D6267"/>
                </a:solidFill>
                <a:latin typeface="Helvetica Neue"/>
                <a:ea typeface="Helvetica Neue"/>
                <a:cs typeface="Helvetica Neue"/>
              </a:defRPr>
            </a:pPr>
            <a:r>
              <a:rPr sz="1200" b="0">
                <a:solidFill>
                  <a:srgbClr val="5D6267"/>
                </a:solidFill>
                <a:latin typeface="Helvetica Neue"/>
                <a:ea typeface="Helvetica Neue"/>
                <a:cs typeface="Helvetica Neue"/>
              </a:rPr>
              <a:t>Wang et al. (2026), secciones 2.1.2 y 2.2.1</a:t>
            </a:r>
          </a:p>
        </p:txBody>
      </p:sp>
      <p:sp>
        <p:nvSpPr>
          <p:cNvPr id="3" name="05">
            <a:extLst xmlns:a="http://schemas.openxmlformats.org/drawingml/2006/main">
              <a:ext uri="{FF2B5EF4-FFF2-40B4-BE49-F238E27FC236}">
                <a16:creationId xmlns:a16="http://schemas.microsoft.com/office/drawing/2014/main" id="{AEF02AB9-B37D-46B8-89D3-C02EA9E607F3}"/>
              </a:ext>
            </a:extLst>
          </p:cNvPr>
          <p:cNvSpPr>
            <a:spLocks xmlns:a="http://schemas.openxmlformats.org/drawingml/2006/main" noGrp="1"/>
          </p:cNvSpPr>
          <p:nvPr/>
        </p:nvSpPr>
        <p:spPr>
          <a:xfrm xmlns:a="http://schemas.openxmlformats.org/drawingml/2006/main">
            <a:off x="10953750" y="639127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buNone/>
              <a:defRPr sz="1425" b="0">
                <a:solidFill>
                  <a:srgbClr val="5D6267"/>
                </a:solidFill>
                <a:latin typeface="Helvetica Neue"/>
                <a:ea typeface="Helvetica Neue"/>
                <a:cs typeface="Helvetica Neue"/>
              </a:defRPr>
            </a:pPr>
            <a:r>
              <a:rPr sz="1425" b="0">
                <a:solidFill>
                  <a:srgbClr val="5D6267"/>
                </a:solidFill>
                <a:latin typeface="Helvetica Neue"/>
                <a:ea typeface="Helvetica Neue"/>
                <a:cs typeface="Helvetica Neue"/>
              </a:rPr>
              <a:t>05</a:t>
            </a:r>
          </a:p>
        </p:txBody>
      </p:sp>
      <p:sp>
        <p:nvSpPr>
          <p:cNvPr id="4" name="SampEn = −ln(A / B)">
            <a:extLst xmlns:a="http://schemas.openxmlformats.org/drawingml/2006/main">
              <a:ext uri="{FF2B5EF4-FFF2-40B4-BE49-F238E27FC236}">
                <a16:creationId xmlns:a16="http://schemas.microsoft.com/office/drawing/2014/main" id="{1C38A5BD-511E-40F1-98FA-729EFDB7EF7A}"/>
              </a:ext>
            </a:extLst>
          </p:cNvPr>
          <p:cNvSpPr>
            <a:spLocks xmlns:a="http://schemas.openxmlformats.org/drawingml/2006/main" noGrp="1"/>
          </p:cNvSpPr>
          <p:nvPr/>
        </p:nvSpPr>
        <p:spPr>
          <a:xfrm xmlns:a="http://schemas.openxmlformats.org/drawingml/2006/main">
            <a:off x="685800" y="1676400"/>
            <a:ext cx="10477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4425" b="1">
                <a:solidFill>
                  <a:srgbClr val="007FA3"/>
                </a:solidFill>
                <a:latin typeface="Helvetica Neue"/>
                <a:ea typeface="Helvetica Neue"/>
                <a:cs typeface="Helvetica Neue"/>
              </a:defRPr>
            </a:pPr>
            <a:r>
              <a:rPr sz="4425" b="1">
                <a:solidFill>
                  <a:srgbClr val="007FA3"/>
                </a:solidFill>
                <a:latin typeface="Helvetica Neue"/>
                <a:ea typeface="Helvetica Neue"/>
                <a:cs typeface="Helvetica Neue"/>
              </a:rPr>
              <a:t>SampEn = −ln(A / B)</a:t>
            </a:r>
          </a:p>
        </p:txBody>
      </p:sp>
      <p:graphicFrame>
        <p:nvGraphicFramePr>
          <p:cNvPr id="13" name=""/>
          <p:cNvGraphicFramePr/>
          <p:nvPr/>
        </p:nvGraphicFramePr>
        <p:xfrm>
          <a:off xmlns:a="http://schemas.openxmlformats.org/drawingml/2006/main" x="609600" y="2847975"/>
          <a:ext xmlns:a="http://schemas.openxmlformats.org/drawingml/2006/main" cx="10972800" cy="2552700"/>
        </p:xfrm>
        <a:graphic xmlns:a="http://schemas.openxmlformats.org/drawingml/2006/main">
          <a:graphicData uri="http://schemas.openxmlformats.org/drawingml/2006/table">
            <a:tbl>
              <a:tblPr firstRow="1" bandRow="0"/>
              <a:tblGrid>
                <a:gridCol w="2952750"/>
                <a:gridCol w="8020050"/>
              </a:tblGrid>
              <a:tr h="638175">
                <a:tc>
                  <a:txBody>
                    <a:bodyPr/>
                    <a:lstStyle/>
                    <a:p>
                      <a:r>
                        <a:rPr sz="1875" b="1">
                          <a:solidFill>
                            <a:srgbClr val="064B6B"/>
                          </a:solidFill>
                          <a:latin typeface="Helvetica Neue"/>
                          <a:ea typeface="Helvetica Neue"/>
                          <a:cs typeface="Helvetica Neue"/>
                        </a:rPr>
                        <a:t>Cantidad</a:t>
                      </a:r>
                    </a:p>
                  </a:txBody>
                  <a:tcPr marL="142875" marR="142875" marT="114300" marB="114300" anchor="ctr">
                    <a:solidFill>
                      <a:srgbClr val="EAF4F8"/>
                    </a:solidFill>
                  </a:tcPr>
                </a:tc>
                <a:tc>
                  <a:txBody>
                    <a:bodyPr/>
                    <a:lstStyle/>
                    <a:p>
                      <a:r>
                        <a:rPr sz="1875" b="1">
                          <a:solidFill>
                            <a:srgbClr val="064B6B"/>
                          </a:solidFill>
                          <a:latin typeface="Helvetica Neue"/>
                          <a:ea typeface="Helvetica Neue"/>
                          <a:cs typeface="Helvetica Neue"/>
                        </a:rPr>
                        <a:t>Interpretación</a:t>
                      </a:r>
                    </a:p>
                  </a:txBody>
                  <a:tcPr marL="142875" marR="142875" marT="114300" marB="114300" anchor="ctr">
                    <a:solidFill>
                      <a:srgbClr val="EAF4F8"/>
                    </a:solidFill>
                  </a:tcPr>
                </a:tc>
              </a:tr>
              <a:tr h="638175">
                <a:tc>
                  <a:txBody>
                    <a:bodyPr/>
                    <a:lstStyle/>
                    <a:p>
                      <a:r>
                        <a:rPr sz="1875" b="0">
                          <a:solidFill>
                            <a:srgbClr val="242C33"/>
                          </a:solidFill>
                          <a:latin typeface="Helvetica Neue"/>
                          <a:ea typeface="Helvetica Neue"/>
                          <a:cs typeface="Helvetica Neue"/>
                        </a:rPr>
                        <a:t>B</a:t>
                      </a:r>
                    </a:p>
                  </a:txBody>
                  <a:tcPr marL="142875" marR="142875" marT="114300" marB="114300" anchor="ctr">
                    <a:solidFill>
                      <a:srgbClr val="FFFFFF"/>
                    </a:solidFill>
                  </a:tcPr>
                </a:tc>
                <a:tc>
                  <a:txBody>
                    <a:bodyPr/>
                    <a:lstStyle/>
                    <a:p>
                      <a:r>
                        <a:rPr sz="1875" b="0">
                          <a:solidFill>
                            <a:srgbClr val="242C33"/>
                          </a:solidFill>
                          <a:latin typeface="Helvetica Neue"/>
                          <a:ea typeface="Helvetica Neue"/>
                          <a:cs typeface="Helvetica Neue"/>
                        </a:rPr>
                        <a:t>Pares de patrones similares de longitud m</a:t>
                      </a:r>
                    </a:p>
                  </a:txBody>
                  <a:tcPr marL="142875" marR="142875" marT="114300" marB="114300" anchor="ctr">
                    <a:solidFill>
                      <a:srgbClr val="FFFFFF"/>
                    </a:solidFill>
                  </a:tcPr>
                </a:tc>
              </a:tr>
              <a:tr h="638175">
                <a:tc>
                  <a:txBody>
                    <a:bodyPr/>
                    <a:lstStyle/>
                    <a:p>
                      <a:r>
                        <a:rPr sz="1875" b="0">
                          <a:solidFill>
                            <a:srgbClr val="242C33"/>
                          </a:solidFill>
                          <a:latin typeface="Helvetica Neue"/>
                          <a:ea typeface="Helvetica Neue"/>
                          <a:cs typeface="Helvetica Neue"/>
                        </a:rPr>
                        <a:t>A</a:t>
                      </a:r>
                    </a:p>
                  </a:txBody>
                  <a:tcPr marL="142875" marR="142875" marT="114300" marB="114300" anchor="ctr">
                    <a:solidFill>
                      <a:srgbClr val="F5F7F8"/>
                    </a:solidFill>
                  </a:tcPr>
                </a:tc>
                <a:tc>
                  <a:txBody>
                    <a:bodyPr/>
                    <a:lstStyle/>
                    <a:p>
                      <a:r>
                        <a:rPr sz="1875" b="0">
                          <a:solidFill>
                            <a:srgbClr val="242C33"/>
                          </a:solidFill>
                          <a:latin typeface="Helvetica Neue"/>
                          <a:ea typeface="Helvetica Neue"/>
                          <a:cs typeface="Helvetica Neue"/>
                        </a:rPr>
                        <a:t>Pares que siguen siendo similares con longitud m + 1</a:t>
                      </a:r>
                    </a:p>
                  </a:txBody>
                  <a:tcPr marL="142875" marR="142875" marT="114300" marB="114300" anchor="ctr">
                    <a:solidFill>
                      <a:srgbClr val="F5F7F8"/>
                    </a:solidFill>
                  </a:tcPr>
                </a:tc>
              </a:tr>
              <a:tr h="638175">
                <a:tc>
                  <a:txBody>
                    <a:bodyPr/>
                    <a:lstStyle/>
                    <a:p>
                      <a:r>
                        <a:rPr sz="1875" b="0">
                          <a:solidFill>
                            <a:srgbClr val="242C33"/>
                          </a:solidFill>
                          <a:latin typeface="Helvetica Neue"/>
                          <a:ea typeface="Helvetica Neue"/>
                          <a:cs typeface="Helvetica Neue"/>
                        </a:rPr>
                        <a:t>Entropía mayor</a:t>
                      </a:r>
                    </a:p>
                  </a:txBody>
                  <a:tcPr marL="142875" marR="142875" marT="114300" marB="114300" anchor="ctr">
                    <a:solidFill>
                      <a:srgbClr val="FFFFFF"/>
                    </a:solidFill>
                  </a:tcPr>
                </a:tc>
                <a:tc>
                  <a:txBody>
                    <a:bodyPr/>
                    <a:lstStyle/>
                    <a:p>
                      <a:r>
                        <a:rPr sz="1875" b="0">
                          <a:solidFill>
                            <a:srgbClr val="242C33"/>
                          </a:solidFill>
                          <a:latin typeface="Helvetica Neue"/>
                          <a:ea typeface="Helvetica Neue"/>
                          <a:cs typeface="Helvetica Neue"/>
                        </a:rPr>
                        <a:t>Menor regularidad en la repetición de patrones</a:t>
                      </a:r>
                    </a:p>
                  </a:txBody>
                  <a:tcPr marL="142875" marR="142875" marT="114300" marB="114300" anchor="ctr">
                    <a:solidFill>
                      <a:srgbClr val="FFFFFF"/>
                    </a:solidFill>
                  </a:tcPr>
                </a:tc>
              </a:tr>
            </a:tbl>
          </a:graphicData>
        </a:graphic>
      </p:graphicFrame>
      <p:sp>
        <p:nvSpPr>
          <p:cNvPr id="6" name="m = 2; tolerancia = 0.2 × desviación estándar de cada señal">
            <a:extLst xmlns:a="http://schemas.openxmlformats.org/drawingml/2006/main">
              <a:ext uri="{FF2B5EF4-FFF2-40B4-BE49-F238E27FC236}">
                <a16:creationId xmlns:a16="http://schemas.microsoft.com/office/drawing/2014/main" id="{6C1DA1A0-A05C-4198-B45A-06B294EB26E6}"/>
              </a:ext>
            </a:extLst>
          </p:cNvPr>
          <p:cNvSpPr>
            <a:spLocks xmlns:a="http://schemas.openxmlformats.org/drawingml/2006/main" noGrp="1"/>
          </p:cNvSpPr>
          <p:nvPr/>
        </p:nvSpPr>
        <p:spPr>
          <a:xfrm xmlns:a="http://schemas.openxmlformats.org/drawingml/2006/main">
            <a:off x="714375" y="5715000"/>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875" b="0">
                <a:solidFill>
                  <a:srgbClr val="242C33"/>
                </a:solidFill>
                <a:latin typeface="Helvetica Neue"/>
                <a:ea typeface="Helvetica Neue"/>
                <a:cs typeface="Helvetica Neue"/>
              </a:defRPr>
            </a:pPr>
            <a:r>
              <a:rPr sz="1875" b="0">
                <a:solidFill>
                  <a:srgbClr val="242C33"/>
                </a:solidFill>
                <a:latin typeface="Helvetica Neue"/>
                <a:ea typeface="Helvetica Neue"/>
                <a:cs typeface="Helvetica Neue"/>
              </a:rPr>
              <a:t>m = 2; tolerancia = 0.2 × desviación estándar de cada señal</a:t>
            </a:r>
          </a:p>
        </p:txBody>
      </p:sp>
    </p:spTree>
    <p:extLst>
      <p:ext uri="{BB962C8B-B14F-4D97-AF65-F5344CB8AC3E}">
        <p14:creationId xmlns:p14="http://schemas.microsoft.com/office/powerpoint/2010/main" val="105654776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Informer para componentes más irregulares">
            <a:extLst xmlns:a="http://schemas.openxmlformats.org/drawingml/2006/main">
              <a:ext uri="{FF2B5EF4-FFF2-40B4-BE49-F238E27FC236}">
                <a16:creationId xmlns:a16="http://schemas.microsoft.com/office/drawing/2014/main" id="{92A17D03-F553-4094-9889-58643C220637}"/>
              </a:ext>
            </a:extLst>
          </p:cNvPr>
          <p:cNvSpPr>
            <a:spLocks xmlns:a="http://schemas.openxmlformats.org/drawingml/2006/main" noGrp="1"/>
          </p:cNvSpPr>
          <p:nvPr/>
        </p:nvSpPr>
        <p:spPr>
          <a:xfrm xmlns:a="http://schemas.openxmlformats.org/drawingml/2006/main">
            <a:off x="609600" y="42862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3300" b="1">
                <a:solidFill>
                  <a:srgbClr val="242C33"/>
                </a:solidFill>
                <a:latin typeface="Helvetica Neue"/>
                <a:ea typeface="Helvetica Neue"/>
                <a:cs typeface="Helvetica Neue"/>
              </a:defRPr>
            </a:pPr>
            <a:r>
              <a:rPr sz="3300" b="1">
                <a:solidFill>
                  <a:srgbClr val="064B6B"/>
                </a:solidFill>
                <a:latin typeface="Helvetica Neue"/>
                <a:ea typeface="Helvetica Neue"/>
                <a:cs typeface="Helvetica Neue"/>
              </a:rPr>
              <a:t>Informer para componentes más irregulares</a:t>
            </a:r>
          </a:p>
        </p:txBody>
      </p:sp>
      <p:sp>
        <p:nvSpPr>
          <p:cNvPr id="2" name="Wang et al. (2026), figura 1; Zhou et al. (2021)">
            <a:extLst xmlns:a="http://schemas.openxmlformats.org/drawingml/2006/main">
              <a:ext uri="{FF2B5EF4-FFF2-40B4-BE49-F238E27FC236}">
                <a16:creationId xmlns:a16="http://schemas.microsoft.com/office/drawing/2014/main" id="{633145CD-2492-434A-9CC7-BE0E8D907376}"/>
              </a:ext>
            </a:extLst>
          </p:cNvPr>
          <p:cNvSpPr>
            <a:spLocks xmlns:a="http://schemas.openxmlformats.org/drawingml/2006/main" noGrp="1"/>
          </p:cNvSpPr>
          <p:nvPr/>
        </p:nvSpPr>
        <p:spPr>
          <a:xfrm xmlns:a="http://schemas.openxmlformats.org/drawingml/2006/main">
            <a:off x="628650" y="6429375"/>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200" b="0">
                <a:solidFill>
                  <a:srgbClr val="5D6267"/>
                </a:solidFill>
                <a:latin typeface="Helvetica Neue"/>
                <a:ea typeface="Helvetica Neue"/>
                <a:cs typeface="Helvetica Neue"/>
              </a:defRPr>
            </a:pPr>
            <a:r>
              <a:rPr sz="1200" b="0">
                <a:solidFill>
                  <a:srgbClr val="5D6267"/>
                </a:solidFill>
                <a:latin typeface="Helvetica Neue"/>
                <a:ea typeface="Helvetica Neue"/>
                <a:cs typeface="Helvetica Neue"/>
              </a:rPr>
              <a:t>Wang et al. (2026), figura 1; Zhou et al. (2021)</a:t>
            </a:r>
          </a:p>
        </p:txBody>
      </p:sp>
      <p:sp>
        <p:nvSpPr>
          <p:cNvPr id="3" name="06">
            <a:extLst xmlns:a="http://schemas.openxmlformats.org/drawingml/2006/main">
              <a:ext uri="{FF2B5EF4-FFF2-40B4-BE49-F238E27FC236}">
                <a16:creationId xmlns:a16="http://schemas.microsoft.com/office/drawing/2014/main" id="{2B6C6FFD-9ABC-40C7-83C5-83B723ACFD7A}"/>
              </a:ext>
            </a:extLst>
          </p:cNvPr>
          <p:cNvSpPr>
            <a:spLocks xmlns:a="http://schemas.openxmlformats.org/drawingml/2006/main" noGrp="1"/>
          </p:cNvSpPr>
          <p:nvPr/>
        </p:nvSpPr>
        <p:spPr>
          <a:xfrm xmlns:a="http://schemas.openxmlformats.org/drawingml/2006/main">
            <a:off x="10953750" y="639127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buNone/>
              <a:defRPr sz="1425" b="0">
                <a:solidFill>
                  <a:srgbClr val="5D6267"/>
                </a:solidFill>
                <a:latin typeface="Helvetica Neue"/>
                <a:ea typeface="Helvetica Neue"/>
                <a:cs typeface="Helvetica Neue"/>
              </a:defRPr>
            </a:pPr>
            <a:r>
              <a:rPr sz="1425" b="0">
                <a:solidFill>
                  <a:srgbClr val="5D6267"/>
                </a:solidFill>
                <a:latin typeface="Helvetica Neue"/>
                <a:ea typeface="Helvetica Neue"/>
                <a:cs typeface="Helvetica Neue"/>
              </a:rPr>
              <a:t>06</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0fd84e2a62ff4cbc"/>
          <a:stretch xmlns:a="http://schemas.openxmlformats.org/drawingml/2006/main"/>
        </p:blipFill>
        <p:spPr>
          <a:xfrm xmlns:a="http://schemas.openxmlformats.org/drawingml/2006/main">
            <a:off x="597694" y="1695450"/>
            <a:ext cx="6643688" cy="4429125"/>
          </a:xfrm>
          <a:prstGeom xmlns:a="http://schemas.openxmlformats.org/drawingml/2006/main" prst="rect">
            <a:avLst/>
          </a:prstGeom>
        </p:spPr>
      </p:pic>
      <p:sp>
        <p:nvSpPr>
          <p:cNvPr id="5" name="Atención ProbSparse">
            <a:extLst xmlns:a="http://schemas.openxmlformats.org/drawingml/2006/main">
              <a:ext uri="{FF2B5EF4-FFF2-40B4-BE49-F238E27FC236}">
                <a16:creationId xmlns:a16="http://schemas.microsoft.com/office/drawing/2014/main" id="{D610651F-5744-409C-AEFD-4536CDBB80DF}"/>
              </a:ext>
            </a:extLst>
          </p:cNvPr>
          <p:cNvSpPr>
            <a:spLocks xmlns:a="http://schemas.openxmlformats.org/drawingml/2006/main" noGrp="1"/>
          </p:cNvSpPr>
          <p:nvPr/>
        </p:nvSpPr>
        <p:spPr>
          <a:xfrm xmlns:a="http://schemas.openxmlformats.org/drawingml/2006/main">
            <a:off x="7686675" y="1695450"/>
            <a:ext cx="38766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025" b="1">
                <a:solidFill>
                  <a:srgbClr val="007FA3"/>
                </a:solidFill>
                <a:latin typeface="Helvetica Neue"/>
                <a:ea typeface="Helvetica Neue"/>
                <a:cs typeface="Helvetica Neue"/>
              </a:defRPr>
            </a:pPr>
            <a:r>
              <a:rPr sz="2025" b="1">
                <a:solidFill>
                  <a:srgbClr val="007FA3"/>
                </a:solidFill>
                <a:latin typeface="Helvetica Neue"/>
                <a:ea typeface="Helvetica Neue"/>
                <a:cs typeface="Helvetica Neue"/>
              </a:rPr>
              <a:t>Atención ProbSparse</a:t>
            </a:r>
          </a:p>
        </p:txBody>
      </p:sp>
      <p:sp>
        <p:nvSpPr>
          <p:cNvPr id="6" name="Concentra el cálculo en consultas seleccionadas.">
            <a:extLst xmlns:a="http://schemas.openxmlformats.org/drawingml/2006/main">
              <a:ext uri="{FF2B5EF4-FFF2-40B4-BE49-F238E27FC236}">
                <a16:creationId xmlns:a16="http://schemas.microsoft.com/office/drawing/2014/main" id="{2508D37E-9571-43D7-A598-6A54D2A00D6B}"/>
              </a:ext>
            </a:extLst>
          </p:cNvPr>
          <p:cNvSpPr>
            <a:spLocks xmlns:a="http://schemas.openxmlformats.org/drawingml/2006/main" noGrp="1"/>
          </p:cNvSpPr>
          <p:nvPr/>
        </p:nvSpPr>
        <p:spPr>
          <a:xfrm xmlns:a="http://schemas.openxmlformats.org/drawingml/2006/main">
            <a:off x="7686675" y="2124075"/>
            <a:ext cx="38766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950" b="0">
                <a:solidFill>
                  <a:srgbClr val="242C33"/>
                </a:solidFill>
                <a:latin typeface="Helvetica Neue"/>
                <a:ea typeface="Helvetica Neue"/>
                <a:cs typeface="Helvetica Neue"/>
              </a:defRPr>
            </a:pPr>
            <a:r>
              <a:rPr sz="1950" b="0">
                <a:solidFill>
                  <a:srgbClr val="242C33"/>
                </a:solidFill>
                <a:latin typeface="Helvetica Neue"/>
                <a:ea typeface="Helvetica Neue"/>
                <a:cs typeface="Helvetica Neue"/>
              </a:rPr>
              <a:t>Concentra el cálculo en consultas seleccionadas.</a:t>
            </a:r>
          </a:p>
        </p:txBody>
      </p:sp>
      <p:sp>
        <p:nvSpPr>
          <p:cNvPr id="7" name="Reducción temporal">
            <a:extLst xmlns:a="http://schemas.openxmlformats.org/drawingml/2006/main">
              <a:ext uri="{FF2B5EF4-FFF2-40B4-BE49-F238E27FC236}">
                <a16:creationId xmlns:a16="http://schemas.microsoft.com/office/drawing/2014/main" id="{730F392A-5B50-4E9C-97EF-79DD3C6C3A8F}"/>
              </a:ext>
            </a:extLst>
          </p:cNvPr>
          <p:cNvSpPr>
            <a:spLocks xmlns:a="http://schemas.openxmlformats.org/drawingml/2006/main" noGrp="1"/>
          </p:cNvSpPr>
          <p:nvPr/>
        </p:nvSpPr>
        <p:spPr>
          <a:xfrm xmlns:a="http://schemas.openxmlformats.org/drawingml/2006/main">
            <a:off x="7686675" y="3219450"/>
            <a:ext cx="38766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025" b="1">
                <a:solidFill>
                  <a:srgbClr val="007FA3"/>
                </a:solidFill>
                <a:latin typeface="Helvetica Neue"/>
                <a:ea typeface="Helvetica Neue"/>
                <a:cs typeface="Helvetica Neue"/>
              </a:defRPr>
            </a:pPr>
            <a:r>
              <a:rPr sz="2025" b="1">
                <a:solidFill>
                  <a:srgbClr val="007FA3"/>
                </a:solidFill>
                <a:latin typeface="Helvetica Neue"/>
                <a:ea typeface="Helvetica Neue"/>
                <a:cs typeface="Helvetica Neue"/>
              </a:rPr>
              <a:t>Reducción temporal</a:t>
            </a:r>
          </a:p>
        </p:txBody>
      </p:sp>
      <p:sp>
        <p:nvSpPr>
          <p:cNvPr id="8" name="El encoder acorta las representaciones entre capas.">
            <a:extLst xmlns:a="http://schemas.openxmlformats.org/drawingml/2006/main">
              <a:ext uri="{FF2B5EF4-FFF2-40B4-BE49-F238E27FC236}">
                <a16:creationId xmlns:a16="http://schemas.microsoft.com/office/drawing/2014/main" id="{09A69E9C-5589-4203-BB67-938BF4A7EEF2}"/>
              </a:ext>
            </a:extLst>
          </p:cNvPr>
          <p:cNvSpPr>
            <a:spLocks xmlns:a="http://schemas.openxmlformats.org/drawingml/2006/main" noGrp="1"/>
          </p:cNvSpPr>
          <p:nvPr/>
        </p:nvSpPr>
        <p:spPr>
          <a:xfrm xmlns:a="http://schemas.openxmlformats.org/drawingml/2006/main">
            <a:off x="7686675" y="3648075"/>
            <a:ext cx="38766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950" b="0">
                <a:solidFill>
                  <a:srgbClr val="242C33"/>
                </a:solidFill>
                <a:latin typeface="Helvetica Neue"/>
                <a:ea typeface="Helvetica Neue"/>
                <a:cs typeface="Helvetica Neue"/>
              </a:defRPr>
            </a:pPr>
            <a:r>
              <a:rPr sz="1950" b="0">
                <a:solidFill>
                  <a:srgbClr val="242C33"/>
                </a:solidFill>
                <a:latin typeface="Helvetica Neue"/>
                <a:ea typeface="Helvetica Neue"/>
                <a:cs typeface="Helvetica Neue"/>
              </a:rPr>
              <a:t>El encoder acorta las representaciones entre capas.</a:t>
            </a:r>
          </a:p>
        </p:txBody>
      </p:sp>
      <p:sp>
        <p:nvSpPr>
          <p:cNvPr id="9" name="Salida directa">
            <a:extLst xmlns:a="http://schemas.openxmlformats.org/drawingml/2006/main">
              <a:ext uri="{FF2B5EF4-FFF2-40B4-BE49-F238E27FC236}">
                <a16:creationId xmlns:a16="http://schemas.microsoft.com/office/drawing/2014/main" id="{B7F9BBB0-4B9B-4252-B55A-E529D8840AB8}"/>
              </a:ext>
            </a:extLst>
          </p:cNvPr>
          <p:cNvSpPr>
            <a:spLocks xmlns:a="http://schemas.openxmlformats.org/drawingml/2006/main" noGrp="1"/>
          </p:cNvSpPr>
          <p:nvPr/>
        </p:nvSpPr>
        <p:spPr>
          <a:xfrm xmlns:a="http://schemas.openxmlformats.org/drawingml/2006/main">
            <a:off x="7686675" y="4743450"/>
            <a:ext cx="38766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025" b="1">
                <a:solidFill>
                  <a:srgbClr val="007FA3"/>
                </a:solidFill>
                <a:latin typeface="Helvetica Neue"/>
                <a:ea typeface="Helvetica Neue"/>
                <a:cs typeface="Helvetica Neue"/>
              </a:defRPr>
            </a:pPr>
            <a:r>
              <a:rPr sz="2025" b="1">
                <a:solidFill>
                  <a:srgbClr val="007FA3"/>
                </a:solidFill>
                <a:latin typeface="Helvetica Neue"/>
                <a:ea typeface="Helvetica Neue"/>
                <a:cs typeface="Helvetica Neue"/>
              </a:rPr>
              <a:t>Salida directa</a:t>
            </a:r>
          </a:p>
        </p:txBody>
      </p:sp>
      <p:sp>
        <p:nvSpPr>
          <p:cNvPr id="10" name="El decoder produce varios pasos en una pasada.">
            <a:extLst xmlns:a="http://schemas.openxmlformats.org/drawingml/2006/main">
              <a:ext uri="{FF2B5EF4-FFF2-40B4-BE49-F238E27FC236}">
                <a16:creationId xmlns:a16="http://schemas.microsoft.com/office/drawing/2014/main" id="{82176C4D-E978-4FF8-B3F5-B1ED774B8A70}"/>
              </a:ext>
            </a:extLst>
          </p:cNvPr>
          <p:cNvSpPr>
            <a:spLocks xmlns:a="http://schemas.openxmlformats.org/drawingml/2006/main" noGrp="1"/>
          </p:cNvSpPr>
          <p:nvPr/>
        </p:nvSpPr>
        <p:spPr>
          <a:xfrm xmlns:a="http://schemas.openxmlformats.org/drawingml/2006/main">
            <a:off x="7686675" y="5172075"/>
            <a:ext cx="38766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950" b="0">
                <a:solidFill>
                  <a:srgbClr val="242C33"/>
                </a:solidFill>
                <a:latin typeface="Helvetica Neue"/>
                <a:ea typeface="Helvetica Neue"/>
                <a:cs typeface="Helvetica Neue"/>
              </a:defRPr>
            </a:pPr>
            <a:r>
              <a:rPr sz="1950" b="0">
                <a:solidFill>
                  <a:srgbClr val="242C33"/>
                </a:solidFill>
                <a:latin typeface="Helvetica Neue"/>
                <a:ea typeface="Helvetica Neue"/>
                <a:cs typeface="Helvetica Neue"/>
              </a:rPr>
              <a:t>El decoder produce varios pasos en una pasada.</a:t>
            </a:r>
          </a:p>
        </p:txBody>
      </p:sp>
    </p:spTree>
    <p:extLst>
      <p:ext uri="{BB962C8B-B14F-4D97-AF65-F5344CB8AC3E}">
        <p14:creationId xmlns:p14="http://schemas.microsoft.com/office/powerpoint/2010/main" val="205545548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LSTM y suma de las dos ramas">
            <a:extLst xmlns:a="http://schemas.openxmlformats.org/drawingml/2006/main">
              <a:ext uri="{FF2B5EF4-FFF2-40B4-BE49-F238E27FC236}">
                <a16:creationId xmlns:a16="http://schemas.microsoft.com/office/drawing/2014/main" id="{4B8CA7F2-C66C-4513-95AA-8A6E553FA099}"/>
              </a:ext>
            </a:extLst>
          </p:cNvPr>
          <p:cNvSpPr>
            <a:spLocks xmlns:a="http://schemas.openxmlformats.org/drawingml/2006/main" noGrp="1"/>
          </p:cNvSpPr>
          <p:nvPr/>
        </p:nvSpPr>
        <p:spPr>
          <a:xfrm xmlns:a="http://schemas.openxmlformats.org/drawingml/2006/main">
            <a:off x="609600" y="42862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3300" b="1">
                <a:solidFill>
                  <a:srgbClr val="242C33"/>
                </a:solidFill>
                <a:latin typeface="Helvetica Neue"/>
                <a:ea typeface="Helvetica Neue"/>
                <a:cs typeface="Helvetica Neue"/>
              </a:defRPr>
            </a:pPr>
            <a:r>
              <a:rPr sz="3300" b="1">
                <a:solidFill>
                  <a:srgbClr val="064B6B"/>
                </a:solidFill>
                <a:latin typeface="Helvetica Neue"/>
                <a:ea typeface="Helvetica Neue"/>
                <a:cs typeface="Helvetica Neue"/>
              </a:rPr>
              <a:t>LSTM y suma de las dos ramas</a:t>
            </a:r>
          </a:p>
        </p:txBody>
      </p:sp>
      <p:sp>
        <p:nvSpPr>
          <p:cNvPr id="2" name="Wang et al. (2026), figura 2 y ecuación 14">
            <a:extLst xmlns:a="http://schemas.openxmlformats.org/drawingml/2006/main">
              <a:ext uri="{FF2B5EF4-FFF2-40B4-BE49-F238E27FC236}">
                <a16:creationId xmlns:a16="http://schemas.microsoft.com/office/drawing/2014/main" id="{4F76FF59-1510-4773-83A6-5058E657AF0E}"/>
              </a:ext>
            </a:extLst>
          </p:cNvPr>
          <p:cNvSpPr>
            <a:spLocks xmlns:a="http://schemas.openxmlformats.org/drawingml/2006/main" noGrp="1"/>
          </p:cNvSpPr>
          <p:nvPr/>
        </p:nvSpPr>
        <p:spPr>
          <a:xfrm xmlns:a="http://schemas.openxmlformats.org/drawingml/2006/main">
            <a:off x="628650" y="6429375"/>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200" b="0">
                <a:solidFill>
                  <a:srgbClr val="5D6267"/>
                </a:solidFill>
                <a:latin typeface="Helvetica Neue"/>
                <a:ea typeface="Helvetica Neue"/>
                <a:cs typeface="Helvetica Neue"/>
              </a:defRPr>
            </a:pPr>
            <a:r>
              <a:rPr sz="1200" b="0">
                <a:solidFill>
                  <a:srgbClr val="5D6267"/>
                </a:solidFill>
                <a:latin typeface="Helvetica Neue"/>
                <a:ea typeface="Helvetica Neue"/>
                <a:cs typeface="Helvetica Neue"/>
              </a:rPr>
              <a:t>Wang et al. (2026), figura 2 y ecuación 14</a:t>
            </a:r>
          </a:p>
        </p:txBody>
      </p:sp>
      <p:sp>
        <p:nvSpPr>
          <p:cNvPr id="3" name="07">
            <a:extLst xmlns:a="http://schemas.openxmlformats.org/drawingml/2006/main">
              <a:ext uri="{FF2B5EF4-FFF2-40B4-BE49-F238E27FC236}">
                <a16:creationId xmlns:a16="http://schemas.microsoft.com/office/drawing/2014/main" id="{763855BC-D081-4316-A036-18C4003EF066}"/>
              </a:ext>
            </a:extLst>
          </p:cNvPr>
          <p:cNvSpPr>
            <a:spLocks xmlns:a="http://schemas.openxmlformats.org/drawingml/2006/main" noGrp="1"/>
          </p:cNvSpPr>
          <p:nvPr/>
        </p:nvSpPr>
        <p:spPr>
          <a:xfrm xmlns:a="http://schemas.openxmlformats.org/drawingml/2006/main">
            <a:off x="10953750" y="639127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buNone/>
              <a:defRPr sz="1425" b="0">
                <a:solidFill>
                  <a:srgbClr val="5D6267"/>
                </a:solidFill>
                <a:latin typeface="Helvetica Neue"/>
                <a:ea typeface="Helvetica Neue"/>
                <a:cs typeface="Helvetica Neue"/>
              </a:defRPr>
            </a:pPr>
            <a:r>
              <a:rPr sz="1425" b="0">
                <a:solidFill>
                  <a:srgbClr val="5D6267"/>
                </a:solidFill>
                <a:latin typeface="Helvetica Neue"/>
                <a:ea typeface="Helvetica Neue"/>
                <a:cs typeface="Helvetica Neue"/>
              </a:rPr>
              <a:t>07</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5ef14ccab5ca4be1"/>
          <a:stretch xmlns:a="http://schemas.openxmlformats.org/drawingml/2006/main"/>
        </p:blipFill>
        <p:spPr>
          <a:xfrm xmlns:a="http://schemas.openxmlformats.org/drawingml/2006/main">
            <a:off x="590550" y="1756802"/>
            <a:ext cx="6096000" cy="3944471"/>
          </a:xfrm>
          <a:prstGeom xmlns:a="http://schemas.openxmlformats.org/drawingml/2006/main" prst="rect">
            <a:avLst/>
          </a:prstGeom>
        </p:spPr>
      </p:pic>
      <p:sp>
        <p:nvSpPr>
          <p:cNvPr id="5" name="Memoria y compuertas">
            <a:extLst xmlns:a="http://schemas.openxmlformats.org/drawingml/2006/main">
              <a:ext uri="{FF2B5EF4-FFF2-40B4-BE49-F238E27FC236}">
                <a16:creationId xmlns:a16="http://schemas.microsoft.com/office/drawing/2014/main" id="{968D441C-27D8-4391-B08E-3237A718973A}"/>
              </a:ext>
            </a:extLst>
          </p:cNvPr>
          <p:cNvSpPr>
            <a:spLocks xmlns:a="http://schemas.openxmlformats.org/drawingml/2006/main" noGrp="1"/>
          </p:cNvSpPr>
          <p:nvPr/>
        </p:nvSpPr>
        <p:spPr>
          <a:xfrm xmlns:a="http://schemas.openxmlformats.org/drawingml/2006/main">
            <a:off x="7239000" y="1685925"/>
            <a:ext cx="419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025" b="1">
                <a:solidFill>
                  <a:srgbClr val="007FA3"/>
                </a:solidFill>
                <a:latin typeface="Helvetica Neue"/>
                <a:ea typeface="Helvetica Neue"/>
                <a:cs typeface="Helvetica Neue"/>
              </a:defRPr>
            </a:pPr>
            <a:r>
              <a:rPr sz="2025" b="1">
                <a:solidFill>
                  <a:srgbClr val="007FA3"/>
                </a:solidFill>
                <a:latin typeface="Helvetica Neue"/>
                <a:ea typeface="Helvetica Neue"/>
                <a:cs typeface="Helvetica Neue"/>
              </a:rPr>
              <a:t>Memoria y compuertas</a:t>
            </a:r>
          </a:p>
        </p:txBody>
      </p:sp>
      <p:sp>
        <p:nvSpPr>
          <p:cNvPr id="6" name="La LSTM regula qué información conserva, incorpora y entrega">
            <a:extLst xmlns:a="http://schemas.openxmlformats.org/drawingml/2006/main">
              <a:ext uri="{FF2B5EF4-FFF2-40B4-BE49-F238E27FC236}">
                <a16:creationId xmlns:a16="http://schemas.microsoft.com/office/drawing/2014/main" id="{FE747ED7-C000-42EE-BF0C-94489721779F}"/>
              </a:ext>
            </a:extLst>
          </p:cNvPr>
          <p:cNvSpPr>
            <a:spLocks xmlns:a="http://schemas.openxmlformats.org/drawingml/2006/main" noGrp="1"/>
          </p:cNvSpPr>
          <p:nvPr/>
        </p:nvSpPr>
        <p:spPr>
          <a:xfrm xmlns:a="http://schemas.openxmlformats.org/drawingml/2006/main">
            <a:off x="7239000" y="2114550"/>
            <a:ext cx="4191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950" b="0">
                <a:solidFill>
                  <a:srgbClr val="242C33"/>
                </a:solidFill>
                <a:latin typeface="Helvetica Neue"/>
                <a:ea typeface="Helvetica Neue"/>
                <a:cs typeface="Helvetica Neue"/>
              </a:defRPr>
            </a:pPr>
            <a:r>
              <a:rPr sz="1950" b="0">
                <a:solidFill>
                  <a:srgbClr val="242C33"/>
                </a:solidFill>
                <a:latin typeface="Helvetica Neue"/>
                <a:ea typeface="Helvetica Neue"/>
                <a:cs typeface="Helvetica Neue"/>
              </a:rPr>
              <a:t>La LSTM regula qué información conserva, incorpora y entrega.</a:t>
            </a:r>
          </a:p>
        </p:txBody>
      </p:sp>
      <p:sp>
        <p:nvSpPr>
          <p:cNvPr id="7" name="Rama de menor complejidad">
            <a:extLst xmlns:a="http://schemas.openxmlformats.org/drawingml/2006/main">
              <a:ext uri="{FF2B5EF4-FFF2-40B4-BE49-F238E27FC236}">
                <a16:creationId xmlns:a16="http://schemas.microsoft.com/office/drawing/2014/main" id="{B2EAC609-889A-46CE-875C-11B4EA67B7DB}"/>
              </a:ext>
            </a:extLst>
          </p:cNvPr>
          <p:cNvSpPr>
            <a:spLocks xmlns:a="http://schemas.openxmlformats.org/drawingml/2006/main" noGrp="1"/>
          </p:cNvSpPr>
          <p:nvPr/>
        </p:nvSpPr>
        <p:spPr>
          <a:xfrm xmlns:a="http://schemas.openxmlformats.org/drawingml/2006/main">
            <a:off x="7239000" y="3276600"/>
            <a:ext cx="419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025" b="1">
                <a:solidFill>
                  <a:srgbClr val="007FA3"/>
                </a:solidFill>
                <a:latin typeface="Helvetica Neue"/>
                <a:ea typeface="Helvetica Neue"/>
                <a:cs typeface="Helvetica Neue"/>
              </a:defRPr>
            </a:pPr>
            <a:r>
              <a:rPr sz="2025" b="1">
                <a:solidFill>
                  <a:srgbClr val="007FA3"/>
                </a:solidFill>
                <a:latin typeface="Helvetica Neue"/>
                <a:ea typeface="Helvetica Neue"/>
                <a:cs typeface="Helvetica Neue"/>
              </a:rPr>
              <a:t>Rama de menor complejidad</a:t>
            </a:r>
          </a:p>
        </p:txBody>
      </p:sp>
      <p:sp>
        <p:nvSpPr>
          <p:cNvPr id="8" name="El paper la asigna a los componentes más regulares.">
            <a:extLst xmlns:a="http://schemas.openxmlformats.org/drawingml/2006/main">
              <a:ext uri="{FF2B5EF4-FFF2-40B4-BE49-F238E27FC236}">
                <a16:creationId xmlns:a16="http://schemas.microsoft.com/office/drawing/2014/main" id="{16E44C10-2CBB-4303-8823-ACDA4BB781C7}"/>
              </a:ext>
            </a:extLst>
          </p:cNvPr>
          <p:cNvSpPr>
            <a:spLocks xmlns:a="http://schemas.openxmlformats.org/drawingml/2006/main" noGrp="1"/>
          </p:cNvSpPr>
          <p:nvPr/>
        </p:nvSpPr>
        <p:spPr>
          <a:xfrm xmlns:a="http://schemas.openxmlformats.org/drawingml/2006/main">
            <a:off x="7239000" y="3705225"/>
            <a:ext cx="4191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950" b="0">
                <a:solidFill>
                  <a:srgbClr val="242C33"/>
                </a:solidFill>
                <a:latin typeface="Helvetica Neue"/>
                <a:ea typeface="Helvetica Neue"/>
                <a:cs typeface="Helvetica Neue"/>
              </a:defRPr>
            </a:pPr>
            <a:r>
              <a:rPr sz="1950" b="0">
                <a:solidFill>
                  <a:srgbClr val="242C33"/>
                </a:solidFill>
                <a:latin typeface="Helvetica Neue"/>
                <a:ea typeface="Helvetica Neue"/>
                <a:cs typeface="Helvetica Neue"/>
              </a:rPr>
              <a:t>El paper la asigna a los componentes más regulares.</a:t>
            </a:r>
          </a:p>
        </p:txBody>
      </p:sp>
      <p:sp>
        <p:nvSpPr>
          <p:cNvPr id="9" name="q̂ = q̂Informer + q̂LSTM">
            <a:extLst xmlns:a="http://schemas.openxmlformats.org/drawingml/2006/main">
              <a:ext uri="{FF2B5EF4-FFF2-40B4-BE49-F238E27FC236}">
                <a16:creationId xmlns:a16="http://schemas.microsoft.com/office/drawing/2014/main" id="{B18AEE9F-2D92-44B9-BA9C-072CEFA9E9EB}"/>
              </a:ext>
            </a:extLst>
          </p:cNvPr>
          <p:cNvSpPr>
            <a:spLocks xmlns:a="http://schemas.openxmlformats.org/drawingml/2006/main" noGrp="1"/>
          </p:cNvSpPr>
          <p:nvPr/>
        </p:nvSpPr>
        <p:spPr>
          <a:xfrm xmlns:a="http://schemas.openxmlformats.org/drawingml/2006/main">
            <a:off x="7219950" y="5076825"/>
            <a:ext cx="42767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700" b="1">
                <a:solidFill>
                  <a:srgbClr val="007FA3"/>
                </a:solidFill>
                <a:latin typeface="Helvetica Neue"/>
                <a:ea typeface="Helvetica Neue"/>
                <a:cs typeface="Helvetica Neue"/>
              </a:defRPr>
            </a:pPr>
            <a:r>
              <a:rPr sz="2700" b="1">
                <a:solidFill>
                  <a:srgbClr val="007FA3"/>
                </a:solidFill>
                <a:latin typeface="Helvetica Neue"/>
                <a:ea typeface="Helvetica Neue"/>
                <a:cs typeface="Helvetica Neue"/>
              </a:rPr>
              <a:t>q̂ = q̂Informer + q̂LSTM</a:t>
            </a:r>
          </a:p>
        </p:txBody>
      </p:sp>
    </p:spTree>
    <p:extLst>
      <p:ext uri="{BB962C8B-B14F-4D97-AF65-F5344CB8AC3E}">
        <p14:creationId xmlns:p14="http://schemas.microsoft.com/office/powerpoint/2010/main" val="101121764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Adaptación del paper al laboratorio">
            <a:extLst xmlns:a="http://schemas.openxmlformats.org/drawingml/2006/main">
              <a:ext uri="{FF2B5EF4-FFF2-40B4-BE49-F238E27FC236}">
                <a16:creationId xmlns:a16="http://schemas.microsoft.com/office/drawing/2014/main" id="{33134B7E-E8F8-4572-8DAA-BCB1D02944DB}"/>
              </a:ext>
            </a:extLst>
          </p:cNvPr>
          <p:cNvSpPr>
            <a:spLocks xmlns:a="http://schemas.openxmlformats.org/drawingml/2006/main" noGrp="1"/>
          </p:cNvSpPr>
          <p:nvPr/>
        </p:nvSpPr>
        <p:spPr>
          <a:xfrm xmlns:a="http://schemas.openxmlformats.org/drawingml/2006/main">
            <a:off x="609600" y="42862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3300" b="1">
                <a:solidFill>
                  <a:srgbClr val="242C33"/>
                </a:solidFill>
                <a:latin typeface="Helvetica Neue"/>
                <a:ea typeface="Helvetica Neue"/>
                <a:cs typeface="Helvetica Neue"/>
              </a:defRPr>
            </a:pPr>
            <a:r>
              <a:rPr sz="3300" b="1">
                <a:solidFill>
                  <a:srgbClr val="064B6B"/>
                </a:solidFill>
                <a:latin typeface="Helvetica Neue"/>
                <a:ea typeface="Helvetica Neue"/>
                <a:cs typeface="Helvetica Neue"/>
              </a:rPr>
              <a:t>Adaptación del paper al laboratorio</a:t>
            </a:r>
          </a:p>
        </p:txBody>
      </p:sp>
      <p:sp>
        <p:nvSpPr>
          <p:cNvPr id="2" name="Laboratorio 2, pp. 1–2; Wang et al. (2026), sección 3; confi">
            <a:extLst xmlns:a="http://schemas.openxmlformats.org/drawingml/2006/main">
              <a:ext uri="{FF2B5EF4-FFF2-40B4-BE49-F238E27FC236}">
                <a16:creationId xmlns:a16="http://schemas.microsoft.com/office/drawing/2014/main" id="{5A938F49-AF20-456A-B9C2-8475AD897865}"/>
              </a:ext>
            </a:extLst>
          </p:cNvPr>
          <p:cNvSpPr>
            <a:spLocks xmlns:a="http://schemas.openxmlformats.org/drawingml/2006/main" noGrp="1"/>
          </p:cNvSpPr>
          <p:nvPr/>
        </p:nvSpPr>
        <p:spPr>
          <a:xfrm xmlns:a="http://schemas.openxmlformats.org/drawingml/2006/main">
            <a:off x="628650" y="6429375"/>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200" b="0">
                <a:solidFill>
                  <a:srgbClr val="5D6267"/>
                </a:solidFill>
                <a:latin typeface="Helvetica Neue"/>
                <a:ea typeface="Helvetica Neue"/>
                <a:cs typeface="Helvetica Neue"/>
              </a:defRPr>
            </a:pPr>
            <a:r>
              <a:rPr sz="1200" b="0">
                <a:solidFill>
                  <a:srgbClr val="5D6267"/>
                </a:solidFill>
                <a:latin typeface="Helvetica Neue"/>
                <a:ea typeface="Helvetica Neue"/>
                <a:cs typeface="Helvetica Neue"/>
              </a:rPr>
              <a:t>Laboratorio 2, pp. 1–2; Wang et al. (2026), sección 3; configs/dmel.json</a:t>
            </a:r>
          </a:p>
        </p:txBody>
      </p:sp>
      <p:sp>
        <p:nvSpPr>
          <p:cNvPr id="3" name="08">
            <a:extLst xmlns:a="http://schemas.openxmlformats.org/drawingml/2006/main">
              <a:ext uri="{FF2B5EF4-FFF2-40B4-BE49-F238E27FC236}">
                <a16:creationId xmlns:a16="http://schemas.microsoft.com/office/drawing/2014/main" id="{AD3BBBE6-F5E8-4B28-9B9C-09A27A6D5AC1}"/>
              </a:ext>
            </a:extLst>
          </p:cNvPr>
          <p:cNvSpPr>
            <a:spLocks xmlns:a="http://schemas.openxmlformats.org/drawingml/2006/main" noGrp="1"/>
          </p:cNvSpPr>
          <p:nvPr/>
        </p:nvSpPr>
        <p:spPr>
          <a:xfrm xmlns:a="http://schemas.openxmlformats.org/drawingml/2006/main">
            <a:off x="10953750" y="639127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buNone/>
              <a:defRPr sz="1425" b="0">
                <a:solidFill>
                  <a:srgbClr val="5D6267"/>
                </a:solidFill>
                <a:latin typeface="Helvetica Neue"/>
                <a:ea typeface="Helvetica Neue"/>
                <a:cs typeface="Helvetica Neue"/>
              </a:defRPr>
            </a:pPr>
            <a:r>
              <a:rPr sz="1425" b="0">
                <a:solidFill>
                  <a:srgbClr val="5D6267"/>
                </a:solidFill>
                <a:latin typeface="Helvetica Neue"/>
                <a:ea typeface="Helvetica Neue"/>
                <a:cs typeface="Helvetica Neue"/>
              </a:rPr>
              <a:t>08</a:t>
            </a:r>
          </a:p>
        </p:txBody>
      </p:sp>
      <p:graphicFrame>
        <p:nvGraphicFramePr>
          <p:cNvPr id="11" name=""/>
          <p:cNvGraphicFramePr/>
          <p:nvPr/>
        </p:nvGraphicFramePr>
        <p:xfrm>
          <a:off xmlns:a="http://schemas.openxmlformats.org/drawingml/2006/main" x="609600" y="1657350"/>
          <a:ext xmlns:a="http://schemas.openxmlformats.org/drawingml/2006/main" cx="10972800" cy="4000500"/>
        </p:xfrm>
        <a:graphic xmlns:a="http://schemas.openxmlformats.org/drawingml/2006/main">
          <a:graphicData uri="http://schemas.openxmlformats.org/drawingml/2006/table">
            <a:tbl>
              <a:tblPr firstRow="1" bandRow="0"/>
              <a:tblGrid>
                <a:gridCol w="2247900"/>
                <a:gridCol w="3762375"/>
                <a:gridCol w="4962525"/>
              </a:tblGrid>
              <a:tr h="571500">
                <a:tc>
                  <a:txBody>
                    <a:bodyPr/>
                    <a:lstStyle/>
                    <a:p>
                      <a:r>
                        <a:rPr sz="1800" b="1">
                          <a:solidFill>
                            <a:srgbClr val="064B6B"/>
                          </a:solidFill>
                          <a:latin typeface="Helvetica Neue"/>
                          <a:ea typeface="Helvetica Neue"/>
                          <a:cs typeface="Helvetica Neue"/>
                        </a:rPr>
                        <a:t>Aspecto</a:t>
                      </a:r>
                    </a:p>
                  </a:txBody>
                  <a:tcPr marL="142875" marR="142875" marT="114300" marB="114300" anchor="ctr">
                    <a:solidFill>
                      <a:srgbClr val="EAF4F8"/>
                    </a:solidFill>
                  </a:tcPr>
                </a:tc>
                <a:tc>
                  <a:txBody>
                    <a:bodyPr/>
                    <a:lstStyle/>
                    <a:p>
                      <a:r>
                        <a:rPr sz="1800" b="1">
                          <a:solidFill>
                            <a:srgbClr val="064B6B"/>
                          </a:solidFill>
                          <a:latin typeface="Helvetica Neue"/>
                          <a:ea typeface="Helvetica Neue"/>
                          <a:cs typeface="Helvetica Neue"/>
                        </a:rPr>
                        <a:t>Paper original</a:t>
                      </a:r>
                    </a:p>
                  </a:txBody>
                  <a:tcPr marL="142875" marR="142875" marT="114300" marB="114300" anchor="ctr">
                    <a:solidFill>
                      <a:srgbClr val="EAF4F8"/>
                    </a:solidFill>
                  </a:tcPr>
                </a:tc>
                <a:tc>
                  <a:txBody>
                    <a:bodyPr/>
                    <a:lstStyle/>
                    <a:p>
                      <a:r>
                        <a:rPr sz="1800" b="1">
                          <a:solidFill>
                            <a:srgbClr val="064B6B"/>
                          </a:solidFill>
                          <a:latin typeface="Helvetica Neue"/>
                          <a:ea typeface="Helvetica Neue"/>
                          <a:cs typeface="Helvetica Neue"/>
                        </a:rPr>
                        <a:t>Nuestro laboratorio</a:t>
                      </a:r>
                    </a:p>
                  </a:txBody>
                  <a:tcPr marL="142875" marR="142875" marT="114300" marB="114300" anchor="ctr">
                    <a:solidFill>
                      <a:srgbClr val="EAF4F8"/>
                    </a:solidFill>
                  </a:tcPr>
                </a:tc>
              </a:tr>
              <a:tr h="571500">
                <a:tc>
                  <a:txBody>
                    <a:bodyPr/>
                    <a:lstStyle/>
                    <a:p>
                      <a:r>
                        <a:rPr sz="1800" b="0">
                          <a:solidFill>
                            <a:srgbClr val="242C33"/>
                          </a:solidFill>
                          <a:latin typeface="Helvetica Neue"/>
                          <a:ea typeface="Helvetica Neue"/>
                          <a:cs typeface="Helvetica Neue"/>
                        </a:rPr>
                        <a:t>Resolución</a:t>
                      </a:r>
                    </a:p>
                  </a:txBody>
                  <a:tcPr marL="142875" marR="142875" marT="114300" marB="114300" anchor="ctr">
                    <a:solidFill>
                      <a:srgbClr val="FFFFFF"/>
                    </a:solidFill>
                  </a:tcPr>
                </a:tc>
                <a:tc>
                  <a:txBody>
                    <a:bodyPr/>
                    <a:lstStyle/>
                    <a:p>
                      <a:r>
                        <a:rPr sz="1800" b="0">
                          <a:solidFill>
                            <a:srgbClr val="242C33"/>
                          </a:solidFill>
                          <a:latin typeface="Helvetica Neue"/>
                          <a:ea typeface="Helvetica Neue"/>
                          <a:cs typeface="Helvetica Neue"/>
                        </a:rPr>
                        <a:t>Diaria</a:t>
                      </a:r>
                    </a:p>
                  </a:txBody>
                  <a:tcPr marL="142875" marR="142875" marT="114300" marB="114300" anchor="ctr">
                    <a:solidFill>
                      <a:srgbClr val="FFFFFF"/>
                    </a:solidFill>
                  </a:tcPr>
                </a:tc>
                <a:tc>
                  <a:txBody>
                    <a:bodyPr/>
                    <a:lstStyle/>
                    <a:p>
                      <a:r>
                        <a:rPr sz="1800" b="0">
                          <a:solidFill>
                            <a:srgbClr val="242C33"/>
                          </a:solidFill>
                          <a:latin typeface="Helvetica Neue"/>
                          <a:ea typeface="Helvetica Neue"/>
                          <a:cs typeface="Helvetica Neue"/>
                        </a:rPr>
                        <a:t>Horaria</a:t>
                      </a:r>
                    </a:p>
                  </a:txBody>
                  <a:tcPr marL="142875" marR="142875" marT="114300" marB="114300" anchor="ctr">
                    <a:solidFill>
                      <a:srgbClr val="FFFFFF"/>
                    </a:solidFill>
                  </a:tcPr>
                </a:tc>
              </a:tr>
              <a:tr h="571500">
                <a:tc>
                  <a:txBody>
                    <a:bodyPr/>
                    <a:lstStyle/>
                    <a:p>
                      <a:r>
                        <a:rPr sz="1800" b="0">
                          <a:solidFill>
                            <a:srgbClr val="242C33"/>
                          </a:solidFill>
                          <a:latin typeface="Helvetica Neue"/>
                          <a:ea typeface="Helvetica Neue"/>
                          <a:cs typeface="Helvetica Neue"/>
                        </a:rPr>
                        <a:t>Historia</a:t>
                      </a:r>
                    </a:p>
                  </a:txBody>
                  <a:tcPr marL="142875" marR="142875" marT="114300" marB="114300" anchor="ctr">
                    <a:solidFill>
                      <a:srgbClr val="F5F7F8"/>
                    </a:solidFill>
                  </a:tcPr>
                </a:tc>
                <a:tc>
                  <a:txBody>
                    <a:bodyPr/>
                    <a:lstStyle/>
                    <a:p>
                      <a:r>
                        <a:rPr sz="1800" b="0">
                          <a:solidFill>
                            <a:srgbClr val="242C33"/>
                          </a:solidFill>
                          <a:latin typeface="Helvetica Neue"/>
                          <a:ea typeface="Helvetica Neue"/>
                          <a:cs typeface="Helvetica Neue"/>
                        </a:rPr>
                        <a:t>7 días</a:t>
                      </a:r>
                    </a:p>
                  </a:txBody>
                  <a:tcPr marL="142875" marR="142875" marT="114300" marB="114300" anchor="ctr">
                    <a:solidFill>
                      <a:srgbClr val="F5F7F8"/>
                    </a:solidFill>
                  </a:tcPr>
                </a:tc>
                <a:tc>
                  <a:txBody>
                    <a:bodyPr/>
                    <a:lstStyle/>
                    <a:p>
                      <a:r>
                        <a:rPr sz="1800" b="0">
                          <a:solidFill>
                            <a:srgbClr val="242C33"/>
                          </a:solidFill>
                          <a:latin typeface="Helvetica Neue"/>
                          <a:ea typeface="Helvetica Neue"/>
                          <a:cs typeface="Helvetica Neue"/>
                        </a:rPr>
                        <a:t>336 horas, equivalentes a 14 días</a:t>
                      </a:r>
                    </a:p>
                  </a:txBody>
                  <a:tcPr marL="142875" marR="142875" marT="114300" marB="114300" anchor="ctr">
                    <a:solidFill>
                      <a:srgbClr val="F5F7F8"/>
                    </a:solidFill>
                  </a:tcPr>
                </a:tc>
              </a:tr>
              <a:tr h="571500">
                <a:tc>
                  <a:txBody>
                    <a:bodyPr/>
                    <a:lstStyle/>
                    <a:p>
                      <a:r>
                        <a:rPr sz="1800" b="0">
                          <a:solidFill>
                            <a:srgbClr val="242C33"/>
                          </a:solidFill>
                          <a:latin typeface="Helvetica Neue"/>
                          <a:ea typeface="Helvetica Neue"/>
                          <a:cs typeface="Helvetica Neue"/>
                        </a:rPr>
                        <a:t>Pronóstico</a:t>
                      </a:r>
                    </a:p>
                  </a:txBody>
                  <a:tcPr marL="142875" marR="142875" marT="114300" marB="114300" anchor="ctr">
                    <a:solidFill>
                      <a:srgbClr val="FFFFFF"/>
                    </a:solidFill>
                  </a:tcPr>
                </a:tc>
                <a:tc>
                  <a:txBody>
                    <a:bodyPr/>
                    <a:lstStyle/>
                    <a:p>
                      <a:r>
                        <a:rPr sz="1800" b="0">
                          <a:solidFill>
                            <a:srgbClr val="242C33"/>
                          </a:solidFill>
                          <a:latin typeface="Helvetica Neue"/>
                          <a:ea typeface="Helvetica Neue"/>
                          <a:cs typeface="Helvetica Neue"/>
                        </a:rPr>
                        <a:t>1, 3, 5 o 7 días</a:t>
                      </a:r>
                    </a:p>
                  </a:txBody>
                  <a:tcPr marL="142875" marR="142875" marT="114300" marB="114300" anchor="ctr">
                    <a:solidFill>
                      <a:srgbClr val="FFFFFF"/>
                    </a:solidFill>
                  </a:tcPr>
                </a:tc>
                <a:tc>
                  <a:txBody>
                    <a:bodyPr/>
                    <a:lstStyle/>
                    <a:p>
                      <a:r>
                        <a:rPr sz="1800" b="0">
                          <a:solidFill>
                            <a:srgbClr val="242C33"/>
                          </a:solidFill>
                          <a:latin typeface="Helvetica Neue"/>
                          <a:ea typeface="Helvetica Neue"/>
                          <a:cs typeface="Helvetica Neue"/>
                        </a:rPr>
                        <a:t>48 valores horarios</a:t>
                      </a:r>
                    </a:p>
                  </a:txBody>
                  <a:tcPr marL="142875" marR="142875" marT="114300" marB="114300" anchor="ctr">
                    <a:solidFill>
                      <a:srgbClr val="FFFFFF"/>
                    </a:solidFill>
                  </a:tcPr>
                </a:tc>
              </a:tr>
              <a:tr h="571500">
                <a:tc>
                  <a:txBody>
                    <a:bodyPr/>
                    <a:lstStyle/>
                    <a:p>
                      <a:r>
                        <a:rPr sz="1800" b="0">
                          <a:solidFill>
                            <a:srgbClr val="242C33"/>
                          </a:solidFill>
                          <a:latin typeface="Helvetica Neue"/>
                          <a:ea typeface="Helvetica Neue"/>
                          <a:cs typeface="Helvetica Neue"/>
                        </a:rPr>
                        <a:t>Entradas</a:t>
                      </a:r>
                    </a:p>
                  </a:txBody>
                  <a:tcPr marL="142875" marR="142875" marT="114300" marB="114300" anchor="ctr">
                    <a:solidFill>
                      <a:srgbClr val="F5F7F8"/>
                    </a:solidFill>
                  </a:tcPr>
                </a:tc>
                <a:tc>
                  <a:txBody>
                    <a:bodyPr/>
                    <a:lstStyle/>
                    <a:p>
                      <a:r>
                        <a:rPr sz="1800" b="0">
                          <a:solidFill>
                            <a:srgbClr val="242C33"/>
                          </a:solidFill>
                          <a:latin typeface="Helvetica Neue"/>
                          <a:ea typeface="Helvetica Neue"/>
                          <a:cs typeface="Helvetica Neue"/>
                        </a:rPr>
                        <a:t>Caudal en casos principales</a:t>
                      </a:r>
                    </a:p>
                  </a:txBody>
                  <a:tcPr marL="142875" marR="142875" marT="114300" marB="114300" anchor="ctr">
                    <a:solidFill>
                      <a:srgbClr val="F5F7F8"/>
                    </a:solidFill>
                  </a:tcPr>
                </a:tc>
                <a:tc>
                  <a:txBody>
                    <a:bodyPr/>
                    <a:lstStyle/>
                    <a:p>
                      <a:r>
                        <a:rPr sz="1800" b="0">
                          <a:solidFill>
                            <a:srgbClr val="242C33"/>
                          </a:solidFill>
                          <a:latin typeface="Helvetica Neue"/>
                          <a:ea typeface="Helvetica Neue"/>
                          <a:cs typeface="Helvetica Neue"/>
                        </a:rPr>
                        <a:t>Caudal y 11 meteorológicas</a:t>
                      </a:r>
                    </a:p>
                  </a:txBody>
                  <a:tcPr marL="142875" marR="142875" marT="114300" marB="114300" anchor="ctr">
                    <a:solidFill>
                      <a:srgbClr val="F5F7F8"/>
                    </a:solidFill>
                  </a:tcPr>
                </a:tc>
              </a:tr>
              <a:tr h="571500">
                <a:tc>
                  <a:txBody>
                    <a:bodyPr/>
                    <a:lstStyle/>
                    <a:p>
                      <a:r>
                        <a:rPr sz="1800" b="0">
                          <a:solidFill>
                            <a:srgbClr val="242C33"/>
                          </a:solidFill>
                          <a:latin typeface="Helvetica Neue"/>
                          <a:ea typeface="Helvetica Neue"/>
                          <a:cs typeface="Helvetica Neue"/>
                        </a:rPr>
                        <a:t>Partición</a:t>
                      </a:r>
                    </a:p>
                  </a:txBody>
                  <a:tcPr marL="142875" marR="142875" marT="114300" marB="114300" anchor="ctr">
                    <a:solidFill>
                      <a:srgbClr val="FFFFFF"/>
                    </a:solidFill>
                  </a:tcPr>
                </a:tc>
                <a:tc>
                  <a:txBody>
                    <a:bodyPr/>
                    <a:lstStyle/>
                    <a:p>
                      <a:r>
                        <a:rPr sz="1800" b="0">
                          <a:solidFill>
                            <a:srgbClr val="242C33"/>
                          </a:solidFill>
                          <a:latin typeface="Helvetica Neue"/>
                          <a:ea typeface="Helvetica Neue"/>
                          <a:cs typeface="Helvetica Neue"/>
                        </a:rPr>
                        <a:t>70 / 15 / 15</a:t>
                      </a:r>
                    </a:p>
                  </a:txBody>
                  <a:tcPr marL="142875" marR="142875" marT="114300" marB="114300" anchor="ctr">
                    <a:solidFill>
                      <a:srgbClr val="FFFFFF"/>
                    </a:solidFill>
                  </a:tcPr>
                </a:tc>
                <a:tc>
                  <a:txBody>
                    <a:bodyPr/>
                    <a:lstStyle/>
                    <a:p>
                      <a:r>
                        <a:rPr sz="1800" b="0">
                          <a:solidFill>
                            <a:srgbClr val="242C33"/>
                          </a:solidFill>
                          <a:latin typeface="Helvetica Neue"/>
                          <a:ea typeface="Helvetica Neue"/>
                          <a:cs typeface="Helvetica Neue"/>
                        </a:rPr>
                        <a:t>Flags split proporcionados</a:t>
                      </a:r>
                    </a:p>
                  </a:txBody>
                  <a:tcPr marL="142875" marR="142875" marT="114300" marB="114300" anchor="ctr">
                    <a:solidFill>
                      <a:srgbClr val="FFFFFF"/>
                    </a:solidFill>
                  </a:tcPr>
                </a:tc>
              </a:tr>
              <a:tr h="571500">
                <a:tc>
                  <a:txBody>
                    <a:bodyPr/>
                    <a:lstStyle/>
                    <a:p>
                      <a:r>
                        <a:rPr sz="1800" b="0">
                          <a:solidFill>
                            <a:srgbClr val="242C33"/>
                          </a:solidFill>
                          <a:latin typeface="Helvetica Neue"/>
                          <a:ea typeface="Helvetica Neue"/>
                          <a:cs typeface="Helvetica Neue"/>
                        </a:rPr>
                        <a:t>Salida física</a:t>
                      </a:r>
                    </a:p>
                  </a:txBody>
                  <a:tcPr marL="142875" marR="142875" marT="114300" marB="114300" anchor="ctr">
                    <a:solidFill>
                      <a:srgbClr val="F5F7F8"/>
                    </a:solidFill>
                  </a:tcPr>
                </a:tc>
                <a:tc>
                  <a:txBody>
                    <a:bodyPr/>
                    <a:lstStyle/>
                    <a:p>
                      <a:r>
                        <a:rPr sz="1800" b="0">
                          <a:solidFill>
                            <a:srgbClr val="242C33"/>
                          </a:solidFill>
                          <a:latin typeface="Helvetica Neue"/>
                          <a:ea typeface="Helvetica Neue"/>
                          <a:cs typeface="Helvetica Neue"/>
                        </a:rPr>
                        <a:t>m³/s en casos principales</a:t>
                      </a:r>
                    </a:p>
                  </a:txBody>
                  <a:tcPr marL="142875" marR="142875" marT="114300" marB="114300" anchor="ctr">
                    <a:solidFill>
                      <a:srgbClr val="F5F7F8"/>
                    </a:solidFill>
                  </a:tcPr>
                </a:tc>
                <a:tc>
                  <a:txBody>
                    <a:bodyPr/>
                    <a:lstStyle/>
                    <a:p>
                      <a:r>
                        <a:rPr sz="1800" b="0">
                          <a:solidFill>
                            <a:srgbClr val="242C33"/>
                          </a:solidFill>
                          <a:latin typeface="Helvetica Neue"/>
                          <a:ea typeface="Helvetica Neue"/>
                          <a:cs typeface="Helvetica Neue"/>
                        </a:rPr>
                        <a:t>Caudal específico en mm/h</a:t>
                      </a:r>
                    </a:p>
                  </a:txBody>
                  <a:tcPr marL="142875" marR="142875" marT="114300" marB="114300" anchor="ctr">
                    <a:solidFill>
                      <a:srgbClr val="F5F7F8"/>
                    </a:solidFill>
                  </a:tcPr>
                </a:tc>
              </a:tr>
            </a:tbl>
          </a:graphicData>
        </a:graphic>
      </p:graphicFrame>
      <p:sp>
        <p:nvSpPr>
          <p:cNvPr id="5" name="El laboratorio permite simplificaciones justificadas que con">
            <a:extLst xmlns:a="http://schemas.openxmlformats.org/drawingml/2006/main">
              <a:ext uri="{FF2B5EF4-FFF2-40B4-BE49-F238E27FC236}">
                <a16:creationId xmlns:a16="http://schemas.microsoft.com/office/drawing/2014/main" id="{1F5B1C72-B12F-4336-B175-E15011E26931}"/>
              </a:ext>
            </a:extLst>
          </p:cNvPr>
          <p:cNvSpPr>
            <a:spLocks xmlns:a="http://schemas.openxmlformats.org/drawingml/2006/main" noGrp="1"/>
          </p:cNvSpPr>
          <p:nvPr/>
        </p:nvSpPr>
        <p:spPr>
          <a:xfrm xmlns:a="http://schemas.openxmlformats.org/drawingml/2006/main">
            <a:off x="666750" y="585787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800" b="1">
                <a:solidFill>
                  <a:srgbClr val="007FA3"/>
                </a:solidFill>
                <a:latin typeface="Helvetica Neue"/>
                <a:ea typeface="Helvetica Neue"/>
                <a:cs typeface="Helvetica Neue"/>
              </a:defRPr>
            </a:pPr>
            <a:r>
              <a:rPr sz="1800" b="1">
                <a:solidFill>
                  <a:srgbClr val="007FA3"/>
                </a:solidFill>
                <a:latin typeface="Helvetica Neue"/>
                <a:ea typeface="Helvetica Neue"/>
                <a:cs typeface="Helvetica Neue"/>
              </a:rPr>
              <a:t>El laboratorio permite simplificaciones justificadas que conserven la propuesta central.</a:t>
            </a:r>
          </a:p>
        </p:txBody>
      </p:sp>
    </p:spTree>
    <p:extLst>
      <p:ext uri="{BB962C8B-B14F-4D97-AF65-F5344CB8AC3E}">
        <p14:creationId xmlns:p14="http://schemas.microsoft.com/office/powerpoint/2010/main" val="128733851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Contrato del dataset Rainfall–Runoff">
            <a:extLst xmlns:a="http://schemas.openxmlformats.org/drawingml/2006/main">
              <a:ext uri="{FF2B5EF4-FFF2-40B4-BE49-F238E27FC236}">
                <a16:creationId xmlns:a16="http://schemas.microsoft.com/office/drawing/2014/main" id="{131A89FE-C14E-493B-95F2-365501994663}"/>
              </a:ext>
            </a:extLst>
          </p:cNvPr>
          <p:cNvSpPr>
            <a:spLocks xmlns:a="http://schemas.openxmlformats.org/drawingml/2006/main" noGrp="1"/>
          </p:cNvSpPr>
          <p:nvPr/>
        </p:nvSpPr>
        <p:spPr>
          <a:xfrm xmlns:a="http://schemas.openxmlformats.org/drawingml/2006/main">
            <a:off x="609600" y="42862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3300" b="1">
                <a:solidFill>
                  <a:srgbClr val="242C33"/>
                </a:solidFill>
                <a:latin typeface="Helvetica Neue"/>
                <a:ea typeface="Helvetica Neue"/>
                <a:cs typeface="Helvetica Neue"/>
              </a:defRPr>
            </a:pPr>
            <a:r>
              <a:rPr sz="3300" b="1">
                <a:solidFill>
                  <a:srgbClr val="064B6B"/>
                </a:solidFill>
                <a:latin typeface="Helvetica Neue"/>
                <a:ea typeface="Helvetica Neue"/>
                <a:cs typeface="Helvetica Neue"/>
              </a:rPr>
              <a:t>Contrato del dataset Rainfall–Runoff</a:t>
            </a:r>
          </a:p>
        </p:txBody>
      </p:sp>
      <p:sp>
        <p:nvSpPr>
          <p:cNvPr id="2" name="Conteos por partición: metadata.json. Total de train.h5: ver">
            <a:extLst xmlns:a="http://schemas.openxmlformats.org/drawingml/2006/main">
              <a:ext uri="{FF2B5EF4-FFF2-40B4-BE49-F238E27FC236}">
                <a16:creationId xmlns:a16="http://schemas.microsoft.com/office/drawing/2014/main" id="{F423424B-B1F0-486B-BA7E-0DBA90998CB9}"/>
              </a:ext>
            </a:extLst>
          </p:cNvPr>
          <p:cNvSpPr>
            <a:spLocks xmlns:a="http://schemas.openxmlformats.org/drawingml/2006/main" noGrp="1"/>
          </p:cNvSpPr>
          <p:nvPr/>
        </p:nvSpPr>
        <p:spPr>
          <a:xfrm xmlns:a="http://schemas.openxmlformats.org/drawingml/2006/main">
            <a:off x="628650" y="6429375"/>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200" b="0">
                <a:solidFill>
                  <a:srgbClr val="5D6267"/>
                </a:solidFill>
                <a:latin typeface="Helvetica Neue"/>
                <a:ea typeface="Helvetica Neue"/>
                <a:cs typeface="Helvetica Neue"/>
              </a:defRPr>
            </a:pPr>
            <a:r>
              <a:rPr sz="1200" b="0">
                <a:solidFill>
                  <a:srgbClr val="5D6267"/>
                </a:solidFill>
                <a:latin typeface="Helvetica Neue"/>
                <a:ea typeface="Helvetica Neue"/>
                <a:cs typeface="Helvetica Neue"/>
              </a:rPr>
              <a:t>Conteos por partición: metadata.json. Total de train.h5: verificado en Khipu</a:t>
            </a:r>
          </a:p>
        </p:txBody>
      </p:sp>
      <p:sp>
        <p:nvSpPr>
          <p:cNvPr id="3" name="09">
            <a:extLst xmlns:a="http://schemas.openxmlformats.org/drawingml/2006/main">
              <a:ext uri="{FF2B5EF4-FFF2-40B4-BE49-F238E27FC236}">
                <a16:creationId xmlns:a16="http://schemas.microsoft.com/office/drawing/2014/main" id="{1A2FD6EA-BA69-4086-9F26-036C6D2F9E1A}"/>
              </a:ext>
            </a:extLst>
          </p:cNvPr>
          <p:cNvSpPr>
            <a:spLocks xmlns:a="http://schemas.openxmlformats.org/drawingml/2006/main" noGrp="1"/>
          </p:cNvSpPr>
          <p:nvPr/>
        </p:nvSpPr>
        <p:spPr>
          <a:xfrm xmlns:a="http://schemas.openxmlformats.org/drawingml/2006/main">
            <a:off x="10953750" y="639127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buNone/>
              <a:defRPr sz="1425" b="0">
                <a:solidFill>
                  <a:srgbClr val="5D6267"/>
                </a:solidFill>
                <a:latin typeface="Helvetica Neue"/>
                <a:ea typeface="Helvetica Neue"/>
                <a:cs typeface="Helvetica Neue"/>
              </a:defRPr>
            </a:pPr>
            <a:r>
              <a:rPr sz="1425" b="0">
                <a:solidFill>
                  <a:srgbClr val="5D6267"/>
                </a:solidFill>
                <a:latin typeface="Helvetica Neue"/>
                <a:ea typeface="Helvetica Neue"/>
                <a:cs typeface="Helvetica Neue"/>
              </a:rPr>
              <a:t>09</a:t>
            </a:r>
          </a:p>
        </p:txBody>
      </p:sp>
      <p:sp>
        <p:nvSpPr>
          <p:cNvPr id="4" name="X: [N, 336, 12]">
            <a:extLst xmlns:a="http://schemas.openxmlformats.org/drawingml/2006/main">
              <a:ext uri="{FF2B5EF4-FFF2-40B4-BE49-F238E27FC236}">
                <a16:creationId xmlns:a16="http://schemas.microsoft.com/office/drawing/2014/main" id="{A5E34C5A-D0ED-4B94-A76D-6997307C1462}"/>
              </a:ext>
            </a:extLst>
          </p:cNvPr>
          <p:cNvSpPr>
            <a:spLocks xmlns:a="http://schemas.openxmlformats.org/drawingml/2006/main" noGrp="1"/>
          </p:cNvSpPr>
          <p:nvPr/>
        </p:nvSpPr>
        <p:spPr>
          <a:xfrm xmlns:a="http://schemas.openxmlformats.org/drawingml/2006/main">
            <a:off x="666750" y="1581150"/>
            <a:ext cx="4953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3225" b="1">
                <a:solidFill>
                  <a:srgbClr val="007FA3"/>
                </a:solidFill>
                <a:latin typeface="Helvetica Neue"/>
                <a:ea typeface="Helvetica Neue"/>
                <a:cs typeface="Helvetica Neue"/>
              </a:defRPr>
            </a:pPr>
            <a:r>
              <a:rPr sz="3225" b="1">
                <a:solidFill>
                  <a:srgbClr val="007FA3"/>
                </a:solidFill>
                <a:latin typeface="Helvetica Neue"/>
                <a:ea typeface="Helvetica Neue"/>
                <a:cs typeface="Helvetica Neue"/>
              </a:rPr>
              <a:t>X: [N, 336, 12]</a:t>
            </a:r>
          </a:p>
        </p:txBody>
      </p:sp>
      <p:sp>
        <p:nvSpPr>
          <p:cNvPr id="5" name="y: [N, 48]">
            <a:extLst xmlns:a="http://schemas.openxmlformats.org/drawingml/2006/main">
              <a:ext uri="{FF2B5EF4-FFF2-40B4-BE49-F238E27FC236}">
                <a16:creationId xmlns:a16="http://schemas.microsoft.com/office/drawing/2014/main" id="{758BBF21-1452-45A3-BB74-C39B9BD60890}"/>
              </a:ext>
            </a:extLst>
          </p:cNvPr>
          <p:cNvSpPr>
            <a:spLocks xmlns:a="http://schemas.openxmlformats.org/drawingml/2006/main" noGrp="1"/>
          </p:cNvSpPr>
          <p:nvPr/>
        </p:nvSpPr>
        <p:spPr>
          <a:xfrm xmlns:a="http://schemas.openxmlformats.org/drawingml/2006/main">
            <a:off x="6810375" y="1581150"/>
            <a:ext cx="4572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3225" b="1">
                <a:solidFill>
                  <a:srgbClr val="007FA3"/>
                </a:solidFill>
                <a:latin typeface="Helvetica Neue"/>
                <a:ea typeface="Helvetica Neue"/>
                <a:cs typeface="Helvetica Neue"/>
              </a:defRPr>
            </a:pPr>
            <a:r>
              <a:rPr sz="3225" b="1">
                <a:solidFill>
                  <a:srgbClr val="007FA3"/>
                </a:solidFill>
                <a:latin typeface="Helvetica Neue"/>
                <a:ea typeface="Helvetica Neue"/>
                <a:cs typeface="Helvetica Neue"/>
              </a:rPr>
              <a:t>y: [N, 48]</a:t>
            </a:r>
          </a:p>
        </p:txBody>
      </p:sp>
      <p:graphicFrame>
        <p:nvGraphicFramePr>
          <p:cNvPr id="16" name=""/>
          <p:cNvGraphicFramePr/>
          <p:nvPr/>
        </p:nvGraphicFramePr>
        <p:xfrm>
          <a:off xmlns:a="http://schemas.openxmlformats.org/drawingml/2006/main" x="609600" y="2619375"/>
          <a:ext xmlns:a="http://schemas.openxmlformats.org/drawingml/2006/main" cx="10972800" cy="2600325"/>
        </p:xfrm>
        <a:graphic xmlns:a="http://schemas.openxmlformats.org/drawingml/2006/main">
          <a:graphicData uri="http://schemas.openxmlformats.org/drawingml/2006/table">
            <a:tbl>
              <a:tblPr firstRow="1" bandRow="0"/>
              <a:tblGrid>
                <a:gridCol w="2952750"/>
                <a:gridCol w="2333625"/>
                <a:gridCol w="5686425"/>
              </a:tblGrid>
              <a:tr h="650081">
                <a:tc>
                  <a:txBody>
                    <a:bodyPr/>
                    <a:lstStyle/>
                    <a:p>
                      <a:r>
                        <a:rPr sz="1950" b="1">
                          <a:solidFill>
                            <a:srgbClr val="064B6B"/>
                          </a:solidFill>
                          <a:latin typeface="Helvetica Neue"/>
                          <a:ea typeface="Helvetica Neue"/>
                          <a:cs typeface="Helvetica Neue"/>
                        </a:rPr>
                        <a:t>Partición</a:t>
                      </a:r>
                    </a:p>
                  </a:txBody>
                  <a:tcPr marL="142875" marR="142875" marT="114300" marB="114300" anchor="ctr">
                    <a:solidFill>
                      <a:srgbClr val="EAF4F8"/>
                    </a:solidFill>
                  </a:tcPr>
                </a:tc>
                <a:tc>
                  <a:txBody>
                    <a:bodyPr/>
                    <a:lstStyle/>
                    <a:p>
                      <a:r>
                        <a:rPr sz="1950" b="1">
                          <a:solidFill>
                            <a:srgbClr val="064B6B"/>
                          </a:solidFill>
                          <a:latin typeface="Helvetica Neue"/>
                          <a:ea typeface="Helvetica Neue"/>
                          <a:cs typeface="Helvetica Neue"/>
                        </a:rPr>
                        <a:t>Muestras</a:t>
                      </a:r>
                    </a:p>
                  </a:txBody>
                  <a:tcPr marL="142875" marR="142875" marT="114300" marB="114300" anchor="ctr">
                    <a:solidFill>
                      <a:srgbClr val="EAF4F8"/>
                    </a:solidFill>
                  </a:tcPr>
                </a:tc>
                <a:tc>
                  <a:txBody>
                    <a:bodyPr/>
                    <a:lstStyle/>
                    <a:p>
                      <a:r>
                        <a:rPr sz="1950" b="1">
                          <a:solidFill>
                            <a:srgbClr val="064B6B"/>
                          </a:solidFill>
                          <a:latin typeface="Helvetica Neue"/>
                          <a:ea typeface="Helvetica Neue"/>
                          <a:cs typeface="Helvetica Neue"/>
                        </a:rPr>
                        <a:t>Uso</a:t>
                      </a:r>
                    </a:p>
                  </a:txBody>
                  <a:tcPr marL="142875" marR="142875" marT="114300" marB="114300" anchor="ctr">
                    <a:solidFill>
                      <a:srgbClr val="EAF4F8"/>
                    </a:solidFill>
                  </a:tcPr>
                </a:tc>
              </a:tr>
              <a:tr h="650081">
                <a:tc>
                  <a:txBody>
                    <a:bodyPr/>
                    <a:lstStyle/>
                    <a:p>
                      <a:r>
                        <a:rPr sz="1950" b="0">
                          <a:solidFill>
                            <a:srgbClr val="242C33"/>
                          </a:solidFill>
                          <a:latin typeface="Helvetica Neue"/>
                          <a:ea typeface="Helvetica Neue"/>
                          <a:cs typeface="Helvetica Neue"/>
                        </a:rPr>
                        <a:t>Entrenamiento</a:t>
                      </a:r>
                    </a:p>
                  </a:txBody>
                  <a:tcPr marL="142875" marR="142875" marT="114300" marB="114300" anchor="ctr">
                    <a:solidFill>
                      <a:srgbClr val="FFFFFF"/>
                    </a:solidFill>
                  </a:tcPr>
                </a:tc>
                <a:tc>
                  <a:txBody>
                    <a:bodyPr/>
                    <a:lstStyle/>
                    <a:p>
                      <a:r>
                        <a:rPr sz="1950" b="0">
                          <a:solidFill>
                            <a:srgbClr val="242C33"/>
                          </a:solidFill>
                          <a:latin typeface="Helvetica Neue"/>
                          <a:ea typeface="Helvetica Neue"/>
                          <a:cs typeface="Helvetica Neue"/>
                        </a:rPr>
                        <a:t>254 000</a:t>
                      </a:r>
                    </a:p>
                  </a:txBody>
                  <a:tcPr marL="142875" marR="142875" marT="114300" marB="114300" anchor="ctr">
                    <a:solidFill>
                      <a:srgbClr val="FFFFFF"/>
                    </a:solidFill>
                  </a:tcPr>
                </a:tc>
                <a:tc>
                  <a:txBody>
                    <a:bodyPr/>
                    <a:lstStyle/>
                    <a:p>
                      <a:r>
                        <a:rPr sz="1950" b="0">
                          <a:solidFill>
                            <a:srgbClr val="242C33"/>
                          </a:solidFill>
                          <a:latin typeface="Helvetica Neue"/>
                          <a:ea typeface="Helvetica Neue"/>
                          <a:cs typeface="Helvetica Neue"/>
                        </a:rPr>
                        <a:t>Ajustar pesos y normalización</a:t>
                      </a:r>
                    </a:p>
                  </a:txBody>
                  <a:tcPr marL="142875" marR="142875" marT="114300" marB="114300" anchor="ctr">
                    <a:solidFill>
                      <a:srgbClr val="FFFFFF"/>
                    </a:solidFill>
                  </a:tcPr>
                </a:tc>
              </a:tr>
              <a:tr h="650081">
                <a:tc>
                  <a:txBody>
                    <a:bodyPr/>
                    <a:lstStyle/>
                    <a:p>
                      <a:r>
                        <a:rPr sz="1950" b="0">
                          <a:solidFill>
                            <a:srgbClr val="242C33"/>
                          </a:solidFill>
                          <a:latin typeface="Helvetica Neue"/>
                          <a:ea typeface="Helvetica Neue"/>
                          <a:cs typeface="Helvetica Neue"/>
                        </a:rPr>
                        <a:t>Validación</a:t>
                      </a:r>
                    </a:p>
                  </a:txBody>
                  <a:tcPr marL="142875" marR="142875" marT="114300" marB="114300" anchor="ctr">
                    <a:solidFill>
                      <a:srgbClr val="F5F7F8"/>
                    </a:solidFill>
                  </a:tcPr>
                </a:tc>
                <a:tc>
                  <a:txBody>
                    <a:bodyPr/>
                    <a:lstStyle/>
                    <a:p>
                      <a:r>
                        <a:rPr sz="1950" b="0">
                          <a:solidFill>
                            <a:srgbClr val="242C33"/>
                          </a:solidFill>
                          <a:latin typeface="Helvetica Neue"/>
                          <a:ea typeface="Helvetica Neue"/>
                          <a:cs typeface="Helvetica Neue"/>
                        </a:rPr>
                        <a:t>18 142</a:t>
                      </a:r>
                    </a:p>
                  </a:txBody>
                  <a:tcPr marL="142875" marR="142875" marT="114300" marB="114300" anchor="ctr">
                    <a:solidFill>
                      <a:srgbClr val="F5F7F8"/>
                    </a:solidFill>
                  </a:tcPr>
                </a:tc>
                <a:tc>
                  <a:txBody>
                    <a:bodyPr/>
                    <a:lstStyle/>
                    <a:p>
                      <a:r>
                        <a:rPr sz="1950" b="0">
                          <a:solidFill>
                            <a:srgbClr val="242C33"/>
                          </a:solidFill>
                          <a:latin typeface="Helvetica Neue"/>
                          <a:ea typeface="Helvetica Neue"/>
                          <a:cs typeface="Helvetica Neue"/>
                        </a:rPr>
                        <a:t>Seleccionar checkpoint</a:t>
                      </a:r>
                    </a:p>
                  </a:txBody>
                  <a:tcPr marL="142875" marR="142875" marT="114300" marB="114300" anchor="ctr">
                    <a:solidFill>
                      <a:srgbClr val="F5F7F8"/>
                    </a:solidFill>
                  </a:tcPr>
                </a:tc>
              </a:tr>
              <a:tr h="650081">
                <a:tc>
                  <a:txBody>
                    <a:bodyPr/>
                    <a:lstStyle/>
                    <a:p>
                      <a:r>
                        <a:rPr sz="1950" b="0">
                          <a:solidFill>
                            <a:srgbClr val="242C33"/>
                          </a:solidFill>
                          <a:latin typeface="Helvetica Neue"/>
                          <a:ea typeface="Helvetica Neue"/>
                          <a:cs typeface="Helvetica Neue"/>
                        </a:rPr>
                        <a:t>Test</a:t>
                      </a:r>
                    </a:p>
                  </a:txBody>
                  <a:tcPr marL="142875" marR="142875" marT="114300" marB="114300" anchor="ctr">
                    <a:solidFill>
                      <a:srgbClr val="FFFFFF"/>
                    </a:solidFill>
                  </a:tcPr>
                </a:tc>
                <a:tc>
                  <a:txBody>
                    <a:bodyPr/>
                    <a:lstStyle/>
                    <a:p>
                      <a:r>
                        <a:rPr sz="1950" b="0">
                          <a:solidFill>
                            <a:srgbClr val="242C33"/>
                          </a:solidFill>
                          <a:latin typeface="Helvetica Neue"/>
                          <a:ea typeface="Helvetica Neue"/>
                          <a:cs typeface="Helvetica Neue"/>
                        </a:rPr>
                        <a:t>27 983</a:t>
                      </a:r>
                    </a:p>
                  </a:txBody>
                  <a:tcPr marL="142875" marR="142875" marT="114300" marB="114300" anchor="ctr">
                    <a:solidFill>
                      <a:srgbClr val="FFFFFF"/>
                    </a:solidFill>
                  </a:tcPr>
                </a:tc>
                <a:tc>
                  <a:txBody>
                    <a:bodyPr/>
                    <a:lstStyle/>
                    <a:p>
                      <a:r>
                        <a:rPr sz="1950" b="0">
                          <a:solidFill>
                            <a:srgbClr val="242C33"/>
                          </a:solidFill>
                          <a:latin typeface="Helvetica Neue"/>
                          <a:ea typeface="Helvetica Neue"/>
                          <a:cs typeface="Helvetica Neue"/>
                        </a:rPr>
                        <a:t>Generar predicciones finales</a:t>
                      </a:r>
                    </a:p>
                  </a:txBody>
                  <a:tcPr marL="142875" marR="142875" marT="114300" marB="114300" anchor="ctr">
                    <a:solidFill>
                      <a:srgbClr val="FFFFFF"/>
                    </a:solidFill>
                  </a:tcPr>
                </a:tc>
              </a:tr>
            </a:tbl>
          </a:graphicData>
        </a:graphic>
      </p:graphicFrame>
      <p:sp>
        <p:nvSpPr>
          <p:cNvPr id="7" name="Canal 11: caudal específico. Canales 0–10: meteorología hist">
            <a:extLst xmlns:a="http://schemas.openxmlformats.org/drawingml/2006/main">
              <a:ext uri="{FF2B5EF4-FFF2-40B4-BE49-F238E27FC236}">
                <a16:creationId xmlns:a16="http://schemas.microsoft.com/office/drawing/2014/main" id="{D0DA5F29-2A87-4C38-9F88-76817EED0BA7}"/>
              </a:ext>
            </a:extLst>
          </p:cNvPr>
          <p:cNvSpPr>
            <a:spLocks xmlns:a="http://schemas.openxmlformats.org/drawingml/2006/main" noGrp="1"/>
          </p:cNvSpPr>
          <p:nvPr/>
        </p:nvSpPr>
        <p:spPr>
          <a:xfrm xmlns:a="http://schemas.openxmlformats.org/drawingml/2006/main">
            <a:off x="695325" y="5505450"/>
            <a:ext cx="10525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875" b="0">
                <a:solidFill>
                  <a:srgbClr val="242C33"/>
                </a:solidFill>
                <a:latin typeface="Helvetica Neue"/>
                <a:ea typeface="Helvetica Neue"/>
                <a:cs typeface="Helvetica Neue"/>
              </a:defRPr>
            </a:pPr>
            <a:r>
              <a:rPr sz="1875" b="0">
                <a:solidFill>
                  <a:srgbClr val="242C33"/>
                </a:solidFill>
                <a:latin typeface="Helvetica Neue"/>
                <a:ea typeface="Helvetica Neue"/>
                <a:cs typeface="Helvetica Neue"/>
              </a:rPr>
              <a:t>Canal 11: caudal específico. Canales 0–10: meteorología histórica.</a:t>
            </a:r>
          </a:p>
        </p:txBody>
      </p:sp>
      <p:sp>
        <p:nvSpPr>
          <p:cNvPr id="8" name="508 cuencas verificadas en test. Identificadores anónimos, s">
            <a:extLst xmlns:a="http://schemas.openxmlformats.org/drawingml/2006/main">
              <a:ext uri="{FF2B5EF4-FFF2-40B4-BE49-F238E27FC236}">
                <a16:creationId xmlns:a16="http://schemas.microsoft.com/office/drawing/2014/main" id="{772DB8C2-312B-4581-81CA-6A4E8B7BDD8D}"/>
              </a:ext>
            </a:extLst>
          </p:cNvPr>
          <p:cNvSpPr>
            <a:spLocks xmlns:a="http://schemas.openxmlformats.org/drawingml/2006/main" noGrp="1"/>
          </p:cNvSpPr>
          <p:nvPr/>
        </p:nvSpPr>
        <p:spPr>
          <a:xfrm xmlns:a="http://schemas.openxmlformats.org/drawingml/2006/main">
            <a:off x="695325" y="59436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650" b="0">
                <a:solidFill>
                  <a:srgbClr val="5D6267"/>
                </a:solidFill>
                <a:latin typeface="Helvetica Neue"/>
                <a:ea typeface="Helvetica Neue"/>
                <a:cs typeface="Helvetica Neue"/>
              </a:defRPr>
            </a:pPr>
            <a:r>
              <a:rPr sz="1650" b="0">
                <a:solidFill>
                  <a:srgbClr val="5D6267"/>
                </a:solidFill>
                <a:latin typeface="Helvetica Neue"/>
                <a:ea typeface="Helvetica Neue"/>
                <a:cs typeface="Helvetica Neue"/>
              </a:rPr>
              <a:t>508 cuencas en validación y test. Identificadores anónimos, sin fechas absolutas.</a:t>
            </a:r>
          </a:p>
        </p:txBody>
      </p:sp>
    </p:spTree>
    <p:extLst>
      <p:ext uri="{BB962C8B-B14F-4D97-AF65-F5344CB8AC3E}">
        <p14:creationId xmlns:p14="http://schemas.microsoft.com/office/powerpoint/2010/main" val="206559925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Una ventana real de nuestro dataset">
            <a:extLst xmlns:a="http://schemas.openxmlformats.org/drawingml/2006/main">
              <a:ext uri="{FF2B5EF4-FFF2-40B4-BE49-F238E27FC236}">
                <a16:creationId xmlns:a16="http://schemas.microsoft.com/office/drawing/2014/main" id="{9264D332-3C03-4028-A2B0-E41A18811D45}"/>
              </a:ext>
            </a:extLst>
          </p:cNvPr>
          <p:cNvSpPr>
            <a:spLocks xmlns:a="http://schemas.openxmlformats.org/drawingml/2006/main" noGrp="1"/>
          </p:cNvSpPr>
          <p:nvPr/>
        </p:nvSpPr>
        <p:spPr>
          <a:xfrm xmlns:a="http://schemas.openxmlformats.org/drawingml/2006/main">
            <a:off x="609600" y="42862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3300" b="1">
                <a:solidFill>
                  <a:srgbClr val="242C33"/>
                </a:solidFill>
                <a:latin typeface="Helvetica Neue"/>
                <a:ea typeface="Helvetica Neue"/>
                <a:cs typeface="Helvetica Neue"/>
              </a:defRPr>
            </a:pPr>
            <a:r>
              <a:rPr sz="3300" b="1">
                <a:solidFill>
                  <a:srgbClr val="064B6B"/>
                </a:solidFill>
                <a:latin typeface="Helvetica Neue"/>
                <a:ea typeface="Helvetica Neue"/>
                <a:cs typeface="Helvetica Neue"/>
              </a:rPr>
              <a:t>Una ventana real de nuestro dataset</a:t>
            </a:r>
          </a:p>
        </p:txBody>
      </p:sp>
      <p:sp>
        <p:nvSpPr>
          <p:cNvPr id="2" name="test.h5, fila 0, basin_id 222. Solo caudal histórico, sin et">
            <a:extLst xmlns:a="http://schemas.openxmlformats.org/drawingml/2006/main">
              <a:ext uri="{FF2B5EF4-FFF2-40B4-BE49-F238E27FC236}">
                <a16:creationId xmlns:a16="http://schemas.microsoft.com/office/drawing/2014/main" id="{2971BE3E-7661-4CC2-95A2-457D70ED1082}"/>
              </a:ext>
            </a:extLst>
          </p:cNvPr>
          <p:cNvSpPr>
            <a:spLocks xmlns:a="http://schemas.openxmlformats.org/drawingml/2006/main" noGrp="1"/>
          </p:cNvSpPr>
          <p:nvPr/>
        </p:nvSpPr>
        <p:spPr>
          <a:xfrm xmlns:a="http://schemas.openxmlformats.org/drawingml/2006/main">
            <a:off x="628650" y="6429375"/>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200" b="0">
                <a:solidFill>
                  <a:srgbClr val="5D6267"/>
                </a:solidFill>
                <a:latin typeface="Helvetica Neue"/>
                <a:ea typeface="Helvetica Neue"/>
                <a:cs typeface="Helvetica Neue"/>
              </a:defRPr>
            </a:pPr>
            <a:r>
              <a:rPr sz="1200" b="0">
                <a:solidFill>
                  <a:srgbClr val="5D6267"/>
                </a:solidFill>
                <a:latin typeface="Helvetica Neue"/>
                <a:ea typeface="Helvetica Neue"/>
                <a:cs typeface="Helvetica Neue"/>
              </a:rPr>
              <a:t>test.h5, fila 0, basin_id 222. Solo caudal histórico, sin etiquetas futuras</a:t>
            </a:r>
          </a:p>
        </p:txBody>
      </p:sp>
      <p:sp>
        <p:nvSpPr>
          <p:cNvPr id="3" name="10">
            <a:extLst xmlns:a="http://schemas.openxmlformats.org/drawingml/2006/main">
              <a:ext uri="{FF2B5EF4-FFF2-40B4-BE49-F238E27FC236}">
                <a16:creationId xmlns:a16="http://schemas.microsoft.com/office/drawing/2014/main" id="{5E9A8721-B6B7-43C4-B82D-E451A420B51B}"/>
              </a:ext>
            </a:extLst>
          </p:cNvPr>
          <p:cNvSpPr>
            <a:spLocks xmlns:a="http://schemas.openxmlformats.org/drawingml/2006/main" noGrp="1"/>
          </p:cNvSpPr>
          <p:nvPr/>
        </p:nvSpPr>
        <p:spPr>
          <a:xfrm xmlns:a="http://schemas.openxmlformats.org/drawingml/2006/main">
            <a:off x="10953750" y="639127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buNone/>
              <a:defRPr sz="1425" b="0">
                <a:solidFill>
                  <a:srgbClr val="5D6267"/>
                </a:solidFill>
                <a:latin typeface="Helvetica Neue"/>
                <a:ea typeface="Helvetica Neue"/>
                <a:cs typeface="Helvetica Neue"/>
              </a:defRPr>
            </a:pPr>
            <a:r>
              <a:rPr sz="1425" b="0">
                <a:solidFill>
                  <a:srgbClr val="5D6267"/>
                </a:solidFill>
                <a:latin typeface="Helvetica Neue"/>
                <a:ea typeface="Helvetica Neue"/>
                <a:cs typeface="Helvetica Neue"/>
              </a:rPr>
              <a:t>10</a:t>
            </a:r>
          </a:p>
        </p:txBody>
      </p:sp>
      <p:sp>
        <p:nvSpPr>
          <p:cNvPr id="4" name="336 observaciones horarias disponibles al emitir el pronósti">
            <a:extLst xmlns:a="http://schemas.openxmlformats.org/drawingml/2006/main">
              <a:ext uri="{FF2B5EF4-FFF2-40B4-BE49-F238E27FC236}">
                <a16:creationId xmlns:a16="http://schemas.microsoft.com/office/drawing/2014/main" id="{49BB5B40-3AB5-4EBF-B6FC-2FA83A2976AD}"/>
              </a:ext>
            </a:extLst>
          </p:cNvPr>
          <p:cNvSpPr>
            <a:spLocks xmlns:a="http://schemas.openxmlformats.org/drawingml/2006/main" noGrp="1"/>
          </p:cNvSpPr>
          <p:nvPr/>
        </p:nvSpPr>
        <p:spPr>
          <a:xfrm xmlns:a="http://schemas.openxmlformats.org/drawingml/2006/main">
            <a:off x="695325" y="1419225"/>
            <a:ext cx="1076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100" b="0">
                <a:solidFill>
                  <a:srgbClr val="242C33"/>
                </a:solidFill>
                <a:latin typeface="Helvetica Neue"/>
                <a:ea typeface="Helvetica Neue"/>
                <a:cs typeface="Helvetica Neue"/>
              </a:defRPr>
            </a:pPr>
            <a:r>
              <a:rPr sz="2100" b="0">
                <a:solidFill>
                  <a:srgbClr val="242C33"/>
                </a:solidFill>
                <a:latin typeface="Helvetica Neue"/>
                <a:ea typeface="Helvetica Neue"/>
                <a:cs typeface="Helvetica Neue"/>
              </a:rPr>
              <a:t>336 observaciones horarias disponibles al emitir el pronóstico</a:t>
            </a:r>
          </a:p>
        </p:txBody>
      </p:sp>
      <p:graphicFrame>
        <p:nvGraphicFramePr>
          <p:cNvPr id="14" name="Chart"/>
          <p:cNvGraphicFramePr/>
          <p:nvPr/>
        </p:nvGraphicFramePr>
        <p:xfrm>
          <a:off xmlns:a="http://schemas.openxmlformats.org/drawingml/2006/main" x="609600" y="2019300"/>
          <a:ext xmlns:a="http://schemas.openxmlformats.org/drawingml/2006/main" cx="10668000" cy="3257550"/>
        </p:xfrm>
        <a:graphic xmlns:a="http://schemas.openxmlformats.org/drawingml/2006/main">
          <a:graphicData uri="http://schemas.openxmlformats.org/drawingml/2006/chart">
            <c:chart xmlns:r="http://schemas.openxmlformats.org/officeDocument/2006/relationships" xmlns:c="http://schemas.openxmlformats.org/drawingml/2006/chart" r:id="R889373f9dd134d5c"/>
          </a:graphicData>
        </a:graphic>
      </p:graphicFrame>
      <p:sp>
        <p:nvSpPr>
          <p:cNvPr id="6" name="Historia observada: de −335 h a 0 h">
            <a:extLst xmlns:a="http://schemas.openxmlformats.org/drawingml/2006/main">
              <a:ext uri="{FF2B5EF4-FFF2-40B4-BE49-F238E27FC236}">
                <a16:creationId xmlns:a16="http://schemas.microsoft.com/office/drawing/2014/main" id="{8EE66A83-82C0-494A-85A3-DF37CFE4DAB5}"/>
              </a:ext>
            </a:extLst>
          </p:cNvPr>
          <p:cNvSpPr>
            <a:spLocks xmlns:a="http://schemas.openxmlformats.org/drawingml/2006/main" noGrp="1"/>
          </p:cNvSpPr>
          <p:nvPr/>
        </p:nvSpPr>
        <p:spPr>
          <a:xfrm xmlns:a="http://schemas.openxmlformats.org/drawingml/2006/main">
            <a:off x="838200" y="5562600"/>
            <a:ext cx="666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950" b="1">
                <a:solidFill>
                  <a:srgbClr val="007FA3"/>
                </a:solidFill>
                <a:latin typeface="Helvetica Neue"/>
                <a:ea typeface="Helvetica Neue"/>
                <a:cs typeface="Helvetica Neue"/>
              </a:defRPr>
            </a:pPr>
            <a:r>
              <a:rPr sz="1950" b="1">
                <a:solidFill>
                  <a:srgbClr val="007FA3"/>
                </a:solidFill>
                <a:latin typeface="Helvetica Neue"/>
                <a:ea typeface="Helvetica Neue"/>
                <a:cs typeface="Helvetica Neue"/>
              </a:rPr>
              <a:t>Historia observada: de −335 h a 0 h</a:t>
            </a:r>
          </a:p>
        </p:txBody>
      </p:sp>
      <p:sp>
        <p:nvSpPr>
          <p:cNvPr id="7" name="Objetivo del modelo: horas +1 a +48">
            <a:extLst xmlns:a="http://schemas.openxmlformats.org/drawingml/2006/main">
              <a:ext uri="{FF2B5EF4-FFF2-40B4-BE49-F238E27FC236}">
                <a16:creationId xmlns:a16="http://schemas.microsoft.com/office/drawing/2014/main" id="{FE48FBCD-35FC-4F52-8752-C3181030ED3C}"/>
              </a:ext>
            </a:extLst>
          </p:cNvPr>
          <p:cNvSpPr>
            <a:spLocks xmlns:a="http://schemas.openxmlformats.org/drawingml/2006/main" noGrp="1"/>
          </p:cNvSpPr>
          <p:nvPr/>
        </p:nvSpPr>
        <p:spPr>
          <a:xfrm xmlns:a="http://schemas.openxmlformats.org/drawingml/2006/main">
            <a:off x="838200" y="5981700"/>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800" b="0">
                <a:solidFill>
                  <a:srgbClr val="242C33"/>
                </a:solidFill>
                <a:latin typeface="Helvetica Neue"/>
                <a:ea typeface="Helvetica Neue"/>
                <a:cs typeface="Helvetica Neue"/>
              </a:defRPr>
            </a:pPr>
            <a:r>
              <a:rPr sz="1800" b="0">
                <a:solidFill>
                  <a:srgbClr val="242C33"/>
                </a:solidFill>
                <a:latin typeface="Helvetica Neue"/>
                <a:ea typeface="Helvetica Neue"/>
                <a:cs typeface="Helvetica Neue"/>
              </a:rPr>
              <a:t>Objetivo del modelo: horas +1 a +48</a:t>
            </a:r>
          </a:p>
        </p:txBody>
      </p:sp>
    </p:spTree>
    <p:extLst>
      <p:ext uri="{BB962C8B-B14F-4D97-AF65-F5344CB8AC3E}">
        <p14:creationId xmlns:p14="http://schemas.microsoft.com/office/powerpoint/2010/main" val="189729857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MRS simplificado: dos componentes">
            <a:extLst xmlns:a="http://schemas.openxmlformats.org/drawingml/2006/main">
              <a:ext uri="{FF2B5EF4-FFF2-40B4-BE49-F238E27FC236}">
                <a16:creationId xmlns:a16="http://schemas.microsoft.com/office/drawing/2014/main" id="{91796146-6824-4D4D-B69D-ABBEA0863B26}"/>
              </a:ext>
            </a:extLst>
          </p:cNvPr>
          <p:cNvSpPr>
            <a:spLocks xmlns:a="http://schemas.openxmlformats.org/drawingml/2006/main" noGrp="1"/>
          </p:cNvSpPr>
          <p:nvPr/>
        </p:nvSpPr>
        <p:spPr>
          <a:xfrm xmlns:a="http://schemas.openxmlformats.org/drawingml/2006/main">
            <a:off x="609600" y="42862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3300" b="1">
                <a:solidFill>
                  <a:srgbClr val="242C33"/>
                </a:solidFill>
                <a:latin typeface="Helvetica Neue"/>
                <a:ea typeface="Helvetica Neue"/>
                <a:cs typeface="Helvetica Neue"/>
              </a:defRPr>
            </a:pPr>
            <a:r>
              <a:rPr sz="3300" b="1">
                <a:solidFill>
                  <a:srgbClr val="064B6B"/>
                </a:solidFill>
                <a:latin typeface="Helvetica Neue"/>
                <a:ea typeface="Helvetica Neue"/>
                <a:cs typeface="Helvetica Neue"/>
              </a:rPr>
              <a:t>MRS simplificado: dos componentes</a:t>
            </a:r>
          </a:p>
        </p:txBody>
      </p:sp>
      <p:sp>
        <p:nvSpPr>
          <p:cNvPr id="2" name="dmel/decomposition.py; misma ventana de test, fila 0. Ejempl">
            <a:extLst xmlns:a="http://schemas.openxmlformats.org/drawingml/2006/main">
              <a:ext uri="{FF2B5EF4-FFF2-40B4-BE49-F238E27FC236}">
                <a16:creationId xmlns:a16="http://schemas.microsoft.com/office/drawing/2014/main" id="{9A6A9B77-A823-40FC-9939-D8BC651CA99D}"/>
              </a:ext>
            </a:extLst>
          </p:cNvPr>
          <p:cNvSpPr>
            <a:spLocks xmlns:a="http://schemas.openxmlformats.org/drawingml/2006/main" noGrp="1"/>
          </p:cNvSpPr>
          <p:nvPr/>
        </p:nvSpPr>
        <p:spPr>
          <a:xfrm xmlns:a="http://schemas.openxmlformats.org/drawingml/2006/main">
            <a:off x="628650" y="6429375"/>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200" b="0">
                <a:solidFill>
                  <a:srgbClr val="5D6267"/>
                </a:solidFill>
                <a:latin typeface="Helvetica Neue"/>
                <a:ea typeface="Helvetica Neue"/>
                <a:cs typeface="Helvetica Neue"/>
              </a:defRPr>
            </a:pPr>
            <a:r>
              <a:rPr sz="1200" b="0">
                <a:solidFill>
                  <a:srgbClr val="5D6267"/>
                </a:solidFill>
                <a:latin typeface="Helvetica Neue"/>
                <a:ea typeface="Helvetica Neue"/>
                <a:cs typeface="Helvetica Neue"/>
              </a:rPr>
              <a:t>dmel/decomposition.py; misma ventana de test, fila 0. Ejemplo de preprocesamiento</a:t>
            </a:r>
          </a:p>
        </p:txBody>
      </p:sp>
      <p:sp>
        <p:nvSpPr>
          <p:cNvPr id="3" name="11">
            <a:extLst xmlns:a="http://schemas.openxmlformats.org/drawingml/2006/main">
              <a:ext uri="{FF2B5EF4-FFF2-40B4-BE49-F238E27FC236}">
                <a16:creationId xmlns:a16="http://schemas.microsoft.com/office/drawing/2014/main" id="{C9A3EE16-3B8B-4366-87BA-6B0445779C2A}"/>
              </a:ext>
            </a:extLst>
          </p:cNvPr>
          <p:cNvSpPr>
            <a:spLocks xmlns:a="http://schemas.openxmlformats.org/drawingml/2006/main" noGrp="1"/>
          </p:cNvSpPr>
          <p:nvPr/>
        </p:nvSpPr>
        <p:spPr>
          <a:xfrm xmlns:a="http://schemas.openxmlformats.org/drawingml/2006/main">
            <a:off x="10953750" y="639127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buNone/>
              <a:defRPr sz="1425" b="0">
                <a:solidFill>
                  <a:srgbClr val="5D6267"/>
                </a:solidFill>
                <a:latin typeface="Helvetica Neue"/>
                <a:ea typeface="Helvetica Neue"/>
                <a:cs typeface="Helvetica Neue"/>
              </a:defRPr>
            </a:pPr>
            <a:r>
              <a:rPr sz="1425" b="0">
                <a:solidFill>
                  <a:srgbClr val="5D6267"/>
                </a:solidFill>
                <a:latin typeface="Helvetica Neue"/>
                <a:ea typeface="Helvetica Neue"/>
                <a:cs typeface="Helvetica Neue"/>
              </a:rPr>
              <a:t>11</a:t>
            </a:r>
          </a:p>
        </p:txBody>
      </p:sp>
      <p:sp>
        <p:nvSpPr>
          <p:cNvPr id="4" name="Alta: IMFs con SampEn mayor que la historia original">
            <a:extLst xmlns:a="http://schemas.openxmlformats.org/drawingml/2006/main">
              <a:ext uri="{FF2B5EF4-FFF2-40B4-BE49-F238E27FC236}">
                <a16:creationId xmlns:a16="http://schemas.microsoft.com/office/drawing/2014/main" id="{C6B597C5-CAAE-4A52-AFFF-25786F71810B}"/>
              </a:ext>
            </a:extLst>
          </p:cNvPr>
          <p:cNvSpPr>
            <a:spLocks xmlns:a="http://schemas.openxmlformats.org/drawingml/2006/main" noGrp="1"/>
          </p:cNvSpPr>
          <p:nvPr/>
        </p:nvSpPr>
        <p:spPr>
          <a:xfrm xmlns:a="http://schemas.openxmlformats.org/drawingml/2006/main">
            <a:off x="695325" y="1419225"/>
            <a:ext cx="10801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100" b="1">
                <a:solidFill>
                  <a:srgbClr val="007FA3"/>
                </a:solidFill>
                <a:latin typeface="Helvetica Neue"/>
                <a:ea typeface="Helvetica Neue"/>
                <a:cs typeface="Helvetica Neue"/>
              </a:defRPr>
            </a:pPr>
            <a:r>
              <a:rPr sz="2100" b="1">
                <a:solidFill>
                  <a:srgbClr val="007FA3"/>
                </a:solidFill>
                <a:latin typeface="Helvetica Neue"/>
                <a:ea typeface="Helvetica Neue"/>
                <a:cs typeface="Helvetica Neue"/>
              </a:rPr>
              <a:t>Alta: IMFs con SampEn mayor que la historia original</a:t>
            </a:r>
          </a:p>
        </p:txBody>
      </p:sp>
      <p:sp>
        <p:nvSpPr>
          <p:cNvPr id="5" name="Baja: el resto de IMFs más el residuo">
            <a:extLst xmlns:a="http://schemas.openxmlformats.org/drawingml/2006/main">
              <a:ext uri="{FF2B5EF4-FFF2-40B4-BE49-F238E27FC236}">
                <a16:creationId xmlns:a16="http://schemas.microsoft.com/office/drawing/2014/main" id="{0DCD47F5-7E00-4C31-B341-6AFAC2C25259}"/>
              </a:ext>
            </a:extLst>
          </p:cNvPr>
          <p:cNvSpPr>
            <a:spLocks xmlns:a="http://schemas.openxmlformats.org/drawingml/2006/main" noGrp="1"/>
          </p:cNvSpPr>
          <p:nvPr/>
        </p:nvSpPr>
        <p:spPr>
          <a:xfrm xmlns:a="http://schemas.openxmlformats.org/drawingml/2006/main">
            <a:off x="695325" y="1847850"/>
            <a:ext cx="10801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100" b="0">
                <a:solidFill>
                  <a:srgbClr val="242C33"/>
                </a:solidFill>
                <a:latin typeface="Helvetica Neue"/>
                <a:ea typeface="Helvetica Neue"/>
                <a:cs typeface="Helvetica Neue"/>
              </a:defRPr>
            </a:pPr>
            <a:r>
              <a:rPr sz="2100" b="0">
                <a:solidFill>
                  <a:srgbClr val="242C33"/>
                </a:solidFill>
                <a:latin typeface="Helvetica Neue"/>
                <a:ea typeface="Helvetica Neue"/>
                <a:cs typeface="Helvetica Neue"/>
              </a:rPr>
              <a:t>Baja: el resto de IMFs más el residuo</a:t>
            </a:r>
          </a:p>
        </p:txBody>
      </p:sp>
      <p:graphicFrame>
        <p:nvGraphicFramePr>
          <p:cNvPr id="16" name="Chart"/>
          <p:cNvGraphicFramePr/>
          <p:nvPr/>
        </p:nvGraphicFramePr>
        <p:xfrm>
          <a:off xmlns:a="http://schemas.openxmlformats.org/drawingml/2006/main" x="609600" y="2371725"/>
          <a:ext xmlns:a="http://schemas.openxmlformats.org/drawingml/2006/main" cx="10668000" cy="2962275"/>
        </p:xfrm>
        <a:graphic xmlns:a="http://schemas.openxmlformats.org/drawingml/2006/main">
          <a:graphicData uri="http://schemas.openxmlformats.org/drawingml/2006/chart">
            <c:chart xmlns:r="http://schemas.openxmlformats.org/officeDocument/2006/relationships" xmlns:c="http://schemas.openxmlformats.org/drawingml/2006/chart" r:id="Rf08b2b55d3dc42aa"/>
          </a:graphicData>
        </a:graphic>
      </p:graphicFrame>
      <p:sp>
        <p:nvSpPr>
          <p:cNvPr id="7" name="En esta ventana: 7 IMFs en alta; baja conserva el residuo.">
            <a:extLst xmlns:a="http://schemas.openxmlformats.org/drawingml/2006/main">
              <a:ext uri="{FF2B5EF4-FFF2-40B4-BE49-F238E27FC236}">
                <a16:creationId xmlns:a16="http://schemas.microsoft.com/office/drawing/2014/main" id="{A6D5CB9C-9914-4C60-BF3B-E47E6597A240}"/>
              </a:ext>
            </a:extLst>
          </p:cNvPr>
          <p:cNvSpPr>
            <a:spLocks xmlns:a="http://schemas.openxmlformats.org/drawingml/2006/main" noGrp="1"/>
          </p:cNvSpPr>
          <p:nvPr/>
        </p:nvSpPr>
        <p:spPr>
          <a:xfrm xmlns:a="http://schemas.openxmlformats.org/drawingml/2006/main">
            <a:off x="695325" y="5581650"/>
            <a:ext cx="10801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800" b="0">
                <a:solidFill>
                  <a:srgbClr val="242C33"/>
                </a:solidFill>
                <a:latin typeface="Helvetica Neue"/>
                <a:ea typeface="Helvetica Neue"/>
                <a:cs typeface="Helvetica Neue"/>
              </a:defRPr>
            </a:pPr>
            <a:r>
              <a:rPr sz="1800" b="0">
                <a:solidFill>
                  <a:srgbClr val="242C33"/>
                </a:solidFill>
                <a:latin typeface="Helvetica Neue"/>
                <a:ea typeface="Helvetica Neue"/>
                <a:cs typeface="Helvetica Neue"/>
              </a:rPr>
              <a:t>En esta ventana: 7 IMFs en alta; baja conserva el residuo.</a:t>
            </a:r>
          </a:p>
        </p:txBody>
      </p:sp>
      <p:sp>
        <p:nvSpPr>
          <p:cNvPr id="8" name="Error máximo de reconstrucción: 1.19 × 10⁻⁷ mm/h">
            <a:extLst xmlns:a="http://schemas.openxmlformats.org/drawingml/2006/main">
              <a:ext uri="{FF2B5EF4-FFF2-40B4-BE49-F238E27FC236}">
                <a16:creationId xmlns:a16="http://schemas.microsoft.com/office/drawing/2014/main" id="{936D74DE-AA6B-4C3C-9768-FDDC7E0791A5}"/>
              </a:ext>
            </a:extLst>
          </p:cNvPr>
          <p:cNvSpPr>
            <a:spLocks xmlns:a="http://schemas.openxmlformats.org/drawingml/2006/main" noGrp="1"/>
          </p:cNvSpPr>
          <p:nvPr/>
        </p:nvSpPr>
        <p:spPr>
          <a:xfrm xmlns:a="http://schemas.openxmlformats.org/drawingml/2006/main">
            <a:off x="695325" y="5991225"/>
            <a:ext cx="10801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650" b="0">
                <a:solidFill>
                  <a:srgbClr val="5D6267"/>
                </a:solidFill>
                <a:latin typeface="Helvetica Neue"/>
                <a:ea typeface="Helvetica Neue"/>
                <a:cs typeface="Helvetica Neue"/>
              </a:defRPr>
            </a:pPr>
            <a:r>
              <a:rPr sz="1650" b="0">
                <a:solidFill>
                  <a:srgbClr val="5D6267"/>
                </a:solidFill>
                <a:latin typeface="Helvetica Neue"/>
                <a:ea typeface="Helvetica Neue"/>
                <a:cs typeface="Helvetica Neue"/>
              </a:rPr>
              <a:t>Error máximo de reconstrucción: 1.19 × 10⁻⁷ mm/h</a:t>
            </a:r>
          </a:p>
        </p:txBody>
      </p:sp>
    </p:spTree>
    <p:extLst>
      <p:ext uri="{BB962C8B-B14F-4D97-AF65-F5344CB8AC3E}">
        <p14:creationId xmlns:p14="http://schemas.microsoft.com/office/powerpoint/2010/main" val="158004599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Entradas de las ramas y salida de 48 horas">
            <a:extLst xmlns:a="http://schemas.openxmlformats.org/drawingml/2006/main">
              <a:ext uri="{FF2B5EF4-FFF2-40B4-BE49-F238E27FC236}">
                <a16:creationId xmlns:a16="http://schemas.microsoft.com/office/drawing/2014/main" id="{E7CAB9C1-3A03-40ED-9814-B1F146F08B00}"/>
              </a:ext>
            </a:extLst>
          </p:cNvPr>
          <p:cNvSpPr>
            <a:spLocks xmlns:a="http://schemas.openxmlformats.org/drawingml/2006/main" noGrp="1"/>
          </p:cNvSpPr>
          <p:nvPr/>
        </p:nvSpPr>
        <p:spPr>
          <a:xfrm xmlns:a="http://schemas.openxmlformats.org/drawingml/2006/main">
            <a:off x="609600" y="42862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3300" b="1">
                <a:solidFill>
                  <a:srgbClr val="242C33"/>
                </a:solidFill>
                <a:latin typeface="Helvetica Neue"/>
                <a:ea typeface="Helvetica Neue"/>
                <a:cs typeface="Helvetica Neue"/>
              </a:defRPr>
            </a:pPr>
            <a:r>
              <a:rPr sz="3300" b="1">
                <a:solidFill>
                  <a:srgbClr val="064B6B"/>
                </a:solidFill>
                <a:latin typeface="Helvetica Neue"/>
                <a:ea typeface="Helvetica Neue"/>
                <a:cs typeface="Helvetica Neue"/>
              </a:rPr>
              <a:t>Entradas de las ramas y salida de 48 horas</a:t>
            </a:r>
          </a:p>
        </p:txBody>
      </p:sp>
      <p:sp>
        <p:nvSpPr>
          <p:cNvPr id="2" name="dmel/models.py y dmel/data.py. B representa el tamaño del lo">
            <a:extLst xmlns:a="http://schemas.openxmlformats.org/drawingml/2006/main">
              <a:ext uri="{FF2B5EF4-FFF2-40B4-BE49-F238E27FC236}">
                <a16:creationId xmlns:a16="http://schemas.microsoft.com/office/drawing/2014/main" id="{612A5012-ACAD-42FD-B041-64227C170A06}"/>
              </a:ext>
            </a:extLst>
          </p:cNvPr>
          <p:cNvSpPr>
            <a:spLocks xmlns:a="http://schemas.openxmlformats.org/drawingml/2006/main" noGrp="1"/>
          </p:cNvSpPr>
          <p:nvPr/>
        </p:nvSpPr>
        <p:spPr>
          <a:xfrm xmlns:a="http://schemas.openxmlformats.org/drawingml/2006/main">
            <a:off x="628650" y="6429375"/>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200" b="0">
                <a:solidFill>
                  <a:srgbClr val="5D6267"/>
                </a:solidFill>
                <a:latin typeface="Helvetica Neue"/>
                <a:ea typeface="Helvetica Neue"/>
                <a:cs typeface="Helvetica Neue"/>
              </a:defRPr>
            </a:pPr>
            <a:r>
              <a:rPr sz="1200" b="0">
                <a:solidFill>
                  <a:srgbClr val="5D6267"/>
                </a:solidFill>
                <a:latin typeface="Helvetica Neue"/>
                <a:ea typeface="Helvetica Neue"/>
                <a:cs typeface="Helvetica Neue"/>
              </a:rPr>
              <a:t>dmel/models.py y dmel/data.py. B representa el tamaño del lote</a:t>
            </a:r>
          </a:p>
        </p:txBody>
      </p:sp>
      <p:sp>
        <p:nvSpPr>
          <p:cNvPr id="3" name="12">
            <a:extLst xmlns:a="http://schemas.openxmlformats.org/drawingml/2006/main">
              <a:ext uri="{FF2B5EF4-FFF2-40B4-BE49-F238E27FC236}">
                <a16:creationId xmlns:a16="http://schemas.microsoft.com/office/drawing/2014/main" id="{2018CA6E-1250-4281-8A0B-E89E03D19535}"/>
              </a:ext>
            </a:extLst>
          </p:cNvPr>
          <p:cNvSpPr>
            <a:spLocks xmlns:a="http://schemas.openxmlformats.org/drawingml/2006/main" noGrp="1"/>
          </p:cNvSpPr>
          <p:nvPr/>
        </p:nvSpPr>
        <p:spPr>
          <a:xfrm xmlns:a="http://schemas.openxmlformats.org/drawingml/2006/main">
            <a:off x="10953750" y="639127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buNone/>
              <a:defRPr sz="1425" b="0">
                <a:solidFill>
                  <a:srgbClr val="5D6267"/>
                </a:solidFill>
                <a:latin typeface="Helvetica Neue"/>
                <a:ea typeface="Helvetica Neue"/>
                <a:cs typeface="Helvetica Neue"/>
              </a:defRPr>
            </a:pPr>
            <a:r>
              <a:rPr sz="1425" b="0">
                <a:solidFill>
                  <a:srgbClr val="5D6267"/>
                </a:solidFill>
                <a:latin typeface="Helvetica Neue"/>
                <a:ea typeface="Helvetica Neue"/>
                <a:cs typeface="Helvetica Neue"/>
              </a:rPr>
              <a:t>12</a:t>
            </a:r>
          </a:p>
        </p:txBody>
      </p:sp>
      <p:graphicFrame>
        <p:nvGraphicFramePr>
          <p:cNvPr id="11" name=""/>
          <p:cNvGraphicFramePr/>
          <p:nvPr/>
        </p:nvGraphicFramePr>
        <p:xfrm>
          <a:off xmlns:a="http://schemas.openxmlformats.org/drawingml/2006/main" x="609600" y="1657350"/>
          <a:ext xmlns:a="http://schemas.openxmlformats.org/drawingml/2006/main" cx="10972800" cy="3629025"/>
        </p:xfrm>
        <a:graphic xmlns:a="http://schemas.openxmlformats.org/drawingml/2006/main">
          <a:graphicData uri="http://schemas.openxmlformats.org/drawingml/2006/table">
            <a:tbl>
              <a:tblPr firstRow="1" bandRow="0"/>
              <a:tblGrid>
                <a:gridCol w="2571750"/>
                <a:gridCol w="5838825"/>
                <a:gridCol w="2562225"/>
              </a:tblGrid>
              <a:tr h="604838">
                <a:tc>
                  <a:txBody>
                    <a:bodyPr/>
                    <a:lstStyle/>
                    <a:p>
                      <a:r>
                        <a:rPr sz="1800" b="1">
                          <a:solidFill>
                            <a:srgbClr val="064B6B"/>
                          </a:solidFill>
                          <a:latin typeface="Helvetica Neue"/>
                          <a:ea typeface="Helvetica Neue"/>
                          <a:cs typeface="Helvetica Neue"/>
                        </a:rPr>
                        <a:t>Etapa</a:t>
                      </a:r>
                    </a:p>
                  </a:txBody>
                  <a:tcPr marL="142875" marR="142875" marT="114300" marB="114300" anchor="ctr">
                    <a:solidFill>
                      <a:srgbClr val="EAF4F8"/>
                    </a:solidFill>
                  </a:tcPr>
                </a:tc>
                <a:tc>
                  <a:txBody>
                    <a:bodyPr/>
                    <a:lstStyle/>
                    <a:p>
                      <a:r>
                        <a:rPr sz="1800" b="1">
                          <a:solidFill>
                            <a:srgbClr val="064B6B"/>
                          </a:solidFill>
                          <a:latin typeface="Helvetica Neue"/>
                          <a:ea typeface="Helvetica Neue"/>
                          <a:cs typeface="Helvetica Neue"/>
                        </a:rPr>
                        <a:t>Información</a:t>
                      </a:r>
                    </a:p>
                  </a:txBody>
                  <a:tcPr marL="142875" marR="142875" marT="114300" marB="114300" anchor="ctr">
                    <a:solidFill>
                      <a:srgbClr val="EAF4F8"/>
                    </a:solidFill>
                  </a:tcPr>
                </a:tc>
                <a:tc>
                  <a:txBody>
                    <a:bodyPr/>
                    <a:lstStyle/>
                    <a:p>
                      <a:r>
                        <a:rPr sz="1800" b="1">
                          <a:solidFill>
                            <a:srgbClr val="064B6B"/>
                          </a:solidFill>
                          <a:latin typeface="Helvetica Neue"/>
                          <a:ea typeface="Helvetica Neue"/>
                          <a:cs typeface="Helvetica Neue"/>
                        </a:rPr>
                        <a:t>Forma</a:t>
                      </a:r>
                    </a:p>
                  </a:txBody>
                  <a:tcPr marL="142875" marR="142875" marT="114300" marB="114300" anchor="ctr">
                    <a:solidFill>
                      <a:srgbClr val="EAF4F8"/>
                    </a:solidFill>
                  </a:tcPr>
                </a:tc>
              </a:tr>
              <a:tr h="604838">
                <a:tc>
                  <a:txBody>
                    <a:bodyPr/>
                    <a:lstStyle/>
                    <a:p>
                      <a:r>
                        <a:rPr sz="1800" b="0">
                          <a:solidFill>
                            <a:srgbClr val="242C33"/>
                          </a:solidFill>
                          <a:latin typeface="Helvetica Neue"/>
                          <a:ea typeface="Helvetica Neue"/>
                          <a:cs typeface="Helvetica Neue"/>
                        </a:rPr>
                        <a:t>Ventana</a:t>
                      </a:r>
                    </a:p>
                  </a:txBody>
                  <a:tcPr marL="142875" marR="142875" marT="114300" marB="114300" anchor="ctr">
                    <a:solidFill>
                      <a:srgbClr val="FFFFFF"/>
                    </a:solidFill>
                  </a:tcPr>
                </a:tc>
                <a:tc>
                  <a:txBody>
                    <a:bodyPr/>
                    <a:lstStyle/>
                    <a:p>
                      <a:r>
                        <a:rPr sz="1800" b="0">
                          <a:solidFill>
                            <a:srgbClr val="242C33"/>
                          </a:solidFill>
                          <a:latin typeface="Helvetica Neue"/>
                          <a:ea typeface="Helvetica Neue"/>
                          <a:cs typeface="Helvetica Neue"/>
                        </a:rPr>
                        <a:t>11 meteorológicas y caudal</a:t>
                      </a:r>
                    </a:p>
                  </a:txBody>
                  <a:tcPr marL="142875" marR="142875" marT="114300" marB="114300" anchor="ctr">
                    <a:solidFill>
                      <a:srgbClr val="FFFFFF"/>
                    </a:solidFill>
                  </a:tcPr>
                </a:tc>
                <a:tc>
                  <a:txBody>
                    <a:bodyPr/>
                    <a:lstStyle/>
                    <a:p>
                      <a:r>
                        <a:rPr sz="1800" b="0">
                          <a:solidFill>
                            <a:srgbClr val="242C33"/>
                          </a:solidFill>
                          <a:latin typeface="Helvetica Neue"/>
                          <a:ea typeface="Helvetica Neue"/>
                          <a:cs typeface="Helvetica Neue"/>
                        </a:rPr>
                        <a:t>[B, 336, 12]</a:t>
                      </a:r>
                    </a:p>
                  </a:txBody>
                  <a:tcPr marL="142875" marR="142875" marT="114300" marB="114300" anchor="ctr">
                    <a:solidFill>
                      <a:srgbClr val="FFFFFF"/>
                    </a:solidFill>
                  </a:tcPr>
                </a:tc>
              </a:tr>
              <a:tr h="604838">
                <a:tc>
                  <a:txBody>
                    <a:bodyPr/>
                    <a:lstStyle/>
                    <a:p>
                      <a:r>
                        <a:rPr sz="1800" b="0">
                          <a:solidFill>
                            <a:srgbClr val="242C33"/>
                          </a:solidFill>
                          <a:latin typeface="Helvetica Neue"/>
                          <a:ea typeface="Helvetica Neue"/>
                          <a:cs typeface="Helvetica Neue"/>
                        </a:rPr>
                        <a:t>Rama Informer</a:t>
                      </a:r>
                    </a:p>
                  </a:txBody>
                  <a:tcPr marL="142875" marR="142875" marT="114300" marB="114300" anchor="ctr">
                    <a:solidFill>
                      <a:srgbClr val="F5F7F8"/>
                    </a:solidFill>
                  </a:tcPr>
                </a:tc>
                <a:tc>
                  <a:txBody>
                    <a:bodyPr/>
                    <a:lstStyle/>
                    <a:p>
                      <a:r>
                        <a:rPr sz="1800" b="0">
                          <a:solidFill>
                            <a:srgbClr val="242C33"/>
                          </a:solidFill>
                          <a:latin typeface="Helvetica Neue"/>
                          <a:ea typeface="Helvetica Neue"/>
                          <a:cs typeface="Helvetica Neue"/>
                        </a:rPr>
                        <a:t>11 meteorológicas y componente alta</a:t>
                      </a:r>
                    </a:p>
                  </a:txBody>
                  <a:tcPr marL="142875" marR="142875" marT="114300" marB="114300" anchor="ctr">
                    <a:solidFill>
                      <a:srgbClr val="F5F7F8"/>
                    </a:solidFill>
                  </a:tcPr>
                </a:tc>
                <a:tc>
                  <a:txBody>
                    <a:bodyPr/>
                    <a:lstStyle/>
                    <a:p>
                      <a:r>
                        <a:rPr sz="1800" b="0">
                          <a:solidFill>
                            <a:srgbClr val="242C33"/>
                          </a:solidFill>
                          <a:latin typeface="Helvetica Neue"/>
                          <a:ea typeface="Helvetica Neue"/>
                          <a:cs typeface="Helvetica Neue"/>
                        </a:rPr>
                        <a:t>[B, 336, 12]</a:t>
                      </a:r>
                    </a:p>
                  </a:txBody>
                  <a:tcPr marL="142875" marR="142875" marT="114300" marB="114300" anchor="ctr">
                    <a:solidFill>
                      <a:srgbClr val="F5F7F8"/>
                    </a:solidFill>
                  </a:tcPr>
                </a:tc>
              </a:tr>
              <a:tr h="604838">
                <a:tc>
                  <a:txBody>
                    <a:bodyPr/>
                    <a:lstStyle/>
                    <a:p>
                      <a:r>
                        <a:rPr sz="1800" b="0">
                          <a:solidFill>
                            <a:srgbClr val="242C33"/>
                          </a:solidFill>
                          <a:latin typeface="Helvetica Neue"/>
                          <a:ea typeface="Helvetica Neue"/>
                          <a:cs typeface="Helvetica Neue"/>
                        </a:rPr>
                        <a:t>Rama LSTM</a:t>
                      </a:r>
                    </a:p>
                  </a:txBody>
                  <a:tcPr marL="142875" marR="142875" marT="114300" marB="114300" anchor="ctr">
                    <a:solidFill>
                      <a:srgbClr val="FFFFFF"/>
                    </a:solidFill>
                  </a:tcPr>
                </a:tc>
                <a:tc>
                  <a:txBody>
                    <a:bodyPr/>
                    <a:lstStyle/>
                    <a:p>
                      <a:r>
                        <a:rPr sz="1800" b="0">
                          <a:solidFill>
                            <a:srgbClr val="242C33"/>
                          </a:solidFill>
                          <a:latin typeface="Helvetica Neue"/>
                          <a:ea typeface="Helvetica Neue"/>
                          <a:cs typeface="Helvetica Neue"/>
                        </a:rPr>
                        <a:t>11 meteorológicas y componente baja</a:t>
                      </a:r>
                    </a:p>
                  </a:txBody>
                  <a:tcPr marL="142875" marR="142875" marT="114300" marB="114300" anchor="ctr">
                    <a:solidFill>
                      <a:srgbClr val="FFFFFF"/>
                    </a:solidFill>
                  </a:tcPr>
                </a:tc>
                <a:tc>
                  <a:txBody>
                    <a:bodyPr/>
                    <a:lstStyle/>
                    <a:p>
                      <a:r>
                        <a:rPr sz="1800" b="0">
                          <a:solidFill>
                            <a:srgbClr val="242C33"/>
                          </a:solidFill>
                          <a:latin typeface="Helvetica Neue"/>
                          <a:ea typeface="Helvetica Neue"/>
                          <a:cs typeface="Helvetica Neue"/>
                        </a:rPr>
                        <a:t>[B, 336, 12]</a:t>
                      </a:r>
                    </a:p>
                  </a:txBody>
                  <a:tcPr marL="142875" marR="142875" marT="114300" marB="114300" anchor="ctr">
                    <a:solidFill>
                      <a:srgbClr val="FFFFFF"/>
                    </a:solidFill>
                  </a:tcPr>
                </a:tc>
              </a:tr>
              <a:tr h="604838">
                <a:tc>
                  <a:txBody>
                    <a:bodyPr/>
                    <a:lstStyle/>
                    <a:p>
                      <a:r>
                        <a:rPr sz="1800" b="0">
                          <a:solidFill>
                            <a:srgbClr val="242C33"/>
                          </a:solidFill>
                          <a:latin typeface="Helvetica Neue"/>
                          <a:ea typeface="Helvetica Neue"/>
                          <a:cs typeface="Helvetica Neue"/>
                        </a:rPr>
                        <a:t>Cada predictor</a:t>
                      </a:r>
                    </a:p>
                  </a:txBody>
                  <a:tcPr marL="142875" marR="142875" marT="114300" marB="114300" anchor="ctr">
                    <a:solidFill>
                      <a:srgbClr val="F5F7F8"/>
                    </a:solidFill>
                  </a:tcPr>
                </a:tc>
                <a:tc>
                  <a:txBody>
                    <a:bodyPr/>
                    <a:lstStyle/>
                    <a:p>
                      <a:r>
                        <a:rPr sz="1800" b="0">
                          <a:solidFill>
                            <a:srgbClr val="242C33"/>
                          </a:solidFill>
                          <a:latin typeface="Helvetica Neue"/>
                          <a:ea typeface="Helvetica Neue"/>
                          <a:cs typeface="Helvetica Neue"/>
                        </a:rPr>
                        <a:t>Contribución al pronóstico</a:t>
                      </a:r>
                    </a:p>
                  </a:txBody>
                  <a:tcPr marL="142875" marR="142875" marT="114300" marB="114300" anchor="ctr">
                    <a:solidFill>
                      <a:srgbClr val="F5F7F8"/>
                    </a:solidFill>
                  </a:tcPr>
                </a:tc>
                <a:tc>
                  <a:txBody>
                    <a:bodyPr/>
                    <a:lstStyle/>
                    <a:p>
                      <a:r>
                        <a:rPr sz="1800" b="0">
                          <a:solidFill>
                            <a:srgbClr val="242C33"/>
                          </a:solidFill>
                          <a:latin typeface="Helvetica Neue"/>
                          <a:ea typeface="Helvetica Neue"/>
                          <a:cs typeface="Helvetica Neue"/>
                        </a:rPr>
                        <a:t>[B, 48]</a:t>
                      </a:r>
                    </a:p>
                  </a:txBody>
                  <a:tcPr marL="142875" marR="142875" marT="114300" marB="114300" anchor="ctr">
                    <a:solidFill>
                      <a:srgbClr val="F5F7F8"/>
                    </a:solidFill>
                  </a:tcPr>
                </a:tc>
              </a:tr>
              <a:tr h="604838">
                <a:tc>
                  <a:txBody>
                    <a:bodyPr/>
                    <a:lstStyle/>
                    <a:p>
                      <a:r>
                        <a:rPr sz="1800" b="0">
                          <a:solidFill>
                            <a:srgbClr val="242C33"/>
                          </a:solidFill>
                          <a:latin typeface="Helvetica Neue"/>
                          <a:ea typeface="Helvetica Neue"/>
                          <a:cs typeface="Helvetica Neue"/>
                        </a:rPr>
                        <a:t>Ensamble</a:t>
                      </a:r>
                    </a:p>
                  </a:txBody>
                  <a:tcPr marL="142875" marR="142875" marT="114300" marB="114300" anchor="ctr">
                    <a:solidFill>
                      <a:srgbClr val="FFFFFF"/>
                    </a:solidFill>
                  </a:tcPr>
                </a:tc>
                <a:tc>
                  <a:txBody>
                    <a:bodyPr/>
                    <a:lstStyle/>
                    <a:p>
                      <a:r>
                        <a:rPr sz="1800" b="0">
                          <a:solidFill>
                            <a:srgbClr val="242C33"/>
                          </a:solidFill>
                          <a:latin typeface="Helvetica Neue"/>
                          <a:ea typeface="Helvetica Neue"/>
                          <a:cs typeface="Helvetica Neue"/>
                        </a:rPr>
                        <a:t>Suma y retorno a escala física</a:t>
                      </a:r>
                    </a:p>
                  </a:txBody>
                  <a:tcPr marL="142875" marR="142875" marT="114300" marB="114300" anchor="ctr">
                    <a:solidFill>
                      <a:srgbClr val="FFFFFF"/>
                    </a:solidFill>
                  </a:tcPr>
                </a:tc>
                <a:tc>
                  <a:txBody>
                    <a:bodyPr/>
                    <a:lstStyle/>
                    <a:p>
                      <a:r>
                        <a:rPr sz="1800" b="0">
                          <a:solidFill>
                            <a:srgbClr val="242C33"/>
                          </a:solidFill>
                          <a:latin typeface="Helvetica Neue"/>
                          <a:ea typeface="Helvetica Neue"/>
                          <a:cs typeface="Helvetica Neue"/>
                        </a:rPr>
                        <a:t>[B, 48], mm/h</a:t>
                      </a:r>
                    </a:p>
                  </a:txBody>
                  <a:tcPr marL="142875" marR="142875" marT="114300" marB="114300" anchor="ctr">
                    <a:solidFill>
                      <a:srgbClr val="FFFFFF"/>
                    </a:solidFill>
                  </a:tcPr>
                </a:tc>
              </a:tr>
            </a:tbl>
          </a:graphicData>
        </a:graphic>
      </p:graphicFrame>
      <p:sp>
        <p:nvSpPr>
          <p:cNvPr id="5" name="Cada cabeza corrige el último valor de su entrada. La pérdid">
            <a:extLst xmlns:a="http://schemas.openxmlformats.org/drawingml/2006/main">
              <a:ext uri="{FF2B5EF4-FFF2-40B4-BE49-F238E27FC236}">
                <a16:creationId xmlns:a16="http://schemas.microsoft.com/office/drawing/2014/main" id="{48E94B06-1B71-463C-8D6C-FCD6C70014A1}"/>
              </a:ext>
            </a:extLst>
          </p:cNvPr>
          <p:cNvSpPr>
            <a:spLocks xmlns:a="http://schemas.openxmlformats.org/drawingml/2006/main" noGrp="1"/>
          </p:cNvSpPr>
          <p:nvPr/>
        </p:nvSpPr>
        <p:spPr>
          <a:xfrm xmlns:a="http://schemas.openxmlformats.org/drawingml/2006/main">
            <a:off x="704850" y="5619750"/>
            <a:ext cx="105632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950" b="1">
                <a:solidFill>
                  <a:srgbClr val="007FA3"/>
                </a:solidFill>
                <a:latin typeface="Helvetica Neue"/>
                <a:ea typeface="Helvetica Neue"/>
                <a:cs typeface="Helvetica Neue"/>
              </a:defRPr>
            </a:pPr>
            <a:r>
              <a:rPr sz="1950" b="1">
                <a:solidFill>
                  <a:srgbClr val="007FA3"/>
                </a:solidFill>
                <a:latin typeface="Helvetica Neue"/>
                <a:ea typeface="Helvetica Neue"/>
                <a:cs typeface="Helvetica Neue"/>
              </a:rPr>
              <a:t>Cada cabeza corrige el último valor de su entrada. La pérdida supervisa el caudal total.</a:t>
            </a:r>
          </a:p>
        </p:txBody>
      </p:sp>
    </p:spTree>
    <p:extLst>
      <p:ext uri="{BB962C8B-B14F-4D97-AF65-F5344CB8AC3E}">
        <p14:creationId xmlns:p14="http://schemas.microsoft.com/office/powerpoint/2010/main" val="129438125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Protocolo de entrenamiento">
            <a:extLst xmlns:a="http://schemas.openxmlformats.org/drawingml/2006/main">
              <a:ext uri="{FF2B5EF4-FFF2-40B4-BE49-F238E27FC236}">
                <a16:creationId xmlns:a16="http://schemas.microsoft.com/office/drawing/2014/main" id="{55C226CD-F514-4114-9A7F-0E1F9BB9024E}"/>
              </a:ext>
            </a:extLst>
          </p:cNvPr>
          <p:cNvSpPr>
            <a:spLocks xmlns:a="http://schemas.openxmlformats.org/drawingml/2006/main" noGrp="1"/>
          </p:cNvSpPr>
          <p:nvPr/>
        </p:nvSpPr>
        <p:spPr>
          <a:xfrm xmlns:a="http://schemas.openxmlformats.org/drawingml/2006/main">
            <a:off x="609600" y="42862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3300" b="1">
                <a:solidFill>
                  <a:srgbClr val="242C33"/>
                </a:solidFill>
                <a:latin typeface="Helvetica Neue"/>
                <a:ea typeface="Helvetica Neue"/>
                <a:cs typeface="Helvetica Neue"/>
              </a:defRPr>
            </a:pPr>
            <a:r>
              <a:rPr sz="3300" b="1">
                <a:solidFill>
                  <a:srgbClr val="064B6B"/>
                </a:solidFill>
                <a:latin typeface="Helvetica Neue"/>
                <a:ea typeface="Helvetica Neue"/>
                <a:cs typeface="Helvetica Neue"/>
              </a:rPr>
              <a:t>Protocolo de entrenamiento</a:t>
            </a:r>
          </a:p>
        </p:txBody>
      </p:sp>
      <p:sp>
        <p:nvSpPr>
          <p:cNvPr id="2" name="configs/dmel.json, dmel/engine.py y slurm/train.sbatch">
            <a:extLst xmlns:a="http://schemas.openxmlformats.org/drawingml/2006/main">
              <a:ext uri="{FF2B5EF4-FFF2-40B4-BE49-F238E27FC236}">
                <a16:creationId xmlns:a16="http://schemas.microsoft.com/office/drawing/2014/main" id="{2F9E93F8-07CB-42D2-96DF-605B3EE95CB2}"/>
              </a:ext>
            </a:extLst>
          </p:cNvPr>
          <p:cNvSpPr>
            <a:spLocks xmlns:a="http://schemas.openxmlformats.org/drawingml/2006/main" noGrp="1"/>
          </p:cNvSpPr>
          <p:nvPr/>
        </p:nvSpPr>
        <p:spPr>
          <a:xfrm xmlns:a="http://schemas.openxmlformats.org/drawingml/2006/main">
            <a:off x="628650" y="6429375"/>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200" b="0">
                <a:solidFill>
                  <a:srgbClr val="5D6267"/>
                </a:solidFill>
                <a:latin typeface="Helvetica Neue"/>
                <a:ea typeface="Helvetica Neue"/>
                <a:cs typeface="Helvetica Neue"/>
              </a:defRPr>
            </a:pPr>
            <a:r>
              <a:rPr sz="1200" b="0">
                <a:solidFill>
                  <a:srgbClr val="5D6267"/>
                </a:solidFill>
                <a:latin typeface="Helvetica Neue"/>
                <a:ea typeface="Helvetica Neue"/>
                <a:cs typeface="Helvetica Neue"/>
              </a:rPr>
              <a:t>configs/dmel.json, dmel/engine.py y slurm/train.sbatch</a:t>
            </a:r>
          </a:p>
        </p:txBody>
      </p:sp>
      <p:sp>
        <p:nvSpPr>
          <p:cNvPr id="3" name="13">
            <a:extLst xmlns:a="http://schemas.openxmlformats.org/drawingml/2006/main">
              <a:ext uri="{FF2B5EF4-FFF2-40B4-BE49-F238E27FC236}">
                <a16:creationId xmlns:a16="http://schemas.microsoft.com/office/drawing/2014/main" id="{5D5F8FD9-796F-45DE-A140-C2DF35649370}"/>
              </a:ext>
            </a:extLst>
          </p:cNvPr>
          <p:cNvSpPr>
            <a:spLocks xmlns:a="http://schemas.openxmlformats.org/drawingml/2006/main" noGrp="1"/>
          </p:cNvSpPr>
          <p:nvPr/>
        </p:nvSpPr>
        <p:spPr>
          <a:xfrm xmlns:a="http://schemas.openxmlformats.org/drawingml/2006/main">
            <a:off x="10953750" y="639127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buNone/>
              <a:defRPr sz="1425" b="0">
                <a:solidFill>
                  <a:srgbClr val="5D6267"/>
                </a:solidFill>
                <a:latin typeface="Helvetica Neue"/>
                <a:ea typeface="Helvetica Neue"/>
                <a:cs typeface="Helvetica Neue"/>
              </a:defRPr>
            </a:pPr>
            <a:r>
              <a:rPr sz="1425" b="0">
                <a:solidFill>
                  <a:srgbClr val="5D6267"/>
                </a:solidFill>
                <a:latin typeface="Helvetica Neue"/>
                <a:ea typeface="Helvetica Neue"/>
                <a:cs typeface="Helvetica Neue"/>
              </a:rPr>
              <a:t>13</a:t>
            </a:r>
          </a:p>
        </p:txBody>
      </p:sp>
      <p:graphicFrame>
        <p:nvGraphicFramePr>
          <p:cNvPr id="12" name=""/>
          <p:cNvGraphicFramePr/>
          <p:nvPr/>
        </p:nvGraphicFramePr>
        <p:xfrm>
          <a:off xmlns:a="http://schemas.openxmlformats.org/drawingml/2006/main" x="609600" y="1657350"/>
          <a:ext xmlns:a="http://schemas.openxmlformats.org/drawingml/2006/main" cx="10972800" cy="3324225"/>
        </p:xfrm>
        <a:graphic xmlns:a="http://schemas.openxmlformats.org/drawingml/2006/main">
          <a:graphicData uri="http://schemas.openxmlformats.org/drawingml/2006/table">
            <a:tbl>
              <a:tblPr firstRow="1" bandRow="0"/>
              <a:tblGrid>
                <a:gridCol w="3238500"/>
                <a:gridCol w="7734300"/>
              </a:tblGrid>
              <a:tr h="554038">
                <a:tc>
                  <a:txBody>
                    <a:bodyPr/>
                    <a:lstStyle/>
                    <a:p>
                      <a:r>
                        <a:rPr sz="1875" b="1">
                          <a:solidFill>
                            <a:srgbClr val="064B6B"/>
                          </a:solidFill>
                          <a:latin typeface="Helvetica Neue"/>
                          <a:ea typeface="Helvetica Neue"/>
                          <a:cs typeface="Helvetica Neue"/>
                        </a:rPr>
                        <a:t>Configuración</a:t>
                      </a:r>
                    </a:p>
                  </a:txBody>
                  <a:tcPr marL="142875" marR="142875" marT="114300" marB="114300" anchor="ctr">
                    <a:solidFill>
                      <a:srgbClr val="EAF4F8"/>
                    </a:solidFill>
                  </a:tcPr>
                </a:tc>
                <a:tc>
                  <a:txBody>
                    <a:bodyPr/>
                    <a:lstStyle/>
                    <a:p>
                      <a:r>
                        <a:rPr sz="1875" b="1">
                          <a:solidFill>
                            <a:srgbClr val="064B6B"/>
                          </a:solidFill>
                          <a:latin typeface="Helvetica Neue"/>
                          <a:ea typeface="Helvetica Neue"/>
                          <a:cs typeface="Helvetica Neue"/>
                        </a:rPr>
                        <a:t>Valor</a:t>
                      </a:r>
                    </a:p>
                  </a:txBody>
                  <a:tcPr marL="142875" marR="142875" marT="114300" marB="114300" anchor="ctr">
                    <a:solidFill>
                      <a:srgbClr val="EAF4F8"/>
                    </a:solidFill>
                  </a:tcPr>
                </a:tc>
              </a:tr>
              <a:tr h="554038">
                <a:tc>
                  <a:txBody>
                    <a:bodyPr/>
                    <a:lstStyle/>
                    <a:p>
                      <a:r>
                        <a:rPr sz="1875" b="0">
                          <a:solidFill>
                            <a:srgbClr val="242C33"/>
                          </a:solidFill>
                          <a:latin typeface="Helvetica Neue"/>
                          <a:ea typeface="Helvetica Neue"/>
                          <a:cs typeface="Helvetica Neue"/>
                        </a:rPr>
                        <a:t>Optimizador y pérdida</a:t>
                      </a:r>
                    </a:p>
                  </a:txBody>
                  <a:tcPr marL="142875" marR="142875" marT="114300" marB="114300" anchor="ctr">
                    <a:solidFill>
                      <a:srgbClr val="FFFFFF"/>
                    </a:solidFill>
                  </a:tcPr>
                </a:tc>
                <a:tc>
                  <a:txBody>
                    <a:bodyPr/>
                    <a:lstStyle/>
                    <a:p>
                      <a:r>
                        <a:rPr sz="1875" b="0">
                          <a:solidFill>
                            <a:srgbClr val="242C33"/>
                          </a:solidFill>
                          <a:latin typeface="Helvetica Neue"/>
                          <a:ea typeface="Helvetica Neue"/>
                          <a:cs typeface="Helvetica Neue"/>
                        </a:rPr>
                        <a:t>Adam, MSE sobre el caudal normalizado</a:t>
                      </a:r>
                    </a:p>
                  </a:txBody>
                  <a:tcPr marL="142875" marR="142875" marT="114300" marB="114300" anchor="ctr">
                    <a:solidFill>
                      <a:srgbClr val="FFFFFF"/>
                    </a:solidFill>
                  </a:tcPr>
                </a:tc>
              </a:tr>
              <a:tr h="554038">
                <a:tc>
                  <a:txBody>
                    <a:bodyPr/>
                    <a:lstStyle/>
                    <a:p>
                      <a:r>
                        <a:rPr sz="1875" b="0">
                          <a:solidFill>
                            <a:srgbClr val="242C33"/>
                          </a:solidFill>
                          <a:latin typeface="Helvetica Neue"/>
                          <a:ea typeface="Helvetica Neue"/>
                          <a:cs typeface="Helvetica Neue"/>
                        </a:rPr>
                        <a:t>Tasa y tamaño de lote</a:t>
                      </a:r>
                    </a:p>
                  </a:txBody>
                  <a:tcPr marL="142875" marR="142875" marT="114300" marB="114300" anchor="ctr">
                    <a:solidFill>
                      <a:srgbClr val="F5F7F8"/>
                    </a:solidFill>
                  </a:tcPr>
                </a:tc>
                <a:tc>
                  <a:txBody>
                    <a:bodyPr/>
                    <a:lstStyle/>
                    <a:p>
                      <a:r>
                        <a:rPr sz="1875" b="0">
                          <a:solidFill>
                            <a:srgbClr val="242C33"/>
                          </a:solidFill>
                          <a:latin typeface="Helvetica Neue"/>
                          <a:ea typeface="Helvetica Neue"/>
                          <a:cs typeface="Helvetica Neue"/>
                        </a:rPr>
                        <a:t>0.0001 y 32 muestras</a:t>
                      </a:r>
                    </a:p>
                  </a:txBody>
                  <a:tcPr marL="142875" marR="142875" marT="114300" marB="114300" anchor="ctr">
                    <a:solidFill>
                      <a:srgbClr val="F5F7F8"/>
                    </a:solidFill>
                  </a:tcPr>
                </a:tc>
              </a:tr>
              <a:tr h="554038">
                <a:tc>
                  <a:txBody>
                    <a:bodyPr/>
                    <a:lstStyle/>
                    <a:p>
                      <a:r>
                        <a:rPr sz="1875" b="0">
                          <a:solidFill>
                            <a:srgbClr val="242C33"/>
                          </a:solidFill>
                          <a:latin typeface="Helvetica Neue"/>
                          <a:ea typeface="Helvetica Neue"/>
                          <a:cs typeface="Helvetica Neue"/>
                        </a:rPr>
                        <a:t>Presupuesto</a:t>
                      </a:r>
                    </a:p>
                  </a:txBody>
                  <a:tcPr marL="142875" marR="142875" marT="114300" marB="114300" anchor="ctr">
                    <a:solidFill>
                      <a:srgbClr val="FFFFFF"/>
                    </a:solidFill>
                  </a:tcPr>
                </a:tc>
                <a:tc>
                  <a:txBody>
                    <a:bodyPr/>
                    <a:lstStyle/>
                    <a:p>
                      <a:r>
                        <a:rPr sz="1875" b="0">
                          <a:solidFill>
                            <a:srgbClr val="242C33"/>
                          </a:solidFill>
                          <a:latin typeface="Helvetica Neue"/>
                          <a:ea typeface="Helvetica Neue"/>
                          <a:cs typeface="Helvetica Neue"/>
                        </a:rPr>
                        <a:t>Hasta 100 épocas, paciencia 10</a:t>
                      </a:r>
                    </a:p>
                  </a:txBody>
                  <a:tcPr marL="142875" marR="142875" marT="114300" marB="114300" anchor="ctr">
                    <a:solidFill>
                      <a:srgbClr val="FFFFFF"/>
                    </a:solidFill>
                  </a:tcPr>
                </a:tc>
              </a:tr>
              <a:tr h="554038">
                <a:tc>
                  <a:txBody>
                    <a:bodyPr/>
                    <a:lstStyle/>
                    <a:p>
                      <a:r>
                        <a:rPr sz="1875" b="0">
                          <a:solidFill>
                            <a:srgbClr val="242C33"/>
                          </a:solidFill>
                          <a:latin typeface="Helvetica Neue"/>
                          <a:ea typeface="Helvetica Neue"/>
                          <a:cs typeface="Helvetica Neue"/>
                        </a:rPr>
                        <a:t>Selección</a:t>
                      </a:r>
                    </a:p>
                  </a:txBody>
                  <a:tcPr marL="142875" marR="142875" marT="114300" marB="114300" anchor="ctr">
                    <a:solidFill>
                      <a:srgbClr val="F5F7F8"/>
                    </a:solidFill>
                  </a:tcPr>
                </a:tc>
                <a:tc>
                  <a:txBody>
                    <a:bodyPr/>
                    <a:lstStyle/>
                    <a:p>
                      <a:r>
                        <a:rPr sz="1875" b="0">
                          <a:solidFill>
                            <a:srgbClr val="242C33"/>
                          </a:solidFill>
                          <a:latin typeface="Helvetica Neue"/>
                          <a:ea typeface="Helvetica Neue"/>
                          <a:cs typeface="Helvetica Neue"/>
                        </a:rPr>
                        <a:t>Menor RMSE de validación en mm/h</a:t>
                      </a:r>
                    </a:p>
                  </a:txBody>
                  <a:tcPr marL="142875" marR="142875" marT="114300" marB="114300" anchor="ctr">
                    <a:solidFill>
                      <a:srgbClr val="F5F7F8"/>
                    </a:solidFill>
                  </a:tcPr>
                </a:tc>
              </a:tr>
              <a:tr h="554038">
                <a:tc>
                  <a:txBody>
                    <a:bodyPr/>
                    <a:lstStyle/>
                    <a:p>
                      <a:r>
                        <a:rPr sz="1875" b="0">
                          <a:solidFill>
                            <a:srgbClr val="242C33"/>
                          </a:solidFill>
                          <a:latin typeface="Helvetica Neue"/>
                          <a:ea typeface="Helvetica Neue"/>
                          <a:cs typeface="Helvetica Neue"/>
                        </a:rPr>
                        <a:t>Reanudación en Khipu</a:t>
                      </a:r>
                    </a:p>
                  </a:txBody>
                  <a:tcPr marL="142875" marR="142875" marT="114300" marB="114300" anchor="ctr">
                    <a:solidFill>
                      <a:srgbClr val="FFFFFF"/>
                    </a:solidFill>
                  </a:tcPr>
                </a:tc>
                <a:tc>
                  <a:txBody>
                    <a:bodyPr/>
                    <a:lstStyle/>
                    <a:p>
                      <a:r>
                        <a:rPr sz="1875" b="0">
                          <a:solidFill>
                            <a:srgbClr val="242C33"/>
                          </a:solidFill>
                          <a:latin typeface="Helvetica Neue"/>
                          <a:ea typeface="Helvetica Neue"/>
                          <a:cs typeface="Helvetica Neue"/>
                        </a:rPr>
                        <a:t>Checkpoint al cerrar cada época</a:t>
                      </a:r>
                    </a:p>
                  </a:txBody>
                  <a:tcPr marL="142875" marR="142875" marT="114300" marB="114300" anchor="ctr">
                    <a:solidFill>
                      <a:srgbClr val="FFFFFF"/>
                    </a:solidFill>
                  </a:tcPr>
                </a:tc>
              </a:tr>
            </a:tbl>
          </a:graphicData>
        </a:graphic>
      </p:graphicFrame>
      <p:sp>
        <p:nvSpPr>
          <p:cNvPr id="5" name="Normalización solo con train. Descomposición solo con la his">
            <a:extLst xmlns:a="http://schemas.openxmlformats.org/drawingml/2006/main">
              <a:ext uri="{FF2B5EF4-FFF2-40B4-BE49-F238E27FC236}">
                <a16:creationId xmlns:a16="http://schemas.microsoft.com/office/drawing/2014/main" id="{7198DEB3-69C0-41D6-9287-88873124669D}"/>
              </a:ext>
            </a:extLst>
          </p:cNvPr>
          <p:cNvSpPr>
            <a:spLocks xmlns:a="http://schemas.openxmlformats.org/drawingml/2006/main" noGrp="1"/>
          </p:cNvSpPr>
          <p:nvPr/>
        </p:nvSpPr>
        <p:spPr>
          <a:xfrm xmlns:a="http://schemas.openxmlformats.org/drawingml/2006/main">
            <a:off x="695325" y="525780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950" b="1">
                <a:solidFill>
                  <a:srgbClr val="007FA3"/>
                </a:solidFill>
                <a:latin typeface="Helvetica Neue"/>
                <a:ea typeface="Helvetica Neue"/>
                <a:cs typeface="Helvetica Neue"/>
              </a:defRPr>
            </a:pPr>
            <a:r>
              <a:rPr sz="1950" b="1">
                <a:solidFill>
                  <a:srgbClr val="007FA3"/>
                </a:solidFill>
                <a:latin typeface="Helvetica Neue"/>
                <a:ea typeface="Helvetica Neue"/>
                <a:cs typeface="Helvetica Neue"/>
              </a:rPr>
              <a:t>Normalización solo con train. Descomposición solo con la historia de cada muestra.</a:t>
            </a:r>
          </a:p>
        </p:txBody>
      </p:sp>
      <p:sp>
        <p:nvSpPr>
          <p:cNvPr id="6" name="y_aux y test_targets.csv quedan fuera de las entradas y de l">
            <a:extLst xmlns:a="http://schemas.openxmlformats.org/drawingml/2006/main">
              <a:ext uri="{FF2B5EF4-FFF2-40B4-BE49-F238E27FC236}">
                <a16:creationId xmlns:a16="http://schemas.microsoft.com/office/drawing/2014/main" id="{E22886C3-3115-4BE7-AB26-55D1FB34004C}"/>
              </a:ext>
            </a:extLst>
          </p:cNvPr>
          <p:cNvSpPr>
            <a:spLocks xmlns:a="http://schemas.openxmlformats.org/drawingml/2006/main" noGrp="1"/>
          </p:cNvSpPr>
          <p:nvPr/>
        </p:nvSpPr>
        <p:spPr>
          <a:xfrm xmlns:a="http://schemas.openxmlformats.org/drawingml/2006/main">
            <a:off x="695325" y="5905500"/>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725" b="0">
                <a:solidFill>
                  <a:srgbClr val="5D6267"/>
                </a:solidFill>
                <a:latin typeface="Helvetica Neue"/>
                <a:ea typeface="Helvetica Neue"/>
                <a:cs typeface="Helvetica Neue"/>
              </a:defRPr>
            </a:pPr>
            <a:r>
              <a:rPr sz="1725" b="0">
                <a:solidFill>
                  <a:srgbClr val="5D6267"/>
                </a:solidFill>
                <a:latin typeface="Helvetica Neue"/>
                <a:ea typeface="Helvetica Neue"/>
                <a:cs typeface="Helvetica Neue"/>
              </a:rPr>
              <a:t>y_aux y test_targets.csv quedan fuera de las entradas y de la selección del modelo.</a:t>
            </a:r>
          </a:p>
        </p:txBody>
      </p:sp>
    </p:spTree>
    <p:extLst>
      <p:ext uri="{BB962C8B-B14F-4D97-AF65-F5344CB8AC3E}">
        <p14:creationId xmlns:p14="http://schemas.microsoft.com/office/powerpoint/2010/main" val="38629735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Comparación y ablación previstas">
            <a:extLst xmlns:a="http://schemas.openxmlformats.org/drawingml/2006/main">
              <a:ext uri="{FF2B5EF4-FFF2-40B4-BE49-F238E27FC236}">
                <a16:creationId xmlns:a16="http://schemas.microsoft.com/office/drawing/2014/main" id="{288F3653-17A3-47D5-9859-26D28508E824}"/>
              </a:ext>
            </a:extLst>
          </p:cNvPr>
          <p:cNvSpPr>
            <a:spLocks xmlns:a="http://schemas.openxmlformats.org/drawingml/2006/main" noGrp="1"/>
          </p:cNvSpPr>
          <p:nvPr/>
        </p:nvSpPr>
        <p:spPr>
          <a:xfrm xmlns:a="http://schemas.openxmlformats.org/drawingml/2006/main">
            <a:off x="609600" y="42862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3300" b="1">
                <a:solidFill>
                  <a:srgbClr val="242C33"/>
                </a:solidFill>
                <a:latin typeface="Helvetica Neue"/>
                <a:ea typeface="Helvetica Neue"/>
                <a:cs typeface="Helvetica Neue"/>
              </a:defRPr>
            </a:pPr>
            <a:r>
              <a:rPr sz="3300" b="1">
                <a:solidFill>
                  <a:srgbClr val="064B6B"/>
                </a:solidFill>
                <a:latin typeface="Helvetica Neue"/>
                <a:ea typeface="Helvetica Neue"/>
                <a:cs typeface="Helvetica Neue"/>
              </a:rPr>
              <a:t>Comparación de modelos y ablación</a:t>
            </a:r>
          </a:p>
        </p:txBody>
      </p:sp>
      <p:sp>
        <p:nvSpPr>
          <p:cNvPr id="2" name="Configuraciones del proyecto. Parámetros registrados en docs">
            <a:extLst xmlns:a="http://schemas.openxmlformats.org/drawingml/2006/main">
              <a:ext uri="{FF2B5EF4-FFF2-40B4-BE49-F238E27FC236}">
                <a16:creationId xmlns:a16="http://schemas.microsoft.com/office/drawing/2014/main" id="{4A52C8B0-C23A-4E9F-BDD8-228FA2380BEF}"/>
              </a:ext>
            </a:extLst>
          </p:cNvPr>
          <p:cNvSpPr>
            <a:spLocks xmlns:a="http://schemas.openxmlformats.org/drawingml/2006/main" noGrp="1"/>
          </p:cNvSpPr>
          <p:nvPr/>
        </p:nvSpPr>
        <p:spPr>
          <a:xfrm xmlns:a="http://schemas.openxmlformats.org/drawingml/2006/main">
            <a:off x="628650" y="6429375"/>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200" b="0">
                <a:solidFill>
                  <a:srgbClr val="5D6267"/>
                </a:solidFill>
                <a:latin typeface="Helvetica Neue"/>
                <a:ea typeface="Helvetica Neue"/>
                <a:cs typeface="Helvetica Neue"/>
              </a:defRPr>
            </a:pPr>
            <a:r>
              <a:rPr sz="1200" b="0">
                <a:solidFill>
                  <a:srgbClr val="5D6267"/>
                </a:solidFill>
                <a:latin typeface="Helvetica Neue"/>
                <a:ea typeface="Helvetica Neue"/>
                <a:cs typeface="Helvetica Neue"/>
              </a:rPr>
              <a:t>Configuraciones del proyecto. Parámetros registrados en docs/implementation.md</a:t>
            </a:r>
          </a:p>
        </p:txBody>
      </p:sp>
      <p:sp>
        <p:nvSpPr>
          <p:cNvPr id="3" name="14">
            <a:extLst xmlns:a="http://schemas.openxmlformats.org/drawingml/2006/main">
              <a:ext uri="{FF2B5EF4-FFF2-40B4-BE49-F238E27FC236}">
                <a16:creationId xmlns:a16="http://schemas.microsoft.com/office/drawing/2014/main" id="{B2428570-7F6E-4C01-B1C7-F50F110EE948}"/>
              </a:ext>
            </a:extLst>
          </p:cNvPr>
          <p:cNvSpPr>
            <a:spLocks xmlns:a="http://schemas.openxmlformats.org/drawingml/2006/main" noGrp="1"/>
          </p:cNvSpPr>
          <p:nvPr/>
        </p:nvSpPr>
        <p:spPr>
          <a:xfrm xmlns:a="http://schemas.openxmlformats.org/drawingml/2006/main">
            <a:off x="10953750" y="639127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buNone/>
              <a:defRPr sz="1425" b="0">
                <a:solidFill>
                  <a:srgbClr val="5D6267"/>
                </a:solidFill>
                <a:latin typeface="Helvetica Neue"/>
                <a:ea typeface="Helvetica Neue"/>
                <a:cs typeface="Helvetica Neue"/>
              </a:defRPr>
            </a:pPr>
            <a:r>
              <a:rPr sz="1425" b="0">
                <a:solidFill>
                  <a:srgbClr val="5D6267"/>
                </a:solidFill>
                <a:latin typeface="Helvetica Neue"/>
                <a:ea typeface="Helvetica Neue"/>
                <a:cs typeface="Helvetica Neue"/>
              </a:rPr>
              <a:t>14</a:t>
            </a:r>
          </a:p>
        </p:txBody>
      </p:sp>
      <p:graphicFrame>
        <p:nvGraphicFramePr>
          <p:cNvPr id="12" name=""/>
          <p:cNvGraphicFramePr/>
          <p:nvPr/>
        </p:nvGraphicFramePr>
        <p:xfrm>
          <a:off xmlns:a="http://schemas.openxmlformats.org/drawingml/2006/main" x="609600" y="1657350"/>
          <a:ext xmlns:a="http://schemas.openxmlformats.org/drawingml/2006/main" cx="10972800" cy="3486150"/>
        </p:xfrm>
        <a:graphic xmlns:a="http://schemas.openxmlformats.org/drawingml/2006/main">
          <a:graphicData uri="http://schemas.openxmlformats.org/drawingml/2006/table">
            <a:tbl>
              <a:tblPr firstRow="1" bandRow="0"/>
              <a:tblGrid>
                <a:gridCol w="2952750"/>
                <a:gridCol w="5905500"/>
                <a:gridCol w="2114550"/>
              </a:tblGrid>
              <a:tr h="697230">
                <a:tc>
                  <a:txBody>
                    <a:bodyPr/>
                    <a:lstStyle/>
                    <a:p>
                      <a:r>
                        <a:rPr sz="1800" b="1">
                          <a:solidFill>
                            <a:srgbClr val="064B6B"/>
                          </a:solidFill>
                          <a:latin typeface="Helvetica Neue"/>
                          <a:ea typeface="Helvetica Neue"/>
                          <a:cs typeface="Helvetica Neue"/>
                        </a:rPr>
                        <a:t>Método</a:t>
                      </a:r>
                    </a:p>
                  </a:txBody>
                  <a:tcPr marL="142875" marR="142875" marT="114300" marB="114300" anchor="ctr">
                    <a:solidFill>
                      <a:srgbClr val="EAF4F8"/>
                    </a:solidFill>
                  </a:tcPr>
                </a:tc>
                <a:tc>
                  <a:txBody>
                    <a:bodyPr/>
                    <a:lstStyle/>
                    <a:p>
                      <a:r>
                        <a:rPr sz="1800" b="1">
                          <a:solidFill>
                            <a:srgbClr val="064B6B"/>
                          </a:solidFill>
                          <a:latin typeface="Helvetica Neue"/>
                          <a:ea typeface="Helvetica Neue"/>
                          <a:cs typeface="Helvetica Neue"/>
                        </a:rPr>
                        <a:t>Pregunta que responde</a:t>
                      </a:r>
                    </a:p>
                  </a:txBody>
                  <a:tcPr marL="142875" marR="142875" marT="114300" marB="114300" anchor="ctr">
                    <a:solidFill>
                      <a:srgbClr val="EAF4F8"/>
                    </a:solidFill>
                  </a:tcPr>
                </a:tc>
                <a:tc>
                  <a:txBody>
                    <a:bodyPr/>
                    <a:lstStyle/>
                    <a:p>
                      <a:r>
                        <a:rPr sz="1800" b="1">
                          <a:solidFill>
                            <a:srgbClr val="064B6B"/>
                          </a:solidFill>
                          <a:latin typeface="Helvetica Neue"/>
                          <a:ea typeface="Helvetica Neue"/>
                          <a:cs typeface="Helvetica Neue"/>
                        </a:rPr>
                        <a:t>Parámetros</a:t>
                      </a:r>
                    </a:p>
                  </a:txBody>
                  <a:tcPr marL="142875" marR="142875" marT="114300" marB="114300" anchor="ctr">
                    <a:solidFill>
                      <a:srgbClr val="EAF4F8"/>
                    </a:solidFill>
                  </a:tcPr>
                </a:tc>
              </a:tr>
              <a:tr h="697230">
                <a:tc>
                  <a:txBody>
                    <a:bodyPr/>
                    <a:lstStyle/>
                    <a:p>
                      <a:r>
                        <a:rPr sz="1800" b="0">
                          <a:solidFill>
                            <a:srgbClr val="242C33"/>
                          </a:solidFill>
                          <a:latin typeface="Helvetica Neue"/>
                          <a:ea typeface="Helvetica Neue"/>
                          <a:cs typeface="Helvetica Neue"/>
                        </a:rPr>
                        <a:t>Persistencia</a:t>
                      </a:r>
                    </a:p>
                  </a:txBody>
                  <a:tcPr marL="142875" marR="142875" marT="114300" marB="114300" anchor="ctr">
                    <a:solidFill>
                      <a:srgbClr val="FFFFFF"/>
                    </a:solidFill>
                  </a:tcPr>
                </a:tc>
                <a:tc>
                  <a:txBody>
                    <a:bodyPr/>
                    <a:lstStyle/>
                    <a:p>
                      <a:r>
                        <a:rPr sz="1800" b="0">
                          <a:solidFill>
                            <a:srgbClr val="242C33"/>
                          </a:solidFill>
                          <a:latin typeface="Helvetica Neue"/>
                          <a:ea typeface="Helvetica Neue"/>
                          <a:cs typeface="Helvetica Neue"/>
                        </a:rPr>
                        <a:t>¿Superamos repetir el último caudal?</a:t>
                      </a:r>
                    </a:p>
                  </a:txBody>
                  <a:tcPr marL="142875" marR="142875" marT="114300" marB="114300" anchor="ctr">
                    <a:solidFill>
                      <a:srgbClr val="FFFFFF"/>
                    </a:solidFill>
                  </a:tcPr>
                </a:tc>
                <a:tc>
                  <a:txBody>
                    <a:bodyPr/>
                    <a:lstStyle/>
                    <a:p>
                      <a:r>
                        <a:rPr sz="1800" b="0">
                          <a:solidFill>
                            <a:srgbClr val="242C33"/>
                          </a:solidFill>
                          <a:latin typeface="Helvetica Neue"/>
                          <a:ea typeface="Helvetica Neue"/>
                          <a:cs typeface="Helvetica Neue"/>
                        </a:rPr>
                        <a:t>0</a:t>
                      </a:r>
                    </a:p>
                  </a:txBody>
                  <a:tcPr marL="142875" marR="142875" marT="114300" marB="114300" anchor="ctr">
                    <a:solidFill>
                      <a:srgbClr val="FFFFFF"/>
                    </a:solidFill>
                  </a:tcPr>
                </a:tc>
              </a:tr>
              <a:tr h="697230">
                <a:tc>
                  <a:txBody>
                    <a:bodyPr/>
                    <a:lstStyle/>
                    <a:p>
                      <a:r>
                        <a:rPr sz="1800" b="0">
                          <a:solidFill>
                            <a:srgbClr val="242C33"/>
                          </a:solidFill>
                          <a:latin typeface="Helvetica Neue"/>
                          <a:ea typeface="Helvetica Neue"/>
                          <a:cs typeface="Helvetica Neue"/>
                        </a:rPr>
                        <a:t>LSTM multivariada</a:t>
                      </a:r>
                    </a:p>
                  </a:txBody>
                  <a:tcPr marL="142875" marR="142875" marT="114300" marB="114300" anchor="ctr">
                    <a:solidFill>
                      <a:srgbClr val="F5F7F8"/>
                    </a:solidFill>
                  </a:tcPr>
                </a:tc>
                <a:tc>
                  <a:txBody>
                    <a:bodyPr/>
                    <a:lstStyle/>
                    <a:p>
                      <a:r>
                        <a:rPr sz="1800" b="0">
                          <a:solidFill>
                            <a:srgbClr val="242C33"/>
                          </a:solidFill>
                          <a:latin typeface="Helvetica Neue"/>
                          <a:ea typeface="Helvetica Neue"/>
                          <a:cs typeface="Helvetica Neue"/>
                        </a:rPr>
                        <a:t>¿Mejora la propuesta frente al modelo base?</a:t>
                      </a:r>
                    </a:p>
                  </a:txBody>
                  <a:tcPr marL="142875" marR="142875" marT="114300" marB="114300" anchor="ctr">
                    <a:solidFill>
                      <a:srgbClr val="F5F7F8"/>
                    </a:solidFill>
                  </a:tcPr>
                </a:tc>
                <a:tc>
                  <a:txBody>
                    <a:bodyPr/>
                    <a:lstStyle/>
                    <a:p>
                      <a:r>
                        <a:rPr sz="1800" b="0">
                          <a:solidFill>
                            <a:srgbClr val="242C33"/>
                          </a:solidFill>
                          <a:latin typeface="Helvetica Neue"/>
                          <a:ea typeface="Helvetica Neue"/>
                          <a:cs typeface="Helvetica Neue"/>
                        </a:rPr>
                        <a:t>815 152</a:t>
                      </a:r>
                    </a:p>
                  </a:txBody>
                  <a:tcPr marL="142875" marR="142875" marT="114300" marB="114300" anchor="ctr">
                    <a:solidFill>
                      <a:srgbClr val="F5F7F8"/>
                    </a:solidFill>
                  </a:tcPr>
                </a:tc>
              </a:tr>
              <a:tr h="697230">
                <a:tc>
                  <a:txBody>
                    <a:bodyPr/>
                    <a:lstStyle/>
                    <a:p>
                      <a:r>
                        <a:rPr sz="1800" b="0">
                          <a:solidFill>
                            <a:srgbClr val="242C33"/>
                          </a:solidFill>
                          <a:latin typeface="Helvetica Neue"/>
                          <a:ea typeface="Helvetica Neue"/>
                          <a:cs typeface="Helvetica Neue"/>
                        </a:rPr>
                        <a:t>DMEL adaptado</a:t>
                      </a:r>
                    </a:p>
                  </a:txBody>
                  <a:tcPr marL="142875" marR="142875" marT="114300" marB="114300" anchor="ctr">
                    <a:solidFill>
                      <a:srgbClr val="FFFFFF"/>
                    </a:solidFill>
                  </a:tcPr>
                </a:tc>
                <a:tc>
                  <a:txBody>
                    <a:bodyPr/>
                    <a:lstStyle/>
                    <a:p>
                      <a:r>
                        <a:rPr sz="1800" b="0">
                          <a:solidFill>
                            <a:srgbClr val="242C33"/>
                          </a:solidFill>
                          <a:latin typeface="Helvetica Neue"/>
                          <a:ea typeface="Helvetica Neue"/>
                          <a:cs typeface="Helvetica Neue"/>
                        </a:rPr>
                        <a:t>¿Funciona la representación con dos ramas?</a:t>
                      </a:r>
                    </a:p>
                  </a:txBody>
                  <a:tcPr marL="142875" marR="142875" marT="114300" marB="114300" anchor="ctr">
                    <a:solidFill>
                      <a:srgbClr val="FFFFFF"/>
                    </a:solidFill>
                  </a:tcPr>
                </a:tc>
                <a:tc>
                  <a:txBody>
                    <a:bodyPr/>
                    <a:lstStyle/>
                    <a:p>
                      <a:r>
                        <a:rPr sz="1800" b="0">
                          <a:solidFill>
                            <a:srgbClr val="242C33"/>
                          </a:solidFill>
                          <a:latin typeface="Helvetica Neue"/>
                          <a:ea typeface="Helvetica Neue"/>
                          <a:cs typeface="Helvetica Neue"/>
                        </a:rPr>
                        <a:t>3 648 561</a:t>
                      </a:r>
                    </a:p>
                  </a:txBody>
                  <a:tcPr marL="142875" marR="142875" marT="114300" marB="114300" anchor="ctr">
                    <a:solidFill>
                      <a:srgbClr val="FFFFFF"/>
                    </a:solidFill>
                  </a:tcPr>
                </a:tc>
              </a:tr>
              <a:tr h="697230">
                <a:tc>
                  <a:txBody>
                    <a:bodyPr/>
                    <a:lstStyle/>
                    <a:p>
                      <a:r>
                        <a:rPr sz="1800" b="0">
                          <a:solidFill>
                            <a:srgbClr val="242C33"/>
                          </a:solidFill>
                          <a:latin typeface="Helvetica Neue"/>
                          <a:ea typeface="Helvetica Neue"/>
                          <a:cs typeface="Helvetica Neue"/>
                        </a:rPr>
                        <a:t>Dos ramas Informer</a:t>
                      </a:r>
                    </a:p>
                  </a:txBody>
                  <a:tcPr marL="142875" marR="142875" marT="114300" marB="114300" anchor="ctr">
                    <a:solidFill>
                      <a:srgbClr val="F5F7F8"/>
                    </a:solidFill>
                  </a:tcPr>
                </a:tc>
                <a:tc>
                  <a:txBody>
                    <a:bodyPr/>
                    <a:lstStyle/>
                    <a:p>
                      <a:r>
                        <a:rPr sz="1800" b="0">
                          <a:solidFill>
                            <a:srgbClr val="242C33"/>
                          </a:solidFill>
                          <a:latin typeface="Helvetica Neue"/>
                          <a:ea typeface="Helvetica Neue"/>
                          <a:cs typeface="Helvetica Neue"/>
                        </a:rPr>
                        <a:t>¿Aporta la especialización con LSTM?</a:t>
                      </a:r>
                    </a:p>
                  </a:txBody>
                  <a:tcPr marL="142875" marR="142875" marT="114300" marB="114300" anchor="ctr">
                    <a:solidFill>
                      <a:srgbClr val="F5F7F8"/>
                    </a:solidFill>
                  </a:tcPr>
                </a:tc>
                <a:tc>
                  <a:txBody>
                    <a:bodyPr/>
                    <a:lstStyle/>
                    <a:p>
                      <a:r>
                        <a:rPr sz="1800" b="0">
                          <a:solidFill>
                            <a:srgbClr val="242C33"/>
                          </a:solidFill>
                          <a:latin typeface="Helvetica Neue"/>
                          <a:ea typeface="Helvetica Neue"/>
                          <a:cs typeface="Helvetica Neue"/>
                        </a:rPr>
                        <a:t>5 666 818</a:t>
                      </a:r>
                    </a:p>
                  </a:txBody>
                  <a:tcPr marL="142875" marR="142875" marT="114300" marB="114300" anchor="ctr">
                    <a:solidFill>
                      <a:srgbClr val="F5F7F8"/>
                    </a:solidFill>
                  </a:tcPr>
                </a:tc>
              </a:tr>
            </a:tbl>
          </a:graphicData>
        </a:graphic>
      </p:graphicFrame>
      <p:sp>
        <p:nvSpPr>
          <p:cNvPr id="5" name="Mismo split, semilla 42, normalización y presupuesto de entr">
            <a:extLst xmlns:a="http://schemas.openxmlformats.org/drawingml/2006/main">
              <a:ext uri="{FF2B5EF4-FFF2-40B4-BE49-F238E27FC236}">
                <a16:creationId xmlns:a16="http://schemas.microsoft.com/office/drawing/2014/main" id="{5E481492-DE03-4386-9E40-8BFA6A7310BE}"/>
              </a:ext>
            </a:extLst>
          </p:cNvPr>
          <p:cNvSpPr>
            <a:spLocks xmlns:a="http://schemas.openxmlformats.org/drawingml/2006/main" noGrp="1"/>
          </p:cNvSpPr>
          <p:nvPr/>
        </p:nvSpPr>
        <p:spPr>
          <a:xfrm xmlns:a="http://schemas.openxmlformats.org/drawingml/2006/main">
            <a:off x="685800" y="547687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950" b="1">
                <a:solidFill>
                  <a:srgbClr val="007FA3"/>
                </a:solidFill>
                <a:latin typeface="Helvetica Neue"/>
                <a:ea typeface="Helvetica Neue"/>
                <a:cs typeface="Helvetica Neue"/>
              </a:defRPr>
            </a:pPr>
            <a:r>
              <a:rPr sz="1950" b="1">
                <a:solidFill>
                  <a:srgbClr val="007FA3"/>
                </a:solidFill>
                <a:latin typeface="Helvetica Neue"/>
                <a:ea typeface="Helvetica Neue"/>
                <a:cs typeface="Helvetica Neue"/>
              </a:rPr>
              <a:t>Mismo split, semilla 42, normalización y presupuesto de entrenamiento.</a:t>
            </a:r>
          </a:p>
        </p:txBody>
      </p:sp>
      <p:sp>
        <p:nvSpPr>
          <p:cNvPr id="6" name="La ablación también cambia la capacidad del modelo. Una semi">
            <a:extLst xmlns:a="http://schemas.openxmlformats.org/drawingml/2006/main">
              <a:ext uri="{FF2B5EF4-FFF2-40B4-BE49-F238E27FC236}">
                <a16:creationId xmlns:a16="http://schemas.microsoft.com/office/drawing/2014/main" id="{738C7364-00F1-4A78-8C47-7E1DB072C7D5}"/>
              </a:ext>
            </a:extLst>
          </p:cNvPr>
          <p:cNvSpPr>
            <a:spLocks xmlns:a="http://schemas.openxmlformats.org/drawingml/2006/main" noGrp="1"/>
          </p:cNvSpPr>
          <p:nvPr/>
        </p:nvSpPr>
        <p:spPr>
          <a:xfrm xmlns:a="http://schemas.openxmlformats.org/drawingml/2006/main">
            <a:off x="685800" y="594360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650" b="0">
                <a:solidFill>
                  <a:srgbClr val="5D6267"/>
                </a:solidFill>
                <a:latin typeface="Helvetica Neue"/>
                <a:ea typeface="Helvetica Neue"/>
                <a:cs typeface="Helvetica Neue"/>
              </a:defRPr>
            </a:pPr>
            <a:r>
              <a:rPr sz="1650" b="0">
                <a:solidFill>
                  <a:srgbClr val="5D6267"/>
                </a:solidFill>
                <a:latin typeface="Helvetica Neue"/>
                <a:ea typeface="Helvetica Neue"/>
                <a:cs typeface="Helvetica Neue"/>
              </a:rPr>
              <a:t>La ablación también cambia la capacidad del modelo. Una semilla limita la evidencia estadística.</a:t>
            </a:r>
          </a:p>
        </p:txBody>
      </p:sp>
    </p:spTree>
    <p:extLst>
      <p:ext uri="{BB962C8B-B14F-4D97-AF65-F5344CB8AC3E}">
        <p14:creationId xmlns:p14="http://schemas.microsoft.com/office/powerpoint/2010/main" val="69702525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Evaluación por horizonte y por cuenca">
            <a:extLst xmlns:a="http://schemas.openxmlformats.org/drawingml/2006/main">
              <a:ext uri="{FF2B5EF4-FFF2-40B4-BE49-F238E27FC236}">
                <a16:creationId xmlns:a16="http://schemas.microsoft.com/office/drawing/2014/main" id="{E12A4B43-12C9-4AAC-83DF-22E680C063DA}"/>
              </a:ext>
            </a:extLst>
          </p:cNvPr>
          <p:cNvSpPr>
            <a:spLocks xmlns:a="http://schemas.openxmlformats.org/drawingml/2006/main" noGrp="1"/>
          </p:cNvSpPr>
          <p:nvPr/>
        </p:nvSpPr>
        <p:spPr>
          <a:xfrm xmlns:a="http://schemas.openxmlformats.org/drawingml/2006/main">
            <a:off x="609600" y="42862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3300" b="1">
                <a:solidFill>
                  <a:srgbClr val="242C33"/>
                </a:solidFill>
                <a:latin typeface="Helvetica Neue"/>
                <a:ea typeface="Helvetica Neue"/>
                <a:cs typeface="Helvetica Neue"/>
              </a:defRPr>
            </a:pPr>
            <a:r>
              <a:rPr sz="3300" b="1">
                <a:solidFill>
                  <a:srgbClr val="064B6B"/>
                </a:solidFill>
                <a:latin typeface="Helvetica Neue"/>
                <a:ea typeface="Helvetica Neue"/>
                <a:cs typeface="Helvetica Neue"/>
              </a:rPr>
              <a:t>Evaluación por horizonte y por cuenca</a:t>
            </a:r>
          </a:p>
        </p:txBody>
      </p:sp>
      <p:sp>
        <p:nvSpPr>
          <p:cNvPr id="2" name="dmel/metrics.py; Knoben et al. (2019)">
            <a:extLst xmlns:a="http://schemas.openxmlformats.org/drawingml/2006/main">
              <a:ext uri="{FF2B5EF4-FFF2-40B4-BE49-F238E27FC236}">
                <a16:creationId xmlns:a16="http://schemas.microsoft.com/office/drawing/2014/main" id="{00C02DA7-61BC-4D12-A44A-AAA6A8F208EB}"/>
              </a:ext>
            </a:extLst>
          </p:cNvPr>
          <p:cNvSpPr>
            <a:spLocks xmlns:a="http://schemas.openxmlformats.org/drawingml/2006/main" noGrp="1"/>
          </p:cNvSpPr>
          <p:nvPr/>
        </p:nvSpPr>
        <p:spPr>
          <a:xfrm xmlns:a="http://schemas.openxmlformats.org/drawingml/2006/main">
            <a:off x="628650" y="6429375"/>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200" b="0">
                <a:solidFill>
                  <a:srgbClr val="5D6267"/>
                </a:solidFill>
                <a:latin typeface="Helvetica Neue"/>
                <a:ea typeface="Helvetica Neue"/>
                <a:cs typeface="Helvetica Neue"/>
              </a:defRPr>
            </a:pPr>
            <a:r>
              <a:rPr sz="1200" b="0">
                <a:solidFill>
                  <a:srgbClr val="5D6267"/>
                </a:solidFill>
                <a:latin typeface="Helvetica Neue"/>
                <a:ea typeface="Helvetica Neue"/>
                <a:cs typeface="Helvetica Neue"/>
              </a:rPr>
              <a:t>dmel/metrics.py; Knoben et al. (2019)</a:t>
            </a:r>
          </a:p>
        </p:txBody>
      </p:sp>
      <p:sp>
        <p:nvSpPr>
          <p:cNvPr id="3" name="15">
            <a:extLst xmlns:a="http://schemas.openxmlformats.org/drawingml/2006/main">
              <a:ext uri="{FF2B5EF4-FFF2-40B4-BE49-F238E27FC236}">
                <a16:creationId xmlns:a16="http://schemas.microsoft.com/office/drawing/2014/main" id="{66385AC5-C1B4-4069-9EC6-949B865C48F6}"/>
              </a:ext>
            </a:extLst>
          </p:cNvPr>
          <p:cNvSpPr>
            <a:spLocks xmlns:a="http://schemas.openxmlformats.org/drawingml/2006/main" noGrp="1"/>
          </p:cNvSpPr>
          <p:nvPr/>
        </p:nvSpPr>
        <p:spPr>
          <a:xfrm xmlns:a="http://schemas.openxmlformats.org/drawingml/2006/main">
            <a:off x="10953750" y="639127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buNone/>
              <a:defRPr sz="1425" b="0">
                <a:solidFill>
                  <a:srgbClr val="5D6267"/>
                </a:solidFill>
                <a:latin typeface="Helvetica Neue"/>
                <a:ea typeface="Helvetica Neue"/>
                <a:cs typeface="Helvetica Neue"/>
              </a:defRPr>
            </a:pPr>
            <a:r>
              <a:rPr sz="1425" b="0">
                <a:solidFill>
                  <a:srgbClr val="5D6267"/>
                </a:solidFill>
                <a:latin typeface="Helvetica Neue"/>
                <a:ea typeface="Helvetica Neue"/>
                <a:cs typeface="Helvetica Neue"/>
              </a:rPr>
              <a:t>15</a:t>
            </a:r>
          </a:p>
        </p:txBody>
      </p:sp>
      <p:graphicFrame>
        <p:nvGraphicFramePr>
          <p:cNvPr id="12" name=""/>
          <p:cNvGraphicFramePr/>
          <p:nvPr/>
        </p:nvGraphicFramePr>
        <p:xfrm>
          <a:off xmlns:a="http://schemas.openxmlformats.org/drawingml/2006/main" x="609600" y="1657350"/>
          <a:ext xmlns:a="http://schemas.openxmlformats.org/drawingml/2006/main" cx="10972800" cy="3114675"/>
        </p:xfrm>
        <a:graphic xmlns:a="http://schemas.openxmlformats.org/drawingml/2006/main">
          <a:graphicData uri="http://schemas.openxmlformats.org/drawingml/2006/table">
            <a:tbl>
              <a:tblPr firstRow="1" bandRow="0"/>
              <a:tblGrid>
                <a:gridCol w="3571875"/>
                <a:gridCol w="7400925"/>
              </a:tblGrid>
              <a:tr h="622935">
                <a:tc>
                  <a:txBody>
                    <a:bodyPr/>
                    <a:lstStyle/>
                    <a:p>
                      <a:r>
                        <a:rPr sz="1875" b="1">
                          <a:solidFill>
                            <a:srgbClr val="064B6B"/>
                          </a:solidFill>
                          <a:latin typeface="Helvetica Neue"/>
                          <a:ea typeface="Helvetica Neue"/>
                          <a:cs typeface="Helvetica Neue"/>
                        </a:rPr>
                        <a:t>Medida</a:t>
                      </a:r>
                    </a:p>
                  </a:txBody>
                  <a:tcPr marL="142875" marR="142875" marT="114300" marB="114300" anchor="ctr">
                    <a:solidFill>
                      <a:srgbClr val="EAF4F8"/>
                    </a:solidFill>
                  </a:tcPr>
                </a:tc>
                <a:tc>
                  <a:txBody>
                    <a:bodyPr/>
                    <a:lstStyle/>
                    <a:p>
                      <a:r>
                        <a:rPr sz="1875" b="1">
                          <a:solidFill>
                            <a:srgbClr val="064B6B"/>
                          </a:solidFill>
                          <a:latin typeface="Helvetica Neue"/>
                          <a:ea typeface="Helvetica Neue"/>
                          <a:cs typeface="Helvetica Neue"/>
                        </a:rPr>
                        <a:t>Lectura</a:t>
                      </a:r>
                    </a:p>
                  </a:txBody>
                  <a:tcPr marL="142875" marR="142875" marT="114300" marB="114300" anchor="ctr">
                    <a:solidFill>
                      <a:srgbClr val="EAF4F8"/>
                    </a:solidFill>
                  </a:tcPr>
                </a:tc>
              </a:tr>
              <a:tr h="622935">
                <a:tc>
                  <a:txBody>
                    <a:bodyPr/>
                    <a:lstStyle/>
                    <a:p>
                      <a:r>
                        <a:rPr sz="1875" b="0">
                          <a:solidFill>
                            <a:srgbClr val="242C33"/>
                          </a:solidFill>
                          <a:latin typeface="Helvetica Neue"/>
                          <a:ea typeface="Helvetica Neue"/>
                          <a:cs typeface="Helvetica Neue"/>
                        </a:rPr>
                        <a:t>RMSE y MAE, mm/h</a:t>
                      </a:r>
                    </a:p>
                  </a:txBody>
                  <a:tcPr marL="142875" marR="142875" marT="114300" marB="114300" anchor="ctr">
                    <a:solidFill>
                      <a:srgbClr val="FFFFFF"/>
                    </a:solidFill>
                  </a:tcPr>
                </a:tc>
                <a:tc>
                  <a:txBody>
                    <a:bodyPr/>
                    <a:lstStyle/>
                    <a:p>
                      <a:r>
                        <a:rPr sz="1875" b="0">
                          <a:solidFill>
                            <a:srgbClr val="242C33"/>
                          </a:solidFill>
                          <a:latin typeface="Helvetica Neue"/>
                          <a:ea typeface="Helvetica Neue"/>
                          <a:cs typeface="Helvetica Neue"/>
                        </a:rPr>
                        <a:t>Magnitud del error en las unidades del objetivo</a:t>
                      </a:r>
                    </a:p>
                  </a:txBody>
                  <a:tcPr marL="142875" marR="142875" marT="114300" marB="114300" anchor="ctr">
                    <a:solidFill>
                      <a:srgbClr val="FFFFFF"/>
                    </a:solidFill>
                  </a:tcPr>
                </a:tc>
              </a:tr>
              <a:tr h="622935">
                <a:tc>
                  <a:txBody>
                    <a:bodyPr/>
                    <a:lstStyle/>
                    <a:p>
                      <a:r>
                        <a:rPr sz="1875" b="0">
                          <a:solidFill>
                            <a:srgbClr val="242C33"/>
                          </a:solidFill>
                          <a:latin typeface="Helvetica Neue"/>
                          <a:ea typeface="Helvetica Neue"/>
                          <a:cs typeface="Helvetica Neue"/>
                        </a:rPr>
                        <a:t>NSE</a:t>
                      </a:r>
                    </a:p>
                  </a:txBody>
                  <a:tcPr marL="142875" marR="142875" marT="114300" marB="114300" anchor="ctr">
                    <a:solidFill>
                      <a:srgbClr val="F5F7F8"/>
                    </a:solidFill>
                  </a:tcPr>
                </a:tc>
                <a:tc>
                  <a:txBody>
                    <a:bodyPr/>
                    <a:lstStyle/>
                    <a:p>
                      <a:r>
                        <a:rPr sz="1875" b="0">
                          <a:solidFill>
                            <a:srgbClr val="242C33"/>
                          </a:solidFill>
                          <a:latin typeface="Helvetica Neue"/>
                          <a:ea typeface="Helvetica Neue"/>
                          <a:cs typeface="Helvetica Neue"/>
                        </a:rPr>
                        <a:t>Comparación con la media observada del conjunto evaluado</a:t>
                      </a:r>
                    </a:p>
                  </a:txBody>
                  <a:tcPr marL="142875" marR="142875" marT="114300" marB="114300" anchor="ctr">
                    <a:solidFill>
                      <a:srgbClr val="F5F7F8"/>
                    </a:solidFill>
                  </a:tcPr>
                </a:tc>
              </a:tr>
              <a:tr h="622935">
                <a:tc>
                  <a:txBody>
                    <a:bodyPr/>
                    <a:lstStyle/>
                    <a:p>
                      <a:r>
                        <a:rPr sz="1875" b="0">
                          <a:solidFill>
                            <a:srgbClr val="242C33"/>
                          </a:solidFill>
                          <a:latin typeface="Helvetica Neue"/>
                          <a:ea typeface="Helvetica Neue"/>
                          <a:cs typeface="Helvetica Neue"/>
                        </a:rPr>
                        <a:t>KGE 2009</a:t>
                      </a:r>
                    </a:p>
                  </a:txBody>
                  <a:tcPr marL="142875" marR="142875" marT="114300" marB="114300" anchor="ctr">
                    <a:solidFill>
                      <a:srgbClr val="FFFFFF"/>
                    </a:solidFill>
                  </a:tcPr>
                </a:tc>
                <a:tc>
                  <a:txBody>
                    <a:bodyPr/>
                    <a:lstStyle/>
                    <a:p>
                      <a:r>
                        <a:rPr sz="1875" b="0">
                          <a:solidFill>
                            <a:srgbClr val="242C33"/>
                          </a:solidFill>
                          <a:latin typeface="Helvetica Neue"/>
                          <a:ea typeface="Helvetica Neue"/>
                          <a:cs typeface="Helvetica Neue"/>
                        </a:rPr>
                        <a:t>Correlación, variabilidad relativa y sesgo de la media</a:t>
                      </a:r>
                    </a:p>
                  </a:txBody>
                  <a:tcPr marL="142875" marR="142875" marT="114300" marB="114300" anchor="ctr">
                    <a:solidFill>
                      <a:srgbClr val="FFFFFF"/>
                    </a:solidFill>
                  </a:tcPr>
                </a:tc>
              </a:tr>
              <a:tr h="622935">
                <a:tc>
                  <a:txBody>
                    <a:bodyPr/>
                    <a:lstStyle/>
                    <a:p>
                      <a:r>
                        <a:rPr sz="1875" b="0">
                          <a:solidFill>
                            <a:srgbClr val="242C33"/>
                          </a:solidFill>
                          <a:latin typeface="Helvetica Neue"/>
                          <a:ea typeface="Helvetica Neue"/>
                          <a:cs typeface="Helvetica Neue"/>
                        </a:rPr>
                        <a:t>Sesgo y valores negativos</a:t>
                      </a:r>
                    </a:p>
                  </a:txBody>
                  <a:tcPr marL="142875" marR="142875" marT="114300" marB="114300" anchor="ctr">
                    <a:solidFill>
                      <a:srgbClr val="F5F7F8"/>
                    </a:solidFill>
                  </a:tcPr>
                </a:tc>
                <a:tc>
                  <a:txBody>
                    <a:bodyPr/>
                    <a:lstStyle/>
                    <a:p>
                      <a:r>
                        <a:rPr sz="1875" b="0">
                          <a:solidFill>
                            <a:srgbClr val="242C33"/>
                          </a:solidFill>
                          <a:latin typeface="Helvetica Neue"/>
                          <a:ea typeface="Helvetica Neue"/>
                          <a:cs typeface="Helvetica Neue"/>
                        </a:rPr>
                        <a:t>Errores sistemáticos y coherencia física</a:t>
                      </a:r>
                    </a:p>
                  </a:txBody>
                  <a:tcPr marL="142875" marR="142875" marT="114300" marB="114300" anchor="ctr">
                    <a:solidFill>
                      <a:srgbClr val="F5F7F8"/>
                    </a:solidFill>
                  </a:tcPr>
                </a:tc>
              </a:tr>
            </a:tbl>
          </a:graphicData>
        </a:graphic>
      </p:graphicFrame>
      <p:sp>
        <p:nvSpPr>
          <p:cNvPr id="5" name="Reportes globales, h = 1…48 y métricas por cuenca">
            <a:extLst xmlns:a="http://schemas.openxmlformats.org/drawingml/2006/main">
              <a:ext uri="{FF2B5EF4-FFF2-40B4-BE49-F238E27FC236}">
                <a16:creationId xmlns:a16="http://schemas.microsoft.com/office/drawing/2014/main" id="{DBF703D8-2FD8-4370-92C4-5A3F47A6235C}"/>
              </a:ext>
            </a:extLst>
          </p:cNvPr>
          <p:cNvSpPr>
            <a:spLocks xmlns:a="http://schemas.openxmlformats.org/drawingml/2006/main" noGrp="1"/>
          </p:cNvSpPr>
          <p:nvPr/>
        </p:nvSpPr>
        <p:spPr>
          <a:xfrm xmlns:a="http://schemas.openxmlformats.org/drawingml/2006/main">
            <a:off x="695325" y="5172075"/>
            <a:ext cx="10572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325" b="1">
                <a:solidFill>
                  <a:srgbClr val="007FA3"/>
                </a:solidFill>
                <a:latin typeface="Helvetica Neue"/>
                <a:ea typeface="Helvetica Neue"/>
                <a:cs typeface="Helvetica Neue"/>
              </a:defRPr>
            </a:pPr>
            <a:r>
              <a:rPr sz="2325" b="1">
                <a:solidFill>
                  <a:srgbClr val="007FA3"/>
                </a:solidFill>
                <a:latin typeface="Helvetica Neue"/>
                <a:ea typeface="Helvetica Neue"/>
                <a:cs typeface="Helvetica Neue"/>
              </a:rPr>
              <a:t>Reportes globales, h = 1…48 y métricas por cuenca</a:t>
            </a:r>
          </a:p>
        </p:txBody>
      </p:sp>
      <p:sp>
        <p:nvSpPr>
          <p:cNvPr id="6" name="Sin fechas absolutas, las filas no forman una serie temporal">
            <a:extLst xmlns:a="http://schemas.openxmlformats.org/drawingml/2006/main">
              <a:ext uri="{FF2B5EF4-FFF2-40B4-BE49-F238E27FC236}">
                <a16:creationId xmlns:a16="http://schemas.microsoft.com/office/drawing/2014/main" id="{96F76FA3-167B-4701-AD51-463F63A4374A}"/>
              </a:ext>
            </a:extLst>
          </p:cNvPr>
          <p:cNvSpPr>
            <a:spLocks xmlns:a="http://schemas.openxmlformats.org/drawingml/2006/main" noGrp="1"/>
          </p:cNvSpPr>
          <p:nvPr/>
        </p:nvSpPr>
        <p:spPr>
          <a:xfrm xmlns:a="http://schemas.openxmlformats.org/drawingml/2006/main">
            <a:off x="695325" y="5743575"/>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875" b="0">
                <a:solidFill>
                  <a:srgbClr val="5D6267"/>
                </a:solidFill>
                <a:latin typeface="Helvetica Neue"/>
                <a:ea typeface="Helvetica Neue"/>
                <a:cs typeface="Helvetica Neue"/>
              </a:defRPr>
            </a:pPr>
            <a:r>
              <a:rPr sz="1875" b="0">
                <a:solidFill>
                  <a:srgbClr val="5D6267"/>
                </a:solidFill>
                <a:latin typeface="Helvetica Neue"/>
                <a:ea typeface="Helvetica Neue"/>
                <a:cs typeface="Helvetica Neue"/>
              </a:rPr>
              <a:t>Sin fechas absolutas, las filas no forman una serie temporal continua.</a:t>
            </a:r>
          </a:p>
        </p:txBody>
      </p:sp>
    </p:spTree>
    <p:extLst>
      <p:ext uri="{BB962C8B-B14F-4D97-AF65-F5344CB8AC3E}">
        <p14:creationId xmlns:p14="http://schemas.microsoft.com/office/powerpoint/2010/main" val="1506177997"/>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LSTM obtiene menor error global">
            <a:extLst xmlns:a="http://schemas.openxmlformats.org/drawingml/2006/main">
              <a:ext uri="{FF2B5EF4-FFF2-40B4-BE49-F238E27FC236}">
                <a16:creationId xmlns:a16="http://schemas.microsoft.com/office/drawing/2014/main" id="{AC9F613D-F92C-4A74-8646-73F2A46EB26A}"/>
              </a:ext>
            </a:extLst>
          </p:cNvPr>
          <p:cNvSpPr>
            <a:spLocks xmlns:a="http://schemas.openxmlformats.org/drawingml/2006/main" noGrp="1"/>
          </p:cNvSpPr>
          <p:nvPr/>
        </p:nvSpPr>
        <p:spPr>
          <a:xfrm xmlns:a="http://schemas.openxmlformats.org/drawingml/2006/main">
            <a:off x="609600" y="42862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300" b="1">
                <a:solidFill>
                  <a:srgbClr val="064B6B"/>
                </a:solidFill>
                <a:latin typeface="Helvetica Neue"/>
                <a:ea typeface="Helvetica Neue"/>
                <a:cs typeface="Helvetica Neue"/>
              </a:defRPr>
            </a:pPr>
            <a:r>
              <a:rPr sz="3300" b="1">
                <a:solidFill>
                  <a:srgbClr val="064B6B"/>
                </a:solidFill>
                <a:latin typeface="Helvetica Neue"/>
                <a:ea typeface="Helvetica Neue"/>
                <a:cs typeface="Helvetica Neue"/>
              </a:rPr>
              <a:t>LSTM obtiene menor error global</a:t>
            </a:r>
          </a:p>
        </p:txBody>
      </p:sp>
      <p:sp>
        <p:nvSpPr>
          <p:cNvPr id="2" name="Validación propia, semilla 42. Jobs 53987 y 54181 completados. S">
            <a:extLst xmlns:a="http://schemas.openxmlformats.org/drawingml/2006/main">
              <a:ext uri="{FF2B5EF4-FFF2-40B4-BE49-F238E27FC236}">
                <a16:creationId xmlns:a16="http://schemas.microsoft.com/office/drawing/2014/main" id="{1612B1EE-9154-4ED2-8CC3-CEFCB3A97A67}"/>
              </a:ext>
            </a:extLst>
          </p:cNvPr>
          <p:cNvSpPr>
            <a:spLocks xmlns:a="http://schemas.openxmlformats.org/drawingml/2006/main" noGrp="1"/>
          </p:cNvSpPr>
          <p:nvPr/>
        </p:nvSpPr>
        <p:spPr>
          <a:xfrm xmlns:a="http://schemas.openxmlformats.org/drawingml/2006/main">
            <a:off x="628650" y="6429375"/>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0">
                <a:solidFill>
                  <a:srgbClr val="5D6267"/>
                </a:solidFill>
                <a:latin typeface="Helvetica Neue"/>
                <a:ea typeface="Helvetica Neue"/>
                <a:cs typeface="Helvetica Neue"/>
              </a:defRPr>
            </a:pPr>
            <a:r>
              <a:rPr sz="1200" b="0">
                <a:solidFill>
                  <a:srgbClr val="5D6267"/>
                </a:solidFill>
                <a:latin typeface="Helvetica Neue"/>
                <a:ea typeface="Helvetica Neue"/>
                <a:cs typeface="Helvetica Neue"/>
              </a:rPr>
              <a:t>Validación propia, semilla 42. Jobs 53987 y 54181 completados. Sin recorte a cero</a:t>
            </a:r>
          </a:p>
        </p:txBody>
      </p:sp>
      <p:sp>
        <p:nvSpPr>
          <p:cNvPr id="3" name="00">
            <a:extLst xmlns:a="http://schemas.openxmlformats.org/drawingml/2006/main">
              <a:ext uri="{FF2B5EF4-FFF2-40B4-BE49-F238E27FC236}">
                <a16:creationId xmlns:a16="http://schemas.microsoft.com/office/drawing/2014/main" id="{1C1DABDE-3CD4-40A9-9C94-19C5ED769FD5}"/>
              </a:ext>
            </a:extLst>
          </p:cNvPr>
          <p:cNvSpPr>
            <a:spLocks xmlns:a="http://schemas.openxmlformats.org/drawingml/2006/main" noGrp="1"/>
          </p:cNvSpPr>
          <p:nvPr/>
        </p:nvSpPr>
        <p:spPr>
          <a:xfrm xmlns:a="http://schemas.openxmlformats.org/drawingml/2006/main">
            <a:off x="10953750" y="639127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425" b="0">
                <a:solidFill>
                  <a:srgbClr val="5D6267"/>
                </a:solidFill>
                <a:latin typeface="Helvetica Neue"/>
                <a:ea typeface="Helvetica Neue"/>
                <a:cs typeface="Helvetica Neue"/>
              </a:defRPr>
            </a:pPr>
            <a:r>
              <a:rPr sz="1425" b="0">
                <a:solidFill>
                  <a:srgbClr val="5D6267"/>
                </a:solidFill>
                <a:latin typeface="Helvetica Neue"/>
                <a:ea typeface="Helvetica Neue"/>
                <a:cs typeface="Helvetica Neue"/>
              </a:rPr>
              <a:t>16</a:t>
            </a:r>
          </a:p>
        </p:txBody>
      </p:sp>
      <p:sp>
        <p:nvSpPr>
          <p:cNvPr id="4" name="18 142 ventanas, 48 horizontes y 508 cuencas">
            <a:extLst xmlns:a="http://schemas.openxmlformats.org/drawingml/2006/main">
              <a:ext uri="{FF2B5EF4-FFF2-40B4-BE49-F238E27FC236}">
                <a16:creationId xmlns:a16="http://schemas.microsoft.com/office/drawing/2014/main" id="{EB2B9A1A-F3B4-4801-9CB5-7C7CDA64D731}"/>
              </a:ext>
            </a:extLst>
          </p:cNvPr>
          <p:cNvSpPr>
            <a:spLocks xmlns:a="http://schemas.openxmlformats.org/drawingml/2006/main" noGrp="1"/>
          </p:cNvSpPr>
          <p:nvPr/>
        </p:nvSpPr>
        <p:spPr>
          <a:xfrm xmlns:a="http://schemas.openxmlformats.org/drawingml/2006/main">
            <a:off x="714375" y="1428750"/>
            <a:ext cx="1076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250" b="1">
                <a:solidFill>
                  <a:srgbClr val="007FA3"/>
                </a:solidFill>
                <a:latin typeface="Helvetica Neue"/>
                <a:ea typeface="Helvetica Neue"/>
                <a:cs typeface="Helvetica Neue"/>
              </a:defRPr>
            </a:pPr>
            <a:r>
              <a:rPr sz="2250" b="1">
                <a:solidFill>
                  <a:srgbClr val="007FA3"/>
                </a:solidFill>
                <a:latin typeface="Helvetica Neue"/>
                <a:ea typeface="Helvetica Neue"/>
                <a:cs typeface="Helvetica Neue"/>
              </a:rPr>
              <a:t>18 142 ventanas, 48 horizontes y 508 cuencas</a:t>
            </a:r>
          </a:p>
        </p:txBody>
      </p:sp>
      <p:graphicFrame>
        <p:nvGraphicFramePr>
          <p:cNvPr id="12" name=""/>
          <p:cNvGraphicFramePr/>
          <p:nvPr/>
        </p:nvGraphicFramePr>
        <p:xfrm>
          <a:off xmlns:a="http://schemas.openxmlformats.org/drawingml/2006/main" x="609600" y="2028825"/>
          <a:ext xmlns:a="http://schemas.openxmlformats.org/drawingml/2006/main" cx="10972800" cy="3314700"/>
        </p:xfrm>
        <a:graphic xmlns:a="http://schemas.openxmlformats.org/drawingml/2006/main">
          <a:graphicData uri="http://schemas.openxmlformats.org/drawingml/2006/table">
            <a:tbl>
              <a:tblPr firstRow="1" bandRow="0"/>
              <a:tblGrid>
                <a:gridCol w="5334000"/>
                <a:gridCol w="2819400"/>
                <a:gridCol w="2819400"/>
              </a:tblGrid>
              <a:tr h="552450">
                <a:tc>
                  <a:txBody>
                    <a:bodyPr/>
                    <a:lstStyle/>
                    <a:p>
                      <a:r>
                        <a:rPr sz="1950" b="1">
                          <a:solidFill>
                            <a:srgbClr val="064B6B"/>
                          </a:solidFill>
                          <a:latin typeface="Helvetica Neue"/>
                          <a:ea typeface="Helvetica Neue"/>
                          <a:cs typeface="Helvetica Neue"/>
                        </a:rPr>
                        <a:t>Métrica global</a:t>
                      </a:r>
                    </a:p>
                  </a:txBody>
                  <a:tcPr marL="142875" marR="142875" marT="114300" marB="114300" anchor="ctr">
                    <a:solidFill>
                      <a:srgbClr val="EAF4F8"/>
                    </a:solidFill>
                  </a:tcPr>
                </a:tc>
                <a:tc>
                  <a:txBody>
                    <a:bodyPr/>
                    <a:lstStyle/>
                    <a:p>
                      <a:r>
                        <a:rPr sz="1950" b="1">
                          <a:solidFill>
                            <a:srgbClr val="064B6B"/>
                          </a:solidFill>
                          <a:latin typeface="Helvetica Neue"/>
                          <a:ea typeface="Helvetica Neue"/>
                          <a:cs typeface="Helvetica Neue"/>
                        </a:rPr>
                        <a:t>LSTM</a:t>
                      </a:r>
                    </a:p>
                  </a:txBody>
                  <a:tcPr marL="142875" marR="142875" marT="114300" marB="114300" anchor="ctr">
                    <a:solidFill>
                      <a:srgbClr val="EAF4F8"/>
                    </a:solidFill>
                  </a:tcPr>
                </a:tc>
                <a:tc>
                  <a:txBody>
                    <a:bodyPr/>
                    <a:lstStyle/>
                    <a:p>
                      <a:r>
                        <a:rPr sz="1950" b="1">
                          <a:solidFill>
                            <a:srgbClr val="064B6B"/>
                          </a:solidFill>
                          <a:latin typeface="Helvetica Neue"/>
                          <a:ea typeface="Helvetica Neue"/>
                          <a:cs typeface="Helvetica Neue"/>
                        </a:rPr>
                        <a:t>DMEL</a:t>
                      </a:r>
                    </a:p>
                  </a:txBody>
                  <a:tcPr marL="142875" marR="142875" marT="114300" marB="114300" anchor="ctr">
                    <a:solidFill>
                      <a:srgbClr val="EAF4F8"/>
                    </a:solidFill>
                  </a:tcPr>
                </a:tc>
              </a:tr>
              <a:tr h="552450">
                <a:tc>
                  <a:txBody>
                    <a:bodyPr/>
                    <a:lstStyle/>
                    <a:p>
                      <a:r>
                        <a:rPr sz="1950" b="0">
                          <a:solidFill>
                            <a:srgbClr val="242C33"/>
                          </a:solidFill>
                          <a:latin typeface="Helvetica Neue"/>
                          <a:ea typeface="Helvetica Neue"/>
                          <a:cs typeface="Helvetica Neue"/>
                        </a:rPr>
                        <a:t>RMSE (mm/h)</a:t>
                      </a:r>
                    </a:p>
                  </a:txBody>
                  <a:tcPr marL="142875" marR="142875" marT="114300" marB="114300" anchor="ctr">
                    <a:solidFill>
                      <a:srgbClr val="FFFFFF"/>
                    </a:solidFill>
                  </a:tcPr>
                </a:tc>
                <a:tc>
                  <a:txBody>
                    <a:bodyPr/>
                    <a:lstStyle/>
                    <a:p>
                      <a:r>
                        <a:rPr sz="1950" b="0">
                          <a:solidFill>
                            <a:srgbClr val="242C33"/>
                          </a:solidFill>
                          <a:latin typeface="Helvetica Neue"/>
                          <a:ea typeface="Helvetica Neue"/>
                          <a:cs typeface="Helvetica Neue"/>
                        </a:rPr>
                        <a:t>0.1023</a:t>
                      </a:r>
                    </a:p>
                  </a:txBody>
                  <a:tcPr marL="142875" marR="142875" marT="114300" marB="114300" anchor="ctr">
                    <a:solidFill>
                      <a:srgbClr val="FFFFFF"/>
                    </a:solidFill>
                  </a:tcPr>
                </a:tc>
                <a:tc>
                  <a:txBody>
                    <a:bodyPr/>
                    <a:lstStyle/>
                    <a:p>
                      <a:r>
                        <a:rPr sz="1950" b="0">
                          <a:solidFill>
                            <a:srgbClr val="242C33"/>
                          </a:solidFill>
                          <a:latin typeface="Helvetica Neue"/>
                          <a:ea typeface="Helvetica Neue"/>
                          <a:cs typeface="Helvetica Neue"/>
                        </a:rPr>
                        <a:t>0.1057</a:t>
                      </a:r>
                    </a:p>
                  </a:txBody>
                  <a:tcPr marL="142875" marR="142875" marT="114300" marB="114300" anchor="ctr">
                    <a:solidFill>
                      <a:srgbClr val="FFFFFF"/>
                    </a:solidFill>
                  </a:tcPr>
                </a:tc>
              </a:tr>
              <a:tr h="552450">
                <a:tc>
                  <a:txBody>
                    <a:bodyPr/>
                    <a:lstStyle/>
                    <a:p>
                      <a:r>
                        <a:rPr sz="1950" b="0">
                          <a:solidFill>
                            <a:srgbClr val="242C33"/>
                          </a:solidFill>
                          <a:latin typeface="Helvetica Neue"/>
                          <a:ea typeface="Helvetica Neue"/>
                          <a:cs typeface="Helvetica Neue"/>
                        </a:rPr>
                        <a:t>MAE (mm/h)</a:t>
                      </a:r>
                    </a:p>
                  </a:txBody>
                  <a:tcPr marL="142875" marR="142875" marT="114300" marB="114300" anchor="ctr">
                    <a:solidFill>
                      <a:srgbClr val="F5F7F8"/>
                    </a:solidFill>
                  </a:tcPr>
                </a:tc>
                <a:tc>
                  <a:txBody>
                    <a:bodyPr/>
                    <a:lstStyle/>
                    <a:p>
                      <a:r>
                        <a:rPr sz="1950" b="0">
                          <a:solidFill>
                            <a:srgbClr val="242C33"/>
                          </a:solidFill>
                          <a:latin typeface="Helvetica Neue"/>
                          <a:ea typeface="Helvetica Neue"/>
                          <a:cs typeface="Helvetica Neue"/>
                        </a:rPr>
                        <a:t>0.0213</a:t>
                      </a:r>
                    </a:p>
                  </a:txBody>
                  <a:tcPr marL="142875" marR="142875" marT="114300" marB="114300" anchor="ctr">
                    <a:solidFill>
                      <a:srgbClr val="F5F7F8"/>
                    </a:solidFill>
                  </a:tcPr>
                </a:tc>
                <a:tc>
                  <a:txBody>
                    <a:bodyPr/>
                    <a:lstStyle/>
                    <a:p>
                      <a:r>
                        <a:rPr sz="1950" b="0">
                          <a:solidFill>
                            <a:srgbClr val="242C33"/>
                          </a:solidFill>
                          <a:latin typeface="Helvetica Neue"/>
                          <a:ea typeface="Helvetica Neue"/>
                          <a:cs typeface="Helvetica Neue"/>
                        </a:rPr>
                        <a:t>0.0223</a:t>
                      </a:r>
                    </a:p>
                  </a:txBody>
                  <a:tcPr marL="142875" marR="142875" marT="114300" marB="114300" anchor="ctr">
                    <a:solidFill>
                      <a:srgbClr val="F5F7F8"/>
                    </a:solidFill>
                  </a:tcPr>
                </a:tc>
              </a:tr>
              <a:tr h="552450">
                <a:tc>
                  <a:txBody>
                    <a:bodyPr/>
                    <a:lstStyle/>
                    <a:p>
                      <a:r>
                        <a:rPr sz="1950" b="0">
                          <a:solidFill>
                            <a:srgbClr val="242C33"/>
                          </a:solidFill>
                          <a:latin typeface="Helvetica Neue"/>
                          <a:ea typeface="Helvetica Neue"/>
                          <a:cs typeface="Helvetica Neue"/>
                        </a:rPr>
                        <a:t>NSE</a:t>
                      </a:r>
                    </a:p>
                  </a:txBody>
                  <a:tcPr marL="142875" marR="142875" marT="114300" marB="114300" anchor="ctr">
                    <a:solidFill>
                      <a:srgbClr val="FFFFFF"/>
                    </a:solidFill>
                  </a:tcPr>
                </a:tc>
                <a:tc>
                  <a:txBody>
                    <a:bodyPr/>
                    <a:lstStyle/>
                    <a:p>
                      <a:r>
                        <a:rPr sz="1950" b="0">
                          <a:solidFill>
                            <a:srgbClr val="242C33"/>
                          </a:solidFill>
                          <a:latin typeface="Helvetica Neue"/>
                          <a:ea typeface="Helvetica Neue"/>
                          <a:cs typeface="Helvetica Neue"/>
                        </a:rPr>
                        <a:t>0.6447</a:t>
                      </a:r>
                    </a:p>
                  </a:txBody>
                  <a:tcPr marL="142875" marR="142875" marT="114300" marB="114300" anchor="ctr">
                    <a:solidFill>
                      <a:srgbClr val="FFFFFF"/>
                    </a:solidFill>
                  </a:tcPr>
                </a:tc>
                <a:tc>
                  <a:txBody>
                    <a:bodyPr/>
                    <a:lstStyle/>
                    <a:p>
                      <a:r>
                        <a:rPr sz="1950" b="0">
                          <a:solidFill>
                            <a:srgbClr val="242C33"/>
                          </a:solidFill>
                          <a:latin typeface="Helvetica Neue"/>
                          <a:ea typeface="Helvetica Neue"/>
                          <a:cs typeface="Helvetica Neue"/>
                        </a:rPr>
                        <a:t>0.6208</a:t>
                      </a:r>
                    </a:p>
                  </a:txBody>
                  <a:tcPr marL="142875" marR="142875" marT="114300" marB="114300" anchor="ctr">
                    <a:solidFill>
                      <a:srgbClr val="FFFFFF"/>
                    </a:solidFill>
                  </a:tcPr>
                </a:tc>
              </a:tr>
              <a:tr h="552450">
                <a:tc>
                  <a:txBody>
                    <a:bodyPr/>
                    <a:lstStyle/>
                    <a:p>
                      <a:r>
                        <a:rPr sz="1950" b="0">
                          <a:solidFill>
                            <a:srgbClr val="242C33"/>
                          </a:solidFill>
                          <a:latin typeface="Helvetica Neue"/>
                          <a:ea typeface="Helvetica Neue"/>
                          <a:cs typeface="Helvetica Neue"/>
                        </a:rPr>
                        <a:t>KGE 2009</a:t>
                      </a:r>
                    </a:p>
                  </a:txBody>
                  <a:tcPr marL="142875" marR="142875" marT="114300" marB="114300" anchor="ctr">
                    <a:solidFill>
                      <a:srgbClr val="F5F7F8"/>
                    </a:solidFill>
                  </a:tcPr>
                </a:tc>
                <a:tc>
                  <a:txBody>
                    <a:bodyPr/>
                    <a:lstStyle/>
                    <a:p>
                      <a:r>
                        <a:rPr sz="1950" b="0">
                          <a:solidFill>
                            <a:srgbClr val="242C33"/>
                          </a:solidFill>
                          <a:latin typeface="Helvetica Neue"/>
                          <a:ea typeface="Helvetica Neue"/>
                          <a:cs typeface="Helvetica Neue"/>
                        </a:rPr>
                        <a:t>0.7221</a:t>
                      </a:r>
                    </a:p>
                  </a:txBody>
                  <a:tcPr marL="142875" marR="142875" marT="114300" marB="114300" anchor="ctr">
                    <a:solidFill>
                      <a:srgbClr val="F5F7F8"/>
                    </a:solidFill>
                  </a:tcPr>
                </a:tc>
                <a:tc>
                  <a:txBody>
                    <a:bodyPr/>
                    <a:lstStyle/>
                    <a:p>
                      <a:r>
                        <a:rPr sz="1950" b="0">
                          <a:solidFill>
                            <a:srgbClr val="242C33"/>
                          </a:solidFill>
                          <a:latin typeface="Helvetica Neue"/>
                          <a:ea typeface="Helvetica Neue"/>
                          <a:cs typeface="Helvetica Neue"/>
                        </a:rPr>
                        <a:t>0.7188</a:t>
                      </a:r>
                    </a:p>
                  </a:txBody>
                  <a:tcPr marL="142875" marR="142875" marT="114300" marB="114300" anchor="ctr">
                    <a:solidFill>
                      <a:srgbClr val="F5F7F8"/>
                    </a:solidFill>
                  </a:tcPr>
                </a:tc>
              </a:tr>
              <a:tr h="552450">
                <a:tc>
                  <a:txBody>
                    <a:bodyPr/>
                    <a:lstStyle/>
                    <a:p>
                      <a:r>
                        <a:rPr sz="1950" b="0">
                          <a:solidFill>
                            <a:srgbClr val="242C33"/>
                          </a:solidFill>
                          <a:latin typeface="Helvetica Neue"/>
                          <a:ea typeface="Helvetica Neue"/>
                          <a:cs typeface="Helvetica Neue"/>
                        </a:rPr>
                        <a:t>Predicciones negativas</a:t>
                      </a:r>
                    </a:p>
                  </a:txBody>
                  <a:tcPr marL="142875" marR="142875" marT="114300" marB="114300" anchor="ctr">
                    <a:solidFill>
                      <a:srgbClr val="FFFFFF"/>
                    </a:solidFill>
                  </a:tcPr>
                </a:tc>
                <a:tc>
                  <a:txBody>
                    <a:bodyPr/>
                    <a:lstStyle/>
                    <a:p>
                      <a:r>
                        <a:rPr sz="1950" b="0">
                          <a:solidFill>
                            <a:srgbClr val="242C33"/>
                          </a:solidFill>
                          <a:latin typeface="Helvetica Neue"/>
                          <a:ea typeface="Helvetica Neue"/>
                          <a:cs typeface="Helvetica Neue"/>
                        </a:rPr>
                        <a:t>3.26 %</a:t>
                      </a:r>
                    </a:p>
                  </a:txBody>
                  <a:tcPr marL="142875" marR="142875" marT="114300" marB="114300" anchor="ctr">
                    <a:solidFill>
                      <a:srgbClr val="FFFFFF"/>
                    </a:solidFill>
                  </a:tcPr>
                </a:tc>
                <a:tc>
                  <a:txBody>
                    <a:bodyPr/>
                    <a:lstStyle/>
                    <a:p>
                      <a:r>
                        <a:rPr sz="1950" b="0">
                          <a:solidFill>
                            <a:srgbClr val="242C33"/>
                          </a:solidFill>
                          <a:latin typeface="Helvetica Neue"/>
                          <a:ea typeface="Helvetica Neue"/>
                          <a:cs typeface="Helvetica Neue"/>
                        </a:rPr>
                        <a:t>1.08 %</a:t>
                      </a:r>
                    </a:p>
                  </a:txBody>
                  <a:tcPr marL="142875" marR="142875" marT="114300" marB="114300" anchor="ctr">
                    <a:solidFill>
                      <a:srgbClr val="FFFFFF"/>
                    </a:solidFill>
                  </a:tcPr>
                </a:tc>
              </a:tr>
            </a:tbl>
          </a:graphicData>
        </a:graphic>
      </p:graphicFrame>
      <p:sp>
        <p:nvSpPr>
          <p:cNvPr id="6" name="DMEL: RMSE 3.31 % mayor, con menos predicciones negativas">
            <a:extLst xmlns:a="http://schemas.openxmlformats.org/drawingml/2006/main">
              <a:ext uri="{FF2B5EF4-FFF2-40B4-BE49-F238E27FC236}">
                <a16:creationId xmlns:a16="http://schemas.microsoft.com/office/drawing/2014/main" id="{9A3C7563-695D-4BFA-8880-D027F547CABF}"/>
              </a:ext>
            </a:extLst>
          </p:cNvPr>
          <p:cNvSpPr>
            <a:spLocks xmlns:a="http://schemas.openxmlformats.org/drawingml/2006/main" noGrp="1"/>
          </p:cNvSpPr>
          <p:nvPr/>
        </p:nvSpPr>
        <p:spPr>
          <a:xfrm xmlns:a="http://schemas.openxmlformats.org/drawingml/2006/main">
            <a:off x="733425" y="5572125"/>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1">
                <a:solidFill>
                  <a:srgbClr val="064B6B"/>
                </a:solidFill>
                <a:latin typeface="Helvetica Neue"/>
                <a:ea typeface="Helvetica Neue"/>
                <a:cs typeface="Helvetica Neue"/>
              </a:defRPr>
            </a:pPr>
            <a:r>
              <a:rPr sz="2175" b="1">
                <a:solidFill>
                  <a:srgbClr val="064B6B"/>
                </a:solidFill>
                <a:latin typeface="Helvetica Neue"/>
                <a:ea typeface="Helvetica Neue"/>
                <a:cs typeface="Helvetica Neue"/>
              </a:rPr>
              <a:t>DMEL: RMSE 3.31 % mayor, con menos predicciones negativas</a:t>
            </a:r>
          </a:p>
        </p:txBody>
      </p:sp>
      <p:sp>
        <p:nvSpPr>
          <p:cNvPr id="7" name="Una corrida por modelo. Validación utilizada para seleccionar lo">
            <a:extLst xmlns:a="http://schemas.openxmlformats.org/drawingml/2006/main">
              <a:ext uri="{FF2B5EF4-FFF2-40B4-BE49-F238E27FC236}">
                <a16:creationId xmlns:a16="http://schemas.microsoft.com/office/drawing/2014/main" id="{607F605F-6C06-4D2B-9F56-71B0D8721679}"/>
              </a:ext>
            </a:extLst>
          </p:cNvPr>
          <p:cNvSpPr>
            <a:spLocks xmlns:a="http://schemas.openxmlformats.org/drawingml/2006/main" noGrp="1"/>
          </p:cNvSpPr>
          <p:nvPr/>
        </p:nvSpPr>
        <p:spPr>
          <a:xfrm xmlns:a="http://schemas.openxmlformats.org/drawingml/2006/main">
            <a:off x="742950" y="6019800"/>
            <a:ext cx="10763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00" b="0">
                <a:solidFill>
                  <a:srgbClr val="5D6267"/>
                </a:solidFill>
                <a:latin typeface="Helvetica Neue"/>
                <a:ea typeface="Helvetica Neue"/>
                <a:cs typeface="Helvetica Neue"/>
              </a:defRPr>
            </a:pPr>
            <a:r>
              <a:rPr sz="1800" b="0">
                <a:solidFill>
                  <a:srgbClr val="5D6267"/>
                </a:solidFill>
                <a:latin typeface="Helvetica Neue"/>
                <a:ea typeface="Helvetica Neue"/>
                <a:cs typeface="Helvetica Neue"/>
              </a:rPr>
              <a:t>Una corrida por modelo. Validación utilizada para seleccionar los pesos.</a:t>
            </a:r>
          </a:p>
        </p:txBody>
      </p:sp>
    </p:spTree>
    <p:extLst>
      <p:ext uri="{BB962C8B-B14F-4D97-AF65-F5344CB8AC3E}">
        <p14:creationId xmlns:p14="http://schemas.microsoft.com/office/powerpoint/2010/main" val="1032538581"/>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Aprendizaje y selección del checkpoint">
            <a:extLst xmlns:a="http://schemas.openxmlformats.org/drawingml/2006/main">
              <a:ext uri="{FF2B5EF4-FFF2-40B4-BE49-F238E27FC236}">
                <a16:creationId xmlns:a16="http://schemas.microsoft.com/office/drawing/2014/main" id="{75FE6888-C3D2-4934-9209-AC564E8A344F}"/>
              </a:ext>
            </a:extLst>
          </p:cNvPr>
          <p:cNvSpPr>
            <a:spLocks xmlns:a="http://schemas.openxmlformats.org/drawingml/2006/main" noGrp="1"/>
          </p:cNvSpPr>
          <p:nvPr/>
        </p:nvSpPr>
        <p:spPr>
          <a:xfrm xmlns:a="http://schemas.openxmlformats.org/drawingml/2006/main">
            <a:off x="609600" y="42862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300" b="1">
                <a:solidFill>
                  <a:srgbClr val="064B6B"/>
                </a:solidFill>
                <a:latin typeface="Helvetica Neue"/>
                <a:ea typeface="Helvetica Neue"/>
                <a:cs typeface="Helvetica Neue"/>
              </a:defRPr>
            </a:pPr>
            <a:r>
              <a:rPr sz="3300" b="1">
                <a:solidFill>
                  <a:srgbClr val="064B6B"/>
                </a:solidFill>
                <a:latin typeface="Helvetica Neue"/>
                <a:ea typeface="Helvetica Neue"/>
                <a:cs typeface="Helvetica Neue"/>
              </a:rPr>
              <a:t>Aprendizaje y selección del checkpoint</a:t>
            </a:r>
          </a:p>
        </p:txBody>
      </p:sp>
      <p:sp>
        <p:nvSpPr>
          <p:cNvPr id="2" name="Historiales de ambos jobs. Épocas numeradas desde 1. Máximo 100,">
            <a:extLst xmlns:a="http://schemas.openxmlformats.org/drawingml/2006/main">
              <a:ext uri="{FF2B5EF4-FFF2-40B4-BE49-F238E27FC236}">
                <a16:creationId xmlns:a16="http://schemas.microsoft.com/office/drawing/2014/main" id="{3C4755AF-6ACE-44FB-8FA2-29925ED92C7C}"/>
              </a:ext>
            </a:extLst>
          </p:cNvPr>
          <p:cNvSpPr>
            <a:spLocks xmlns:a="http://schemas.openxmlformats.org/drawingml/2006/main" noGrp="1"/>
          </p:cNvSpPr>
          <p:nvPr/>
        </p:nvSpPr>
        <p:spPr>
          <a:xfrm xmlns:a="http://schemas.openxmlformats.org/drawingml/2006/main">
            <a:off x="628650" y="6429375"/>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0">
                <a:solidFill>
                  <a:srgbClr val="5D6267"/>
                </a:solidFill>
                <a:latin typeface="Helvetica Neue"/>
                <a:ea typeface="Helvetica Neue"/>
                <a:cs typeface="Helvetica Neue"/>
              </a:defRPr>
            </a:pPr>
            <a:r>
              <a:rPr sz="1200" b="0">
                <a:solidFill>
                  <a:srgbClr val="5D6267"/>
                </a:solidFill>
                <a:latin typeface="Helvetica Neue"/>
                <a:ea typeface="Helvetica Neue"/>
                <a:cs typeface="Helvetica Neue"/>
              </a:rPr>
              <a:t>Historiales de ambos jobs. Épocas numeradas desde 1. Máximo 100, paciencia 10</a:t>
            </a:r>
          </a:p>
        </p:txBody>
      </p:sp>
      <p:sp>
        <p:nvSpPr>
          <p:cNvPr id="3" name="00">
            <a:extLst xmlns:a="http://schemas.openxmlformats.org/drawingml/2006/main">
              <a:ext uri="{FF2B5EF4-FFF2-40B4-BE49-F238E27FC236}">
                <a16:creationId xmlns:a16="http://schemas.microsoft.com/office/drawing/2014/main" id="{28750C49-74E7-4FF5-9A37-684F7BD02915}"/>
              </a:ext>
            </a:extLst>
          </p:cNvPr>
          <p:cNvSpPr>
            <a:spLocks xmlns:a="http://schemas.openxmlformats.org/drawingml/2006/main" noGrp="1"/>
          </p:cNvSpPr>
          <p:nvPr/>
        </p:nvSpPr>
        <p:spPr>
          <a:xfrm xmlns:a="http://schemas.openxmlformats.org/drawingml/2006/main">
            <a:off x="10953750" y="639127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425" b="0">
                <a:solidFill>
                  <a:srgbClr val="5D6267"/>
                </a:solidFill>
                <a:latin typeface="Helvetica Neue"/>
                <a:ea typeface="Helvetica Neue"/>
                <a:cs typeface="Helvetica Neue"/>
              </a:defRPr>
            </a:pPr>
            <a:r>
              <a:rPr sz="1425" b="0">
                <a:solidFill>
                  <a:srgbClr val="5D6267"/>
                </a:solidFill>
                <a:latin typeface="Helvetica Neue"/>
                <a:ea typeface="Helvetica Neue"/>
                <a:cs typeface="Helvetica Neue"/>
              </a:rPr>
              <a:t>17</a:t>
            </a:r>
          </a:p>
        </p:txBody>
      </p:sp>
      <p:sp>
        <p:nvSpPr>
          <p:cNvPr id="4" name="Entrenamiento">
            <a:extLst xmlns:a="http://schemas.openxmlformats.org/drawingml/2006/main">
              <a:ext uri="{FF2B5EF4-FFF2-40B4-BE49-F238E27FC236}">
                <a16:creationId xmlns:a16="http://schemas.microsoft.com/office/drawing/2014/main" id="{776C7D7E-22B1-422E-92B3-8164FF321B2C}"/>
              </a:ext>
            </a:extLst>
          </p:cNvPr>
          <p:cNvSpPr>
            <a:spLocks xmlns:a="http://schemas.openxmlformats.org/drawingml/2006/main" noGrp="1"/>
          </p:cNvSpPr>
          <p:nvPr/>
        </p:nvSpPr>
        <p:spPr>
          <a:xfrm xmlns:a="http://schemas.openxmlformats.org/drawingml/2006/main">
            <a:off x="800100" y="1409700"/>
            <a:ext cx="4857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1">
                <a:solidFill>
                  <a:srgbClr val="007FA3"/>
                </a:solidFill>
                <a:latin typeface="Helvetica Neue"/>
                <a:ea typeface="Helvetica Neue"/>
                <a:cs typeface="Helvetica Neue"/>
              </a:defRPr>
            </a:pPr>
            <a:r>
              <a:rPr sz="2175" b="1">
                <a:solidFill>
                  <a:srgbClr val="007FA3"/>
                </a:solidFill>
                <a:latin typeface="Helvetica Neue"/>
                <a:ea typeface="Helvetica Neue"/>
                <a:cs typeface="Helvetica Neue"/>
              </a:rPr>
              <a:t>Entrenamiento</a:t>
            </a:r>
          </a:p>
        </p:txBody>
      </p:sp>
      <p:sp>
        <p:nvSpPr>
          <p:cNvPr id="5" name="Validación">
            <a:extLst xmlns:a="http://schemas.openxmlformats.org/drawingml/2006/main">
              <a:ext uri="{FF2B5EF4-FFF2-40B4-BE49-F238E27FC236}">
                <a16:creationId xmlns:a16="http://schemas.microsoft.com/office/drawing/2014/main" id="{63F4490E-6059-4806-A063-B8019A7294C3}"/>
              </a:ext>
            </a:extLst>
          </p:cNvPr>
          <p:cNvSpPr>
            <a:spLocks xmlns:a="http://schemas.openxmlformats.org/drawingml/2006/main" noGrp="1"/>
          </p:cNvSpPr>
          <p:nvPr/>
        </p:nvSpPr>
        <p:spPr>
          <a:xfrm xmlns:a="http://schemas.openxmlformats.org/drawingml/2006/main">
            <a:off x="6524625" y="1409700"/>
            <a:ext cx="4857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1">
                <a:solidFill>
                  <a:srgbClr val="007FA3"/>
                </a:solidFill>
                <a:latin typeface="Helvetica Neue"/>
                <a:ea typeface="Helvetica Neue"/>
                <a:cs typeface="Helvetica Neue"/>
              </a:defRPr>
            </a:pPr>
            <a:r>
              <a:rPr sz="2175" b="1">
                <a:solidFill>
                  <a:srgbClr val="007FA3"/>
                </a:solidFill>
                <a:latin typeface="Helvetica Neue"/>
                <a:ea typeface="Helvetica Neue"/>
                <a:cs typeface="Helvetica Neue"/>
              </a:rPr>
              <a:t>Validación</a:t>
            </a:r>
          </a:p>
        </p:txBody>
      </p:sp>
      <p:graphicFrame>
        <p:nvGraphicFramePr>
          <p:cNvPr id="15" name="Chart"/>
          <p:cNvGraphicFramePr/>
          <p:nvPr/>
        </p:nvGraphicFramePr>
        <p:xfrm>
          <a:off xmlns:a="http://schemas.openxmlformats.org/drawingml/2006/main" x="666750" y="1952625"/>
          <a:ext xmlns:a="http://schemas.openxmlformats.org/drawingml/2006/main" cx="5095875" cy="3476625"/>
        </p:xfrm>
        <a:graphic xmlns:a="http://schemas.openxmlformats.org/drawingml/2006/main">
          <a:graphicData uri="http://schemas.openxmlformats.org/drawingml/2006/chart">
            <c:chart xmlns:r="http://schemas.openxmlformats.org/officeDocument/2006/relationships" xmlns:c="http://schemas.openxmlformats.org/drawingml/2006/chart" r:id="R56253f5fcb534162"/>
          </a:graphicData>
        </a:graphic>
      </p:graphicFrame>
      <p:graphicFrame>
        <p:nvGraphicFramePr>
          <p:cNvPr id="16" name="Chart"/>
          <p:cNvGraphicFramePr/>
          <p:nvPr/>
        </p:nvGraphicFramePr>
        <p:xfrm>
          <a:off xmlns:a="http://schemas.openxmlformats.org/drawingml/2006/main" x="6353175" y="1952625"/>
          <a:ext xmlns:a="http://schemas.openxmlformats.org/drawingml/2006/main" cx="5095875" cy="3476625"/>
        </p:xfrm>
        <a:graphic xmlns:a="http://schemas.openxmlformats.org/drawingml/2006/main">
          <a:graphicData uri="http://schemas.openxmlformats.org/drawingml/2006/chart">
            <c:chart xmlns:r="http://schemas.openxmlformats.org/officeDocument/2006/relationships" xmlns:c="http://schemas.openxmlformats.org/drawingml/2006/chart" r:id="R56c44b3bab674643"/>
          </a:graphicData>
        </a:graphic>
      </p:graphicFrame>
      <p:sp>
        <p:nvSpPr>
          <p:cNvPr id="8" name="Ambos seleccionan la época 10 y paran después de la época 20">
            <a:extLst xmlns:a="http://schemas.openxmlformats.org/drawingml/2006/main">
              <a:ext uri="{FF2B5EF4-FFF2-40B4-BE49-F238E27FC236}">
                <a16:creationId xmlns:a16="http://schemas.microsoft.com/office/drawing/2014/main" id="{0EFD1AFA-F2B0-4C47-A610-75DF3A4B6650}"/>
              </a:ext>
            </a:extLst>
          </p:cNvPr>
          <p:cNvSpPr>
            <a:spLocks xmlns:a="http://schemas.openxmlformats.org/drawingml/2006/main" noGrp="1"/>
          </p:cNvSpPr>
          <p:nvPr/>
        </p:nvSpPr>
        <p:spPr>
          <a:xfrm xmlns:a="http://schemas.openxmlformats.org/drawingml/2006/main">
            <a:off x="771525" y="5629275"/>
            <a:ext cx="1076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1">
                <a:solidFill>
                  <a:srgbClr val="064B6B"/>
                </a:solidFill>
                <a:latin typeface="Helvetica Neue"/>
                <a:ea typeface="Helvetica Neue"/>
                <a:cs typeface="Helvetica Neue"/>
              </a:defRPr>
            </a:pPr>
            <a:r>
              <a:rPr sz="2175" b="1">
                <a:solidFill>
                  <a:srgbClr val="064B6B"/>
                </a:solidFill>
                <a:latin typeface="Helvetica Neue"/>
                <a:ea typeface="Helvetica Neue"/>
                <a:cs typeface="Helvetica Neue"/>
              </a:rPr>
              <a:t>Ambos seleccionan la época 10 y paran después de la época 20</a:t>
            </a:r>
          </a:p>
        </p:txBody>
      </p:sp>
      <p:sp>
        <p:nvSpPr>
          <p:cNvPr id="9" name="La pérdida de entrenamiento baja mientras validación deja de mej">
            <a:extLst xmlns:a="http://schemas.openxmlformats.org/drawingml/2006/main">
              <a:ext uri="{FF2B5EF4-FFF2-40B4-BE49-F238E27FC236}">
                <a16:creationId xmlns:a16="http://schemas.microsoft.com/office/drawing/2014/main" id="{F73EFB05-E47B-4147-A936-F76607C32BBF}"/>
              </a:ext>
            </a:extLst>
          </p:cNvPr>
          <p:cNvSpPr>
            <a:spLocks xmlns:a="http://schemas.openxmlformats.org/drawingml/2006/main" noGrp="1"/>
          </p:cNvSpPr>
          <p:nvPr/>
        </p:nvSpPr>
        <p:spPr>
          <a:xfrm xmlns:a="http://schemas.openxmlformats.org/drawingml/2006/main">
            <a:off x="771525" y="6076950"/>
            <a:ext cx="1076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00" b="0">
                <a:solidFill>
                  <a:srgbClr val="5D6267"/>
                </a:solidFill>
                <a:latin typeface="Helvetica Neue"/>
                <a:ea typeface="Helvetica Neue"/>
                <a:cs typeface="Helvetica Neue"/>
              </a:defRPr>
            </a:pPr>
            <a:r>
              <a:rPr sz="1800" b="0">
                <a:solidFill>
                  <a:srgbClr val="5D6267"/>
                </a:solidFill>
                <a:latin typeface="Helvetica Neue"/>
                <a:ea typeface="Helvetica Neue"/>
                <a:cs typeface="Helvetica Neue"/>
              </a:rPr>
              <a:t>La pérdida de entrenamiento baja mientras validación deja de mejorar.</a:t>
            </a:r>
          </a:p>
        </p:txBody>
      </p:sp>
    </p:spTree>
    <p:extLst>
      <p:ext uri="{BB962C8B-B14F-4D97-AF65-F5344CB8AC3E}">
        <p14:creationId xmlns:p14="http://schemas.microsoft.com/office/powerpoint/2010/main" val="1730491299"/>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Comparación en los 48 horizontes">
            <a:extLst xmlns:a="http://schemas.openxmlformats.org/drawingml/2006/main">
              <a:ext uri="{FF2B5EF4-FFF2-40B4-BE49-F238E27FC236}">
                <a16:creationId xmlns:a16="http://schemas.microsoft.com/office/drawing/2014/main" id="{F8021034-DEEB-42ED-9A2F-8445CEB1A6CD}"/>
              </a:ext>
            </a:extLst>
          </p:cNvPr>
          <p:cNvSpPr>
            <a:spLocks xmlns:a="http://schemas.openxmlformats.org/drawingml/2006/main" noGrp="1"/>
          </p:cNvSpPr>
          <p:nvPr/>
        </p:nvSpPr>
        <p:spPr>
          <a:xfrm xmlns:a="http://schemas.openxmlformats.org/drawingml/2006/main">
            <a:off x="609600" y="42862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300" b="1">
                <a:solidFill>
                  <a:srgbClr val="064B6B"/>
                </a:solidFill>
                <a:latin typeface="Helvetica Neue"/>
                <a:ea typeface="Helvetica Neue"/>
                <a:cs typeface="Helvetica Neue"/>
              </a:defRPr>
            </a:pPr>
            <a:r>
              <a:rPr sz="3300" b="1">
                <a:solidFill>
                  <a:srgbClr val="064B6B"/>
                </a:solidFill>
                <a:latin typeface="Helvetica Neue"/>
                <a:ea typeface="Helvetica Neue"/>
                <a:cs typeface="Helvetica Neue"/>
              </a:rPr>
              <a:t>Comparación en los 48 horizontes</a:t>
            </a:r>
          </a:p>
        </p:txBody>
      </p:sp>
      <p:sp>
        <p:nvSpPr>
          <p:cNvPr id="2" name="Validación de los mejores checkpoints. 18 142 pronósticos por ho">
            <a:extLst xmlns:a="http://schemas.openxmlformats.org/drawingml/2006/main">
              <a:ext uri="{FF2B5EF4-FFF2-40B4-BE49-F238E27FC236}">
                <a16:creationId xmlns:a16="http://schemas.microsoft.com/office/drawing/2014/main" id="{12E73992-97A6-4ADC-8126-F522868EE1C8}"/>
              </a:ext>
            </a:extLst>
          </p:cNvPr>
          <p:cNvSpPr>
            <a:spLocks xmlns:a="http://schemas.openxmlformats.org/drawingml/2006/main" noGrp="1"/>
          </p:cNvSpPr>
          <p:nvPr/>
        </p:nvSpPr>
        <p:spPr>
          <a:xfrm xmlns:a="http://schemas.openxmlformats.org/drawingml/2006/main">
            <a:off x="628650" y="6429375"/>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0">
                <a:solidFill>
                  <a:srgbClr val="5D6267"/>
                </a:solidFill>
                <a:latin typeface="Helvetica Neue"/>
                <a:ea typeface="Helvetica Neue"/>
                <a:cs typeface="Helvetica Neue"/>
              </a:defRPr>
            </a:pPr>
            <a:r>
              <a:rPr sz="1200" b="0">
                <a:solidFill>
                  <a:srgbClr val="5D6267"/>
                </a:solidFill>
                <a:latin typeface="Helvetica Neue"/>
                <a:ea typeface="Helvetica Neue"/>
                <a:cs typeface="Helvetica Neue"/>
              </a:rPr>
              <a:t>Validación de los mejores checkpoints. 18 142 pronósticos por horizonte y modelo</a:t>
            </a:r>
          </a:p>
        </p:txBody>
      </p:sp>
      <p:sp>
        <p:nvSpPr>
          <p:cNvPr id="3" name="00">
            <a:extLst xmlns:a="http://schemas.openxmlformats.org/drawingml/2006/main">
              <a:ext uri="{FF2B5EF4-FFF2-40B4-BE49-F238E27FC236}">
                <a16:creationId xmlns:a16="http://schemas.microsoft.com/office/drawing/2014/main" id="{76FB8E80-74C3-4B6A-AC6D-E98970EF6CFE}"/>
              </a:ext>
            </a:extLst>
          </p:cNvPr>
          <p:cNvSpPr>
            <a:spLocks xmlns:a="http://schemas.openxmlformats.org/drawingml/2006/main" noGrp="1"/>
          </p:cNvSpPr>
          <p:nvPr/>
        </p:nvSpPr>
        <p:spPr>
          <a:xfrm xmlns:a="http://schemas.openxmlformats.org/drawingml/2006/main">
            <a:off x="10953750" y="639127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425" b="0">
                <a:solidFill>
                  <a:srgbClr val="5D6267"/>
                </a:solidFill>
                <a:latin typeface="Helvetica Neue"/>
                <a:ea typeface="Helvetica Neue"/>
                <a:cs typeface="Helvetica Neue"/>
              </a:defRPr>
            </a:pPr>
            <a:r>
              <a:rPr sz="1425" b="0">
                <a:solidFill>
                  <a:srgbClr val="5D6267"/>
                </a:solidFill>
                <a:latin typeface="Helvetica Neue"/>
                <a:ea typeface="Helvetica Neue"/>
                <a:cs typeface="Helvetica Neue"/>
              </a:rPr>
              <a:t>18</a:t>
            </a:r>
          </a:p>
        </p:txBody>
      </p:sp>
      <p:sp>
        <p:nvSpPr>
          <p:cNvPr id="4" name="Error en unidades físicas">
            <a:extLst xmlns:a="http://schemas.openxmlformats.org/drawingml/2006/main">
              <a:ext uri="{FF2B5EF4-FFF2-40B4-BE49-F238E27FC236}">
                <a16:creationId xmlns:a16="http://schemas.microsoft.com/office/drawing/2014/main" id="{EED7F6A5-5BCE-4094-95CD-DF9253935602}"/>
              </a:ext>
            </a:extLst>
          </p:cNvPr>
          <p:cNvSpPr>
            <a:spLocks xmlns:a="http://schemas.openxmlformats.org/drawingml/2006/main" noGrp="1"/>
          </p:cNvSpPr>
          <p:nvPr/>
        </p:nvSpPr>
        <p:spPr>
          <a:xfrm xmlns:a="http://schemas.openxmlformats.org/drawingml/2006/main">
            <a:off x="809625" y="1409700"/>
            <a:ext cx="5095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1">
                <a:solidFill>
                  <a:srgbClr val="007FA3"/>
                </a:solidFill>
                <a:latin typeface="Helvetica Neue"/>
                <a:ea typeface="Helvetica Neue"/>
                <a:cs typeface="Helvetica Neue"/>
              </a:defRPr>
            </a:pPr>
            <a:r>
              <a:rPr sz="2175" b="1">
                <a:solidFill>
                  <a:srgbClr val="007FA3"/>
                </a:solidFill>
                <a:latin typeface="Helvetica Neue"/>
                <a:ea typeface="Helvetica Neue"/>
                <a:cs typeface="Helvetica Neue"/>
              </a:rPr>
              <a:t>Error en unidades físicas</a:t>
            </a:r>
          </a:p>
        </p:txBody>
      </p:sp>
      <p:sp>
        <p:nvSpPr>
          <p:cNvPr id="5" name="Eficiencia NSE">
            <a:extLst xmlns:a="http://schemas.openxmlformats.org/drawingml/2006/main">
              <a:ext uri="{FF2B5EF4-FFF2-40B4-BE49-F238E27FC236}">
                <a16:creationId xmlns:a16="http://schemas.microsoft.com/office/drawing/2014/main" id="{3E872A15-8C85-480E-BDE7-A4A005A10DC6}"/>
              </a:ext>
            </a:extLst>
          </p:cNvPr>
          <p:cNvSpPr>
            <a:spLocks xmlns:a="http://schemas.openxmlformats.org/drawingml/2006/main" noGrp="1"/>
          </p:cNvSpPr>
          <p:nvPr/>
        </p:nvSpPr>
        <p:spPr>
          <a:xfrm xmlns:a="http://schemas.openxmlformats.org/drawingml/2006/main">
            <a:off x="6543675" y="1409700"/>
            <a:ext cx="4857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1">
                <a:solidFill>
                  <a:srgbClr val="007FA3"/>
                </a:solidFill>
                <a:latin typeface="Helvetica Neue"/>
                <a:ea typeface="Helvetica Neue"/>
                <a:cs typeface="Helvetica Neue"/>
              </a:defRPr>
            </a:pPr>
            <a:r>
              <a:rPr sz="2175" b="1">
                <a:solidFill>
                  <a:srgbClr val="007FA3"/>
                </a:solidFill>
                <a:latin typeface="Helvetica Neue"/>
                <a:ea typeface="Helvetica Neue"/>
                <a:cs typeface="Helvetica Neue"/>
              </a:rPr>
              <a:t>Eficiencia NSE</a:t>
            </a:r>
          </a:p>
        </p:txBody>
      </p:sp>
      <p:graphicFrame>
        <p:nvGraphicFramePr>
          <p:cNvPr id="15" name="Chart"/>
          <p:cNvGraphicFramePr/>
          <p:nvPr/>
        </p:nvGraphicFramePr>
        <p:xfrm>
          <a:off xmlns:a="http://schemas.openxmlformats.org/drawingml/2006/main" x="657225" y="1952625"/>
          <a:ext xmlns:a="http://schemas.openxmlformats.org/drawingml/2006/main" cx="5143500" cy="3476625"/>
        </p:xfrm>
        <a:graphic xmlns:a="http://schemas.openxmlformats.org/drawingml/2006/main">
          <a:graphicData uri="http://schemas.openxmlformats.org/drawingml/2006/chart">
            <c:chart xmlns:r="http://schemas.openxmlformats.org/officeDocument/2006/relationships" xmlns:c="http://schemas.openxmlformats.org/drawingml/2006/chart" r:id="Rf8de29003fdc4863"/>
          </a:graphicData>
        </a:graphic>
      </p:graphicFrame>
      <p:graphicFrame>
        <p:nvGraphicFramePr>
          <p:cNvPr id="16" name="Chart"/>
          <p:cNvGraphicFramePr/>
          <p:nvPr/>
        </p:nvGraphicFramePr>
        <p:xfrm>
          <a:off xmlns:a="http://schemas.openxmlformats.org/drawingml/2006/main" x="6353175" y="1952625"/>
          <a:ext xmlns:a="http://schemas.openxmlformats.org/drawingml/2006/main" cx="5095875" cy="3476625"/>
        </p:xfrm>
        <a:graphic xmlns:a="http://schemas.openxmlformats.org/drawingml/2006/main">
          <a:graphicData uri="http://schemas.openxmlformats.org/drawingml/2006/chart">
            <c:chart xmlns:r="http://schemas.openxmlformats.org/officeDocument/2006/relationships" xmlns:c="http://schemas.openxmlformats.org/drawingml/2006/chart" r:id="Rda4c4d49982c42ee"/>
          </a:graphicData>
        </a:graphic>
      </p:graphicFrame>
      <p:sp>
        <p:nvSpPr>
          <p:cNvPr id="8" name="LSTM tiene menor RMSE en los 48 horizontes">
            <a:extLst xmlns:a="http://schemas.openxmlformats.org/drawingml/2006/main">
              <a:ext uri="{FF2B5EF4-FFF2-40B4-BE49-F238E27FC236}">
                <a16:creationId xmlns:a16="http://schemas.microsoft.com/office/drawing/2014/main" id="{670EC2B3-823E-49C2-9DA9-628DEF2F30C1}"/>
              </a:ext>
            </a:extLst>
          </p:cNvPr>
          <p:cNvSpPr>
            <a:spLocks xmlns:a="http://schemas.openxmlformats.org/drawingml/2006/main" noGrp="1"/>
          </p:cNvSpPr>
          <p:nvPr/>
        </p:nvSpPr>
        <p:spPr>
          <a:xfrm xmlns:a="http://schemas.openxmlformats.org/drawingml/2006/main">
            <a:off x="752475" y="5629275"/>
            <a:ext cx="107156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1">
                <a:solidFill>
                  <a:srgbClr val="064B6B"/>
                </a:solidFill>
                <a:latin typeface="Helvetica Neue"/>
                <a:ea typeface="Helvetica Neue"/>
                <a:cs typeface="Helvetica Neue"/>
              </a:defRPr>
            </a:pPr>
            <a:r>
              <a:rPr sz="2175" b="1">
                <a:solidFill>
                  <a:srgbClr val="064B6B"/>
                </a:solidFill>
                <a:latin typeface="Helvetica Neue"/>
                <a:ea typeface="Helvetica Neue"/>
                <a:cs typeface="Helvetica Neue"/>
              </a:rPr>
              <a:t>LSTM tiene menor RMSE en los 48 horizontes</a:t>
            </a:r>
          </a:p>
        </p:txBody>
      </p:sp>
      <p:sp>
        <p:nvSpPr>
          <p:cNvPr id="9" name="A +48 h: RMSE de 0.1196 en LSTM y 0.1230 en DMEL.">
            <a:extLst xmlns:a="http://schemas.openxmlformats.org/drawingml/2006/main">
              <a:ext uri="{FF2B5EF4-FFF2-40B4-BE49-F238E27FC236}">
                <a16:creationId xmlns:a16="http://schemas.microsoft.com/office/drawing/2014/main" id="{805EB608-B4DD-4E5E-82AE-2B436D0C82FE}"/>
              </a:ext>
            </a:extLst>
          </p:cNvPr>
          <p:cNvSpPr>
            <a:spLocks xmlns:a="http://schemas.openxmlformats.org/drawingml/2006/main" noGrp="1"/>
          </p:cNvSpPr>
          <p:nvPr/>
        </p:nvSpPr>
        <p:spPr>
          <a:xfrm xmlns:a="http://schemas.openxmlformats.org/drawingml/2006/main">
            <a:off x="752475" y="6076950"/>
            <a:ext cx="10715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00" b="0">
                <a:solidFill>
                  <a:srgbClr val="5D6267"/>
                </a:solidFill>
                <a:latin typeface="Helvetica Neue"/>
                <a:ea typeface="Helvetica Neue"/>
                <a:cs typeface="Helvetica Neue"/>
              </a:defRPr>
            </a:pPr>
            <a:r>
              <a:rPr sz="1800" b="0">
                <a:solidFill>
                  <a:srgbClr val="5D6267"/>
                </a:solidFill>
                <a:latin typeface="Helvetica Neue"/>
                <a:ea typeface="Helvetica Neue"/>
                <a:cs typeface="Helvetica Neue"/>
              </a:rPr>
              <a:t>A +48 h: RMSE de 0.1196 en LSTM y 0.1230 en DMEL.</a:t>
            </a:r>
          </a:p>
        </p:txBody>
      </p:sp>
    </p:spTree>
    <p:extLst>
      <p:ext uri="{BB962C8B-B14F-4D97-AF65-F5344CB8AC3E}">
        <p14:creationId xmlns:p14="http://schemas.microsoft.com/office/powerpoint/2010/main" val="469993101"/>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Resultados por cuenca: ventajas repartidas">
            <a:extLst xmlns:a="http://schemas.openxmlformats.org/drawingml/2006/main">
              <a:ext uri="{FF2B5EF4-FFF2-40B4-BE49-F238E27FC236}">
                <a16:creationId xmlns:a16="http://schemas.microsoft.com/office/drawing/2014/main" id="{7BE53F27-71F7-4A36-BC72-89F029CB3E07}"/>
              </a:ext>
            </a:extLst>
          </p:cNvPr>
          <p:cNvSpPr>
            <a:spLocks xmlns:a="http://schemas.openxmlformats.org/drawingml/2006/main" noGrp="1"/>
          </p:cNvSpPr>
          <p:nvPr/>
        </p:nvSpPr>
        <p:spPr>
          <a:xfrm xmlns:a="http://schemas.openxmlformats.org/drawingml/2006/main">
            <a:off x="609600" y="42862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300" b="1">
                <a:solidFill>
                  <a:srgbClr val="064B6B"/>
                </a:solidFill>
                <a:latin typeface="Helvetica Neue"/>
                <a:ea typeface="Helvetica Neue"/>
                <a:cs typeface="Helvetica Neue"/>
              </a:defRPr>
            </a:pPr>
            <a:r>
              <a:rPr sz="3300" b="1">
                <a:solidFill>
                  <a:srgbClr val="064B6B"/>
                </a:solidFill>
                <a:latin typeface="Helvetica Neue"/>
                <a:ea typeface="Helvetica Neue"/>
                <a:cs typeface="Helvetica Neue"/>
              </a:rPr>
              <a:t>Resultados por cuenca: ventajas repartidas</a:t>
            </a:r>
          </a:p>
        </p:txBody>
      </p:sp>
      <p:sp>
        <p:nvSpPr>
          <p:cNvPr id="2" name="508 cuencas. Comparación pareada por ID y mismo número de pares ">
            <a:extLst xmlns:a="http://schemas.openxmlformats.org/drawingml/2006/main">
              <a:ext uri="{FF2B5EF4-FFF2-40B4-BE49-F238E27FC236}">
                <a16:creationId xmlns:a16="http://schemas.microsoft.com/office/drawing/2014/main" id="{DAAF86A0-C6CB-4467-B456-BA3C9C57713D}"/>
              </a:ext>
            </a:extLst>
          </p:cNvPr>
          <p:cNvSpPr>
            <a:spLocks xmlns:a="http://schemas.openxmlformats.org/drawingml/2006/main" noGrp="1"/>
          </p:cNvSpPr>
          <p:nvPr/>
        </p:nvSpPr>
        <p:spPr>
          <a:xfrm xmlns:a="http://schemas.openxmlformats.org/drawingml/2006/main">
            <a:off x="628650" y="6429375"/>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0">
                <a:solidFill>
                  <a:srgbClr val="5D6267"/>
                </a:solidFill>
                <a:latin typeface="Helvetica Neue"/>
                <a:ea typeface="Helvetica Neue"/>
                <a:cs typeface="Helvetica Neue"/>
              </a:defRPr>
            </a:pPr>
            <a:r>
              <a:rPr sz="1200" b="0">
                <a:solidFill>
                  <a:srgbClr val="5D6267"/>
                </a:solidFill>
                <a:latin typeface="Helvetica Neue"/>
                <a:ea typeface="Helvetica Neue"/>
                <a:cs typeface="Helvetica Neue"/>
              </a:rPr>
              <a:t>508 cuencas. Comparación pareada por ID y mismo número de pares en cada cuenca</a:t>
            </a:r>
          </a:p>
        </p:txBody>
      </p:sp>
      <p:sp>
        <p:nvSpPr>
          <p:cNvPr id="3" name="00">
            <a:extLst xmlns:a="http://schemas.openxmlformats.org/drawingml/2006/main">
              <a:ext uri="{FF2B5EF4-FFF2-40B4-BE49-F238E27FC236}">
                <a16:creationId xmlns:a16="http://schemas.microsoft.com/office/drawing/2014/main" id="{8D1E476D-D7E9-40F0-B56B-6B58FE730EAF}"/>
              </a:ext>
            </a:extLst>
          </p:cNvPr>
          <p:cNvSpPr>
            <a:spLocks xmlns:a="http://schemas.openxmlformats.org/drawingml/2006/main" noGrp="1"/>
          </p:cNvSpPr>
          <p:nvPr/>
        </p:nvSpPr>
        <p:spPr>
          <a:xfrm xmlns:a="http://schemas.openxmlformats.org/drawingml/2006/main">
            <a:off x="10953750" y="639127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425" b="0">
                <a:solidFill>
                  <a:srgbClr val="5D6267"/>
                </a:solidFill>
                <a:latin typeface="Helvetica Neue"/>
                <a:ea typeface="Helvetica Neue"/>
                <a:cs typeface="Helvetica Neue"/>
              </a:defRPr>
            </a:pPr>
            <a:r>
              <a:rPr sz="1425" b="0">
                <a:solidFill>
                  <a:srgbClr val="5D6267"/>
                </a:solidFill>
                <a:latin typeface="Helvetica Neue"/>
                <a:ea typeface="Helvetica Neue"/>
                <a:cs typeface="Helvetica Neue"/>
              </a:rPr>
              <a:t>19</a:t>
            </a:r>
          </a:p>
        </p:txBody>
      </p:sp>
      <p:graphicFrame>
        <p:nvGraphicFramePr>
          <p:cNvPr id="10" name=""/>
          <p:cNvGraphicFramePr/>
          <p:nvPr/>
        </p:nvGraphicFramePr>
        <p:xfrm>
          <a:off xmlns:a="http://schemas.openxmlformats.org/drawingml/2006/main" x="609600" y="1581150"/>
          <a:ext xmlns:a="http://schemas.openxmlformats.org/drawingml/2006/main" cx="10972800" cy="3714750"/>
        </p:xfrm>
        <a:graphic xmlns:a="http://schemas.openxmlformats.org/drawingml/2006/main">
          <a:graphicData uri="http://schemas.openxmlformats.org/drawingml/2006/table">
            <a:tbl>
              <a:tblPr firstRow="1" bandRow="0"/>
              <a:tblGrid>
                <a:gridCol w="5334000"/>
                <a:gridCol w="2819400"/>
                <a:gridCol w="2819400"/>
              </a:tblGrid>
              <a:tr h="619125">
                <a:tc>
                  <a:txBody>
                    <a:bodyPr/>
                    <a:lstStyle/>
                    <a:p>
                      <a:r>
                        <a:rPr sz="1875" b="1">
                          <a:solidFill>
                            <a:srgbClr val="064B6B"/>
                          </a:solidFill>
                          <a:latin typeface="Helvetica Neue"/>
                          <a:ea typeface="Helvetica Neue"/>
                          <a:cs typeface="Helvetica Neue"/>
                        </a:rPr>
                        <a:t>Resumen por cuenca</a:t>
                      </a:r>
                    </a:p>
                  </a:txBody>
                  <a:tcPr marL="142875" marR="142875" marT="114300" marB="114300" anchor="ctr">
                    <a:solidFill>
                      <a:srgbClr val="EAF4F8"/>
                    </a:solidFill>
                  </a:tcPr>
                </a:tc>
                <a:tc>
                  <a:txBody>
                    <a:bodyPr/>
                    <a:lstStyle/>
                    <a:p>
                      <a:r>
                        <a:rPr sz="1875" b="1">
                          <a:solidFill>
                            <a:srgbClr val="064B6B"/>
                          </a:solidFill>
                          <a:latin typeface="Helvetica Neue"/>
                          <a:ea typeface="Helvetica Neue"/>
                          <a:cs typeface="Helvetica Neue"/>
                        </a:rPr>
                        <a:t>LSTM</a:t>
                      </a:r>
                    </a:p>
                  </a:txBody>
                  <a:tcPr marL="142875" marR="142875" marT="114300" marB="114300" anchor="ctr">
                    <a:solidFill>
                      <a:srgbClr val="EAF4F8"/>
                    </a:solidFill>
                  </a:tcPr>
                </a:tc>
                <a:tc>
                  <a:txBody>
                    <a:bodyPr/>
                    <a:lstStyle/>
                    <a:p>
                      <a:r>
                        <a:rPr sz="1875" b="1">
                          <a:solidFill>
                            <a:srgbClr val="064B6B"/>
                          </a:solidFill>
                          <a:latin typeface="Helvetica Neue"/>
                          <a:ea typeface="Helvetica Neue"/>
                          <a:cs typeface="Helvetica Neue"/>
                        </a:rPr>
                        <a:t>DMEL</a:t>
                      </a:r>
                    </a:p>
                  </a:txBody>
                  <a:tcPr marL="142875" marR="142875" marT="114300" marB="114300" anchor="ctr">
                    <a:solidFill>
                      <a:srgbClr val="EAF4F8"/>
                    </a:solidFill>
                  </a:tcPr>
                </a:tc>
              </a:tr>
              <a:tr h="619125">
                <a:tc>
                  <a:txBody>
                    <a:bodyPr/>
                    <a:lstStyle/>
                    <a:p>
                      <a:r>
                        <a:rPr sz="1875" b="0">
                          <a:solidFill>
                            <a:srgbClr val="242C33"/>
                          </a:solidFill>
                          <a:latin typeface="Helvetica Neue"/>
                          <a:ea typeface="Helvetica Neue"/>
                          <a:cs typeface="Helvetica Neue"/>
                        </a:rPr>
                        <a:t>Cuencas con menor RMSE</a:t>
                      </a:r>
                    </a:p>
                  </a:txBody>
                  <a:tcPr marL="142875" marR="142875" marT="114300" marB="114300" anchor="ctr">
                    <a:solidFill>
                      <a:srgbClr val="FFFFFF"/>
                    </a:solidFill>
                  </a:tcPr>
                </a:tc>
                <a:tc>
                  <a:txBody>
                    <a:bodyPr/>
                    <a:lstStyle/>
                    <a:p>
                      <a:r>
                        <a:rPr sz="1875" b="0">
                          <a:solidFill>
                            <a:srgbClr val="242C33"/>
                          </a:solidFill>
                          <a:latin typeface="Helvetica Neue"/>
                          <a:ea typeface="Helvetica Neue"/>
                          <a:cs typeface="Helvetica Neue"/>
                        </a:rPr>
                        <a:t>256 de 508</a:t>
                      </a:r>
                    </a:p>
                  </a:txBody>
                  <a:tcPr marL="142875" marR="142875" marT="114300" marB="114300" anchor="ctr">
                    <a:solidFill>
                      <a:srgbClr val="FFFFFF"/>
                    </a:solidFill>
                  </a:tcPr>
                </a:tc>
                <a:tc>
                  <a:txBody>
                    <a:bodyPr/>
                    <a:lstStyle/>
                    <a:p>
                      <a:r>
                        <a:rPr sz="1875" b="0">
                          <a:solidFill>
                            <a:srgbClr val="242C33"/>
                          </a:solidFill>
                          <a:latin typeface="Helvetica Neue"/>
                          <a:ea typeface="Helvetica Neue"/>
                          <a:cs typeface="Helvetica Neue"/>
                        </a:rPr>
                        <a:t>252 de 508</a:t>
                      </a:r>
                    </a:p>
                  </a:txBody>
                  <a:tcPr marL="142875" marR="142875" marT="114300" marB="114300" anchor="ctr">
                    <a:solidFill>
                      <a:srgbClr val="FFFFFF"/>
                    </a:solidFill>
                  </a:tcPr>
                </a:tc>
              </a:tr>
              <a:tr h="619125">
                <a:tc>
                  <a:txBody>
                    <a:bodyPr/>
                    <a:lstStyle/>
                    <a:p>
                      <a:r>
                        <a:rPr sz="1875" b="0">
                          <a:solidFill>
                            <a:srgbClr val="242C33"/>
                          </a:solidFill>
                          <a:latin typeface="Helvetica Neue"/>
                          <a:ea typeface="Helvetica Neue"/>
                          <a:cs typeface="Helvetica Neue"/>
                        </a:rPr>
                        <a:t>Mediana del NSE</a:t>
                      </a:r>
                    </a:p>
                  </a:txBody>
                  <a:tcPr marL="142875" marR="142875" marT="114300" marB="114300" anchor="ctr">
                    <a:solidFill>
                      <a:srgbClr val="F5F7F8"/>
                    </a:solidFill>
                  </a:tcPr>
                </a:tc>
                <a:tc>
                  <a:txBody>
                    <a:bodyPr/>
                    <a:lstStyle/>
                    <a:p>
                      <a:r>
                        <a:rPr sz="1875" b="0">
                          <a:solidFill>
                            <a:srgbClr val="242C33"/>
                          </a:solidFill>
                          <a:latin typeface="Helvetica Neue"/>
                          <a:ea typeface="Helvetica Neue"/>
                          <a:cs typeface="Helvetica Neue"/>
                        </a:rPr>
                        <a:t>0.5939</a:t>
                      </a:r>
                    </a:p>
                  </a:txBody>
                  <a:tcPr marL="142875" marR="142875" marT="114300" marB="114300" anchor="ctr">
                    <a:solidFill>
                      <a:srgbClr val="F5F7F8"/>
                    </a:solidFill>
                  </a:tcPr>
                </a:tc>
                <a:tc>
                  <a:txBody>
                    <a:bodyPr/>
                    <a:lstStyle/>
                    <a:p>
                      <a:r>
                        <a:rPr sz="1875" b="0">
                          <a:solidFill>
                            <a:srgbClr val="242C33"/>
                          </a:solidFill>
                          <a:latin typeface="Helvetica Neue"/>
                          <a:ea typeface="Helvetica Neue"/>
                          <a:cs typeface="Helvetica Neue"/>
                        </a:rPr>
                        <a:t>0.5623</a:t>
                      </a:r>
                    </a:p>
                  </a:txBody>
                  <a:tcPr marL="142875" marR="142875" marT="114300" marB="114300" anchor="ctr">
                    <a:solidFill>
                      <a:srgbClr val="F5F7F8"/>
                    </a:solidFill>
                  </a:tcPr>
                </a:tc>
              </a:tr>
              <a:tr h="619125">
                <a:tc>
                  <a:txBody>
                    <a:bodyPr/>
                    <a:lstStyle/>
                    <a:p>
                      <a:r>
                        <a:rPr sz="1875" b="0">
                          <a:solidFill>
                            <a:srgbClr val="242C33"/>
                          </a:solidFill>
                          <a:latin typeface="Helvetica Neue"/>
                          <a:ea typeface="Helvetica Neue"/>
                          <a:cs typeface="Helvetica Neue"/>
                        </a:rPr>
                        <a:t>Media del NSE, igual peso</a:t>
                      </a:r>
                    </a:p>
                  </a:txBody>
                  <a:tcPr marL="142875" marR="142875" marT="114300" marB="114300" anchor="ctr">
                    <a:solidFill>
                      <a:srgbClr val="FFFFFF"/>
                    </a:solidFill>
                  </a:tcPr>
                </a:tc>
                <a:tc>
                  <a:txBody>
                    <a:bodyPr/>
                    <a:lstStyle/>
                    <a:p>
                      <a:r>
                        <a:rPr sz="1875" b="0">
                          <a:solidFill>
                            <a:srgbClr val="242C33"/>
                          </a:solidFill>
                          <a:latin typeface="Helvetica Neue"/>
                          <a:ea typeface="Helvetica Neue"/>
                          <a:cs typeface="Helvetica Neue"/>
                        </a:rPr>
                        <a:t>−49.2525</a:t>
                      </a:r>
                    </a:p>
                  </a:txBody>
                  <a:tcPr marL="142875" marR="142875" marT="114300" marB="114300" anchor="ctr">
                    <a:solidFill>
                      <a:srgbClr val="FFFFFF"/>
                    </a:solidFill>
                  </a:tcPr>
                </a:tc>
                <a:tc>
                  <a:txBody>
                    <a:bodyPr/>
                    <a:lstStyle/>
                    <a:p>
                      <a:r>
                        <a:rPr sz="1875" b="0">
                          <a:solidFill>
                            <a:srgbClr val="242C33"/>
                          </a:solidFill>
                          <a:latin typeface="Helvetica Neue"/>
                          <a:ea typeface="Helvetica Neue"/>
                          <a:cs typeface="Helvetica Neue"/>
                        </a:rPr>
                        <a:t>−83.5098</a:t>
                      </a:r>
                    </a:p>
                  </a:txBody>
                  <a:tcPr marL="142875" marR="142875" marT="114300" marB="114300" anchor="ctr">
                    <a:solidFill>
                      <a:srgbClr val="FFFFFF"/>
                    </a:solidFill>
                  </a:tcPr>
                </a:tc>
              </a:tr>
              <a:tr h="619125">
                <a:tc>
                  <a:txBody>
                    <a:bodyPr/>
                    <a:lstStyle/>
                    <a:p>
                      <a:r>
                        <a:rPr sz="1875" b="0">
                          <a:solidFill>
                            <a:srgbClr val="242C33"/>
                          </a:solidFill>
                          <a:latin typeface="Helvetica Neue"/>
                          <a:ea typeface="Helvetica Neue"/>
                          <a:cs typeface="Helvetica Neue"/>
                        </a:rPr>
                        <a:t>Cuencas con NSE negativo</a:t>
                      </a:r>
                    </a:p>
                  </a:txBody>
                  <a:tcPr marL="142875" marR="142875" marT="114300" marB="114300" anchor="ctr">
                    <a:solidFill>
                      <a:srgbClr val="F5F7F8"/>
                    </a:solidFill>
                  </a:tcPr>
                </a:tc>
                <a:tc>
                  <a:txBody>
                    <a:bodyPr/>
                    <a:lstStyle/>
                    <a:p>
                      <a:r>
                        <a:rPr sz="1875" b="0">
                          <a:solidFill>
                            <a:srgbClr val="242C33"/>
                          </a:solidFill>
                          <a:latin typeface="Helvetica Neue"/>
                          <a:ea typeface="Helvetica Neue"/>
                          <a:cs typeface="Helvetica Neue"/>
                        </a:rPr>
                        <a:t>70 (13.8 %)</a:t>
                      </a:r>
                    </a:p>
                  </a:txBody>
                  <a:tcPr marL="142875" marR="142875" marT="114300" marB="114300" anchor="ctr">
                    <a:solidFill>
                      <a:srgbClr val="F5F7F8"/>
                    </a:solidFill>
                  </a:tcPr>
                </a:tc>
                <a:tc>
                  <a:txBody>
                    <a:bodyPr/>
                    <a:lstStyle/>
                    <a:p>
                      <a:r>
                        <a:rPr sz="1875" b="0">
                          <a:solidFill>
                            <a:srgbClr val="242C33"/>
                          </a:solidFill>
                          <a:latin typeface="Helvetica Neue"/>
                          <a:ea typeface="Helvetica Neue"/>
                          <a:cs typeface="Helvetica Neue"/>
                        </a:rPr>
                        <a:t>80 (15.7 %)</a:t>
                      </a:r>
                    </a:p>
                  </a:txBody>
                  <a:tcPr marL="142875" marR="142875" marT="114300" marB="114300" anchor="ctr">
                    <a:solidFill>
                      <a:srgbClr val="F5F7F8"/>
                    </a:solidFill>
                  </a:tcPr>
                </a:tc>
              </a:tr>
              <a:tr h="619125">
                <a:tc>
                  <a:txBody>
                    <a:bodyPr/>
                    <a:lstStyle/>
                    <a:p>
                      <a:r>
                        <a:rPr sz="1875" b="0">
                          <a:solidFill>
                            <a:srgbClr val="242C33"/>
                          </a:solidFill>
                          <a:latin typeface="Helvetica Neue"/>
                          <a:ea typeface="Helvetica Neue"/>
                          <a:cs typeface="Helvetica Neue"/>
                        </a:rPr>
                        <a:t>Media del KGE, igual peso</a:t>
                      </a:r>
                    </a:p>
                  </a:txBody>
                  <a:tcPr marL="142875" marR="142875" marT="114300" marB="114300" anchor="ctr">
                    <a:solidFill>
                      <a:srgbClr val="FFFFFF"/>
                    </a:solidFill>
                  </a:tcPr>
                </a:tc>
                <a:tc>
                  <a:txBody>
                    <a:bodyPr/>
                    <a:lstStyle/>
                    <a:p>
                      <a:r>
                        <a:rPr sz="1875" b="0">
                          <a:solidFill>
                            <a:srgbClr val="242C33"/>
                          </a:solidFill>
                          <a:latin typeface="Helvetica Neue"/>
                          <a:ea typeface="Helvetica Neue"/>
                          <a:cs typeface="Helvetica Neue"/>
                        </a:rPr>
                        <a:t>−0.8038</a:t>
                      </a:r>
                    </a:p>
                  </a:txBody>
                  <a:tcPr marL="142875" marR="142875" marT="114300" marB="114300" anchor="ctr">
                    <a:solidFill>
                      <a:srgbClr val="FFFFFF"/>
                    </a:solidFill>
                  </a:tcPr>
                </a:tc>
                <a:tc>
                  <a:txBody>
                    <a:bodyPr/>
                    <a:lstStyle/>
                    <a:p>
                      <a:r>
                        <a:rPr sz="1875" b="0">
                          <a:solidFill>
                            <a:srgbClr val="242C33"/>
                          </a:solidFill>
                          <a:latin typeface="Helvetica Neue"/>
                          <a:ea typeface="Helvetica Neue"/>
                          <a:cs typeface="Helvetica Neue"/>
                        </a:rPr>
                        <a:t>−1.3648</a:t>
                      </a:r>
                    </a:p>
                  </a:txBody>
                  <a:tcPr marL="142875" marR="142875" marT="114300" marB="114300" anchor="ctr">
                    <a:solidFill>
                      <a:srgbClr val="FFFFFF"/>
                    </a:solidFill>
                  </a:tcPr>
                </a:tc>
              </a:tr>
            </a:tbl>
          </a:graphicData>
        </a:graphic>
      </p:graphicFrame>
      <p:sp>
        <p:nvSpPr>
          <p:cNvPr id="5" name="El global y la cuenca típica cuentan historias distintas">
            <a:extLst xmlns:a="http://schemas.openxmlformats.org/drawingml/2006/main">
              <a:ext uri="{FF2B5EF4-FFF2-40B4-BE49-F238E27FC236}">
                <a16:creationId xmlns:a16="http://schemas.microsoft.com/office/drawing/2014/main" id="{CF5F087A-F61B-4AC1-A6A5-159D2CE8034E}"/>
              </a:ext>
            </a:extLst>
          </p:cNvPr>
          <p:cNvSpPr>
            <a:spLocks xmlns:a="http://schemas.openxmlformats.org/drawingml/2006/main" noGrp="1"/>
          </p:cNvSpPr>
          <p:nvPr/>
        </p:nvSpPr>
        <p:spPr>
          <a:xfrm xmlns:a="http://schemas.openxmlformats.org/drawingml/2006/main">
            <a:off x="733425" y="5572125"/>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1">
                <a:solidFill>
                  <a:srgbClr val="064B6B"/>
                </a:solidFill>
                <a:latin typeface="Helvetica Neue"/>
                <a:ea typeface="Helvetica Neue"/>
                <a:cs typeface="Helvetica Neue"/>
              </a:defRPr>
            </a:pPr>
            <a:r>
              <a:rPr sz="2175" b="1">
                <a:solidFill>
                  <a:srgbClr val="064B6B"/>
                </a:solidFill>
                <a:latin typeface="Helvetica Neue"/>
                <a:ea typeface="Helvetica Neue"/>
                <a:cs typeface="Helvetica Neue"/>
              </a:rPr>
              <a:t>El global y la cuenca típica cuentan historias distintas</a:t>
            </a:r>
          </a:p>
        </p:txBody>
      </p:sp>
      <p:sp>
        <p:nvSpPr>
          <p:cNvPr id="6" name="Las medias reciben una fuerte influencia de cuencas con valores ">
            <a:extLst xmlns:a="http://schemas.openxmlformats.org/drawingml/2006/main">
              <a:ext uri="{FF2B5EF4-FFF2-40B4-BE49-F238E27FC236}">
                <a16:creationId xmlns:a16="http://schemas.microsoft.com/office/drawing/2014/main" id="{50AE6B7E-A69E-46D1-BCAB-A69789351B7B}"/>
              </a:ext>
            </a:extLst>
          </p:cNvPr>
          <p:cNvSpPr>
            <a:spLocks xmlns:a="http://schemas.openxmlformats.org/drawingml/2006/main" noGrp="1"/>
          </p:cNvSpPr>
          <p:nvPr/>
        </p:nvSpPr>
        <p:spPr>
          <a:xfrm xmlns:a="http://schemas.openxmlformats.org/drawingml/2006/main">
            <a:off x="742950" y="6019800"/>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00" b="0">
                <a:solidFill>
                  <a:srgbClr val="5D6267"/>
                </a:solidFill>
                <a:latin typeface="Helvetica Neue"/>
                <a:ea typeface="Helvetica Neue"/>
                <a:cs typeface="Helvetica Neue"/>
              </a:defRPr>
            </a:pPr>
            <a:r>
              <a:rPr sz="1800" b="0">
                <a:solidFill>
                  <a:srgbClr val="5D6267"/>
                </a:solidFill>
                <a:latin typeface="Helvetica Neue"/>
                <a:ea typeface="Helvetica Neue"/>
                <a:cs typeface="Helvetica Neue"/>
              </a:rPr>
              <a:t>Las medias reciben una fuerte influencia de cuencas con valores extremos.</a:t>
            </a:r>
          </a:p>
        </p:txBody>
      </p:sp>
    </p:spTree>
    <p:extLst>
      <p:ext uri="{BB962C8B-B14F-4D97-AF65-F5344CB8AC3E}">
        <p14:creationId xmlns:p14="http://schemas.microsoft.com/office/powerpoint/2010/main" val="1202452600"/>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Conclusiones y evaluación pendiente">
            <a:extLst xmlns:a="http://schemas.openxmlformats.org/drawingml/2006/main">
              <a:ext uri="{FF2B5EF4-FFF2-40B4-BE49-F238E27FC236}">
                <a16:creationId xmlns:a16="http://schemas.microsoft.com/office/drawing/2014/main" id="{D712F45C-E789-4E1A-9803-EC9AC3AEE5D2}"/>
              </a:ext>
            </a:extLst>
          </p:cNvPr>
          <p:cNvSpPr>
            <a:spLocks xmlns:a="http://schemas.openxmlformats.org/drawingml/2006/main" noGrp="1"/>
          </p:cNvSpPr>
          <p:nvPr/>
        </p:nvSpPr>
        <p:spPr>
          <a:xfrm xmlns:a="http://schemas.openxmlformats.org/drawingml/2006/main">
            <a:off x="609600" y="42862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300" b="1">
                <a:solidFill>
                  <a:srgbClr val="064B6B"/>
                </a:solidFill>
                <a:latin typeface="Helvetica Neue"/>
                <a:ea typeface="Helvetica Neue"/>
                <a:cs typeface="Helvetica Neue"/>
              </a:defRPr>
            </a:pPr>
            <a:r>
              <a:rPr sz="3300" b="1">
                <a:solidFill>
                  <a:srgbClr val="064B6B"/>
                </a:solidFill>
                <a:latin typeface="Helvetica Neue"/>
                <a:ea typeface="Helvetica Neue"/>
                <a:cs typeface="Helvetica Neue"/>
              </a:rPr>
              <a:t>Conclusiones y evaluación pendiente</a:t>
            </a:r>
          </a:p>
        </p:txBody>
      </p:sp>
      <p:sp>
        <p:nvSpPr>
          <p:cNvPr id="2" name="Corte: 03/10/2026. Adaptación al laboratorio, una semilla, resul">
            <a:extLst xmlns:a="http://schemas.openxmlformats.org/drawingml/2006/main">
              <a:ext uri="{FF2B5EF4-FFF2-40B4-BE49-F238E27FC236}">
                <a16:creationId xmlns:a16="http://schemas.microsoft.com/office/drawing/2014/main" id="{D090F272-2164-4F87-9DE3-836CA78B2FE8}"/>
              </a:ext>
            </a:extLst>
          </p:cNvPr>
          <p:cNvSpPr>
            <a:spLocks xmlns:a="http://schemas.openxmlformats.org/drawingml/2006/main" noGrp="1"/>
          </p:cNvSpPr>
          <p:nvPr/>
        </p:nvSpPr>
        <p:spPr>
          <a:xfrm xmlns:a="http://schemas.openxmlformats.org/drawingml/2006/main">
            <a:off x="628650" y="6429375"/>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0">
                <a:solidFill>
                  <a:srgbClr val="5D6267"/>
                </a:solidFill>
                <a:latin typeface="Helvetica Neue"/>
                <a:ea typeface="Helvetica Neue"/>
                <a:cs typeface="Helvetica Neue"/>
              </a:defRPr>
            </a:pPr>
            <a:r>
              <a:rPr sz="1200" b="0">
                <a:solidFill>
                  <a:srgbClr val="5D6267"/>
                </a:solidFill>
                <a:latin typeface="Helvetica Neue"/>
                <a:ea typeface="Helvetica Neue"/>
                <a:cs typeface="Helvetica Neue"/>
              </a:rPr>
              <a:t>Corte: 03/10/2026. Adaptación al laboratorio, una semilla, resultados de validación</a:t>
            </a:r>
          </a:p>
        </p:txBody>
      </p:sp>
      <p:sp>
        <p:nvSpPr>
          <p:cNvPr id="3" name="00">
            <a:extLst xmlns:a="http://schemas.openxmlformats.org/drawingml/2006/main">
              <a:ext uri="{FF2B5EF4-FFF2-40B4-BE49-F238E27FC236}">
                <a16:creationId xmlns:a16="http://schemas.microsoft.com/office/drawing/2014/main" id="{15ED177E-84C1-458B-B04E-2DAF69F6374D}"/>
              </a:ext>
            </a:extLst>
          </p:cNvPr>
          <p:cNvSpPr>
            <a:spLocks xmlns:a="http://schemas.openxmlformats.org/drawingml/2006/main" noGrp="1"/>
          </p:cNvSpPr>
          <p:nvPr/>
        </p:nvSpPr>
        <p:spPr>
          <a:xfrm xmlns:a="http://schemas.openxmlformats.org/drawingml/2006/main">
            <a:off x="10953750" y="639127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425" b="0">
                <a:solidFill>
                  <a:srgbClr val="5D6267"/>
                </a:solidFill>
                <a:latin typeface="Helvetica Neue"/>
                <a:ea typeface="Helvetica Neue"/>
                <a:cs typeface="Helvetica Neue"/>
              </a:defRPr>
            </a:pPr>
            <a:r>
              <a:rPr sz="1425" b="0">
                <a:solidFill>
                  <a:srgbClr val="5D6267"/>
                </a:solidFill>
                <a:latin typeface="Helvetica Neue"/>
                <a:ea typeface="Helvetica Neue"/>
                <a:cs typeface="Helvetica Neue"/>
              </a:rPr>
              <a:t>20</a:t>
            </a:r>
          </a:p>
        </p:txBody>
      </p:sp>
      <p:sp>
        <p:nvSpPr>
          <p:cNvPr id="4" name="LSTM conserva el mejor RMSE global en esta comparación.">
            <a:extLst xmlns:a="http://schemas.openxmlformats.org/drawingml/2006/main">
              <a:ext uri="{FF2B5EF4-FFF2-40B4-BE49-F238E27FC236}">
                <a16:creationId xmlns:a16="http://schemas.microsoft.com/office/drawing/2014/main" id="{7390F983-9094-433D-AFF9-6BCEA9076880}"/>
              </a:ext>
            </a:extLst>
          </p:cNvPr>
          <p:cNvSpPr>
            <a:spLocks xmlns:a="http://schemas.openxmlformats.org/drawingml/2006/main" noGrp="1"/>
          </p:cNvSpPr>
          <p:nvPr/>
        </p:nvSpPr>
        <p:spPr>
          <a:xfrm xmlns:a="http://schemas.openxmlformats.org/drawingml/2006/main">
            <a:off x="733425" y="1476375"/>
            <a:ext cx="10715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325" b="1">
                <a:solidFill>
                  <a:srgbClr val="064B6B"/>
                </a:solidFill>
                <a:latin typeface="Helvetica Neue"/>
                <a:ea typeface="Helvetica Neue"/>
                <a:cs typeface="Helvetica Neue"/>
              </a:defRPr>
            </a:pPr>
            <a:r>
              <a:rPr sz="2325" b="1">
                <a:solidFill>
                  <a:srgbClr val="064B6B"/>
                </a:solidFill>
                <a:latin typeface="Helvetica Neue"/>
                <a:ea typeface="Helvetica Neue"/>
                <a:cs typeface="Helvetica Neue"/>
              </a:rPr>
              <a:t>LSTM conserva el mejor RMSE global en esta comparación.</a:t>
            </a:r>
          </a:p>
        </p:txBody>
      </p:sp>
      <p:sp>
        <p:nvSpPr>
          <p:cNvPr id="5" name="DMEL mejora 252 cuencas y reduce las salidas negativas.">
            <a:extLst xmlns:a="http://schemas.openxmlformats.org/drawingml/2006/main">
              <a:ext uri="{FF2B5EF4-FFF2-40B4-BE49-F238E27FC236}">
                <a16:creationId xmlns:a16="http://schemas.microsoft.com/office/drawing/2014/main" id="{E798C4CD-37D5-413D-A68F-7B689406F328}"/>
              </a:ext>
            </a:extLst>
          </p:cNvPr>
          <p:cNvSpPr>
            <a:spLocks xmlns:a="http://schemas.openxmlformats.org/drawingml/2006/main" noGrp="1"/>
          </p:cNvSpPr>
          <p:nvPr/>
        </p:nvSpPr>
        <p:spPr>
          <a:xfrm xmlns:a="http://schemas.openxmlformats.org/drawingml/2006/main">
            <a:off x="742950" y="21336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0">
                <a:solidFill>
                  <a:srgbClr val="242C33"/>
                </a:solidFill>
                <a:latin typeface="Helvetica Neue"/>
                <a:ea typeface="Helvetica Neue"/>
                <a:cs typeface="Helvetica Neue"/>
              </a:defRPr>
            </a:pPr>
            <a:r>
              <a:rPr sz="2025" b="0">
                <a:solidFill>
                  <a:srgbClr val="242C33"/>
                </a:solidFill>
                <a:latin typeface="Helvetica Neue"/>
                <a:ea typeface="Helvetica Neue"/>
                <a:cs typeface="Helvetica Neue"/>
              </a:rPr>
              <a:t>DMEL mejora 252 cuencas y reduce las salidas negativas.</a:t>
            </a:r>
          </a:p>
        </p:txBody>
      </p:sp>
      <p:graphicFrame>
        <p:nvGraphicFramePr>
          <p:cNvPr id="13" name=""/>
          <p:cNvGraphicFramePr/>
          <p:nvPr/>
        </p:nvGraphicFramePr>
        <p:xfrm>
          <a:off xmlns:a="http://schemas.openxmlformats.org/drawingml/2006/main" x="609600" y="2933700"/>
          <a:ext xmlns:a="http://schemas.openxmlformats.org/drawingml/2006/main" cx="10972800" cy="2686050"/>
        </p:xfrm>
        <a:graphic xmlns:a="http://schemas.openxmlformats.org/drawingml/2006/main">
          <a:graphicData uri="http://schemas.openxmlformats.org/drawingml/2006/table">
            <a:tbl>
              <a:tblPr firstRow="1" bandRow="0"/>
              <a:tblGrid>
                <a:gridCol w="3810000"/>
                <a:gridCol w="7162800"/>
              </a:tblGrid>
              <a:tr h="537210">
                <a:tc>
                  <a:txBody>
                    <a:bodyPr/>
                    <a:lstStyle/>
                    <a:p>
                      <a:r>
                        <a:rPr sz="1875" b="1">
                          <a:solidFill>
                            <a:srgbClr val="064B6B"/>
                          </a:solidFill>
                          <a:latin typeface="Helvetica Neue"/>
                          <a:ea typeface="Helvetica Neue"/>
                          <a:cs typeface="Helvetica Neue"/>
                        </a:rPr>
                        <a:t>Evaluación pendiente</a:t>
                      </a:r>
                    </a:p>
                  </a:txBody>
                  <a:tcPr marL="142875" marR="142875" marT="114300" marB="114300" anchor="ctr">
                    <a:solidFill>
                      <a:srgbClr val="EAF4F8"/>
                    </a:solidFill>
                  </a:tcPr>
                </a:tc>
                <a:tc>
                  <a:txBody>
                    <a:bodyPr/>
                    <a:lstStyle/>
                    <a:p>
                      <a:r>
                        <a:rPr sz="1875" b="1">
                          <a:solidFill>
                            <a:srgbClr val="064B6B"/>
                          </a:solidFill>
                          <a:latin typeface="Helvetica Neue"/>
                          <a:ea typeface="Helvetica Neue"/>
                          <a:cs typeface="Helvetica Neue"/>
                        </a:rPr>
                        <a:t>Qué permite comprobar</a:t>
                      </a:r>
                    </a:p>
                  </a:txBody>
                  <a:tcPr marL="142875" marR="142875" marT="114300" marB="114300" anchor="ctr">
                    <a:solidFill>
                      <a:srgbClr val="EAF4F8"/>
                    </a:solidFill>
                  </a:tcPr>
                </a:tc>
              </a:tr>
              <a:tr h="537210">
                <a:tc>
                  <a:txBody>
                    <a:bodyPr/>
                    <a:lstStyle/>
                    <a:p>
                      <a:r>
                        <a:rPr sz="1875" b="0">
                          <a:solidFill>
                            <a:srgbClr val="242C33"/>
                          </a:solidFill>
                          <a:latin typeface="Helvetica Neue"/>
                          <a:ea typeface="Helvetica Neue"/>
                          <a:cs typeface="Helvetica Neue"/>
                        </a:rPr>
                        <a:t>Persistencia</a:t>
                      </a:r>
                    </a:p>
                  </a:txBody>
                  <a:tcPr marL="142875" marR="142875" marT="114300" marB="114300" anchor="ctr">
                    <a:solidFill>
                      <a:srgbClr val="FFFFFF"/>
                    </a:solidFill>
                  </a:tcPr>
                </a:tc>
                <a:tc>
                  <a:txBody>
                    <a:bodyPr/>
                    <a:lstStyle/>
                    <a:p>
                      <a:r>
                        <a:rPr sz="1875" b="0">
                          <a:solidFill>
                            <a:srgbClr val="242C33"/>
                          </a:solidFill>
                          <a:latin typeface="Helvetica Neue"/>
                          <a:ea typeface="Helvetica Neue"/>
                          <a:cs typeface="Helvetica Neue"/>
                        </a:rPr>
                        <a:t>Ganancia frente a repetir el último caudal</a:t>
                      </a:r>
                    </a:p>
                  </a:txBody>
                  <a:tcPr marL="142875" marR="142875" marT="114300" marB="114300" anchor="ctr">
                    <a:solidFill>
                      <a:srgbClr val="FFFFFF"/>
                    </a:solidFill>
                  </a:tcPr>
                </a:tc>
              </a:tr>
              <a:tr h="537210">
                <a:tc>
                  <a:txBody>
                    <a:bodyPr/>
                    <a:lstStyle/>
                    <a:p>
                      <a:r>
                        <a:rPr sz="1875" b="0">
                          <a:solidFill>
                            <a:srgbClr val="242C33"/>
                          </a:solidFill>
                          <a:latin typeface="Helvetica Neue"/>
                          <a:ea typeface="Helvetica Neue"/>
                          <a:cs typeface="Helvetica Neue"/>
                        </a:rPr>
                        <a:t>Dos ramas Informer</a:t>
                      </a:r>
                    </a:p>
                  </a:txBody>
                  <a:tcPr marL="142875" marR="142875" marT="114300" marB="114300" anchor="ctr">
                    <a:solidFill>
                      <a:srgbClr val="F5F7F8"/>
                    </a:solidFill>
                  </a:tcPr>
                </a:tc>
                <a:tc>
                  <a:txBody>
                    <a:bodyPr/>
                    <a:lstStyle/>
                    <a:p>
                      <a:r>
                        <a:rPr sz="1875" b="0">
                          <a:solidFill>
                            <a:srgbClr val="242C33"/>
                          </a:solidFill>
                          <a:latin typeface="Helvetica Neue"/>
                          <a:ea typeface="Helvetica Neue"/>
                          <a:cs typeface="Helvetica Neue"/>
                        </a:rPr>
                        <a:t>Aporte de la especialización con LSTM</a:t>
                      </a:r>
                    </a:p>
                  </a:txBody>
                  <a:tcPr marL="142875" marR="142875" marT="114300" marB="114300" anchor="ctr">
                    <a:solidFill>
                      <a:srgbClr val="F5F7F8"/>
                    </a:solidFill>
                  </a:tcPr>
                </a:tc>
              </a:tr>
              <a:tr h="537210">
                <a:tc>
                  <a:txBody>
                    <a:bodyPr/>
                    <a:lstStyle/>
                    <a:p>
                      <a:r>
                        <a:rPr sz="1875" b="0">
                          <a:solidFill>
                            <a:srgbClr val="242C33"/>
                          </a:solidFill>
                          <a:latin typeface="Helvetica Neue"/>
                          <a:ea typeface="Helvetica Neue"/>
                          <a:cs typeface="Helvetica Neue"/>
                        </a:rPr>
                        <a:t>Predicciones individuales</a:t>
                      </a:r>
                    </a:p>
                  </a:txBody>
                  <a:tcPr marL="142875" marR="142875" marT="114300" marB="114300" anchor="ctr">
                    <a:solidFill>
                      <a:srgbClr val="FFFFFF"/>
                    </a:solidFill>
                  </a:tcPr>
                </a:tc>
                <a:tc>
                  <a:txBody>
                    <a:bodyPr/>
                    <a:lstStyle/>
                    <a:p>
                      <a:r>
                        <a:rPr sz="1875" b="0">
                          <a:solidFill>
                            <a:srgbClr val="242C33"/>
                          </a:solidFill>
                          <a:latin typeface="Helvetica Neue"/>
                          <a:ea typeface="Helvetica Neue"/>
                          <a:cs typeface="Helvetica Neue"/>
                        </a:rPr>
                        <a:t>Errores por cuenca, extremos y valores negativos</a:t>
                      </a:r>
                    </a:p>
                  </a:txBody>
                  <a:tcPr marL="142875" marR="142875" marT="114300" marB="114300" anchor="ctr">
                    <a:solidFill>
                      <a:srgbClr val="FFFFFF"/>
                    </a:solidFill>
                  </a:tcPr>
                </a:tc>
              </a:tr>
              <a:tr h="537210">
                <a:tc>
                  <a:txBody>
                    <a:bodyPr/>
                    <a:lstStyle/>
                    <a:p>
                      <a:r>
                        <a:rPr sz="1875" b="0">
                          <a:solidFill>
                            <a:srgbClr val="242C33"/>
                          </a:solidFill>
                          <a:latin typeface="Helvetica Neue"/>
                          <a:ea typeface="Helvetica Neue"/>
                          <a:cs typeface="Helvetica Neue"/>
                        </a:rPr>
                        <a:t>Test y semillas adicionales</a:t>
                      </a:r>
                    </a:p>
                  </a:txBody>
                  <a:tcPr marL="142875" marR="142875" marT="114300" marB="114300" anchor="ctr">
                    <a:solidFill>
                      <a:srgbClr val="F5F7F8"/>
                    </a:solidFill>
                  </a:tcPr>
                </a:tc>
                <a:tc>
                  <a:txBody>
                    <a:bodyPr/>
                    <a:lstStyle/>
                    <a:p>
                      <a:r>
                        <a:rPr sz="1875" b="0">
                          <a:solidFill>
                            <a:srgbClr val="242C33"/>
                          </a:solidFill>
                          <a:latin typeface="Helvetica Neue"/>
                          <a:ea typeface="Helvetica Neue"/>
                          <a:cs typeface="Helvetica Neue"/>
                        </a:rPr>
                        <a:t>Generalización y estabilidad del resultado</a:t>
                      </a:r>
                    </a:p>
                  </a:txBody>
                  <a:tcPr marL="142875" marR="142875" marT="114300" marB="114300" anchor="ctr">
                    <a:solidFill>
                      <a:srgbClr val="F5F7F8"/>
                    </a:solidFill>
                  </a:tcPr>
                </a:tc>
              </a:tr>
            </a:tbl>
          </a:graphicData>
        </a:graphic>
      </p:graphicFrame>
      <p:sp>
        <p:nvSpPr>
          <p:cNvPr id="7" name="Este resultado no establece una ventaja general de DMEL.">
            <a:extLst xmlns:a="http://schemas.openxmlformats.org/drawingml/2006/main">
              <a:ext uri="{FF2B5EF4-FFF2-40B4-BE49-F238E27FC236}">
                <a16:creationId xmlns:a16="http://schemas.microsoft.com/office/drawing/2014/main" id="{3A82138D-866B-4037-A4D1-7729285378AC}"/>
              </a:ext>
            </a:extLst>
          </p:cNvPr>
          <p:cNvSpPr>
            <a:spLocks xmlns:a="http://schemas.openxmlformats.org/drawingml/2006/main" noGrp="1"/>
          </p:cNvSpPr>
          <p:nvPr/>
        </p:nvSpPr>
        <p:spPr>
          <a:xfrm xmlns:a="http://schemas.openxmlformats.org/drawingml/2006/main">
            <a:off x="752475" y="5886450"/>
            <a:ext cx="10668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0">
                <a:solidFill>
                  <a:srgbClr val="5D6267"/>
                </a:solidFill>
                <a:latin typeface="Helvetica Neue"/>
                <a:ea typeface="Helvetica Neue"/>
                <a:cs typeface="Helvetica Neue"/>
              </a:defRPr>
            </a:pPr>
            <a:r>
              <a:rPr sz="1950" b="0">
                <a:solidFill>
                  <a:srgbClr val="5D6267"/>
                </a:solidFill>
                <a:latin typeface="Helvetica Neue"/>
                <a:ea typeface="Helvetica Neue"/>
                <a:cs typeface="Helvetica Neue"/>
              </a:rPr>
              <a:t>Este resultado no establece una ventaja general de DMEL.</a:t>
            </a:r>
          </a:p>
        </p:txBody>
      </p:sp>
    </p:spTree>
    <p:extLst>
      <p:ext uri="{BB962C8B-B14F-4D97-AF65-F5344CB8AC3E}">
        <p14:creationId xmlns:p14="http://schemas.microsoft.com/office/powerpoint/2010/main" val="1336451367"/>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Referencias del método">
            <a:extLst xmlns:a="http://schemas.openxmlformats.org/drawingml/2006/main">
              <a:ext uri="{FF2B5EF4-FFF2-40B4-BE49-F238E27FC236}">
                <a16:creationId xmlns:a16="http://schemas.microsoft.com/office/drawing/2014/main" id="{561B1F02-2327-4FC8-97D4-5A64C728E5BC}"/>
              </a:ext>
            </a:extLst>
          </p:cNvPr>
          <p:cNvSpPr>
            <a:spLocks xmlns:a="http://schemas.openxmlformats.org/drawingml/2006/main" noGrp="1"/>
          </p:cNvSpPr>
          <p:nvPr/>
        </p:nvSpPr>
        <p:spPr>
          <a:xfrm xmlns:a="http://schemas.openxmlformats.org/drawingml/2006/main">
            <a:off x="609600" y="42862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3300" b="1">
                <a:solidFill>
                  <a:srgbClr val="242C33"/>
                </a:solidFill>
                <a:latin typeface="Helvetica Neue"/>
                <a:ea typeface="Helvetica Neue"/>
                <a:cs typeface="Helvetica Neue"/>
              </a:defRPr>
            </a:pPr>
            <a:r>
              <a:rPr sz="3300" b="1">
                <a:solidFill>
                  <a:srgbClr val="064B6B"/>
                </a:solidFill>
                <a:latin typeface="Helvetica Neue"/>
                <a:ea typeface="Helvetica Neue"/>
                <a:cs typeface="Helvetica Neue"/>
              </a:rPr>
              <a:t>Referencias del método</a:t>
            </a:r>
          </a:p>
        </p:txBody>
      </p:sp>
      <p:sp>
        <p:nvSpPr>
          <p:cNvPr id="2" name="Fuentes primarias. Referencias y vínculos completos en las n">
            <a:extLst xmlns:a="http://schemas.openxmlformats.org/drawingml/2006/main">
              <a:ext uri="{FF2B5EF4-FFF2-40B4-BE49-F238E27FC236}">
                <a16:creationId xmlns:a16="http://schemas.microsoft.com/office/drawing/2014/main" id="{F49468B1-C667-4F0F-8F8F-CF21D12AA7D1}"/>
              </a:ext>
            </a:extLst>
          </p:cNvPr>
          <p:cNvSpPr>
            <a:spLocks xmlns:a="http://schemas.openxmlformats.org/drawingml/2006/main" noGrp="1"/>
          </p:cNvSpPr>
          <p:nvPr/>
        </p:nvSpPr>
        <p:spPr>
          <a:xfrm xmlns:a="http://schemas.openxmlformats.org/drawingml/2006/main">
            <a:off x="628650" y="6429375"/>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200" b="0">
                <a:solidFill>
                  <a:srgbClr val="5D6267"/>
                </a:solidFill>
                <a:latin typeface="Helvetica Neue"/>
                <a:ea typeface="Helvetica Neue"/>
                <a:cs typeface="Helvetica Neue"/>
              </a:defRPr>
            </a:pPr>
            <a:r>
              <a:rPr sz="1200" b="0">
                <a:solidFill>
                  <a:srgbClr val="5D6267"/>
                </a:solidFill>
                <a:latin typeface="Helvetica Neue"/>
                <a:ea typeface="Helvetica Neue"/>
                <a:cs typeface="Helvetica Neue"/>
              </a:rPr>
              <a:t>Fuentes primarias. Referencias y vínculos completos en las notas de cada diapositiva</a:t>
            </a:r>
          </a:p>
        </p:txBody>
      </p:sp>
      <p:sp>
        <p:nvSpPr>
          <p:cNvPr id="3" name="18">
            <a:extLst xmlns:a="http://schemas.openxmlformats.org/drawingml/2006/main">
              <a:ext uri="{FF2B5EF4-FFF2-40B4-BE49-F238E27FC236}">
                <a16:creationId xmlns:a16="http://schemas.microsoft.com/office/drawing/2014/main" id="{C96684F8-9772-4789-AF8D-60ABCDF13491}"/>
              </a:ext>
            </a:extLst>
          </p:cNvPr>
          <p:cNvSpPr>
            <a:spLocks xmlns:a="http://schemas.openxmlformats.org/drawingml/2006/main" noGrp="1"/>
          </p:cNvSpPr>
          <p:nvPr/>
        </p:nvSpPr>
        <p:spPr>
          <a:xfrm xmlns:a="http://schemas.openxmlformats.org/drawingml/2006/main">
            <a:off x="10953750" y="639127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buNone/>
              <a:defRPr sz="1425" b="0">
                <a:solidFill>
                  <a:srgbClr val="5D6267"/>
                </a:solidFill>
                <a:latin typeface="Helvetica Neue"/>
                <a:ea typeface="Helvetica Neue"/>
                <a:cs typeface="Helvetica Neue"/>
              </a:defRPr>
            </a:pPr>
            <a:r>
              <a:rPr sz="1425" b="0">
                <a:solidFill>
                  <a:srgbClr val="5D6267"/>
                </a:solidFill>
                <a:latin typeface="Helvetica Neue"/>
                <a:ea typeface="Helvetica Neue"/>
                <a:cs typeface="Helvetica Neue"/>
              </a:rPr>
              <a:t>21</a:t>
            </a:r>
          </a:p>
        </p:txBody>
      </p:sp>
      <p:sp>
        <p:nvSpPr>
          <p:cNvPr id="4" name="Wang et al., 2026">
            <a:extLst xmlns:a="http://schemas.openxmlformats.org/drawingml/2006/main">
              <a:ext uri="{FF2B5EF4-FFF2-40B4-BE49-F238E27FC236}">
                <a16:creationId xmlns:a16="http://schemas.microsoft.com/office/drawing/2014/main" id="{C7809BA1-7701-402D-B987-79E909798587}"/>
              </a:ext>
            </a:extLst>
          </p:cNvPr>
          <p:cNvSpPr>
            <a:spLocks xmlns:a="http://schemas.openxmlformats.org/drawingml/2006/main" noGrp="1"/>
          </p:cNvSpPr>
          <p:nvPr/>
        </p:nvSpPr>
        <p:spPr>
          <a:xfrm xmlns:a="http://schemas.openxmlformats.org/drawingml/2006/main">
            <a:off x="714375" y="1543050"/>
            <a:ext cx="10553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025" b="1">
                <a:solidFill>
                  <a:srgbClr val="007FA3"/>
                </a:solidFill>
                <a:latin typeface="Helvetica Neue"/>
                <a:ea typeface="Helvetica Neue"/>
                <a:cs typeface="Helvetica Neue"/>
              </a:defRPr>
            </a:pPr>
            <a:r>
              <a:rPr sz="2025" b="1">
                <a:solidFill>
                  <a:srgbClr val="007FA3"/>
                </a:solidFill>
                <a:latin typeface="Helvetica Neue"/>
                <a:ea typeface="Helvetica Neue"/>
                <a:cs typeface="Helvetica Neue"/>
              </a:rPr>
              <a:t>Wang et al., 2026</a:t>
            </a:r>
          </a:p>
        </p:txBody>
      </p:sp>
      <p:sp>
        <p:nvSpPr>
          <p:cNvPr id="5" name="DMEL. Applied Soft Computing 192, 114792. DOI: 10.1016/j.aso">
            <a:extLst xmlns:a="http://schemas.openxmlformats.org/drawingml/2006/main">
              <a:ext uri="{FF2B5EF4-FFF2-40B4-BE49-F238E27FC236}">
                <a16:creationId xmlns:a16="http://schemas.microsoft.com/office/drawing/2014/main" id="{D9B839C3-4DED-4780-B873-ED421CDDE7C1}"/>
              </a:ext>
            </a:extLst>
          </p:cNvPr>
          <p:cNvSpPr>
            <a:spLocks xmlns:a="http://schemas.openxmlformats.org/drawingml/2006/main" noGrp="1"/>
          </p:cNvSpPr>
          <p:nvPr/>
        </p:nvSpPr>
        <p:spPr>
          <a:xfrm xmlns:a="http://schemas.openxmlformats.org/drawingml/2006/main">
            <a:off x="714375" y="1971675"/>
            <a:ext cx="105537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950" b="0">
                <a:solidFill>
                  <a:srgbClr val="242C33"/>
                </a:solidFill>
                <a:latin typeface="Helvetica Neue"/>
                <a:ea typeface="Helvetica Neue"/>
                <a:cs typeface="Helvetica Neue"/>
              </a:defRPr>
            </a:pPr>
            <a:r>
              <a:rPr sz="1950" b="0">
                <a:solidFill>
                  <a:srgbClr val="242C33"/>
                </a:solidFill>
                <a:latin typeface="Helvetica Neue"/>
                <a:ea typeface="Helvetica Neue"/>
                <a:cs typeface="Helvetica Neue"/>
              </a:rPr>
              <a:t>DMEL. Applied Soft Computing 192, 114792. DOI: 10.1016/j.asoc.2026.114792</a:t>
            </a:r>
          </a:p>
        </p:txBody>
      </p:sp>
      <p:sp>
        <p:nvSpPr>
          <p:cNvPr id="6" name="Torres et al., 2011">
            <a:extLst xmlns:a="http://schemas.openxmlformats.org/drawingml/2006/main">
              <a:ext uri="{FF2B5EF4-FFF2-40B4-BE49-F238E27FC236}">
                <a16:creationId xmlns:a16="http://schemas.microsoft.com/office/drawing/2014/main" id="{EB322774-CAF5-4AA3-A7B4-A686AD3E923A}"/>
              </a:ext>
            </a:extLst>
          </p:cNvPr>
          <p:cNvSpPr>
            <a:spLocks xmlns:a="http://schemas.openxmlformats.org/drawingml/2006/main" noGrp="1"/>
          </p:cNvSpPr>
          <p:nvPr/>
        </p:nvSpPr>
        <p:spPr>
          <a:xfrm xmlns:a="http://schemas.openxmlformats.org/drawingml/2006/main">
            <a:off x="714375" y="2952750"/>
            <a:ext cx="10553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025" b="1">
                <a:solidFill>
                  <a:srgbClr val="007FA3"/>
                </a:solidFill>
                <a:latin typeface="Helvetica Neue"/>
                <a:ea typeface="Helvetica Neue"/>
                <a:cs typeface="Helvetica Neue"/>
              </a:defRPr>
            </a:pPr>
            <a:r>
              <a:rPr sz="2025" b="1">
                <a:solidFill>
                  <a:srgbClr val="007FA3"/>
                </a:solidFill>
                <a:latin typeface="Helvetica Neue"/>
                <a:ea typeface="Helvetica Neue"/>
                <a:cs typeface="Helvetica Neue"/>
              </a:rPr>
              <a:t>Torres et al., 2011</a:t>
            </a:r>
          </a:p>
        </p:txBody>
      </p:sp>
      <p:sp>
        <p:nvSpPr>
          <p:cNvPr id="7" name="A complete ensemble empirical mode decomposition with adapti">
            <a:extLst xmlns:a="http://schemas.openxmlformats.org/drawingml/2006/main">
              <a:ext uri="{FF2B5EF4-FFF2-40B4-BE49-F238E27FC236}">
                <a16:creationId xmlns:a16="http://schemas.microsoft.com/office/drawing/2014/main" id="{5D630880-1719-436C-BB6E-8039567D3150}"/>
              </a:ext>
            </a:extLst>
          </p:cNvPr>
          <p:cNvSpPr>
            <a:spLocks xmlns:a="http://schemas.openxmlformats.org/drawingml/2006/main" noGrp="1"/>
          </p:cNvSpPr>
          <p:nvPr/>
        </p:nvSpPr>
        <p:spPr>
          <a:xfrm xmlns:a="http://schemas.openxmlformats.org/drawingml/2006/main">
            <a:off x="714375" y="3381375"/>
            <a:ext cx="105537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950" b="0">
                <a:solidFill>
                  <a:srgbClr val="242C33"/>
                </a:solidFill>
                <a:latin typeface="Helvetica Neue"/>
                <a:ea typeface="Helvetica Neue"/>
                <a:cs typeface="Helvetica Neue"/>
              </a:defRPr>
            </a:pPr>
            <a:r>
              <a:rPr sz="1950" b="0">
                <a:solidFill>
                  <a:srgbClr val="242C33"/>
                </a:solidFill>
                <a:latin typeface="Helvetica Neue"/>
                <a:ea typeface="Helvetica Neue"/>
                <a:cs typeface="Helvetica Neue"/>
              </a:rPr>
              <a:t>A complete ensemble empirical mode decomposition with adaptive noise. ICASSP.</a:t>
            </a:r>
          </a:p>
        </p:txBody>
      </p:sp>
      <p:sp>
        <p:nvSpPr>
          <p:cNvPr id="8" name="Richman y Moorman, 2000">
            <a:extLst xmlns:a="http://schemas.openxmlformats.org/drawingml/2006/main">
              <a:ext uri="{FF2B5EF4-FFF2-40B4-BE49-F238E27FC236}">
                <a16:creationId xmlns:a16="http://schemas.microsoft.com/office/drawing/2014/main" id="{45E5914B-D1DF-4C52-8257-D46C71AC759A}"/>
              </a:ext>
            </a:extLst>
          </p:cNvPr>
          <p:cNvSpPr>
            <a:spLocks xmlns:a="http://schemas.openxmlformats.org/drawingml/2006/main" noGrp="1"/>
          </p:cNvSpPr>
          <p:nvPr/>
        </p:nvSpPr>
        <p:spPr>
          <a:xfrm xmlns:a="http://schemas.openxmlformats.org/drawingml/2006/main">
            <a:off x="714375" y="4362450"/>
            <a:ext cx="10553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025" b="1">
                <a:solidFill>
                  <a:srgbClr val="007FA3"/>
                </a:solidFill>
                <a:latin typeface="Helvetica Neue"/>
                <a:ea typeface="Helvetica Neue"/>
                <a:cs typeface="Helvetica Neue"/>
              </a:defRPr>
            </a:pPr>
            <a:r>
              <a:rPr sz="2025" b="1">
                <a:solidFill>
                  <a:srgbClr val="007FA3"/>
                </a:solidFill>
                <a:latin typeface="Helvetica Neue"/>
                <a:ea typeface="Helvetica Neue"/>
                <a:cs typeface="Helvetica Neue"/>
              </a:rPr>
              <a:t>Richman y Moorman, 2000</a:t>
            </a:r>
          </a:p>
        </p:txBody>
      </p:sp>
      <p:sp>
        <p:nvSpPr>
          <p:cNvPr id="9" name="Physiological time-series analysis using approximate entropy">
            <a:extLst xmlns:a="http://schemas.openxmlformats.org/drawingml/2006/main">
              <a:ext uri="{FF2B5EF4-FFF2-40B4-BE49-F238E27FC236}">
                <a16:creationId xmlns:a16="http://schemas.microsoft.com/office/drawing/2014/main" id="{A31CA53B-32DB-49F3-A8C7-7F2B8616F9EF}"/>
              </a:ext>
            </a:extLst>
          </p:cNvPr>
          <p:cNvSpPr>
            <a:spLocks xmlns:a="http://schemas.openxmlformats.org/drawingml/2006/main" noGrp="1"/>
          </p:cNvSpPr>
          <p:nvPr/>
        </p:nvSpPr>
        <p:spPr>
          <a:xfrm xmlns:a="http://schemas.openxmlformats.org/drawingml/2006/main">
            <a:off x="714375" y="4791075"/>
            <a:ext cx="105537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950" b="0">
                <a:solidFill>
                  <a:srgbClr val="242C33"/>
                </a:solidFill>
                <a:latin typeface="Helvetica Neue"/>
                <a:ea typeface="Helvetica Neue"/>
                <a:cs typeface="Helvetica Neue"/>
              </a:defRPr>
            </a:pPr>
            <a:r>
              <a:rPr sz="1950" b="0">
                <a:solidFill>
                  <a:srgbClr val="242C33"/>
                </a:solidFill>
                <a:latin typeface="Helvetica Neue"/>
                <a:ea typeface="Helvetica Neue"/>
                <a:cs typeface="Helvetica Neue"/>
              </a:rPr>
              <a:t>Physiological time-series analysis using approximate entropy and sample entropy.</a:t>
            </a:r>
          </a:p>
        </p:txBody>
      </p:sp>
    </p:spTree>
    <p:extLst>
      <p:ext uri="{BB962C8B-B14F-4D97-AF65-F5344CB8AC3E}">
        <p14:creationId xmlns:p14="http://schemas.microsoft.com/office/powerpoint/2010/main" val="690279301"/>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Referencias de evaluación y del proyecto">
            <a:extLst xmlns:a="http://schemas.openxmlformats.org/drawingml/2006/main">
              <a:ext uri="{FF2B5EF4-FFF2-40B4-BE49-F238E27FC236}">
                <a16:creationId xmlns:a16="http://schemas.microsoft.com/office/drawing/2014/main" id="{5C239C3F-9274-4066-94DC-443306780987}"/>
              </a:ext>
            </a:extLst>
          </p:cNvPr>
          <p:cNvSpPr>
            <a:spLocks xmlns:a="http://schemas.openxmlformats.org/drawingml/2006/main" noGrp="1"/>
          </p:cNvSpPr>
          <p:nvPr/>
        </p:nvSpPr>
        <p:spPr>
          <a:xfrm xmlns:a="http://schemas.openxmlformats.org/drawingml/2006/main">
            <a:off x="609600" y="42862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3300" b="1">
                <a:solidFill>
                  <a:srgbClr val="242C33"/>
                </a:solidFill>
                <a:latin typeface="Helvetica Neue"/>
                <a:ea typeface="Helvetica Neue"/>
                <a:cs typeface="Helvetica Neue"/>
              </a:defRPr>
            </a:pPr>
            <a:r>
              <a:rPr sz="3300" b="1">
                <a:solidFill>
                  <a:srgbClr val="064B6B"/>
                </a:solidFill>
                <a:latin typeface="Helvetica Neue"/>
                <a:ea typeface="Helvetica Neue"/>
                <a:cs typeface="Helvetica Neue"/>
              </a:rPr>
              <a:t>Referencias de evaluación y del proyecto</a:t>
            </a:r>
          </a:p>
        </p:txBody>
      </p:sp>
      <p:sp>
        <p:nvSpPr>
          <p:cNvPr id="2" name="Material de apoyo para la exposición y las preguntas individ">
            <a:extLst xmlns:a="http://schemas.openxmlformats.org/drawingml/2006/main">
              <a:ext uri="{FF2B5EF4-FFF2-40B4-BE49-F238E27FC236}">
                <a16:creationId xmlns:a16="http://schemas.microsoft.com/office/drawing/2014/main" id="{33C06E93-5F0A-4A83-9841-6461C595A8B1}"/>
              </a:ext>
            </a:extLst>
          </p:cNvPr>
          <p:cNvSpPr>
            <a:spLocks xmlns:a="http://schemas.openxmlformats.org/drawingml/2006/main" noGrp="1"/>
          </p:cNvSpPr>
          <p:nvPr/>
        </p:nvSpPr>
        <p:spPr>
          <a:xfrm xmlns:a="http://schemas.openxmlformats.org/drawingml/2006/main">
            <a:off x="628650" y="6429375"/>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200" b="0">
                <a:solidFill>
                  <a:srgbClr val="5D6267"/>
                </a:solidFill>
                <a:latin typeface="Helvetica Neue"/>
                <a:ea typeface="Helvetica Neue"/>
                <a:cs typeface="Helvetica Neue"/>
              </a:defRPr>
            </a:pPr>
            <a:r>
              <a:rPr sz="1200" b="0">
                <a:solidFill>
                  <a:srgbClr val="5D6267"/>
                </a:solidFill>
                <a:latin typeface="Helvetica Neue"/>
                <a:ea typeface="Helvetica Neue"/>
                <a:cs typeface="Helvetica Neue"/>
              </a:rPr>
              <a:t>Material de apoyo para la exposición y las preguntas individuales</a:t>
            </a:r>
          </a:p>
        </p:txBody>
      </p:sp>
      <p:sp>
        <p:nvSpPr>
          <p:cNvPr id="3" name="19">
            <a:extLst xmlns:a="http://schemas.openxmlformats.org/drawingml/2006/main">
              <a:ext uri="{FF2B5EF4-FFF2-40B4-BE49-F238E27FC236}">
                <a16:creationId xmlns:a16="http://schemas.microsoft.com/office/drawing/2014/main" id="{E69EB662-182C-494F-BB24-51FE51F3D25F}"/>
              </a:ext>
            </a:extLst>
          </p:cNvPr>
          <p:cNvSpPr>
            <a:spLocks xmlns:a="http://schemas.openxmlformats.org/drawingml/2006/main" noGrp="1"/>
          </p:cNvSpPr>
          <p:nvPr/>
        </p:nvSpPr>
        <p:spPr>
          <a:xfrm xmlns:a="http://schemas.openxmlformats.org/drawingml/2006/main">
            <a:off x="10953750" y="639127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buNone/>
              <a:defRPr sz="1425" b="0">
                <a:solidFill>
                  <a:srgbClr val="5D6267"/>
                </a:solidFill>
                <a:latin typeface="Helvetica Neue"/>
                <a:ea typeface="Helvetica Neue"/>
                <a:cs typeface="Helvetica Neue"/>
              </a:defRPr>
            </a:pPr>
            <a:r>
              <a:rPr sz="1425" b="0">
                <a:solidFill>
                  <a:srgbClr val="5D6267"/>
                </a:solidFill>
                <a:latin typeface="Helvetica Neue"/>
                <a:ea typeface="Helvetica Neue"/>
                <a:cs typeface="Helvetica Neue"/>
              </a:rPr>
              <a:t>22</a:t>
            </a:r>
          </a:p>
        </p:txBody>
      </p:sp>
      <p:sp>
        <p:nvSpPr>
          <p:cNvPr id="4" name="Zhou et al., 2021">
            <a:extLst xmlns:a="http://schemas.openxmlformats.org/drawingml/2006/main">
              <a:ext uri="{FF2B5EF4-FFF2-40B4-BE49-F238E27FC236}">
                <a16:creationId xmlns:a16="http://schemas.microsoft.com/office/drawing/2014/main" id="{EB5BE402-8652-44FE-8FAE-4C9BC034F99D}"/>
              </a:ext>
            </a:extLst>
          </p:cNvPr>
          <p:cNvSpPr>
            <a:spLocks xmlns:a="http://schemas.openxmlformats.org/drawingml/2006/main" noGrp="1"/>
          </p:cNvSpPr>
          <p:nvPr/>
        </p:nvSpPr>
        <p:spPr>
          <a:xfrm xmlns:a="http://schemas.openxmlformats.org/drawingml/2006/main">
            <a:off x="714375" y="1514475"/>
            <a:ext cx="10553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025" b="1">
                <a:solidFill>
                  <a:srgbClr val="007FA3"/>
                </a:solidFill>
                <a:latin typeface="Helvetica Neue"/>
                <a:ea typeface="Helvetica Neue"/>
                <a:cs typeface="Helvetica Neue"/>
              </a:defRPr>
            </a:pPr>
            <a:r>
              <a:rPr sz="2025" b="1">
                <a:solidFill>
                  <a:srgbClr val="007FA3"/>
                </a:solidFill>
                <a:latin typeface="Helvetica Neue"/>
                <a:ea typeface="Helvetica Neue"/>
                <a:cs typeface="Helvetica Neue"/>
              </a:rPr>
              <a:t>Zhou et al., 2021</a:t>
            </a:r>
          </a:p>
        </p:txBody>
      </p:sp>
      <p:sp>
        <p:nvSpPr>
          <p:cNvPr id="5" name="Informer: Beyond Efficient Transformer for Long Sequence Tim">
            <a:extLst xmlns:a="http://schemas.openxmlformats.org/drawingml/2006/main">
              <a:ext uri="{FF2B5EF4-FFF2-40B4-BE49-F238E27FC236}">
                <a16:creationId xmlns:a16="http://schemas.microsoft.com/office/drawing/2014/main" id="{76B885F7-A360-4C59-B3C1-81D0E6E03C85}"/>
              </a:ext>
            </a:extLst>
          </p:cNvPr>
          <p:cNvSpPr>
            <a:spLocks xmlns:a="http://schemas.openxmlformats.org/drawingml/2006/main" noGrp="1"/>
          </p:cNvSpPr>
          <p:nvPr/>
        </p:nvSpPr>
        <p:spPr>
          <a:xfrm xmlns:a="http://schemas.openxmlformats.org/drawingml/2006/main">
            <a:off x="714375" y="1943100"/>
            <a:ext cx="105537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950" b="0">
                <a:solidFill>
                  <a:srgbClr val="242C33"/>
                </a:solidFill>
                <a:latin typeface="Helvetica Neue"/>
                <a:ea typeface="Helvetica Neue"/>
                <a:cs typeface="Helvetica Neue"/>
              </a:defRPr>
            </a:pPr>
            <a:r>
              <a:rPr sz="1950" b="0">
                <a:solidFill>
                  <a:srgbClr val="242C33"/>
                </a:solidFill>
                <a:latin typeface="Helvetica Neue"/>
                <a:ea typeface="Helvetica Neue"/>
                <a:cs typeface="Helvetica Neue"/>
              </a:rPr>
              <a:t>Informer: Beyond Efficient Transformer for Long Sequence Time-Series Forecasting. arXiv:2012.07436</a:t>
            </a:r>
          </a:p>
        </p:txBody>
      </p:sp>
      <p:sp>
        <p:nvSpPr>
          <p:cNvPr id="6" name="Knoben, Freer y Woods, 2019">
            <a:extLst xmlns:a="http://schemas.openxmlformats.org/drawingml/2006/main">
              <a:ext uri="{FF2B5EF4-FFF2-40B4-BE49-F238E27FC236}">
                <a16:creationId xmlns:a16="http://schemas.microsoft.com/office/drawing/2014/main" id="{D4E016A9-6EFF-4170-934E-DC8F925AC9C7}"/>
              </a:ext>
            </a:extLst>
          </p:cNvPr>
          <p:cNvSpPr>
            <a:spLocks xmlns:a="http://schemas.openxmlformats.org/drawingml/2006/main" noGrp="1"/>
          </p:cNvSpPr>
          <p:nvPr/>
        </p:nvSpPr>
        <p:spPr>
          <a:xfrm xmlns:a="http://schemas.openxmlformats.org/drawingml/2006/main">
            <a:off x="714375" y="2905125"/>
            <a:ext cx="10553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025" b="1">
                <a:solidFill>
                  <a:srgbClr val="007FA3"/>
                </a:solidFill>
                <a:latin typeface="Helvetica Neue"/>
                <a:ea typeface="Helvetica Neue"/>
                <a:cs typeface="Helvetica Neue"/>
              </a:defRPr>
            </a:pPr>
            <a:r>
              <a:rPr sz="2025" b="1">
                <a:solidFill>
                  <a:srgbClr val="007FA3"/>
                </a:solidFill>
                <a:latin typeface="Helvetica Neue"/>
                <a:ea typeface="Helvetica Neue"/>
                <a:cs typeface="Helvetica Neue"/>
              </a:rPr>
              <a:t>Knoben, Freer y Woods, 2019</a:t>
            </a:r>
          </a:p>
        </p:txBody>
      </p:sp>
      <p:sp>
        <p:nvSpPr>
          <p:cNvPr id="7" name="Comparing Nash–Sutcliffe and Kling–Gupta efficiency scores. ">
            <a:extLst xmlns:a="http://schemas.openxmlformats.org/drawingml/2006/main">
              <a:ext uri="{FF2B5EF4-FFF2-40B4-BE49-F238E27FC236}">
                <a16:creationId xmlns:a16="http://schemas.microsoft.com/office/drawing/2014/main" id="{CE6AADE4-EEA3-466E-A54D-514F4EF8B05E}"/>
              </a:ext>
            </a:extLst>
          </p:cNvPr>
          <p:cNvSpPr>
            <a:spLocks xmlns:a="http://schemas.openxmlformats.org/drawingml/2006/main" noGrp="1"/>
          </p:cNvSpPr>
          <p:nvPr/>
        </p:nvSpPr>
        <p:spPr>
          <a:xfrm xmlns:a="http://schemas.openxmlformats.org/drawingml/2006/main">
            <a:off x="714375" y="3333750"/>
            <a:ext cx="105537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950" b="0">
                <a:solidFill>
                  <a:srgbClr val="242C33"/>
                </a:solidFill>
                <a:latin typeface="Helvetica Neue"/>
                <a:ea typeface="Helvetica Neue"/>
                <a:cs typeface="Helvetica Neue"/>
              </a:defRPr>
            </a:pPr>
            <a:r>
              <a:rPr sz="1950" b="0">
                <a:solidFill>
                  <a:srgbClr val="242C33"/>
                </a:solidFill>
                <a:latin typeface="Helvetica Neue"/>
                <a:ea typeface="Helvetica Neue"/>
                <a:cs typeface="Helvetica Neue"/>
              </a:rPr>
              <a:t>Comparing Nash–Sutcliffe and Kling–Gupta efficiency scores. HESS 23, 4323–4331.</a:t>
            </a:r>
          </a:p>
        </p:txBody>
      </p:sp>
      <p:sp>
        <p:nvSpPr>
          <p:cNvPr id="8" name="Laboratorio 2 y artefactos propios">
            <a:extLst xmlns:a="http://schemas.openxmlformats.org/drawingml/2006/main">
              <a:ext uri="{FF2B5EF4-FFF2-40B4-BE49-F238E27FC236}">
                <a16:creationId xmlns:a16="http://schemas.microsoft.com/office/drawing/2014/main" id="{F8F23B95-1DA1-447D-ACF4-EF6B48433F00}"/>
              </a:ext>
            </a:extLst>
          </p:cNvPr>
          <p:cNvSpPr>
            <a:spLocks xmlns:a="http://schemas.openxmlformats.org/drawingml/2006/main" noGrp="1"/>
          </p:cNvSpPr>
          <p:nvPr/>
        </p:nvSpPr>
        <p:spPr>
          <a:xfrm xmlns:a="http://schemas.openxmlformats.org/drawingml/2006/main">
            <a:off x="714375" y="4295775"/>
            <a:ext cx="10553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025" b="1">
                <a:solidFill>
                  <a:srgbClr val="007FA3"/>
                </a:solidFill>
                <a:latin typeface="Helvetica Neue"/>
                <a:ea typeface="Helvetica Neue"/>
                <a:cs typeface="Helvetica Neue"/>
              </a:defRPr>
            </a:pPr>
            <a:r>
              <a:rPr sz="2025" b="1">
                <a:solidFill>
                  <a:srgbClr val="007FA3"/>
                </a:solidFill>
                <a:latin typeface="Helvetica Neue"/>
                <a:ea typeface="Helvetica Neue"/>
                <a:cs typeface="Helvetica Neue"/>
              </a:rPr>
              <a:t>Laboratorio 2 y artefactos propios</a:t>
            </a:r>
          </a:p>
        </p:txBody>
      </p:sp>
      <p:sp>
        <p:nvSpPr>
          <p:cNvPr id="9" name="metadata.json, código dmel/, configuraciones y registro de e">
            <a:extLst xmlns:a="http://schemas.openxmlformats.org/drawingml/2006/main">
              <a:ext uri="{FF2B5EF4-FFF2-40B4-BE49-F238E27FC236}">
                <a16:creationId xmlns:a16="http://schemas.microsoft.com/office/drawing/2014/main" id="{A8363D1B-CFE2-48C4-B781-E25B6EBA3EEB}"/>
              </a:ext>
            </a:extLst>
          </p:cNvPr>
          <p:cNvSpPr>
            <a:spLocks xmlns:a="http://schemas.openxmlformats.org/drawingml/2006/main" noGrp="1"/>
          </p:cNvSpPr>
          <p:nvPr/>
        </p:nvSpPr>
        <p:spPr>
          <a:xfrm xmlns:a="http://schemas.openxmlformats.org/drawingml/2006/main">
            <a:off x="714375" y="4724400"/>
            <a:ext cx="105537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950" b="0">
                <a:solidFill>
                  <a:srgbClr val="242C33"/>
                </a:solidFill>
                <a:latin typeface="Helvetica Neue"/>
                <a:ea typeface="Helvetica Neue"/>
                <a:cs typeface="Helvetica Neue"/>
              </a:defRPr>
            </a:pPr>
            <a:r>
              <a:rPr sz="1950" b="0">
                <a:solidFill>
                  <a:srgbClr val="242C33"/>
                </a:solidFill>
                <a:latin typeface="Helvetica Neue"/>
                <a:ea typeface="Helvetica Neue"/>
                <a:cs typeface="Helvetica Neue"/>
              </a:rPr>
              <a:t>metadata.json, código dmel/, configuraciones y registro de ejecución en Khipu.</a:t>
            </a:r>
          </a:p>
        </p:txBody>
      </p:sp>
    </p:spTree>
    <p:extLst>
      <p:ext uri="{BB962C8B-B14F-4D97-AF65-F5344CB8AC3E}">
        <p14:creationId xmlns:p14="http://schemas.microsoft.com/office/powerpoint/2010/main" val="56952689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2026-10-03T22:54:33.2580000Z</dcterms:created>
  <dcterms:modified xsi:type="dcterms:W3CDTF">2026-10-03T22:54:33.2580000Z</dcterms:modified>
</coreProperties>
</file>