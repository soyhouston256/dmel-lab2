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e0c4f2a855e4572" /><Relationship Type="http://schemas.openxmlformats.org/officeDocument/2006/relationships/extended-properties" Target="/docProps/app.xml" Id="R5a21e6665f304425" /><Relationship Type="http://schemas.openxmlformats.org/officeDocument/2006/relationships/officeDocument" Target="/ppt/presentation.xml" Id="R9e8bdeb81c1d48c8" /></Relationships>
</file>

<file path=ppt/presentation.xml><?xml version="1.0" encoding="utf-8"?>
<p:presentation xmlns:p="http://schemas.openxmlformats.org/presentationml/2006/main">
  <p:sldMasterIdLst>
    <p:sldMasterId xmlns:r="http://schemas.openxmlformats.org/officeDocument/2006/relationships" id="2147483648" r:id="Ra32342a83134410a"/>
  </p:sldMasterIdLst>
  <p:notesMasterIdLst>
    <p:notesMasterId xmlns:r="http://schemas.openxmlformats.org/officeDocument/2006/relationships" r:id="R696b3f27f59e4217"/>
  </p:notesMasterIdLst>
  <p:sldIdLst>
    <p:sldId xmlns:r="http://schemas.openxmlformats.org/officeDocument/2006/relationships" id="256" r:id="R9dc6a50768e0410a"/>
    <p:sldId xmlns:r="http://schemas.openxmlformats.org/officeDocument/2006/relationships" id="257" r:id="R7e10c825d0164e54"/>
    <p:sldId xmlns:r="http://schemas.openxmlformats.org/officeDocument/2006/relationships" id="258" r:id="R3516c8709c294ec2"/>
    <p:sldId xmlns:r="http://schemas.openxmlformats.org/officeDocument/2006/relationships" id="259" r:id="Rf314a11de6e9442e"/>
    <p:sldId xmlns:r="http://schemas.openxmlformats.org/officeDocument/2006/relationships" id="260" r:id="Ra83c188058194eba"/>
    <p:sldId xmlns:r="http://schemas.openxmlformats.org/officeDocument/2006/relationships" id="261" r:id="Radeaedf137884e89"/>
    <p:sldId xmlns:r="http://schemas.openxmlformats.org/officeDocument/2006/relationships" id="262" r:id="Rea155151e018420f"/>
    <p:sldId xmlns:r="http://schemas.openxmlformats.org/officeDocument/2006/relationships" id="263" r:id="R324d111988fd4c07"/>
    <p:sldId xmlns:r="http://schemas.openxmlformats.org/officeDocument/2006/relationships" id="264" r:id="R931d043fc1a64f47"/>
    <p:sldId xmlns:r="http://schemas.openxmlformats.org/officeDocument/2006/relationships" id="265" r:id="R03fa7ba4521443d9"/>
    <p:sldId xmlns:r="http://schemas.openxmlformats.org/officeDocument/2006/relationships" id="266" r:id="Rb7646a3ff7c041af"/>
    <p:sldId xmlns:r="http://schemas.openxmlformats.org/officeDocument/2006/relationships" id="267" r:id="Rf9eb79634c654511"/>
    <p:sldId xmlns:r="http://schemas.openxmlformats.org/officeDocument/2006/relationships" id="268" r:id="Rbf6aa6a5736e4080"/>
    <p:sldId xmlns:r="http://schemas.openxmlformats.org/officeDocument/2006/relationships" id="269" r:id="R6e65e151b4db4fe4"/>
    <p:sldId xmlns:r="http://schemas.openxmlformats.org/officeDocument/2006/relationships" id="270" r:id="R5c48e670a74b40fb"/>
    <p:sldId xmlns:r="http://schemas.openxmlformats.org/officeDocument/2006/relationships" id="271" r:id="R31b1d87f25d7465f"/>
    <p:sldId xmlns:r="http://schemas.openxmlformats.org/officeDocument/2006/relationships" id="272" r:id="R7ff137e2d7874da2"/>
    <p:sldId xmlns:r="http://schemas.openxmlformats.org/officeDocument/2006/relationships" id="273" r:id="R2fa3132733e24fc6"/>
    <p:sldId xmlns:r="http://schemas.openxmlformats.org/officeDocument/2006/relationships" id="274" r:id="R89d1f83e5a7d46b1"/>
    <p:sldId xmlns:r="http://schemas.openxmlformats.org/officeDocument/2006/relationships" id="275" r:id="R952c974bf91340a9"/>
    <p:sldId xmlns:r="http://schemas.openxmlformats.org/officeDocument/2006/relationships" id="276" r:id="Rc007aa3356854302"/>
    <p:sldId xmlns:r="http://schemas.openxmlformats.org/officeDocument/2006/relationships" id="277" r:id="R9565ac8c386c4fc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33e68b1e0174295" /><Relationship Type="http://schemas.openxmlformats.org/officeDocument/2006/relationships/slideMaster" Target="/ppt/slideMasters/slideMaster1.xml" Id="Ra32342a83134410a" /><Relationship Type="http://schemas.openxmlformats.org/officeDocument/2006/relationships/notesMaster" Target="/ppt/notesMasters/notesMaster1.xml" Id="R696b3f27f59e4217" /><Relationship Type="http://schemas.openxmlformats.org/officeDocument/2006/relationships/presProps" Target="/ppt/presProps.xml" Id="R9622c77f14234eae" /><Relationship Type="http://schemas.openxmlformats.org/officeDocument/2006/relationships/tableStyles" Target="/ppt/tableStyles.xml" Id="R3d6bc9b44c584395" /><Relationship Type="http://schemas.openxmlformats.org/officeDocument/2006/relationships/slide" Target="/ppt/slides/slide1.xml" Id="R9dc6a50768e0410a" /><Relationship Type="http://schemas.openxmlformats.org/officeDocument/2006/relationships/slide" Target="/ppt/slides/slide2.xml" Id="R7e10c825d0164e54" /><Relationship Type="http://schemas.openxmlformats.org/officeDocument/2006/relationships/slide" Target="/ppt/slides/slide3.xml" Id="R3516c8709c294ec2" /><Relationship Type="http://schemas.openxmlformats.org/officeDocument/2006/relationships/slide" Target="/ppt/slides/slide4.xml" Id="Rf314a11de6e9442e" /><Relationship Type="http://schemas.openxmlformats.org/officeDocument/2006/relationships/slide" Target="/ppt/slides/slide5.xml" Id="Ra83c188058194eba" /><Relationship Type="http://schemas.openxmlformats.org/officeDocument/2006/relationships/slide" Target="/ppt/slides/slide6.xml" Id="Radeaedf137884e89" /><Relationship Type="http://schemas.openxmlformats.org/officeDocument/2006/relationships/slide" Target="/ppt/slides/slide7.xml" Id="Rea155151e018420f" /><Relationship Type="http://schemas.openxmlformats.org/officeDocument/2006/relationships/slide" Target="/ppt/slides/slide8.xml" Id="R324d111988fd4c07" /><Relationship Type="http://schemas.openxmlformats.org/officeDocument/2006/relationships/slide" Target="/ppt/slides/slide9.xml" Id="R931d043fc1a64f47" /><Relationship Type="http://schemas.openxmlformats.org/officeDocument/2006/relationships/slide" Target="/ppt/slides/slide10.xml" Id="R03fa7ba4521443d9" /><Relationship Type="http://schemas.openxmlformats.org/officeDocument/2006/relationships/slide" Target="/ppt/slides/slide11.xml" Id="Rb7646a3ff7c041af" /><Relationship Type="http://schemas.openxmlformats.org/officeDocument/2006/relationships/slide" Target="/ppt/slides/slide12.xml" Id="Rf9eb79634c654511" /><Relationship Type="http://schemas.openxmlformats.org/officeDocument/2006/relationships/slide" Target="/ppt/slides/slide13.xml" Id="Rbf6aa6a5736e4080" /><Relationship Type="http://schemas.openxmlformats.org/officeDocument/2006/relationships/slide" Target="/ppt/slides/slide14.xml" Id="R6e65e151b4db4fe4" /><Relationship Type="http://schemas.openxmlformats.org/officeDocument/2006/relationships/slide" Target="/ppt/slides/slide15.xml" Id="R5c48e670a74b40fb" /><Relationship Type="http://schemas.openxmlformats.org/officeDocument/2006/relationships/slide" Target="/ppt/slides/slide16.xml" Id="R31b1d87f25d7465f" /><Relationship Type="http://schemas.openxmlformats.org/officeDocument/2006/relationships/slide" Target="/ppt/slides/slide17.xml" Id="R7ff137e2d7874da2" /><Relationship Type="http://schemas.openxmlformats.org/officeDocument/2006/relationships/slide" Target="/ppt/slides/slide18.xml" Id="R2fa3132733e24fc6" /><Relationship Type="http://schemas.openxmlformats.org/officeDocument/2006/relationships/slide" Target="/ppt/slides/slide19.xml" Id="R89d1f83e5a7d46b1" /><Relationship Type="http://schemas.openxmlformats.org/officeDocument/2006/relationships/slide" Target="/ppt/slides/slide20.xml" Id="R952c974bf91340a9" /><Relationship Type="http://schemas.openxmlformats.org/officeDocument/2006/relationships/slide" Target="/ppt/slides/slide21.xml" Id="Rc007aa3356854302" /><Relationship Type="http://schemas.openxmlformats.org/officeDocument/2006/relationships/slide" Target="/ppt/slides/slide22.xml" Id="R9565ac8c386c4fc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98c7166e54f44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11c74130d0241f4" /><Relationship Type="http://schemas.openxmlformats.org/officeDocument/2006/relationships/notesMaster" Target="/ppt/notesMasters/notesMaster1.xml" Id="Rc6a05c5868a04aab" /></Relationships>
</file>

<file path=ppt/notesSlides/_rels/notesSlide2.xml.rels>&#65279;<?xml version="1.0" encoding="utf-8"?><Relationships xmlns="http://schemas.openxmlformats.org/package/2006/relationships"><Relationship Type="http://schemas.openxmlformats.org/officeDocument/2006/relationships/slide" Target="/ppt/slides/slide2.xml" Id="R1d0130864de94b00" /><Relationship Type="http://schemas.openxmlformats.org/officeDocument/2006/relationships/notesMaster" Target="/ppt/notesMasters/notesMaster1.xml" Id="R7eeaa984576d411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8c49ef27ac549d5" /><Relationship Type="http://schemas.openxmlformats.org/officeDocument/2006/relationships/notesMaster" Target="/ppt/notesMasters/notesMaster1.xml" Id="Rf091fb986a8347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9b02ccbbbe4346" /><Relationship Type="http://schemas.openxmlformats.org/officeDocument/2006/relationships/notesMaster" Target="/ppt/notesMasters/notesMaster1.xml" Id="R560847ab7b4c414b" /></Relationships>
</file>

<file path=ppt/notesSlides/_rels/notesSlide5.xml.rels>&#65279;<?xml version="1.0" encoding="utf-8"?><Relationships xmlns="http://schemas.openxmlformats.org/package/2006/relationships"><Relationship Type="http://schemas.openxmlformats.org/officeDocument/2006/relationships/slide" Target="/ppt/slides/slide5.xml" Id="R21e4648ca25f44a1" /><Relationship Type="http://schemas.openxmlformats.org/officeDocument/2006/relationships/notesMaster" Target="/ppt/notesMasters/notesMaster1.xml" Id="Ra092abeba8bf4aef" /></Relationships>
</file>

<file path=ppt/notesSlides/_rels/notesSlide6.xml.rels>&#65279;<?xml version="1.0" encoding="utf-8"?><Relationships xmlns="http://schemas.openxmlformats.org/package/2006/relationships"><Relationship Type="http://schemas.openxmlformats.org/officeDocument/2006/relationships/slide" Target="/ppt/slides/slide6.xml" Id="R0d155a58ddf84a25" /><Relationship Type="http://schemas.openxmlformats.org/officeDocument/2006/relationships/notesMaster" Target="/ppt/notesMasters/notesMaster1.xml" Id="R1e368dfe335f4b20" /></Relationships>
</file>

<file path=ppt/notesSlides/_rels/notesSlide7.xml.rels>&#65279;<?xml version="1.0" encoding="utf-8"?><Relationships xmlns="http://schemas.openxmlformats.org/package/2006/relationships"><Relationship Type="http://schemas.openxmlformats.org/officeDocument/2006/relationships/slide" Target="/ppt/slides/slide7.xml" Id="Re025fbdbf4f344f2" /><Relationship Type="http://schemas.openxmlformats.org/officeDocument/2006/relationships/notesMaster" Target="/ppt/notesMasters/notesMaster1.xml" Id="R11b1f62d62714acf" /></Relationships>
</file>

<file path=ppt/notesSlides/_rels/notesSlide8.xml.rels>&#65279;<?xml version="1.0" encoding="utf-8"?><Relationships xmlns="http://schemas.openxmlformats.org/package/2006/relationships"><Relationship Type="http://schemas.openxmlformats.org/officeDocument/2006/relationships/slide" Target="/ppt/slides/slide8.xml" Id="Rcf81112940f6477d" /><Relationship Type="http://schemas.openxmlformats.org/officeDocument/2006/relationships/notesMaster" Target="/ppt/notesMasters/notesMaster1.xml" Id="R35aa5107a7a74a4f" /></Relationships>
</file>

<file path=ppt/notesSlides/_rels/notesSlide9.xml.rels>&#65279;<?xml version="1.0" encoding="utf-8"?><Relationships xmlns="http://schemas.openxmlformats.org/package/2006/relationships"><Relationship Type="http://schemas.openxmlformats.org/officeDocument/2006/relationships/slide" Target="/ppt/slides/slide9.xml" Id="Rab7f3a637d4646a9" /><Relationship Type="http://schemas.openxmlformats.org/officeDocument/2006/relationships/notesMaster" Target="/ppt/notesMasters/notesMaster1.xml" Id="Rc61261da4a2749c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1884553782646b7" /><Relationship Type="http://schemas.openxmlformats.org/officeDocument/2006/relationships/notesMaster" Target="/ppt/notesMasters/notesMaster1.xml" Id="R7152234f21cd4f2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69a981bafb24d08" /><Relationship Type="http://schemas.openxmlformats.org/officeDocument/2006/relationships/notesMaster" Target="/ppt/notesMasters/notesMaster1.xml" Id="R71a945bc426a45a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dd56e72597141ac" /><Relationship Type="http://schemas.openxmlformats.org/officeDocument/2006/relationships/notesMaster" Target="/ppt/notesMasters/notesMaster1.xml" Id="R6bdc09e1681c41a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97ca82328cb4e69" /><Relationship Type="http://schemas.openxmlformats.org/officeDocument/2006/relationships/notesMaster" Target="/ppt/notesMasters/notesMaster1.xml" Id="R0df96dfe1653467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be6d1b499174883" /><Relationship Type="http://schemas.openxmlformats.org/officeDocument/2006/relationships/notesMaster" Target="/ppt/notesMasters/notesMaster1.xml" Id="Rb377fe1ff0bc49c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6a59007fe9340ca" /><Relationship Type="http://schemas.openxmlformats.org/officeDocument/2006/relationships/notesMaster" Target="/ppt/notesMasters/notesMaster1.xml" Id="R7b6c40d3919340f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f66ffb5382e41cd" /><Relationship Type="http://schemas.openxmlformats.org/officeDocument/2006/relationships/notesMaster" Target="/ppt/notesMasters/notesMaster1.xml" Id="Rbeef531d7abd4b0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d705587a98945c6" /><Relationship Type="http://schemas.openxmlformats.org/officeDocument/2006/relationships/notesMaster" Target="/ppt/notesMasters/notesMaster1.xml" Id="R530b6c420d1f453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72b9448b050496a" /><Relationship Type="http://schemas.openxmlformats.org/officeDocument/2006/relationships/notesMaster" Target="/ppt/notesMasters/notesMaster1.xml" Id="R8a7b3e839e09402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5347ab2bead4387" /><Relationship Type="http://schemas.openxmlformats.org/officeDocument/2006/relationships/notesMaster" Target="/ppt/notesMasters/notesMaster1.xml" Id="R73a127cf322b44d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1b014f852234e48" /><Relationship Type="http://schemas.openxmlformats.org/officeDocument/2006/relationships/notesMaster" Target="/ppt/notesMasters/notesMaster1.xml" Id="Rda93ab9e2dfd475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a69c52fab464795" /><Relationship Type="http://schemas.openxmlformats.org/officeDocument/2006/relationships/notesMaster" Target="/ppt/notesMasters/notesMaster1.xml" Id="R614a2c32ca04464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d2bf7282702437b" /><Relationship Type="http://schemas.openxmlformats.org/officeDocument/2006/relationships/notesMaster" Target="/ppt/notesMasters/notesMaster1.xml" Id="Rc60a39bd736246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Metodología. Tiempo orientativo: 15 segundos.</a:t>
            </a:r>
          </a:p>
          <a:p xmlns:a="http://schemas.openxmlformats.org/drawingml/2006/main">
            <a:r>
              <a:t/>
            </a:r>
          </a:p>
          <a:p xmlns:a="http://schemas.openxmlformats.org/drawingml/2006/main">
            <a:r>
              <a:t>Presentamos una adaptación de DMEL para pronosticar las siguientes 48 horas de caudal específico a partir de 14 días de historia. Explicaremos el método, su aplicación al laboratorio y los resultados disponibles del modelo LSTM.</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a:t>
            </a:r>
          </a:p>
          <a:p xmlns:a="http://schemas.openxmlformats.org/drawingml/2006/main">
            <a:r>
              <a:t/>
            </a:r>
          </a:p>
          <a:p xmlns:a="http://schemas.openxmlformats.org/drawingml/2006/main">
            <a:r>
              <a:t>Laboratorio 2.pdf, documento proporcionado por el usuario, pp. 1–3. Video: metodología 6 min, implementación 6 min, resultados 6 min. Se permiten simplificaciones justificadas, conservando la propuesta central.</a:t>
            </a:r>
          </a:p>
          <a:p xmlns:a="http://schemas.openxmlformats.org/drawingml/2006/main">
            <a:r>
              <a:t/>
            </a:r>
          </a:p>
          <a:p xmlns:a="http://schemas.openxmlformats.org/drawingml/2006/main">
            <a:r>
              <a:t>Logo original UTEC Posgrado: https://posgrado.utec.edu.pe/sites/default/files/2023-07/logo-utec-color.svg . Adaptación sobria para esta exposición, sin atribuir una plantilla oficial.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Metodología. Tiempo orientativo: 45 segundos.</a:t>
            </a:r>
          </a:p>
          <a:p xmlns:a="http://schemas.openxmlformats.org/drawingml/2006/main">
            <a:r>
              <a:t/>
            </a:r>
          </a:p>
          <a:p xmlns:a="http://schemas.openxmlformats.org/drawingml/2006/main">
            <a:r>
              <a:t>El problema es anticipar varios valores futuros de caudal. Una serie hidrológica combina episodios abruptos con una evolución más suave. El paper estudia principalmente dos estaciones chinas con datos diarios entre 2002 y 2005. La historia de entrada tiene siete días y los horizontes de evaluación son uno, tres, cinco y siete días. El mapa identifica una cuenca original y no representa nuestro dataset, cuyas cuencas son anónimas. Los resultados de ese contexto motivan la adaptación, pero no acreditan por sí mismos un buen pronóstico horario.</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Páginas 5 y 7, figura 5.</a:t>
            </a:r>
          </a:p>
          <a:p xmlns:a="http://schemas.openxmlformats.org/drawingml/2006/main">
            <a:r>
              <a:t/>
            </a:r>
          </a:p>
          <a:p xmlns:a="http://schemas.openxmlformats.org/drawingml/2006/main">
            <a:r>
              <a:t>dataset/metadata.json; Laboratorio 2.pdf, pp. 1–2; outputs/revision-dataset-lab2.json. Datos oficiales enlazados por el laboratorio: https://drive.google.com/drive/folders/1crKbJBhLHQEVJGG-agOxMnKLDnBP2x4w . train.h5 está disponible en Khipu. No se utilizó test_targets.csv.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Metodología. Tiempo orientativo: 60 segundos.</a:t>
            </a:r>
          </a:p>
          <a:p xmlns:a="http://schemas.openxmlformats.org/drawingml/2006/main">
            <a:r>
              <a:t/>
            </a:r>
          </a:p>
          <a:p xmlns:a="http://schemas.openxmlformats.org/drawingml/2006/main">
            <a:r>
              <a:t>La propuesta central combina una representación descompuesta con dos familias de redes. CEEMDAN extrae componentes de la señal. MRS calcula su entropía muestral y reúne componentes de complejidad parecida en señales reconstruidas o RIMFs. Después compara su entropía con la del caudal original para asignarlas a Informer o LSTM. Finalmente suma las predicciones. El término dual-modal se refiere aquí a grupos de componentes de la serie. La especialización de las redes es una hipótesis que debemos contrastar con una ablación. La figura es un detalle del esquema publicado, no un diagrama de nuestro código.</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Páginas 5–6, figura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Metodología. Tiempo orientativo: 60 segundos.</a:t>
            </a:r>
          </a:p>
          <a:p xmlns:a="http://schemas.openxmlformats.org/drawingml/2006/main">
            <a:r>
              <a:t/>
            </a:r>
          </a:p>
          <a:p xmlns:a="http://schemas.openxmlformats.org/drawingml/2006/main">
            <a:r>
              <a:t>Una IMF es un componente oscilatorio que EMD obtiene usando los extremos locales y sus envolventes. CEEMDAN repite extracciones con perturbaciones de ruido y combina los resultados por etapas. La identidad de reconstrucción es esencial: el caudal debe ser igual a la suma de los modos más el residuo, salvo error numérico. El artículo usa cien realizaciones y un nivel de ruido de 0.2. El backend y algunas reglas de parada no quedan totalmente especificados. Nuestra implementación documenta bordes, escalado del ruido y criterio de parada. El número de modos depende de la ventana, de modo que no fijamos los nueve modos observados en las estaciones del artículo.</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Páginas 3 y 7.</a:t>
            </a:r>
          </a:p>
          <a:p xmlns:a="http://schemas.openxmlformats.org/drawingml/2006/main">
            <a:r>
              <a:t/>
            </a:r>
          </a:p>
          <a:p xmlns:a="http://schemas.openxmlformats.org/drawingml/2006/main">
            <a:r>
              <a:t>Torres et al. (2011). A complete ensemble empirical mode decomposition with adaptive noise. ICASSP. https://perso.ens-lyon.fr/patrick.flandrin/0004144.pdf . Véanse también docs/decomposition.md y dmel/decomposition.py.</a:t>
            </a:r>
          </a:p>
          <a:p xmlns:a="http://schemas.openxmlformats.org/drawingml/2006/main">
            <a:r>
              <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Metodología. Tiempo orientativo: 50 segundos.</a:t>
            </a:r>
          </a:p>
          <a:p xmlns:a="http://schemas.openxmlformats.org/drawingml/2006/main">
            <a:r>
              <a:t/>
            </a:r>
          </a:p>
          <a:p xmlns:a="http://schemas.openxmlformats.org/drawingml/2006/main">
            <a:r>
              <a:t>La entropía muestral evalúa cuánto persiste la semejanza entre patrones al extenderlos un paso. B cuenta los pares parecidos de longitud m y A los que siguen parecidos con longitud m más uno. Cuando esa proporción es pequeña, la entropía es mayor y la señal resulta menos regular según esta medida. El paper usa m igual a dos y una tolerancia de 0.2 veces la desviación estándar de la señal evaluada. MRS reúne componentes con entropías parecidas y vuelve a evaluar las señales reconstruidas. Entropía no equivale directamente a frecuencia física: alta y baja son etiquetas operativas. La regla general de similitud entre IMFs no queda suficientemente detallada para reproducirla sin decisiones adicionales.</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Páginas 3, 5 y 7.</a:t>
            </a:r>
          </a:p>
          <a:p xmlns:a="http://schemas.openxmlformats.org/drawingml/2006/main">
            <a:r>
              <a:t/>
            </a:r>
          </a:p>
          <a:p xmlns:a="http://schemas.openxmlformats.org/drawingml/2006/main">
            <a:r>
              <a:t>Richman y Moorman (2000). Physiological time-series analysis using approximate entropy and sample entropy. https://doi.org/10.1152/ajpheart.2000.278.6.H2039 . Recurso de contraste: https://physionet.org/content/sampen/1.0.0/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Metodología. Tiempo orientativo: 70 segundos.</a:t>
            </a:r>
          </a:p>
          <a:p xmlns:a="http://schemas.openxmlformats.org/drawingml/2006/main">
            <a:r>
              <a:t/>
            </a:r>
          </a:p>
          <a:p xmlns:a="http://schemas.openxmlformats.org/drawingml/2006/main">
            <a:r>
              <a:t>Informer usa atención para relacionar posiciones de la historia. ProbSparse selecciona consultas relevantes usando una medida de dispersión de sus puntuaciones de atención. La reducción temporal del encoder disminuye la longitud de sus representaciones. El decoder produce la secuencia futura de una vez, evitando alimentar cada predicción como entrada del paso siguiente. El trabajo original de Informer describe el beneficio para secuencias largas. Nuestra implementación conserva estos mecanismos principales, pero adapta embeddings y otros detalles. El decoder recibe un prefijo conocido y ceros para las posiciones futuras. No recibe los caudales ni las variables meteorológicas observadas del futuro.</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Página 4, figura 1.</a:t>
            </a:r>
          </a:p>
          <a:p xmlns:a="http://schemas.openxmlformats.org/drawingml/2006/main">
            <a:r>
              <a:t/>
            </a:r>
          </a:p>
          <a:p xmlns:a="http://schemas.openxmlformats.org/drawingml/2006/main">
            <a:r>
              <a:t>Zhou et al. (2021). Informer: Beyond Efficient Transformer for Long Sequence Time-Series Forecasting. https://arxiv.org/abs/2012.07436 .</a:t>
            </a:r>
          </a:p>
          <a:p xmlns:a="http://schemas.openxmlformats.org/drawingml/2006/main">
            <a:r>
              <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Metodología. Tiempo orientativo: 60 segundos.</a:t>
            </a:r>
          </a:p>
          <a:p xmlns:a="http://schemas.openxmlformats.org/drawingml/2006/main">
            <a:r>
              <a:t/>
            </a:r>
          </a:p>
          <a:p xmlns:a="http://schemas.openxmlformats.org/drawingml/2006/main">
            <a:r>
              <a:t>La LSTM mantiene un estado de memoria. La compuerta de olvido controla qué parte conserva, la de entrada qué información incorpora y la de salida qué parte comunica al estado oculto. DMEL asigna esta red a los componentes de menor complejidad y suma su predicción con la rama Informer. En nuestra adaptación, una cabeza lineal obtiene directamente los 48 pasos a partir de la LSTM. El entrenamiento minimiza el error del caudal total, así que las contribuciones pronosticadas por cada rama no tienen una interpretación física identificable por separado. Esta especialización se evaluará frente a una variante con Informer en ambas ramas.</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Páginas 4–5, figura 2 y ecuación 14.</a:t>
            </a:r>
          </a:p>
          <a:p xmlns:a="http://schemas.openxmlformats.org/drawingml/2006/main">
            <a:r>
              <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Tiempo orientativo: 45 segundos.</a:t>
            </a:r>
          </a:p>
          <a:p xmlns:a="http://schemas.openxmlformats.org/drawingml/2006/main">
            <a:r>
              <a:t/>
            </a:r>
          </a:p>
          <a:p xmlns:a="http://schemas.openxmlformats.org/drawingml/2006/main">
            <a:r>
              <a:t>Pasamos de un problema diario a uno horario. Cada ejemplo aporta 336 horas y exige 48 valores futuros de caudal específico. La salida se expresa en milímetros por hora, como establece el laboratorio. Usamos las once variables meteorológicas históricas junto al caudal, y respetamos los flags de entrenamiento y validación. No aplicamos otra vez el reparto porcentual del artículo. El laboratorio permite reemplazar componentes si falta información, siempre que lo justifiquemos y conservemos la idea central. Por eso hablaremos de una adaptación, sin afirmar reproducción exacta de las cifras publicadas.</a:t>
            </a:r>
          </a:p>
          <a:p xmlns:a="http://schemas.openxmlformats.org/drawingml/2006/main">
            <a:r>
              <a:t/>
            </a:r>
          </a:p>
          <a:p xmlns:a="http://schemas.openxmlformats.org/drawingml/2006/main">
            <a:r>
              <a:t>FUENTES</a:t>
            </a:r>
          </a:p>
          <a:p xmlns:a="http://schemas.openxmlformats.org/drawingml/2006/main">
            <a:r>
              <a:t>Laboratorio 2.pdf, documento proporcionado por el usuario, pp. 1–3. Video: metodología 6 min, implementación 6 min, resultados 6 min. Se permiten simplificaciones justificadas, conservando la propuesta central.</a:t>
            </a:r>
          </a:p>
          <a:p xmlns:a="http://schemas.openxmlformats.org/drawingml/2006/main">
            <a:r>
              <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Página 5.</a:t>
            </a:r>
          </a:p>
          <a:p xmlns:a="http://schemas.openxmlformats.org/drawingml/2006/main">
            <a:r>
              <a:t/>
            </a:r>
          </a:p>
          <a:p xmlns:a="http://schemas.openxmlformats.org/drawingml/2006/main">
            <a:r>
              <a:t>dataset/metadata.json; Laboratorio 2.pdf, pp. 1–2; outputs/revision-dataset-lab2.json. Datos oficiales enlazados por el laboratorio: https://drive.google.com/drive/folders/1crKbJBhLHQEVJGG-agOxMnKLDnBP2x4w . train.h5 está disponible en Khipu. No se utilizó test_targets.csv.</a:t>
            </a:r>
          </a:p>
          <a:p xmlns:a="http://schemas.openxmlformats.org/drawingml/2006/main">
            <a:r>
              <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Tiempo orientativo: 45 segundos.</a:t>
            </a:r>
          </a:p>
          <a:p xmlns:a="http://schemas.openxmlformats.org/drawingml/2006/main">
            <a:r>
              <a:t/>
            </a:r>
          </a:p>
          <a:p xmlns:a="http://schemas.openxmlformats.org/drawingml/2006/main">
            <a:r>
              <a:t>El eje de entrada sigue el orden muestra, tiempo y canal. El caudal está en el canal once, contando desde cero. Los metadatos declaran 254 mil ejemplos de entrenamiento y 18 142 de validación, juntos en train.h5, cuyo total de 272 142 filas verificamos en Khipu. Test contiene 27 983 historias. Hemos comprobado 508 cuencas en validación y en test, pero no debemos convertir sus identificadores anónimos en ubicaciones o calendarios. Las unidades meteorológicas no están especificadas en los metadatos, por lo que conservamos nombres y valores sin inventar conversiones.</a:t>
            </a:r>
          </a:p>
          <a:p xmlns:a="http://schemas.openxmlformats.org/drawingml/2006/main">
            <a:r>
              <a:t/>
            </a:r>
          </a:p>
          <a:p xmlns:a="http://schemas.openxmlformats.org/drawingml/2006/main">
            <a:r>
              <a:t>FUENTES</a:t>
            </a:r>
          </a:p>
          <a:p xmlns:a="http://schemas.openxmlformats.org/drawingml/2006/main">
            <a:r>
              <a:t>dataset/metadata.json; Laboratorio 2.pdf, pp. 1–2; outputs/revision-dataset-lab2.json. Datos oficiales enlazados por el laboratorio: https://drive.google.com/drive/folders/1crKbJBhLHQEVJGG-agOxMnKLDnBP2x4w . train.h5 está disponible en Khipu. No se utilizó test_targets.csv.</a:t>
            </a:r>
          </a:p>
          <a:p xmlns:a="http://schemas.openxmlformats.org/drawingml/2006/main">
            <a:r>
              <a:t/>
            </a:r>
          </a:p>
          <a:p xmlns:a="http://schemas.openxmlformats.org/drawingml/2006/main">
            <a:r>
              <a:t>Resultados propios de validación del LSTM, job 53987 COMPLETED 0:0. outputs/khipu-lstm-53987-completed/metrics.json, analysis.json y status.json. Historial: outputs/khipu-lstm-53987-history-20261003.json. Fuente: salidas de Khipu compartidas por el usuario y contrastadas localmente. Se evalúa el mejor checkpoint, epoch=9 (décima época). 18142 ventanas, 48 horizontes y 508 cuencas. No son resultados de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Tiempo orientativo: 40 segundos.</a:t>
            </a:r>
          </a:p>
          <a:p xmlns:a="http://schemas.openxmlformats.org/drawingml/2006/main">
            <a:r>
              <a:t/>
            </a:r>
          </a:p>
          <a:p xmlns:a="http://schemas.openxmlformats.org/drawingml/2006/main">
            <a:r>
              <a:t>Este gráfico usa la primera fila de test.h5, cuenca anónima 222. La selección es simplemente la primera fila, sin elegirla por calidad de una predicción. Mostramos sus 336 caudales históricos y ubicamos el final de la ventana en la hora cero. Los objetivos futuros comienzan en la hora uno y terminan en la 48. El gráfico no contiene una predicción ni objetivos de test. Permite observar un ascenso pronunciado y una recesión dentro del pasado disponible. La forma de esa ventana ayuda a explicar por qué estudiar componentes de distinta regularidad puede ser útil.</a:t>
            </a:r>
          </a:p>
          <a:p xmlns:a="http://schemas.openxmlformats.org/drawingml/2006/main">
            <a:r>
              <a:t/>
            </a:r>
          </a:p>
          <a:p xmlns:a="http://schemas.openxmlformats.org/drawingml/2006/main">
            <a:r>
              <a:t>FUENTES</a:t>
            </a:r>
          </a:p>
          <a:p xmlns:a="http://schemas.openxmlformats.org/drawingml/2006/main">
            <a:r>
              <a:t>dataset/metadata.json; Laboratorio 2.pdf, pp. 1–2; outputs/revision-dataset-lab2.json. Datos oficiales enlazados por el laboratorio: https://drive.google.com/drive/folders/1crKbJBhLHQEVJGG-agOxMnKLDnBP2x4w . train.h5 está disponible en Khipu. No se utilizó test_targets.csv.</a:t>
            </a:r>
          </a:p>
          <a:p xmlns:a="http://schemas.openxmlformats.org/drawingml/2006/main">
            <a:r>
              <a:t/>
            </a:r>
          </a:p>
          <a:p xmlns:a="http://schemas.openxmlformats.org/drawingml/2006/main">
            <a:r>
              <a:t>Lectura directa de dataset/test.h5, X[0,:,11]. Datos exactos y criterio de selección: .presentation-build/dmel/assets/example.json.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Tiempo orientativo: 65 segundos.</a:t>
            </a:r>
          </a:p>
          <a:p xmlns:a="http://schemas.openxmlformats.org/drawingml/2006/main">
            <a:r>
              <a:t/>
            </a:r>
          </a:p>
          <a:p xmlns:a="http://schemas.openxmlformats.org/drawingml/2006/main">
            <a:r>
              <a:t>Nuestra regla produce siempre dos canales. Sumamos a alta los modos cuya entropía supera a la del caudal de la ventana. El resto de modos y el residuo forman baja. Esta decisión elimina la fusión intermedia del MRS publicado, cuya tolerancia de similitud no queda totalmente definida. En esta ventana todas las siete IMFs extraídas superan el umbral, así que baja contiene el residuo. Esto muestra por qué los nombres alta y baja deben entenderse como complejidad y no como bandas físicas garantizadas. La suma reconstruye la historia con error máximo de aproximadamente 1.19 por diez a la menos siete milímetros por hora. Este ejemplo solo ilustra el preprocesamiento y no mide precisión predictiva.</a:t>
            </a:r>
          </a:p>
          <a:p xmlns:a="http://schemas.openxmlformats.org/drawingml/2006/main">
            <a:r>
              <a:t/>
            </a:r>
          </a:p>
          <a:p xmlns:a="http://schemas.openxmlformats.org/drawingml/2006/main">
            <a:r>
              <a:t>FUENTES</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a:p xmlns:a="http://schemas.openxmlformats.org/drawingml/2006/main">
            <a:r>
              <a:t/>
            </a:r>
          </a:p>
          <a:p xmlns:a="http://schemas.openxmlformats.org/drawingml/2006/main">
            <a:r>
              <a:t>Cálculo local con configs/decomposition.json, 100 realizaciones, semilla 42 y sample_id 0. Entropía original: 0.02969119278730941. Diagnósticos completos: .presentation-build/dmel/assets/example.json.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Tiempo orientativo: 65 segundos.</a:t>
            </a:r>
          </a:p>
          <a:p xmlns:a="http://schemas.openxmlformats.org/drawingml/2006/main">
            <a:r>
              <a:t/>
            </a:r>
          </a:p>
          <a:p xmlns:a="http://schemas.openxmlformats.org/drawingml/2006/main">
            <a:r>
              <a:t>Descomponemos únicamente el caudal histórico. Cada rama recibe su componente y las once variables meteorológicas históricas, manteniendo doce canales por entrada. Informer y LSTM entregan un vector de 48 valores que el modelo suma. Las cabezas corrigen el último valor de su componente, una decisión adicional del laboratorio que también aplicamos a la LSTM base. Normalizamos conservando la identidad aditiva: alta dividida por sigma, baja menos mu dividida por sigma. Después de sumar las salidas, multiplicamos por sigma y añadimos mu una sola vez. Si sumáramos dos normalizaciones centradas y desnormalizáramos sin cuidado, introduciríamos un sesgo.</a:t>
            </a:r>
          </a:p>
          <a:p xmlns:a="http://schemas.openxmlformats.org/drawingml/2006/main">
            <a:r>
              <a:t/>
            </a:r>
          </a:p>
          <a:p xmlns:a="http://schemas.openxmlformats.org/drawingml/2006/main">
            <a:r>
              <a:t>FUENTES</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a:p xmlns:a="http://schemas.openxmlformats.org/drawingml/2006/main">
            <a:r>
              <a:t/>
            </a:r>
          </a:p>
          <a:p xmlns:a="http://schemas.openxmlformats.org/drawingml/2006/main">
            <a:r>
              <a:t>Detalle de la normalización: high/σ + (low−μ)/σ = (q−μ)/σ.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Tiempo orientativo: 55 segundos.</a:t>
            </a:r>
          </a:p>
          <a:p xmlns:a="http://schemas.openxmlformats.org/drawingml/2006/main">
            <a:r>
              <a:t/>
            </a:r>
          </a:p>
          <a:p xmlns:a="http://schemas.openxmlformats.org/drawingml/2006/main">
            <a:r>
              <a:t>Seguimos Adam con tasa uno por diez a la menos cuatro, lotes de 32 y un máximo de cien épocas. Añadimos parada temprana con paciencia de diez y seleccionamos el checkpoint por RMSE de validación en unidades físicas. La normalización solo usa entrenamiento. La descomposición recibe el pasado de cada ventana, nunca caudales futuros. y_aux podría servir como supervisión auxiliar según el enunciado, pero esta versión no lo usa. Tampoco empleamos test_targets.csv para ajustar o seleccionar. En Khipu dividimos el entrenamiento en ciclos de una época, guardando pesos, optimizador y estados aleatorios. El LSTM completó veinte épocas y terminó por parada temprana. Los ciclos guardaron su estado y permitieron continuar el entrenamiento entre asignaciones.</a:t>
            </a:r>
          </a:p>
          <a:p xmlns:a="http://schemas.openxmlformats.org/drawingml/2006/main">
            <a:r>
              <a:t/>
            </a:r>
          </a:p>
          <a:p xmlns:a="http://schemas.openxmlformats.org/drawingml/2006/main">
            <a:r>
              <a:t>FUENTES</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a:p xmlns:a="http://schemas.openxmlformats.org/drawingml/2006/main">
            <a:r>
              <a:t/>
            </a:r>
          </a:p>
          <a:p xmlns:a="http://schemas.openxmlformats.org/drawingml/2006/main">
            <a:r>
              <a:t>Resultados propios de validación del LSTM, job 53987 COMPLETED 0:0. outputs/khipu-lstm-53987-completed/metrics.json, analysis.json y status.json. Historial: outputs/khipu-lstm-53987-history-20261003.json. Fuente: salidas de Khipu compartidas por el usuario y contrastadas localmente. Se evalúa el mejor checkpoint, epoch=9 (décima época). 18142 ventanas, 48 horizontes y 508 cuencas. No son resultados de test.</a:t>
            </a:r>
          </a:p>
          <a:p xmlns:a="http://schemas.openxmlformats.org/drawingml/2006/main">
            <a:r>
              <a:t/>
            </a:r>
          </a:p>
          <a:p xmlns:a="http://schemas.openxmlformats.org/drawingml/2006/main">
            <a:r>
              <a:t>Laboratorio 2.pdf, documento proporcionado por el usuario, pp. 1–3. Video: metodología 6 min, implementación 6 min, resultados 6 min. Se permiten simplificaciones justificadas, conservando la propuesta central.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Tiempo orientativo: 45 segundos.</a:t>
            </a:r>
          </a:p>
          <a:p xmlns:a="http://schemas.openxmlformats.org/drawingml/2006/main">
            <a:r>
              <a:t/>
            </a:r>
          </a:p>
          <a:p xmlns:a="http://schemas.openxmlformats.org/drawingml/2006/main">
            <a:r>
              <a:t>La persistencia repite el último caudal para todas las horas futuras. La LSTM multivariada recibe la señal original y sirve de modelo base aprendido. Nuestra ablación conserva las dos representaciones y la suma, pero reemplaza la rama LSTM por otra Informer. Con eso estudiamos la especialización de las ramas. La comparación no mantiene igual número de parámetros: la variante de dos Informer tiene más capacidad. Debemos declarar esa diferencia al interpretar resultados. Las redes comparten particiones, semilla, función objetivo y presupuesto. Una sola semilla permite una primera comparación, pero no prueba robustez estadística como la repetición de diez corridas descrita en el paper.</a:t>
            </a:r>
          </a:p>
          <a:p xmlns:a="http://schemas.openxmlformats.org/drawingml/2006/main">
            <a:r>
              <a:t/>
            </a:r>
          </a:p>
          <a:p xmlns:a="http://schemas.openxmlformats.org/drawingml/2006/main">
            <a:r>
              <a:t>FUENTES</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a:p xmlns:a="http://schemas.openxmlformats.org/drawingml/2006/main">
            <a:r>
              <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Sección 3.2 y discusión de repeticiones.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Resultados disponibles. Tiempo orientativo: 45 segundos.</a:t>
            </a:r>
          </a:p>
          <a:p xmlns:a="http://schemas.openxmlformats.org/drawingml/2006/main">
            <a:r>
              <a:t/>
            </a:r>
          </a:p>
          <a:p xmlns:a="http://schemas.openxmlformats.org/drawingml/2006/main">
            <a:r>
              <a:t>Calculamos RMSE y MAE en milímetros por hora. NSE compara el error cuadrático con la referencia de predecir la media observada del conjunto evaluado; un valor negativo indica que resulta peor que esa referencia. KGE 2009 combina correlación con los cocientes de desviaciones estándar y medias entre predicción y observación. Su cero no tiene el mismo significado de referencia que el cero de NSE. Por eso declaramos explícitamente la versión, además de sus componentes. Reportamos errores por horizonte y cuenca para que un promedio global no oculte fallos. Sin fechas absolutas no podemos reconstruir una cronología de eventos ni auditar todo el solapamiento original. Los casos indefinidos se registran como tales.</a:t>
            </a:r>
          </a:p>
          <a:p xmlns:a="http://schemas.openxmlformats.org/drawingml/2006/main">
            <a:r>
              <a:t/>
            </a:r>
          </a:p>
          <a:p xmlns:a="http://schemas.openxmlformats.org/drawingml/2006/main">
            <a:r>
              <a:t>FUENTES</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a:p xmlns:a="http://schemas.openxmlformats.org/drawingml/2006/main">
            <a:r>
              <a:t/>
            </a:r>
          </a:p>
          <a:p xmlns:a="http://schemas.openxmlformats.org/drawingml/2006/main">
            <a:r>
              <a:t>Knoben, Freer y Woods (2019). Technical note: Inherent benchmark or not? Comparing Nash–Sutcliffe and Kling–Gupta efficiency scores. https://hess.copernicus.org/articles/23/4323/2019/ .</a:t>
            </a:r>
          </a:p>
          <a:p xmlns:a="http://schemas.openxmlformats.org/drawingml/2006/main">
            <a:r>
              <a:t/>
            </a:r>
          </a:p>
          <a:p xmlns:a="http://schemas.openxmlformats.org/drawingml/2006/main">
            <a:r>
              <a:t>dataset/metadata.json; Laboratorio 2.pdf, pp. 1–2; outputs/revision-dataset-lab2.json. Datos oficiales enlazados por el laboratorio: https://drive.google.com/drive/folders/1crKbJBhLHQEVJGG-agOxMnKLDnBP2x4w . train.h5 está disponible en Khipu. No se utilizó test_targets.csv.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Resultados disponibles. Tiempo orientativo: 60 segundos.</a:t>
            </a:r>
          </a:p>
          <a:p xmlns:a="http://schemas.openxmlformats.org/drawingml/2006/main">
            <a:r>
              <a:t/>
            </a:r>
          </a:p>
          <a:p xmlns:a="http://schemas.openxmlformats.org/drawingml/2006/main">
            <a:r>
              <a:t>El modelo base LSTM completó el entrenamiento y terminó por parada temprana tras veinte épocas. Evaluamos los pesos de la décima época, que obtuvo el menor RMSE de validación. El conjunto contiene 18 142 ventanas de 508 cuencas. Cada ventana aporta 48 pronósticos, por lo que las métricas globales reúnen 870 816 pares de ventana y horizonte. El RMSE es 0.1023 milímetros por hora y el MAE es 0.0213. NSE alcanza 0.6447 y KGE 2009, 0.7221. Estas cifras describen el modelo base sobre el conjunto que utilizamos para seleccionar pesos. Todavía no prueban que DMEL lo supere, ni equivalen a una evaluación final en test. La agregación global también debe contrastarse con los resultados de cada cuenca.</a:t>
            </a:r>
          </a:p>
          <a:p xmlns:a="http://schemas.openxmlformats.org/drawingml/2006/main">
            <a:r>
              <a:t/>
            </a:r>
          </a:p>
          <a:p xmlns:a="http://schemas.openxmlformats.org/drawingml/2006/main">
            <a:r>
              <a:t>FUENTES</a:t>
            </a:r>
          </a:p>
          <a:p xmlns:a="http://schemas.openxmlformats.org/drawingml/2006/main">
            <a:r>
              <a:t>Resultados propios de validación del LSTM, job 53987 COMPLETED 0:0. outputs/khipu-lstm-53987-completed/metrics.json, analysis.json y status.json. Historial: outputs/khipu-lstm-53987-history-20261003.json. Fuente: salidas de Khipu compartidas por el usuario y contrastadas localmente. Se evalúa el mejor checkpoint, epoch=9 (décima época). 18142 ventanas, 48 horizontes y 508 cuencas. No son resultados de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Resultados disponibles. Tiempo orientativo: 70 segundos.</a:t>
            </a:r>
          </a:p>
          <a:p xmlns:a="http://schemas.openxmlformats.org/drawingml/2006/main">
            <a:r>
              <a:t/>
            </a:r>
          </a:p>
          <a:p xmlns:a="http://schemas.openxmlformats.org/drawingml/2006/main">
            <a:r>
              <a:t>Las dos curvas usan escalas distintas porque representan medidas diferentes. A la izquierda vemos la pérdida MSE sobre caudal normalizado de entrenamiento. A la derecha está el RMSE de validación en milímetros por hora. El error de entrenamiento baja durante las veinte épocas. En validación, el mínimo aparece en la época diez, equivalente a epoch nueve en los archivos. Después hay fluctuaciones, pero ninguna época posterior logra mejorar ese mínimo. La paciencia de diez activa entonces la parada temprana. Por eso usamos best.pt para evaluar, aunque last.pt contenga pesos de la última época. La separación entre las curvas es compatible con sobreajuste y justifica seleccionar con validación. Mantener cien épocas como máximo no significa que debamos ejecutarlas todas. Esta decisión también evita gastar cómputo cuando el criterio de selección ya no mejora.</a:t>
            </a:r>
          </a:p>
          <a:p xmlns:a="http://schemas.openxmlformats.org/drawingml/2006/main">
            <a:r>
              <a:t/>
            </a:r>
          </a:p>
          <a:p xmlns:a="http://schemas.openxmlformats.org/drawingml/2006/main">
            <a:r>
              <a:t>FUENTES</a:t>
            </a:r>
          </a:p>
          <a:p xmlns:a="http://schemas.openxmlformats.org/drawingml/2006/main">
            <a:r>
              <a:t>Resultados propios de validación del LSTM, job 53987 COMPLETED 0:0. outputs/khipu-lstm-53987-completed/metrics.json, analysis.json y status.json. Historial: outputs/khipu-lstm-53987-history-20261003.json. Fuente: salidas de Khipu compartidas por el usuario y contrastadas localmente. Se evalúa el mejor checkpoint, epoch=9 (décima época). 18142 ventanas, 48 horizontes y 508 cuencas. No son resultados de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Resultados disponibles. Tiempo orientativo: 65 segundos.</a:t>
            </a:r>
          </a:p>
          <a:p xmlns:a="http://schemas.openxmlformats.org/drawingml/2006/main">
            <a:r>
              <a:t/>
            </a:r>
          </a:p>
          <a:p xmlns:a="http://schemas.openxmlformats.org/drawingml/2006/main">
            <a:r>
              <a:t>El resumen global mezcla horizontes con dificultades diferentes. Por eso calculamos una métrica para cada hora futura usando las mismas 18 142 ventanas. A una hora, el RMSE es 0.0327 milímetros por hora y el NSE es 0.9685. A las veinticuatro horas, el RMSE sube a 0.1097 y el NSE baja a 0.5660. A las cuarenta y ocho horas obtenemos 0.1196 y 0.4798, respectivamente. Las curvas presentan las 48 mediciones, sin interpolar resultados faltantes. La pérdida de precisión con el horizonte es clara, aunque no todos los pasos cambian de forma estrictamente monótona. Cuando termine DMEL, compararemos las curvas completas para ver si su aporte ocurre en horizontes cortos, largos o en ambos. Estos puntos son horizontes relativos de ventanas y no una serie cronológica de eventos.</a:t>
            </a:r>
          </a:p>
          <a:p xmlns:a="http://schemas.openxmlformats.org/drawingml/2006/main">
            <a:r>
              <a:t/>
            </a:r>
          </a:p>
          <a:p xmlns:a="http://schemas.openxmlformats.org/drawingml/2006/main">
            <a:r>
              <a:t>FUENTES</a:t>
            </a:r>
          </a:p>
          <a:p xmlns:a="http://schemas.openxmlformats.org/drawingml/2006/main">
            <a:r>
              <a:t>Resultados propios de validación del LSTM, job 53987 COMPLETED 0:0. outputs/khipu-lstm-53987-completed/metrics.json, analysis.json y status.json. Historial: outputs/khipu-lstm-53987-history-20261003.json. Fuente: salidas de Khipu compartidas por el usuario y contrastadas localmente. Se evalúa el mejor checkpoint, epoch=9 (décima época). 18142 ventanas, 48 horizontes y 508 cuencas. No son resultados de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Resultados disponibles. Tiempo orientativo: 65 segundos.</a:t>
            </a:r>
          </a:p>
          <a:p xmlns:a="http://schemas.openxmlformats.org/drawingml/2006/main">
            <a:r>
              <a:t/>
            </a:r>
          </a:p>
          <a:p xmlns:a="http://schemas.openxmlformats.org/drawingml/2006/main">
            <a:r>
              <a:t>Un NSE global positivo no implica buen desempeño en todas las cuencas. Setenta de las 508 cuencas tienen NSE negativo. La mediana es 0.5939, pero la media con igual peso por cuenca es menos 49.2525. Debemos mostrar ambas. La media muy negativa recibe una fuerte influencia de casos extremos. Por ejemplo, la cuenca 377 combina RMSE de aproximadamente 0.0131 milímetros por hora con NSE de menos 11 659.5. A partir de esas dos métricas se infiere una desviación observada muy pequeña, de unos 0.00012 milímetros por hora. El denominador pequeño del NSE amplifica el error relativo. Eso ayuda a interpretar el valor, pero no elimina el problema predictivo. Además, 28 350 pronósticos, equivalentes al 3.26 por ciento, son negativos. Los reportamos sin recortarlos a cero. Todavía necesitamos inspeccionar predicciones individuales y comparar con persistencia para entender esos fallos.</a:t>
            </a:r>
          </a:p>
          <a:p xmlns:a="http://schemas.openxmlformats.org/drawingml/2006/main">
            <a:r>
              <a:t/>
            </a:r>
          </a:p>
          <a:p xmlns:a="http://schemas.openxmlformats.org/drawingml/2006/main">
            <a:r>
              <a:t>FUENTES</a:t>
            </a:r>
          </a:p>
          <a:p xmlns:a="http://schemas.openxmlformats.org/drawingml/2006/main">
            <a:r>
              <a:t>Resultados propios de validación del LSTM, job 53987 COMPLETED 0:0. outputs/khipu-lstm-53987-completed/metrics.json, analysis.json y status.json. Historial: outputs/khipu-lstm-53987-history-20261003.json. Fuente: salidas de Khipu compartidas por el usuario y contrastadas localmente. Se evalúa el mejor checkpoint, epoch=9 (décima época). 18142 ventanas, 48 horizontes y 508 cuencas. No son resultados de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Resultados disponibles. Tiempo orientativo: 55 segundos.</a:t>
            </a:r>
          </a:p>
          <a:p xmlns:a="http://schemas.openxmlformats.org/drawingml/2006/main">
            <a:r>
              <a:t/>
            </a:r>
          </a:p>
          <a:p xmlns:a="http://schemas.openxmlformats.org/drawingml/2006/main">
            <a:r>
              <a:t>El resultado completo disponible corresponde al LSTM multivariado. La tabla conserva pendientes para persistencia, DMEL y la ablación porque todavía no tenemos sus métricas finales verificadas. El piloto anterior de DMEL utilizó solo 256 ventanas de entrenamiento y 64 de validación, por lo que sus cifras no entrarían en una comparación justa con este LSTM. La descomposición de las 272 142 ventanas de train.h5 ya terminó y puede reutilizarse. El siguiente cierre experimental consiste en evaluar los modelos con el mismo split, semilla y criterio de selección, y comparar los 48 horizontes y las 508 cuencas. Solo entonces podremos atribuir una mejora a la propuesta y discutir qué aporta la especialización de ramas. Finalmente generaremos las predicciones de test y documentaremos las limitaciones de trabajar con una sola semilla y cuencas anónimas.</a:t>
            </a:r>
          </a:p>
          <a:p xmlns:a="http://schemas.openxmlformats.org/drawingml/2006/main">
            <a:r>
              <a:t/>
            </a:r>
          </a:p>
          <a:p xmlns:a="http://schemas.openxmlformats.org/drawingml/2006/main">
            <a:r>
              <a:t>FUENTES</a:t>
            </a:r>
          </a:p>
          <a:p xmlns:a="http://schemas.openxmlformats.org/drawingml/2006/main">
            <a:r>
              <a:t>Resultados propios de validación del LSTM, job 53987 COMPLETED 0:0. outputs/khipu-lstm-53987-completed/metrics.json, analysis.json y status.json. Historial: outputs/khipu-lstm-53987-history-20261003.json. Fuente: salidas de Khipu compartidas por el usuario y contrastadas localmente. Se evalúa el mejor checkpoint, epoch=9 (décima época). 18142 ventanas, 48 horizontes y 508 cuencas. No son resultados de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Referencias. Tiempo orientativo: 0 segundos.</a:t>
            </a:r>
          </a:p>
          <a:p xmlns:a="http://schemas.openxmlformats.org/drawingml/2006/main">
            <a:r>
              <a:t/>
            </a:r>
          </a:p>
          <a:p xmlns:a="http://schemas.openxmlformats.org/drawingml/2006/main">
            <a:r>
              <a:t>El paper DMEL aporta la propuesta integrada y los parámetros publicados. Torres y colaboradores describen CEEMDAN. Richman y Moorman fundamentan la entropía muestral. Estas fuentes permiten estudiar los mecanismos. La implementación central del laboratorio pertenece al proyecto y sus diferencias están documentadas.</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a:t>
            </a:r>
          </a:p>
          <a:p xmlns:a="http://schemas.openxmlformats.org/drawingml/2006/main">
            <a:r>
              <a:t/>
            </a:r>
          </a:p>
          <a:p xmlns:a="http://schemas.openxmlformats.org/drawingml/2006/main">
            <a:r>
              <a:t>Torres et al. (2011). A complete ensemble empirical mode decomposition with adaptive noise. ICASSP. https://perso.ens-lyon.fr/patrick.flandrin/0004144.pdf . Véanse también docs/decomposition.md y dmel/decomposition.py.</a:t>
            </a:r>
          </a:p>
          <a:p xmlns:a="http://schemas.openxmlformats.org/drawingml/2006/main">
            <a:r>
              <a:t/>
            </a:r>
          </a:p>
          <a:p xmlns:a="http://schemas.openxmlformats.org/drawingml/2006/main">
            <a:r>
              <a:t>Richman y Moorman (2000). Physiological time-series analysis using approximate entropy and sample entropy. https://doi.org/10.1152/ajpheart.2000.278.6.H2039 . Recurso de contraste: https://physionet.org/content/sampen/1.0.0/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Referencias. Tiempo orientativo: 0 segundos.</a:t>
            </a:r>
          </a:p>
          <a:p xmlns:a="http://schemas.openxmlformats.org/drawingml/2006/main">
            <a:r>
              <a:t/>
            </a:r>
          </a:p>
          <a:p xmlns:a="http://schemas.openxmlformats.org/drawingml/2006/main">
            <a:r>
              <a:t>Las instrucciones del laboratorio fijan el problema, las restricciones y los entregables. Los metadatos establecen los canales y las unidades del objetivo. Los archivos del proyecto permiten contrastar cada decisión con el código. Los logs compartidos por el usuario constituyen la evidencia del cómputo remoto; no se han inventado resultados pendientes ni se han extrapolado los resultados diarios del paper a nuestras cuencas.</a:t>
            </a:r>
          </a:p>
          <a:p xmlns:a="http://schemas.openxmlformats.org/drawingml/2006/main">
            <a:r>
              <a:t/>
            </a:r>
          </a:p>
          <a:p xmlns:a="http://schemas.openxmlformats.org/drawingml/2006/main">
            <a:r>
              <a:t>FUENTES</a:t>
            </a:r>
          </a:p>
          <a:p xmlns:a="http://schemas.openxmlformats.org/drawingml/2006/main">
            <a:r>
              <a:t>Zhou et al. (2021). Informer: Beyond Efficient Transformer for Long Sequence Time-Series Forecasting. https://arxiv.org/abs/2012.07436 .</a:t>
            </a:r>
          </a:p>
          <a:p xmlns:a="http://schemas.openxmlformats.org/drawingml/2006/main">
            <a:r>
              <a:t/>
            </a:r>
          </a:p>
          <a:p xmlns:a="http://schemas.openxmlformats.org/drawingml/2006/main">
            <a:r>
              <a:t>Knoben, Freer y Woods (2019). Technical note: Inherent benchmark or not? Comparing Nash–Sutcliffe and Kling–Gupta efficiency scores. https://hess.copernicus.org/articles/23/4323/2019/ .</a:t>
            </a:r>
          </a:p>
          <a:p xmlns:a="http://schemas.openxmlformats.org/drawingml/2006/main">
            <a:r>
              <a:t/>
            </a:r>
          </a:p>
          <a:p xmlns:a="http://schemas.openxmlformats.org/drawingml/2006/main">
            <a:r>
              <a:t>Laboratorio 2.pdf, documento proporcionado por el usuario, pp. 1–3. Video: metodología 6 min, implementación 6 min, resultados 6 min. Se permiten simplificaciones justificadas, conservando la propuesta central.</a:t>
            </a:r>
          </a:p>
          <a:p xmlns:a="http://schemas.openxmlformats.org/drawingml/2006/main">
            <a:r>
              <a:t/>
            </a:r>
          </a:p>
          <a:p xmlns:a="http://schemas.openxmlformats.org/drawingml/2006/main">
            <a:r>
              <a:t>dataset/metadata.json; Laboratorio 2.pdf, pp. 1–2; outputs/revision-dataset-lab2.json. Datos oficiales enlazados por el laboratorio: https://drive.google.com/drive/folders/1crKbJBhLHQEVJGG-agOxMnKLDnBP2x4w . train.h5 está disponible en Khipu. No se utilizó test_targets.csv.</a:t>
            </a:r>
          </a:p>
          <a:p xmlns:a="http://schemas.openxmlformats.org/drawingml/2006/main">
            <a:r>
              <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a:p xmlns:a="http://schemas.openxmlformats.org/drawingml/2006/main">
            <a:r>
              <a:t/>
            </a:r>
          </a:p>
          <a:p xmlns:a="http://schemas.openxmlformats.org/drawingml/2006/main">
            <a:r>
              <a:t>Resultados propios de validación del LSTM, job 53987 COMPLETED 0:0. outputs/khipu-lstm-53987-completed/metrics.json, analysis.json y status.json. Historial: outputs/khipu-lstm-53987-history-20261003.json. Fuente: salidas de Khipu compartidas por el usuario y contrastadas localmente. Se evalúa el mejor checkpoint, epoch=9 (décima época). 18142 ventanas, 48 horizontes y 508 cuencas. No son resultados de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28f312874b435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7486231c7b841dd" /><Relationship Type="http://schemas.openxmlformats.org/officeDocument/2006/relationships/slideLayout" Target="/ppt/slideLayouts/slideLayout1.xml" Id="R8e9de3604b924c7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9de3604b924c7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084823252be4059" /><Relationship Type="http://schemas.openxmlformats.org/officeDocument/2006/relationships/image" Target="/ppt/media/image.png" Id="R9b228435c5c547f7" /><Relationship Type="http://schemas.openxmlformats.org/officeDocument/2006/relationships/notesSlide" Target="/ppt/notesSlides/notesSlide1.xml" Id="R93e8a95e084441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38846f6895d473a" /><Relationship Type="http://schemas.openxmlformats.org/officeDocument/2006/relationships/image" Target="/ppt/media/image2.png" Id="R06a50e89dfd441af" /><Relationship Type="http://schemas.openxmlformats.org/officeDocument/2006/relationships/notesSlide" Target="/ppt/notesSlides/notesSlide2.xml" Id="R561ceeab03c04b0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74e4cedaf694147" /><Relationship Type="http://schemas.openxmlformats.org/officeDocument/2006/relationships/image" Target="/ppt/media/image3.png" Id="Re6beeab5a11f41ff" /><Relationship Type="http://schemas.openxmlformats.org/officeDocument/2006/relationships/notesSlide" Target="/ppt/notesSlides/notesSlide3.xml" Id="Rf05e0271c696443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dd713ee02e6435d" /><Relationship Type="http://schemas.openxmlformats.org/officeDocument/2006/relationships/notesSlide" Target="/ppt/notesSlides/notesSlide4.xml" Id="R4c91c93b2569467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94b56d7d12d48d5" /><Relationship Type="http://schemas.openxmlformats.org/officeDocument/2006/relationships/notesSlide" Target="/ppt/notesSlides/notesSlide5.xml" Id="R60528d769889453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68f3dada5c14b80" /><Relationship Type="http://schemas.openxmlformats.org/officeDocument/2006/relationships/image" Target="/ppt/media/image4.png" Id="R53742efb9b574ef2" /><Relationship Type="http://schemas.openxmlformats.org/officeDocument/2006/relationships/notesSlide" Target="/ppt/notesSlides/notesSlide6.xml" Id="R91d54bee44274d6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12a8b275edf4600" /><Relationship Type="http://schemas.openxmlformats.org/officeDocument/2006/relationships/image" Target="/ppt/media/image5.png" Id="Rc915cd56bf234f57" /><Relationship Type="http://schemas.openxmlformats.org/officeDocument/2006/relationships/notesSlide" Target="/ppt/notesSlides/notesSlide7.xml" Id="R65456a040d9d432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c172dcf3e474d2c" /><Relationship Type="http://schemas.openxmlformats.org/officeDocument/2006/relationships/notesSlide" Target="/ppt/notesSlides/notesSlide8.xml" Id="R14ff0be59a934ac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7be2fe99730485e" /><Relationship Type="http://schemas.openxmlformats.org/officeDocument/2006/relationships/notesSlide" Target="/ppt/notesSlides/notesSlide9.xml" Id="Re5d13eacaa64402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5b24c08954842b2" /><Relationship Type="http://schemas.openxmlformats.org/officeDocument/2006/relationships/chart" Target="/ppt/slides/charts/chart1.xml" Id="R2383d4619fc2437b" /><Relationship Type="http://schemas.openxmlformats.org/officeDocument/2006/relationships/notesSlide" Target="/ppt/notesSlides/notesSlide10.xml" Id="Rc397c2a1fff3412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d321d7f0ab04089" /><Relationship Type="http://schemas.openxmlformats.org/officeDocument/2006/relationships/chart" Target="/ppt/slides/charts/chart2.xml" Id="R3879ac5cf6124470" /><Relationship Type="http://schemas.openxmlformats.org/officeDocument/2006/relationships/notesSlide" Target="/ppt/notesSlides/notesSlide11.xml" Id="Rf436a4770108418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c414cedfcbb4a16" /><Relationship Type="http://schemas.openxmlformats.org/officeDocument/2006/relationships/notesSlide" Target="/ppt/notesSlides/notesSlide12.xml" Id="Ra396f33830584b2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5088e9062e44ba2" /><Relationship Type="http://schemas.openxmlformats.org/officeDocument/2006/relationships/notesSlide" Target="/ppt/notesSlides/notesSlide13.xml" Id="R3fdf247cba4644f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1e710e5c8584697" /><Relationship Type="http://schemas.openxmlformats.org/officeDocument/2006/relationships/notesSlide" Target="/ppt/notesSlides/notesSlide14.xml" Id="R808d3673e157426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55ad45e7b2347b9" /><Relationship Type="http://schemas.openxmlformats.org/officeDocument/2006/relationships/notesSlide" Target="/ppt/notesSlides/notesSlide15.xml" Id="R9de74dbdc6cf451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efd2e6986f24669" /><Relationship Type="http://schemas.openxmlformats.org/officeDocument/2006/relationships/notesSlide" Target="/ppt/notesSlides/notesSlide16.xml" Id="R0fac523e3a804c9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32e957cb1704bce" /><Relationship Type="http://schemas.openxmlformats.org/officeDocument/2006/relationships/chart" Target="/ppt/slides/charts/chart3.xml" Id="Re9424968408d48ac" /><Relationship Type="http://schemas.openxmlformats.org/officeDocument/2006/relationships/chart" Target="/ppt/slides/charts/chart4.xml" Id="R221d7c3b71da44df" /><Relationship Type="http://schemas.openxmlformats.org/officeDocument/2006/relationships/notesSlide" Target="/ppt/notesSlides/notesSlide17.xml" Id="Rad84a3b49404433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4cbdb39a4f945c0" /><Relationship Type="http://schemas.openxmlformats.org/officeDocument/2006/relationships/chart" Target="/ppt/slides/charts/chart5.xml" Id="R8d42071debcb47e6" /><Relationship Type="http://schemas.openxmlformats.org/officeDocument/2006/relationships/chart" Target="/ppt/slides/charts/chart6.xml" Id="R4137c67b041441fe" /><Relationship Type="http://schemas.openxmlformats.org/officeDocument/2006/relationships/notesSlide" Target="/ppt/notesSlides/notesSlide18.xml" Id="R2a73f61bc094460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1ce3293143846db" /><Relationship Type="http://schemas.openxmlformats.org/officeDocument/2006/relationships/notesSlide" Target="/ppt/notesSlides/notesSlide19.xml" Id="R724bf0e012df40e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6b445d6fed44b8e" /><Relationship Type="http://schemas.openxmlformats.org/officeDocument/2006/relationships/notesSlide" Target="/ppt/notesSlides/notesSlide20.xml" Id="R34ed99ccde6c4ad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48c9ea37ef9496d" /><Relationship Type="http://schemas.openxmlformats.org/officeDocument/2006/relationships/notesSlide" Target="/ppt/notesSlides/notesSlide21.xml" Id="R093daafba7034c7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a5a26f8d8fb4579" /><Relationship Type="http://schemas.openxmlformats.org/officeDocument/2006/relationships/notesSlide" Target="/ppt/notesSlides/notesSlide22.xml" Id="R787b38bffd05436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a="http://schemas.openxmlformats.org/drawingml/2006/main" xmlns:c="http://schemas.openxmlformats.org/drawingml/2006/chart" xmlns:r="http://schemas.openxmlformats.org/officeDocument/2006/relationships">
  <c:lang val="en-US"/>
  <c:chart>
    <c:plotArea>
      <c:scatterChart>
        <c:scatterStyle val="line"/>
        <c:ser>
          <c:idx val="0"/>
          <c:order val="0"/>
          <c:tx>
            <c:v>Caudal histórico</c:v>
          </c:tx>
          <c:spPr>
            <a:ln w="21908">
              <a:solidFill>
                <a:srgbClr val="007FA3"/>
              </a:solidFill>
              <a:prstDash val="solid"/>
            </a:ln>
          </c:spPr>
          <c:marker>
            <c:symbol val="none"/>
          </c:marker>
          <c:xVal>
            <c:numRef>
              <c:f>'Chart Data'!$A$2:$A$337</c:f>
              <c:numCache>
                <c:formatCode>General</c:formatCode>
                <c:ptCount val="336"/>
                <c:pt idx="0">
                  <c:v>-335</c:v>
                </c:pt>
                <c:pt idx="1">
                  <c:v>-334</c:v>
                </c:pt>
                <c:pt idx="2">
                  <c:v>-333</c:v>
                </c:pt>
                <c:pt idx="3">
                  <c:v>-332</c:v>
                </c:pt>
                <c:pt idx="4">
                  <c:v>-331</c:v>
                </c:pt>
                <c:pt idx="5">
                  <c:v>-330</c:v>
                </c:pt>
                <c:pt idx="6">
                  <c:v>-329</c:v>
                </c:pt>
                <c:pt idx="7">
                  <c:v>-328</c:v>
                </c:pt>
                <c:pt idx="8">
                  <c:v>-327</c:v>
                </c:pt>
                <c:pt idx="9">
                  <c:v>-326</c:v>
                </c:pt>
                <c:pt idx="10">
                  <c:v>-325</c:v>
                </c:pt>
                <c:pt idx="11">
                  <c:v>-324</c:v>
                </c:pt>
                <c:pt idx="12">
                  <c:v>-323</c:v>
                </c:pt>
                <c:pt idx="13">
                  <c:v>-322</c:v>
                </c:pt>
                <c:pt idx="14">
                  <c:v>-321</c:v>
                </c:pt>
                <c:pt idx="15">
                  <c:v>-320</c:v>
                </c:pt>
                <c:pt idx="16">
                  <c:v>-319</c:v>
                </c:pt>
                <c:pt idx="17">
                  <c:v>-318</c:v>
                </c:pt>
                <c:pt idx="18">
                  <c:v>-317</c:v>
                </c:pt>
                <c:pt idx="19">
                  <c:v>-316</c:v>
                </c:pt>
                <c:pt idx="20">
                  <c:v>-315</c:v>
                </c:pt>
                <c:pt idx="21">
                  <c:v>-314</c:v>
                </c:pt>
                <c:pt idx="22">
                  <c:v>-313</c:v>
                </c:pt>
                <c:pt idx="23">
                  <c:v>-312</c:v>
                </c:pt>
                <c:pt idx="24">
                  <c:v>-311</c:v>
                </c:pt>
                <c:pt idx="25">
                  <c:v>-310</c:v>
                </c:pt>
                <c:pt idx="26">
                  <c:v>-309</c:v>
                </c:pt>
                <c:pt idx="27">
                  <c:v>-308</c:v>
                </c:pt>
                <c:pt idx="28">
                  <c:v>-307</c:v>
                </c:pt>
                <c:pt idx="29">
                  <c:v>-306</c:v>
                </c:pt>
                <c:pt idx="30">
                  <c:v>-305</c:v>
                </c:pt>
                <c:pt idx="31">
                  <c:v>-304</c:v>
                </c:pt>
                <c:pt idx="32">
                  <c:v>-303</c:v>
                </c:pt>
                <c:pt idx="33">
                  <c:v>-302</c:v>
                </c:pt>
                <c:pt idx="34">
                  <c:v>-301</c:v>
                </c:pt>
                <c:pt idx="35">
                  <c:v>-300</c:v>
                </c:pt>
                <c:pt idx="36">
                  <c:v>-299</c:v>
                </c:pt>
                <c:pt idx="37">
                  <c:v>-298</c:v>
                </c:pt>
                <c:pt idx="38">
                  <c:v>-297</c:v>
                </c:pt>
                <c:pt idx="39">
                  <c:v>-296</c:v>
                </c:pt>
                <c:pt idx="40">
                  <c:v>-295</c:v>
                </c:pt>
                <c:pt idx="41">
                  <c:v>-294</c:v>
                </c:pt>
                <c:pt idx="42">
                  <c:v>-293</c:v>
                </c:pt>
                <c:pt idx="43">
                  <c:v>-292</c:v>
                </c:pt>
                <c:pt idx="44">
                  <c:v>-291</c:v>
                </c:pt>
                <c:pt idx="45">
                  <c:v>-290</c:v>
                </c:pt>
                <c:pt idx="46">
                  <c:v>-289</c:v>
                </c:pt>
                <c:pt idx="47">
                  <c:v>-288</c:v>
                </c:pt>
                <c:pt idx="48">
                  <c:v>-287</c:v>
                </c:pt>
                <c:pt idx="49">
                  <c:v>-286</c:v>
                </c:pt>
                <c:pt idx="50">
                  <c:v>-285</c:v>
                </c:pt>
                <c:pt idx="51">
                  <c:v>-284</c:v>
                </c:pt>
                <c:pt idx="52">
                  <c:v>-283</c:v>
                </c:pt>
                <c:pt idx="53">
                  <c:v>-282</c:v>
                </c:pt>
                <c:pt idx="54">
                  <c:v>-281</c:v>
                </c:pt>
                <c:pt idx="55">
                  <c:v>-280</c:v>
                </c:pt>
                <c:pt idx="56">
                  <c:v>-279</c:v>
                </c:pt>
                <c:pt idx="57">
                  <c:v>-278</c:v>
                </c:pt>
                <c:pt idx="58">
                  <c:v>-277</c:v>
                </c:pt>
                <c:pt idx="59">
                  <c:v>-276</c:v>
                </c:pt>
                <c:pt idx="60">
                  <c:v>-275</c:v>
                </c:pt>
                <c:pt idx="61">
                  <c:v>-274</c:v>
                </c:pt>
                <c:pt idx="62">
                  <c:v>-273</c:v>
                </c:pt>
                <c:pt idx="63">
                  <c:v>-272</c:v>
                </c:pt>
                <c:pt idx="64">
                  <c:v>-271</c:v>
                </c:pt>
                <c:pt idx="65">
                  <c:v>-270</c:v>
                </c:pt>
                <c:pt idx="66">
                  <c:v>-269</c:v>
                </c:pt>
                <c:pt idx="67">
                  <c:v>-268</c:v>
                </c:pt>
                <c:pt idx="68">
                  <c:v>-267</c:v>
                </c:pt>
                <c:pt idx="69">
                  <c:v>-266</c:v>
                </c:pt>
                <c:pt idx="70">
                  <c:v>-265</c:v>
                </c:pt>
                <c:pt idx="71">
                  <c:v>-264</c:v>
                </c:pt>
                <c:pt idx="72">
                  <c:v>-263</c:v>
                </c:pt>
                <c:pt idx="73">
                  <c:v>-262</c:v>
                </c:pt>
                <c:pt idx="74">
                  <c:v>-261</c:v>
                </c:pt>
                <c:pt idx="75">
                  <c:v>-260</c:v>
                </c:pt>
                <c:pt idx="76">
                  <c:v>-259</c:v>
                </c:pt>
                <c:pt idx="77">
                  <c:v>-258</c:v>
                </c:pt>
                <c:pt idx="78">
                  <c:v>-257</c:v>
                </c:pt>
                <c:pt idx="79">
                  <c:v>-256</c:v>
                </c:pt>
                <c:pt idx="80">
                  <c:v>-255</c:v>
                </c:pt>
                <c:pt idx="81">
                  <c:v>-254</c:v>
                </c:pt>
                <c:pt idx="82">
                  <c:v>-253</c:v>
                </c:pt>
                <c:pt idx="83">
                  <c:v>-252</c:v>
                </c:pt>
                <c:pt idx="84">
                  <c:v>-251</c:v>
                </c:pt>
                <c:pt idx="85">
                  <c:v>-250</c:v>
                </c:pt>
                <c:pt idx="86">
                  <c:v>-249</c:v>
                </c:pt>
                <c:pt idx="87">
                  <c:v>-248</c:v>
                </c:pt>
                <c:pt idx="88">
                  <c:v>-247</c:v>
                </c:pt>
                <c:pt idx="89">
                  <c:v>-246</c:v>
                </c:pt>
                <c:pt idx="90">
                  <c:v>-245</c:v>
                </c:pt>
                <c:pt idx="91">
                  <c:v>-244</c:v>
                </c:pt>
                <c:pt idx="92">
                  <c:v>-243</c:v>
                </c:pt>
                <c:pt idx="93">
                  <c:v>-242</c:v>
                </c:pt>
                <c:pt idx="94">
                  <c:v>-241</c:v>
                </c:pt>
                <c:pt idx="95">
                  <c:v>-240</c:v>
                </c:pt>
                <c:pt idx="96">
                  <c:v>-239</c:v>
                </c:pt>
                <c:pt idx="97">
                  <c:v>-238</c:v>
                </c:pt>
                <c:pt idx="98">
                  <c:v>-237</c:v>
                </c:pt>
                <c:pt idx="99">
                  <c:v>-236</c:v>
                </c:pt>
                <c:pt idx="100">
                  <c:v>-235</c:v>
                </c:pt>
                <c:pt idx="101">
                  <c:v>-234</c:v>
                </c:pt>
                <c:pt idx="102">
                  <c:v>-233</c:v>
                </c:pt>
                <c:pt idx="103">
                  <c:v>-232</c:v>
                </c:pt>
                <c:pt idx="104">
                  <c:v>-231</c:v>
                </c:pt>
                <c:pt idx="105">
                  <c:v>-230</c:v>
                </c:pt>
                <c:pt idx="106">
                  <c:v>-229</c:v>
                </c:pt>
                <c:pt idx="107">
                  <c:v>-228</c:v>
                </c:pt>
                <c:pt idx="108">
                  <c:v>-227</c:v>
                </c:pt>
                <c:pt idx="109">
                  <c:v>-226</c:v>
                </c:pt>
                <c:pt idx="110">
                  <c:v>-225</c:v>
                </c:pt>
                <c:pt idx="111">
                  <c:v>-224</c:v>
                </c:pt>
                <c:pt idx="112">
                  <c:v>-223</c:v>
                </c:pt>
                <c:pt idx="113">
                  <c:v>-222</c:v>
                </c:pt>
                <c:pt idx="114">
                  <c:v>-221</c:v>
                </c:pt>
                <c:pt idx="115">
                  <c:v>-220</c:v>
                </c:pt>
                <c:pt idx="116">
                  <c:v>-219</c:v>
                </c:pt>
                <c:pt idx="117">
                  <c:v>-218</c:v>
                </c:pt>
                <c:pt idx="118">
                  <c:v>-217</c:v>
                </c:pt>
                <c:pt idx="119">
                  <c:v>-216</c:v>
                </c:pt>
                <c:pt idx="120">
                  <c:v>-215</c:v>
                </c:pt>
                <c:pt idx="121">
                  <c:v>-214</c:v>
                </c:pt>
                <c:pt idx="122">
                  <c:v>-213</c:v>
                </c:pt>
                <c:pt idx="123">
                  <c:v>-212</c:v>
                </c:pt>
                <c:pt idx="124">
                  <c:v>-211</c:v>
                </c:pt>
                <c:pt idx="125">
                  <c:v>-210</c:v>
                </c:pt>
                <c:pt idx="126">
                  <c:v>-209</c:v>
                </c:pt>
                <c:pt idx="127">
                  <c:v>-208</c:v>
                </c:pt>
                <c:pt idx="128">
                  <c:v>-207</c:v>
                </c:pt>
                <c:pt idx="129">
                  <c:v>-206</c:v>
                </c:pt>
                <c:pt idx="130">
                  <c:v>-205</c:v>
                </c:pt>
                <c:pt idx="131">
                  <c:v>-204</c:v>
                </c:pt>
                <c:pt idx="132">
                  <c:v>-203</c:v>
                </c:pt>
                <c:pt idx="133">
                  <c:v>-202</c:v>
                </c:pt>
                <c:pt idx="134">
                  <c:v>-201</c:v>
                </c:pt>
                <c:pt idx="135">
                  <c:v>-200</c:v>
                </c:pt>
                <c:pt idx="136">
                  <c:v>-199</c:v>
                </c:pt>
                <c:pt idx="137">
                  <c:v>-198</c:v>
                </c:pt>
                <c:pt idx="138">
                  <c:v>-197</c:v>
                </c:pt>
                <c:pt idx="139">
                  <c:v>-196</c:v>
                </c:pt>
                <c:pt idx="140">
                  <c:v>-195</c:v>
                </c:pt>
                <c:pt idx="141">
                  <c:v>-194</c:v>
                </c:pt>
                <c:pt idx="142">
                  <c:v>-193</c:v>
                </c:pt>
                <c:pt idx="143">
                  <c:v>-192</c:v>
                </c:pt>
                <c:pt idx="144">
                  <c:v>-191</c:v>
                </c:pt>
                <c:pt idx="145">
                  <c:v>-190</c:v>
                </c:pt>
                <c:pt idx="146">
                  <c:v>-189</c:v>
                </c:pt>
                <c:pt idx="147">
                  <c:v>-188</c:v>
                </c:pt>
                <c:pt idx="148">
                  <c:v>-187</c:v>
                </c:pt>
                <c:pt idx="149">
                  <c:v>-186</c:v>
                </c:pt>
                <c:pt idx="150">
                  <c:v>-185</c:v>
                </c:pt>
                <c:pt idx="151">
                  <c:v>-184</c:v>
                </c:pt>
                <c:pt idx="152">
                  <c:v>-183</c:v>
                </c:pt>
                <c:pt idx="153">
                  <c:v>-182</c:v>
                </c:pt>
                <c:pt idx="154">
                  <c:v>-181</c:v>
                </c:pt>
                <c:pt idx="155">
                  <c:v>-180</c:v>
                </c:pt>
                <c:pt idx="156">
                  <c:v>-179</c:v>
                </c:pt>
                <c:pt idx="157">
                  <c:v>-178</c:v>
                </c:pt>
                <c:pt idx="158">
                  <c:v>-177</c:v>
                </c:pt>
                <c:pt idx="159">
                  <c:v>-176</c:v>
                </c:pt>
                <c:pt idx="160">
                  <c:v>-175</c:v>
                </c:pt>
                <c:pt idx="161">
                  <c:v>-174</c:v>
                </c:pt>
                <c:pt idx="162">
                  <c:v>-173</c:v>
                </c:pt>
                <c:pt idx="163">
                  <c:v>-172</c:v>
                </c:pt>
                <c:pt idx="164">
                  <c:v>-171</c:v>
                </c:pt>
                <c:pt idx="165">
                  <c:v>-170</c:v>
                </c:pt>
                <c:pt idx="166">
                  <c:v>-169</c:v>
                </c:pt>
                <c:pt idx="167">
                  <c:v>-168</c:v>
                </c:pt>
                <c:pt idx="168">
                  <c:v>-167</c:v>
                </c:pt>
                <c:pt idx="169">
                  <c:v>-166</c:v>
                </c:pt>
                <c:pt idx="170">
                  <c:v>-165</c:v>
                </c:pt>
                <c:pt idx="171">
                  <c:v>-164</c:v>
                </c:pt>
                <c:pt idx="172">
                  <c:v>-163</c:v>
                </c:pt>
                <c:pt idx="173">
                  <c:v>-162</c:v>
                </c:pt>
                <c:pt idx="174">
                  <c:v>-161</c:v>
                </c:pt>
                <c:pt idx="175">
                  <c:v>-160</c:v>
                </c:pt>
                <c:pt idx="176">
                  <c:v>-159</c:v>
                </c:pt>
                <c:pt idx="177">
                  <c:v>-158</c:v>
                </c:pt>
                <c:pt idx="178">
                  <c:v>-157</c:v>
                </c:pt>
                <c:pt idx="179">
                  <c:v>-156</c:v>
                </c:pt>
                <c:pt idx="180">
                  <c:v>-155</c:v>
                </c:pt>
                <c:pt idx="181">
                  <c:v>-154</c:v>
                </c:pt>
                <c:pt idx="182">
                  <c:v>-153</c:v>
                </c:pt>
                <c:pt idx="183">
                  <c:v>-152</c:v>
                </c:pt>
                <c:pt idx="184">
                  <c:v>-151</c:v>
                </c:pt>
                <c:pt idx="185">
                  <c:v>-150</c:v>
                </c:pt>
                <c:pt idx="186">
                  <c:v>-149</c:v>
                </c:pt>
                <c:pt idx="187">
                  <c:v>-148</c:v>
                </c:pt>
                <c:pt idx="188">
                  <c:v>-147</c:v>
                </c:pt>
                <c:pt idx="189">
                  <c:v>-146</c:v>
                </c:pt>
                <c:pt idx="190">
                  <c:v>-145</c:v>
                </c:pt>
                <c:pt idx="191">
                  <c:v>-144</c:v>
                </c:pt>
                <c:pt idx="192">
                  <c:v>-143</c:v>
                </c:pt>
                <c:pt idx="193">
                  <c:v>-142</c:v>
                </c:pt>
                <c:pt idx="194">
                  <c:v>-141</c:v>
                </c:pt>
                <c:pt idx="195">
                  <c:v>-140</c:v>
                </c:pt>
                <c:pt idx="196">
                  <c:v>-139</c:v>
                </c:pt>
                <c:pt idx="197">
                  <c:v>-138</c:v>
                </c:pt>
                <c:pt idx="198">
                  <c:v>-137</c:v>
                </c:pt>
                <c:pt idx="199">
                  <c:v>-136</c:v>
                </c:pt>
                <c:pt idx="200">
                  <c:v>-135</c:v>
                </c:pt>
                <c:pt idx="201">
                  <c:v>-134</c:v>
                </c:pt>
                <c:pt idx="202">
                  <c:v>-133</c:v>
                </c:pt>
                <c:pt idx="203">
                  <c:v>-132</c:v>
                </c:pt>
                <c:pt idx="204">
                  <c:v>-131</c:v>
                </c:pt>
                <c:pt idx="205">
                  <c:v>-130</c:v>
                </c:pt>
                <c:pt idx="206">
                  <c:v>-129</c:v>
                </c:pt>
                <c:pt idx="207">
                  <c:v>-128</c:v>
                </c:pt>
                <c:pt idx="208">
                  <c:v>-127</c:v>
                </c:pt>
                <c:pt idx="209">
                  <c:v>-126</c:v>
                </c:pt>
                <c:pt idx="210">
                  <c:v>-125</c:v>
                </c:pt>
                <c:pt idx="211">
                  <c:v>-124</c:v>
                </c:pt>
                <c:pt idx="212">
                  <c:v>-123</c:v>
                </c:pt>
                <c:pt idx="213">
                  <c:v>-122</c:v>
                </c:pt>
                <c:pt idx="214">
                  <c:v>-121</c:v>
                </c:pt>
                <c:pt idx="215">
                  <c:v>-120</c:v>
                </c:pt>
                <c:pt idx="216">
                  <c:v>-119</c:v>
                </c:pt>
                <c:pt idx="217">
                  <c:v>-118</c:v>
                </c:pt>
                <c:pt idx="218">
                  <c:v>-117</c:v>
                </c:pt>
                <c:pt idx="219">
                  <c:v>-116</c:v>
                </c:pt>
                <c:pt idx="220">
                  <c:v>-115</c:v>
                </c:pt>
                <c:pt idx="221">
                  <c:v>-114</c:v>
                </c:pt>
                <c:pt idx="222">
                  <c:v>-113</c:v>
                </c:pt>
                <c:pt idx="223">
                  <c:v>-112</c:v>
                </c:pt>
                <c:pt idx="224">
                  <c:v>-111</c:v>
                </c:pt>
                <c:pt idx="225">
                  <c:v>-110</c:v>
                </c:pt>
                <c:pt idx="226">
                  <c:v>-109</c:v>
                </c:pt>
                <c:pt idx="227">
                  <c:v>-108</c:v>
                </c:pt>
                <c:pt idx="228">
                  <c:v>-107</c:v>
                </c:pt>
                <c:pt idx="229">
                  <c:v>-106</c:v>
                </c:pt>
                <c:pt idx="230">
                  <c:v>-105</c:v>
                </c:pt>
                <c:pt idx="231">
                  <c:v>-104</c:v>
                </c:pt>
                <c:pt idx="232">
                  <c:v>-103</c:v>
                </c:pt>
                <c:pt idx="233">
                  <c:v>-102</c:v>
                </c:pt>
                <c:pt idx="234">
                  <c:v>-101</c:v>
                </c:pt>
                <c:pt idx="235">
                  <c:v>-100</c:v>
                </c:pt>
                <c:pt idx="236">
                  <c:v>-99</c:v>
                </c:pt>
                <c:pt idx="237">
                  <c:v>-98</c:v>
                </c:pt>
                <c:pt idx="238">
                  <c:v>-97</c:v>
                </c:pt>
                <c:pt idx="239">
                  <c:v>-96</c:v>
                </c:pt>
                <c:pt idx="240">
                  <c:v>-95</c:v>
                </c:pt>
                <c:pt idx="241">
                  <c:v>-94</c:v>
                </c:pt>
                <c:pt idx="242">
                  <c:v>-93</c:v>
                </c:pt>
                <c:pt idx="243">
                  <c:v>-92</c:v>
                </c:pt>
                <c:pt idx="244">
                  <c:v>-91</c:v>
                </c:pt>
                <c:pt idx="245">
                  <c:v>-90</c:v>
                </c:pt>
                <c:pt idx="246">
                  <c:v>-89</c:v>
                </c:pt>
                <c:pt idx="247">
                  <c:v>-88</c:v>
                </c:pt>
                <c:pt idx="248">
                  <c:v>-87</c:v>
                </c:pt>
                <c:pt idx="249">
                  <c:v>-86</c:v>
                </c:pt>
                <c:pt idx="250">
                  <c:v>-85</c:v>
                </c:pt>
                <c:pt idx="251">
                  <c:v>-84</c:v>
                </c:pt>
                <c:pt idx="252">
                  <c:v>-83</c:v>
                </c:pt>
                <c:pt idx="253">
                  <c:v>-82</c:v>
                </c:pt>
                <c:pt idx="254">
                  <c:v>-81</c:v>
                </c:pt>
                <c:pt idx="255">
                  <c:v>-80</c:v>
                </c:pt>
                <c:pt idx="256">
                  <c:v>-79</c:v>
                </c:pt>
                <c:pt idx="257">
                  <c:v>-78</c:v>
                </c:pt>
                <c:pt idx="258">
                  <c:v>-77</c:v>
                </c:pt>
                <c:pt idx="259">
                  <c:v>-76</c:v>
                </c:pt>
                <c:pt idx="260">
                  <c:v>-75</c:v>
                </c:pt>
                <c:pt idx="261">
                  <c:v>-74</c:v>
                </c:pt>
                <c:pt idx="262">
                  <c:v>-73</c:v>
                </c:pt>
                <c:pt idx="263">
                  <c:v>-72</c:v>
                </c:pt>
                <c:pt idx="264">
                  <c:v>-71</c:v>
                </c:pt>
                <c:pt idx="265">
                  <c:v>-70</c:v>
                </c:pt>
                <c:pt idx="266">
                  <c:v>-69</c:v>
                </c:pt>
                <c:pt idx="267">
                  <c:v>-68</c:v>
                </c:pt>
                <c:pt idx="268">
                  <c:v>-67</c:v>
                </c:pt>
                <c:pt idx="269">
                  <c:v>-66</c:v>
                </c:pt>
                <c:pt idx="270">
                  <c:v>-65</c:v>
                </c:pt>
                <c:pt idx="271">
                  <c:v>-64</c:v>
                </c:pt>
                <c:pt idx="272">
                  <c:v>-63</c:v>
                </c:pt>
                <c:pt idx="273">
                  <c:v>-62</c:v>
                </c:pt>
                <c:pt idx="274">
                  <c:v>-61</c:v>
                </c:pt>
                <c:pt idx="275">
                  <c:v>-60</c:v>
                </c:pt>
                <c:pt idx="276">
                  <c:v>-59</c:v>
                </c:pt>
                <c:pt idx="277">
                  <c:v>-58</c:v>
                </c:pt>
                <c:pt idx="278">
                  <c:v>-57</c:v>
                </c:pt>
                <c:pt idx="279">
                  <c:v>-56</c:v>
                </c:pt>
                <c:pt idx="280">
                  <c:v>-55</c:v>
                </c:pt>
                <c:pt idx="281">
                  <c:v>-54</c:v>
                </c:pt>
                <c:pt idx="282">
                  <c:v>-53</c:v>
                </c:pt>
                <c:pt idx="283">
                  <c:v>-52</c:v>
                </c:pt>
                <c:pt idx="284">
                  <c:v>-51</c:v>
                </c:pt>
                <c:pt idx="285">
                  <c:v>-50</c:v>
                </c:pt>
                <c:pt idx="286">
                  <c:v>-49</c:v>
                </c:pt>
                <c:pt idx="287">
                  <c:v>-48</c:v>
                </c:pt>
                <c:pt idx="288">
                  <c:v>-47</c:v>
                </c:pt>
                <c:pt idx="289">
                  <c:v>-46</c:v>
                </c:pt>
                <c:pt idx="290">
                  <c:v>-45</c:v>
                </c:pt>
                <c:pt idx="291">
                  <c:v>-44</c:v>
                </c:pt>
                <c:pt idx="292">
                  <c:v>-43</c:v>
                </c:pt>
                <c:pt idx="293">
                  <c:v>-42</c:v>
                </c:pt>
                <c:pt idx="294">
                  <c:v>-41</c:v>
                </c:pt>
                <c:pt idx="295">
                  <c:v>-40</c:v>
                </c:pt>
                <c:pt idx="296">
                  <c:v>-39</c:v>
                </c:pt>
                <c:pt idx="297">
                  <c:v>-38</c:v>
                </c:pt>
                <c:pt idx="298">
                  <c:v>-37</c:v>
                </c:pt>
                <c:pt idx="299">
                  <c:v>-36</c:v>
                </c:pt>
                <c:pt idx="300">
                  <c:v>-35</c:v>
                </c:pt>
                <c:pt idx="301">
                  <c:v>-34</c:v>
                </c:pt>
                <c:pt idx="302">
                  <c:v>-33</c:v>
                </c:pt>
                <c:pt idx="303">
                  <c:v>-32</c:v>
                </c:pt>
                <c:pt idx="304">
                  <c:v>-31</c:v>
                </c:pt>
                <c:pt idx="305">
                  <c:v>-30</c:v>
                </c:pt>
                <c:pt idx="306">
                  <c:v>-29</c:v>
                </c:pt>
                <c:pt idx="307">
                  <c:v>-28</c:v>
                </c:pt>
                <c:pt idx="308">
                  <c:v>-27</c:v>
                </c:pt>
                <c:pt idx="309">
                  <c:v>-26</c:v>
                </c:pt>
                <c:pt idx="310">
                  <c:v>-25</c:v>
                </c:pt>
                <c:pt idx="311">
                  <c:v>-24</c:v>
                </c:pt>
                <c:pt idx="312">
                  <c:v>-23</c:v>
                </c:pt>
                <c:pt idx="313">
                  <c:v>-22</c:v>
                </c:pt>
                <c:pt idx="314">
                  <c:v>-21</c:v>
                </c:pt>
                <c:pt idx="315">
                  <c:v>-20</c:v>
                </c:pt>
                <c:pt idx="316">
                  <c:v>-19</c:v>
                </c:pt>
                <c:pt idx="317">
                  <c:v>-18</c:v>
                </c:pt>
                <c:pt idx="318">
                  <c:v>-17</c:v>
                </c:pt>
                <c:pt idx="319">
                  <c:v>-16</c:v>
                </c:pt>
                <c:pt idx="320">
                  <c:v>-15</c:v>
                </c:pt>
                <c:pt idx="321">
                  <c:v>-14</c:v>
                </c:pt>
                <c:pt idx="322">
                  <c:v>-13</c:v>
                </c:pt>
                <c:pt idx="323">
                  <c:v>-12</c:v>
                </c:pt>
                <c:pt idx="324">
                  <c:v>-11</c:v>
                </c:pt>
                <c:pt idx="325">
                  <c:v>-10</c:v>
                </c:pt>
                <c:pt idx="326">
                  <c:v>-9</c:v>
                </c:pt>
                <c:pt idx="327">
                  <c:v>-8</c:v>
                </c:pt>
                <c:pt idx="328">
                  <c:v>-7</c:v>
                </c:pt>
                <c:pt idx="329">
                  <c:v>-6</c:v>
                </c:pt>
                <c:pt idx="330">
                  <c:v>-5</c:v>
                </c:pt>
                <c:pt idx="331">
                  <c:v>-4</c:v>
                </c:pt>
                <c:pt idx="332">
                  <c:v>-3</c:v>
                </c:pt>
                <c:pt idx="333">
                  <c:v>-2</c:v>
                </c:pt>
                <c:pt idx="334">
                  <c:v>-1</c:v>
                </c:pt>
                <c:pt idx="335">
                  <c:v>0</c:v>
                </c:pt>
              </c:numCache>
            </c:numRef>
          </c:xVal>
          <c:yVal>
            <c:numRef>
              <c:f>'Chart Data'!$B$2:$B$337</c:f>
              <c:numCache>
                <c:formatCode>0.0</c:formatCode>
                <c:ptCount val="336"/>
                <c:pt idx="0">
                  <c:v>0.1243660972</c:v>
                </c:pt>
                <c:pt idx="1">
                  <c:v>0.1243285239</c:v>
                </c:pt>
                <c:pt idx="2">
                  <c:v>0.1238025054</c:v>
                </c:pt>
                <c:pt idx="3">
                  <c:v>0.1235394999</c:v>
                </c:pt>
                <c:pt idx="4">
                  <c:v>0.1235394999</c:v>
                </c:pt>
                <c:pt idx="5">
                  <c:v>0.1235394999</c:v>
                </c:pt>
                <c:pt idx="6">
                  <c:v>0.1235394999</c:v>
                </c:pt>
                <c:pt idx="7">
                  <c:v>0.1229007617</c:v>
                </c:pt>
                <c:pt idx="8">
                  <c:v>0.1231261939</c:v>
                </c:pt>
                <c:pt idx="9">
                  <c:v>0.1228631884</c:v>
                </c:pt>
                <c:pt idx="10">
                  <c:v>0.1233892068</c:v>
                </c:pt>
                <c:pt idx="11">
                  <c:v>0.1239903718</c:v>
                </c:pt>
                <c:pt idx="12">
                  <c:v>0.1233892068</c:v>
                </c:pt>
                <c:pt idx="13">
                  <c:v>0.1233892068</c:v>
                </c:pt>
                <c:pt idx="14">
                  <c:v>0.1245915368</c:v>
                </c:pt>
                <c:pt idx="15">
                  <c:v>0.1248169765</c:v>
                </c:pt>
                <c:pt idx="16">
                  <c:v>0.1259441525</c:v>
                </c:pt>
                <c:pt idx="17">
                  <c:v>0.1270337701</c:v>
                </c:pt>
                <c:pt idx="18">
                  <c:v>0.130490467</c:v>
                </c:pt>
                <c:pt idx="19">
                  <c:v>0.1334587187</c:v>
                </c:pt>
                <c:pt idx="20">
                  <c:v>0.1369154304</c:v>
                </c:pt>
                <c:pt idx="21">
                  <c:v>0.141799897</c:v>
                </c:pt>
                <c:pt idx="22">
                  <c:v>0.1489387304</c:v>
                </c:pt>
                <c:pt idx="23">
                  <c:v>0.1611874849</c:v>
                </c:pt>
                <c:pt idx="24">
                  <c:v>0.1735865176</c:v>
                </c:pt>
                <c:pt idx="25">
                  <c:v>0.200263232</c:v>
                </c:pt>
                <c:pt idx="26">
                  <c:v>0.2585011423</c:v>
                </c:pt>
                <c:pt idx="27">
                  <c:v>0.2915652394</c:v>
                </c:pt>
                <c:pt idx="28">
                  <c:v>0.290438056</c:v>
                </c:pt>
                <c:pt idx="29">
                  <c:v>0.2814205587</c:v>
                </c:pt>
                <c:pt idx="30">
                  <c:v>0.2716516256</c:v>
                </c:pt>
                <c:pt idx="31">
                  <c:v>0.2622584105</c:v>
                </c:pt>
                <c:pt idx="32">
                  <c:v>0.2566224933</c:v>
                </c:pt>
                <c:pt idx="33">
                  <c:v>0.251362294</c:v>
                </c:pt>
                <c:pt idx="34">
                  <c:v>0.2494836599</c:v>
                </c:pt>
                <c:pt idx="35">
                  <c:v>0.2536166608</c:v>
                </c:pt>
                <c:pt idx="36">
                  <c:v>0.2603797913</c:v>
                </c:pt>
                <c:pt idx="37">
                  <c:v>0.2709001601</c:v>
                </c:pt>
                <c:pt idx="38">
                  <c:v>0.2938196063</c:v>
                </c:pt>
                <c:pt idx="39">
                  <c:v>0.3227506876</c:v>
                </c:pt>
                <c:pt idx="40">
                  <c:v>0.3467973173</c:v>
                </c:pt>
                <c:pt idx="41">
                  <c:v>0.3622021675</c:v>
                </c:pt>
                <c:pt idx="42">
                  <c:v>0.3742254674</c:v>
                </c:pt>
                <c:pt idx="43">
                  <c:v>0.3779827654</c:v>
                </c:pt>
                <c:pt idx="44">
                  <c:v>0.3764798641</c:v>
                </c:pt>
                <c:pt idx="45">
                  <c:v>0.3761041164</c:v>
                </c:pt>
                <c:pt idx="46">
                  <c:v>0.3843701482</c:v>
                </c:pt>
                <c:pt idx="47">
                  <c:v>0.4069138467</c:v>
                </c:pt>
                <c:pt idx="48">
                  <c:v>0.4305847287</c:v>
                </c:pt>
                <c:pt idx="49">
                  <c:v>0.4489954412</c:v>
                </c:pt>
                <c:pt idx="50">
                  <c:v>0.465151757</c:v>
                </c:pt>
                <c:pt idx="51">
                  <c:v>0.4813080728</c:v>
                </c:pt>
                <c:pt idx="52">
                  <c:v>0.5049789548</c:v>
                </c:pt>
                <c:pt idx="53">
                  <c:v>0.5327828526</c:v>
                </c:pt>
                <c:pt idx="54">
                  <c:v>0.5650954843</c:v>
                </c:pt>
                <c:pt idx="55">
                  <c:v>0.58463341</c:v>
                </c:pt>
                <c:pt idx="56">
                  <c:v>0.5883906484</c:v>
                </c:pt>
                <c:pt idx="57">
                  <c:v>0.5703557134</c:v>
                </c:pt>
                <c:pt idx="58">
                  <c:v>0.5504420996</c:v>
                </c:pt>
                <c:pt idx="59">
                  <c:v>0.5290255547</c:v>
                </c:pt>
                <c:pt idx="60">
                  <c:v>0.5109906197</c:v>
                </c:pt>
                <c:pt idx="61">
                  <c:v>0.4944585562</c:v>
                </c:pt>
                <c:pt idx="62">
                  <c:v>0.4783022404</c:v>
                </c:pt>
                <c:pt idx="63">
                  <c:v>0.4655274749</c:v>
                </c:pt>
                <c:pt idx="64">
                  <c:v>0.4535041749</c:v>
                </c:pt>
                <c:pt idx="65">
                  <c:v>0.439602226</c:v>
                </c:pt>
                <c:pt idx="66">
                  <c:v>0.4294575453</c:v>
                </c:pt>
                <c:pt idx="67">
                  <c:v>0.4163070619</c:v>
                </c:pt>
                <c:pt idx="68">
                  <c:v>0.4050351977</c:v>
                </c:pt>
                <c:pt idx="69">
                  <c:v>0.3922604322</c:v>
                </c:pt>
                <c:pt idx="70">
                  <c:v>0.3806128502</c:v>
                </c:pt>
                <c:pt idx="71">
                  <c:v>0.3712196648</c:v>
                </c:pt>
                <c:pt idx="72">
                  <c:v>0.3633293509</c:v>
                </c:pt>
                <c:pt idx="73">
                  <c:v>0.3535604179</c:v>
                </c:pt>
                <c:pt idx="74">
                  <c:v>0.3437914848</c:v>
                </c:pt>
                <c:pt idx="75">
                  <c:v>0.3385312855</c:v>
                </c:pt>
                <c:pt idx="76">
                  <c:v>0.3306410015</c:v>
                </c:pt>
                <c:pt idx="77">
                  <c:v>0.3227506876</c:v>
                </c:pt>
                <c:pt idx="78">
                  <c:v>0.3167390227</c:v>
                </c:pt>
                <c:pt idx="79">
                  <c:v>0.3107273877</c:v>
                </c:pt>
                <c:pt idx="80">
                  <c:v>0.3054671884</c:v>
                </c:pt>
                <c:pt idx="81">
                  <c:v>0.3013341725</c:v>
                </c:pt>
                <c:pt idx="82">
                  <c:v>0.2956982553</c:v>
                </c:pt>
                <c:pt idx="83">
                  <c:v>0.2911894917</c:v>
                </c:pt>
                <c:pt idx="84">
                  <c:v>0.2874322236</c:v>
                </c:pt>
                <c:pt idx="85">
                  <c:v>0.2840506732</c:v>
                </c:pt>
                <c:pt idx="86">
                  <c:v>0.2806691229</c:v>
                </c:pt>
                <c:pt idx="87">
                  <c:v>0.2776632905</c:v>
                </c:pt>
                <c:pt idx="88">
                  <c:v>0.2742817402</c:v>
                </c:pt>
                <c:pt idx="89">
                  <c:v>0.2716516256</c:v>
                </c:pt>
                <c:pt idx="90">
                  <c:v>0.2678943574</c:v>
                </c:pt>
                <c:pt idx="91">
                  <c:v>0.2645127773</c:v>
                </c:pt>
                <c:pt idx="92">
                  <c:v>0.2622584105</c:v>
                </c:pt>
                <c:pt idx="93">
                  <c:v>0.2585011423</c:v>
                </c:pt>
                <c:pt idx="94">
                  <c:v>0.2554953098</c:v>
                </c:pt>
                <c:pt idx="95">
                  <c:v>0.2524894774</c:v>
                </c:pt>
                <c:pt idx="96">
                  <c:v>0.2502351105</c:v>
                </c:pt>
                <c:pt idx="97">
                  <c:v>0.2464778274</c:v>
                </c:pt>
                <c:pt idx="98">
                  <c:v>0.2445991784</c:v>
                </c:pt>
                <c:pt idx="99">
                  <c:v>0.2423448116</c:v>
                </c:pt>
                <c:pt idx="100">
                  <c:v>0.2382117957</c:v>
                </c:pt>
                <c:pt idx="101">
                  <c:v>0.2355817109</c:v>
                </c:pt>
                <c:pt idx="102">
                  <c:v>0.2340787947</c:v>
                </c:pt>
                <c:pt idx="103">
                  <c:v>0.2314486951</c:v>
                </c:pt>
                <c:pt idx="104">
                  <c:v>0.2299457788</c:v>
                </c:pt>
                <c:pt idx="105">
                  <c:v>0.2288185954</c:v>
                </c:pt>
                <c:pt idx="106">
                  <c:v>0.2265642285</c:v>
                </c:pt>
                <c:pt idx="107">
                  <c:v>0.225812763</c:v>
                </c:pt>
                <c:pt idx="108">
                  <c:v>0.2228069454</c:v>
                </c:pt>
                <c:pt idx="109">
                  <c:v>0.2205525637</c:v>
                </c:pt>
                <c:pt idx="110">
                  <c:v>0.2194253802</c:v>
                </c:pt>
                <c:pt idx="111">
                  <c:v>0.217922464</c:v>
                </c:pt>
                <c:pt idx="112">
                  <c:v>0.2164195627</c:v>
                </c:pt>
                <c:pt idx="113">
                  <c:v>0.2149166465</c:v>
                </c:pt>
                <c:pt idx="114">
                  <c:v>0.2152923644</c:v>
                </c:pt>
                <c:pt idx="115">
                  <c:v>0.2134137303</c:v>
                </c:pt>
                <c:pt idx="116">
                  <c:v>0.213789463</c:v>
                </c:pt>
                <c:pt idx="117">
                  <c:v>0.2134137303</c:v>
                </c:pt>
                <c:pt idx="118">
                  <c:v>0.2134137303</c:v>
                </c:pt>
                <c:pt idx="119">
                  <c:v>0.2145409137</c:v>
                </c:pt>
                <c:pt idx="120">
                  <c:v>0.2164195627</c:v>
                </c:pt>
                <c:pt idx="121">
                  <c:v>0.2228069454</c:v>
                </c:pt>
                <c:pt idx="122">
                  <c:v>0.2329516113</c:v>
                </c:pt>
                <c:pt idx="123">
                  <c:v>0.2660157084</c:v>
                </c:pt>
                <c:pt idx="124">
                  <c:v>0.3783584833</c:v>
                </c:pt>
                <c:pt idx="125">
                  <c:v>0.5883906484</c:v>
                </c:pt>
                <c:pt idx="126">
                  <c:v>0.7848966122</c:v>
                </c:pt>
                <c:pt idx="127">
                  <c:v>0.981402576</c:v>
                </c:pt>
                <c:pt idx="128">
                  <c:v>1.177532792</c:v>
                </c:pt>
                <c:pt idx="129">
                  <c:v>1.407478571</c:v>
                </c:pt>
                <c:pt idx="130">
                  <c:v>1.656962276</c:v>
                </c:pt>
                <c:pt idx="131">
                  <c:v>1.867370129</c:v>
                </c:pt>
                <c:pt idx="132">
                  <c:v>1.987603188</c:v>
                </c:pt>
                <c:pt idx="133">
                  <c:v>2.130379915</c:v>
                </c:pt>
                <c:pt idx="134">
                  <c:v>2.306972265</c:v>
                </c:pt>
                <c:pt idx="135">
                  <c:v>2.39338994</c:v>
                </c:pt>
                <c:pt idx="136">
                  <c:v>2.415933609</c:v>
                </c:pt>
                <c:pt idx="137">
                  <c:v>2.430962801</c:v>
                </c:pt>
                <c:pt idx="138">
                  <c:v>2.547438622</c:v>
                </c:pt>
                <c:pt idx="139">
                  <c:v>2.675186157</c:v>
                </c:pt>
                <c:pt idx="140">
                  <c:v>2.765361071</c:v>
                </c:pt>
                <c:pt idx="141">
                  <c:v>2.80669117</c:v>
                </c:pt>
                <c:pt idx="142">
                  <c:v>2.697729826</c:v>
                </c:pt>
                <c:pt idx="143">
                  <c:v>2.63009882</c:v>
                </c:pt>
                <c:pt idx="144">
                  <c:v>2.415933609</c:v>
                </c:pt>
                <c:pt idx="145">
                  <c:v>2.261884928</c:v>
                </c:pt>
                <c:pt idx="146">
                  <c:v>2.070263386</c:v>
                </c:pt>
                <c:pt idx="147">
                  <c:v>1.882399321</c:v>
                </c:pt>
                <c:pt idx="148">
                  <c:v>1.758408904</c:v>
                </c:pt>
                <c:pt idx="149">
                  <c:v>1.630661249</c:v>
                </c:pt>
                <c:pt idx="150">
                  <c:v>1.540486455</c:v>
                </c:pt>
                <c:pt idx="151">
                  <c:v>1.460456252</c:v>
                </c:pt>
                <c:pt idx="152">
                  <c:v>1.39057076</c:v>
                </c:pt>
                <c:pt idx="153">
                  <c:v>1.315800786</c:v>
                </c:pt>
                <c:pt idx="154">
                  <c:v>1.254557133</c:v>
                </c:pt>
                <c:pt idx="155">
                  <c:v>1.199700713</c:v>
                </c:pt>
                <c:pt idx="156">
                  <c:v>1.152359009</c:v>
                </c:pt>
                <c:pt idx="157">
                  <c:v>1.112156034</c:v>
                </c:pt>
                <c:pt idx="158">
                  <c:v>1.085855007</c:v>
                </c:pt>
                <c:pt idx="159">
                  <c:v>1.055045366</c:v>
                </c:pt>
                <c:pt idx="160">
                  <c:v>1.041894794</c:v>
                </c:pt>
                <c:pt idx="161">
                  <c:v>1.010333657</c:v>
                </c:pt>
                <c:pt idx="162">
                  <c:v>0.9979346395</c:v>
                </c:pt>
                <c:pt idx="163">
                  <c:v>1.001691937</c:v>
                </c:pt>
                <c:pt idx="164">
                  <c:v>1.012588024</c:v>
                </c:pt>
                <c:pt idx="165">
                  <c:v>1.019726872</c:v>
                </c:pt>
                <c:pt idx="166">
                  <c:v>1.037010312</c:v>
                </c:pt>
                <c:pt idx="167">
                  <c:v>1.052790999</c:v>
                </c:pt>
                <c:pt idx="168">
                  <c:v>1.031750202</c:v>
                </c:pt>
                <c:pt idx="169">
                  <c:v>1.004322052</c:v>
                </c:pt>
                <c:pt idx="170">
                  <c:v>0.9746394753</c:v>
                </c:pt>
                <c:pt idx="171">
                  <c:v>0.9314306974</c:v>
                </c:pt>
                <c:pt idx="172">
                  <c:v>0.8885976672</c:v>
                </c:pt>
                <c:pt idx="173">
                  <c:v>0.8510248065</c:v>
                </c:pt>
                <c:pt idx="174">
                  <c:v>0.8149548769</c:v>
                </c:pt>
                <c:pt idx="175">
                  <c:v>0.7856480479</c:v>
                </c:pt>
                <c:pt idx="176">
                  <c:v>0.757468462</c:v>
                </c:pt>
                <c:pt idx="177">
                  <c:v>0.7300402522</c:v>
                </c:pt>
                <c:pt idx="178">
                  <c:v>0.7138839364</c:v>
                </c:pt>
                <c:pt idx="179">
                  <c:v>0.6973518729</c:v>
                </c:pt>
                <c:pt idx="180">
                  <c:v>0.6796926856</c:v>
                </c:pt>
                <c:pt idx="181">
                  <c:v>0.6661664248</c:v>
                </c:pt>
                <c:pt idx="182">
                  <c:v>0.6552703381</c:v>
                </c:pt>
                <c:pt idx="183">
                  <c:v>0.6432470083</c:v>
                </c:pt>
                <c:pt idx="184">
                  <c:v>0.6304722428</c:v>
                </c:pt>
                <c:pt idx="185">
                  <c:v>0.6135644913</c:v>
                </c:pt>
                <c:pt idx="186">
                  <c:v>0.6034197807</c:v>
                </c:pt>
                <c:pt idx="187">
                  <c:v>0.5891421437</c:v>
                </c:pt>
                <c:pt idx="188">
                  <c:v>0.5778702497</c:v>
                </c:pt>
                <c:pt idx="189">
                  <c:v>0.569604218</c:v>
                </c:pt>
                <c:pt idx="190">
                  <c:v>0.5568294525</c:v>
                </c:pt>
                <c:pt idx="191">
                  <c:v>0.5470605493</c:v>
                </c:pt>
                <c:pt idx="192">
                  <c:v>0.5327828526</c:v>
                </c:pt>
                <c:pt idx="193">
                  <c:v>0.5226382017</c:v>
                </c:pt>
                <c:pt idx="194">
                  <c:v>0.51437217</c:v>
                </c:pt>
                <c:pt idx="195">
                  <c:v>0.5046032071</c:v>
                </c:pt>
                <c:pt idx="196">
                  <c:v>0.4974643886</c:v>
                </c:pt>
                <c:pt idx="197">
                  <c:v>0.4858168066</c:v>
                </c:pt>
                <c:pt idx="198">
                  <c:v>0.4771750569</c:v>
                </c:pt>
                <c:pt idx="199">
                  <c:v>0.4689090252</c:v>
                </c:pt>
                <c:pt idx="200">
                  <c:v>0.4595158398</c:v>
                </c:pt>
                <c:pt idx="201">
                  <c:v>0.4520012736</c:v>
                </c:pt>
                <c:pt idx="202">
                  <c:v>0.4471167922</c:v>
                </c:pt>
                <c:pt idx="203">
                  <c:v>0.437723577</c:v>
                </c:pt>
                <c:pt idx="204">
                  <c:v>0.4320876598</c:v>
                </c:pt>
                <c:pt idx="205">
                  <c:v>0.4264517426</c:v>
                </c:pt>
                <c:pt idx="206">
                  <c:v>0.4204400778</c:v>
                </c:pt>
                <c:pt idx="207">
                  <c:v>0.414052695</c:v>
                </c:pt>
                <c:pt idx="208">
                  <c:v>0.4072895944</c:v>
                </c:pt>
                <c:pt idx="209">
                  <c:v>0.4001507461</c:v>
                </c:pt>
                <c:pt idx="210">
                  <c:v>0.3945148289</c:v>
                </c:pt>
                <c:pt idx="211">
                  <c:v>0.390381813</c:v>
                </c:pt>
                <c:pt idx="212">
                  <c:v>0.3854973316</c:v>
                </c:pt>
                <c:pt idx="213">
                  <c:v>0.3817400634</c:v>
                </c:pt>
                <c:pt idx="214">
                  <c:v>0.3776070476</c:v>
                </c:pt>
                <c:pt idx="215">
                  <c:v>0.3783584833</c:v>
                </c:pt>
                <c:pt idx="216">
                  <c:v>0.3779827654</c:v>
                </c:pt>
                <c:pt idx="217">
                  <c:v>0.3764798641</c:v>
                </c:pt>
                <c:pt idx="218">
                  <c:v>0.3779827654</c:v>
                </c:pt>
                <c:pt idx="219">
                  <c:v>0.3798614144</c:v>
                </c:pt>
                <c:pt idx="220">
                  <c:v>0.3783584833</c:v>
                </c:pt>
                <c:pt idx="221">
                  <c:v>0.3798614144</c:v>
                </c:pt>
                <c:pt idx="222">
                  <c:v>0.374976933</c:v>
                </c:pt>
                <c:pt idx="223">
                  <c:v>0.3746012151</c:v>
                </c:pt>
                <c:pt idx="224">
                  <c:v>0.3734740317</c:v>
                </c:pt>
                <c:pt idx="225">
                  <c:v>0.3712196648</c:v>
                </c:pt>
                <c:pt idx="226">
                  <c:v>0.3704681993</c:v>
                </c:pt>
                <c:pt idx="227">
                  <c:v>0.3697167337</c:v>
                </c:pt>
                <c:pt idx="228">
                  <c:v>0.3704681993</c:v>
                </c:pt>
                <c:pt idx="229">
                  <c:v>0.3682138324</c:v>
                </c:pt>
                <c:pt idx="230">
                  <c:v>0.3659594655</c:v>
                </c:pt>
                <c:pt idx="231">
                  <c:v>0.3633293509</c:v>
                </c:pt>
                <c:pt idx="232">
                  <c:v>0.3584448993</c:v>
                </c:pt>
                <c:pt idx="233">
                  <c:v>0.3569419682</c:v>
                </c:pt>
                <c:pt idx="234">
                  <c:v>0.3535604179</c:v>
                </c:pt>
                <c:pt idx="235">
                  <c:v>0.3490516841</c:v>
                </c:pt>
                <c:pt idx="236">
                  <c:v>0.3430400193</c:v>
                </c:pt>
                <c:pt idx="237">
                  <c:v>0.3411613703</c:v>
                </c:pt>
                <c:pt idx="238">
                  <c:v>0.33777982</c:v>
                </c:pt>
                <c:pt idx="239">
                  <c:v>0.3336468041</c:v>
                </c:pt>
                <c:pt idx="240">
                  <c:v>0.3298895359</c:v>
                </c:pt>
                <c:pt idx="241">
                  <c:v>0.32575652</c:v>
                </c:pt>
                <c:pt idx="242">
                  <c:v>0.3223749697</c:v>
                </c:pt>
                <c:pt idx="243">
                  <c:v>0.3193691373</c:v>
                </c:pt>
                <c:pt idx="244">
                  <c:v>0.3171147704</c:v>
                </c:pt>
                <c:pt idx="245">
                  <c:v>0.3114788532</c:v>
                </c:pt>
                <c:pt idx="246">
                  <c:v>0.3088487387</c:v>
                </c:pt>
                <c:pt idx="247">
                  <c:v>0.3058429062</c:v>
                </c:pt>
                <c:pt idx="248">
                  <c:v>0.3032128215</c:v>
                </c:pt>
                <c:pt idx="249">
                  <c:v>0.3017098904</c:v>
                </c:pt>
                <c:pt idx="250">
                  <c:v>0.2972011566</c:v>
                </c:pt>
                <c:pt idx="251">
                  <c:v>0.2956982553</c:v>
                </c:pt>
                <c:pt idx="252">
                  <c:v>0.2938196063</c:v>
                </c:pt>
                <c:pt idx="253">
                  <c:v>0.290438056</c:v>
                </c:pt>
                <c:pt idx="254">
                  <c:v>0.2881836891</c:v>
                </c:pt>
                <c:pt idx="255">
                  <c:v>0.2863050401</c:v>
                </c:pt>
                <c:pt idx="256">
                  <c:v>0.2832992077</c:v>
                </c:pt>
                <c:pt idx="257">
                  <c:v>0.2814205587</c:v>
                </c:pt>
                <c:pt idx="258">
                  <c:v>0.2780390084</c:v>
                </c:pt>
                <c:pt idx="259">
                  <c:v>0.2761603594</c:v>
                </c:pt>
                <c:pt idx="260">
                  <c:v>0.2742817402</c:v>
                </c:pt>
                <c:pt idx="261">
                  <c:v>0.2720273435</c:v>
                </c:pt>
                <c:pt idx="262">
                  <c:v>0.2705244422</c:v>
                </c:pt>
                <c:pt idx="263">
                  <c:v>0.2678943574</c:v>
                </c:pt>
                <c:pt idx="264">
                  <c:v>0.2660157084</c:v>
                </c:pt>
                <c:pt idx="265">
                  <c:v>0.264888525</c:v>
                </c:pt>
                <c:pt idx="266">
                  <c:v>0.261131227</c:v>
                </c:pt>
                <c:pt idx="267">
                  <c:v>0.2600040436</c:v>
                </c:pt>
                <c:pt idx="268">
                  <c:v>0.2581253946</c:v>
                </c:pt>
                <c:pt idx="269">
                  <c:v>0.2569982111</c:v>
                </c:pt>
                <c:pt idx="270">
                  <c:v>0.2547438443</c:v>
                </c:pt>
                <c:pt idx="271">
                  <c:v>0.2528652251</c:v>
                </c:pt>
                <c:pt idx="272">
                  <c:v>0.2506108284</c:v>
                </c:pt>
                <c:pt idx="273">
                  <c:v>0.2491079271</c:v>
                </c:pt>
                <c:pt idx="274">
                  <c:v>0.2479807436</c:v>
                </c:pt>
                <c:pt idx="275">
                  <c:v>0.2461020947</c:v>
                </c:pt>
                <c:pt idx="276">
                  <c:v>0.2449749112</c:v>
                </c:pt>
                <c:pt idx="277">
                  <c:v>0.2427205443</c:v>
                </c:pt>
                <c:pt idx="278">
                  <c:v>0.2412176281</c:v>
                </c:pt>
                <c:pt idx="279">
                  <c:v>0.2389632612</c:v>
                </c:pt>
                <c:pt idx="280">
                  <c:v>0.237460345</c:v>
                </c:pt>
                <c:pt idx="281">
                  <c:v>0.2363331616</c:v>
                </c:pt>
                <c:pt idx="282">
                  <c:v>0.2352059782</c:v>
                </c:pt>
                <c:pt idx="283">
                  <c:v>0.2333273292</c:v>
                </c:pt>
                <c:pt idx="284">
                  <c:v>0.2325758785</c:v>
                </c:pt>
                <c:pt idx="285">
                  <c:v>0.2314486951</c:v>
                </c:pt>
                <c:pt idx="286">
                  <c:v>0.2295700461</c:v>
                </c:pt>
                <c:pt idx="287">
                  <c:v>0.227691412</c:v>
                </c:pt>
                <c:pt idx="288">
                  <c:v>0.2261884958</c:v>
                </c:pt>
                <c:pt idx="289">
                  <c:v>0.2254370302</c:v>
                </c:pt>
                <c:pt idx="290">
                  <c:v>0.2235583961</c:v>
                </c:pt>
                <c:pt idx="291">
                  <c:v>0.2224312127</c:v>
                </c:pt>
                <c:pt idx="292">
                  <c:v>0.2220554799</c:v>
                </c:pt>
                <c:pt idx="293">
                  <c:v>0.2201768458</c:v>
                </c:pt>
                <c:pt idx="294">
                  <c:v>0.2194253802</c:v>
                </c:pt>
                <c:pt idx="295">
                  <c:v>0.2182981968</c:v>
                </c:pt>
                <c:pt idx="296">
                  <c:v>0.2171710134</c:v>
                </c:pt>
                <c:pt idx="297">
                  <c:v>0.2160438299</c:v>
                </c:pt>
                <c:pt idx="298">
                  <c:v>0.2145409137</c:v>
                </c:pt>
                <c:pt idx="299">
                  <c:v>0.2141651809</c:v>
                </c:pt>
                <c:pt idx="300">
                  <c:v>0.2122865468</c:v>
                </c:pt>
                <c:pt idx="301">
                  <c:v>0.2115350813</c:v>
                </c:pt>
                <c:pt idx="302">
                  <c:v>0.21003218</c:v>
                </c:pt>
                <c:pt idx="303">
                  <c:v>0.2096564472</c:v>
                </c:pt>
                <c:pt idx="304">
                  <c:v>0.2077777982</c:v>
                </c:pt>
                <c:pt idx="305">
                  <c:v>0.2074020803</c:v>
                </c:pt>
                <c:pt idx="306">
                  <c:v>0.206274882</c:v>
                </c:pt>
                <c:pt idx="307">
                  <c:v>0.2051476985</c:v>
                </c:pt>
                <c:pt idx="308">
                  <c:v>0.2040205151</c:v>
                </c:pt>
                <c:pt idx="309">
                  <c:v>0.2013904154</c:v>
                </c:pt>
                <c:pt idx="310">
                  <c:v>0.2010146976</c:v>
                </c:pt>
                <c:pt idx="311">
                  <c:v>0.1995117813</c:v>
                </c:pt>
                <c:pt idx="312">
                  <c:v>0.1991360486</c:v>
                </c:pt>
                <c:pt idx="313">
                  <c:v>0.1983845979</c:v>
                </c:pt>
                <c:pt idx="314">
                  <c:v>0.1972574145</c:v>
                </c:pt>
                <c:pt idx="315">
                  <c:v>0.1957544982</c:v>
                </c:pt>
                <c:pt idx="316">
                  <c:v>0.1953787655</c:v>
                </c:pt>
                <c:pt idx="317">
                  <c:v>0.1935001165</c:v>
                </c:pt>
                <c:pt idx="318">
                  <c:v>0.1927486658</c:v>
                </c:pt>
                <c:pt idx="319">
                  <c:v>0.1916214824</c:v>
                </c:pt>
                <c:pt idx="320">
                  <c:v>0.1908700317</c:v>
                </c:pt>
                <c:pt idx="321">
                  <c:v>0.1908700317</c:v>
                </c:pt>
                <c:pt idx="322">
                  <c:v>0.1893671155</c:v>
                </c:pt>
                <c:pt idx="323">
                  <c:v>0.1893671155</c:v>
                </c:pt>
                <c:pt idx="324">
                  <c:v>0.1893671155</c:v>
                </c:pt>
                <c:pt idx="325">
                  <c:v>0.1886156499</c:v>
                </c:pt>
                <c:pt idx="326">
                  <c:v>0.1878641993</c:v>
                </c:pt>
                <c:pt idx="327">
                  <c:v>0.1871127337</c:v>
                </c:pt>
                <c:pt idx="328">
                  <c:v>0.1863612831</c:v>
                </c:pt>
                <c:pt idx="329">
                  <c:v>0.1863612831</c:v>
                </c:pt>
                <c:pt idx="330">
                  <c:v>0.1856098324</c:v>
                </c:pt>
                <c:pt idx="331">
                  <c:v>0.1848583668</c:v>
                </c:pt>
                <c:pt idx="332">
                  <c:v>0.1833554506</c:v>
                </c:pt>
                <c:pt idx="333">
                  <c:v>0.1829797328</c:v>
                </c:pt>
                <c:pt idx="334">
                  <c:v>0.1818525493</c:v>
                </c:pt>
                <c:pt idx="335">
                  <c:v>0.1814768165</c:v>
                </c:pt>
              </c:numCache>
            </c:numRef>
          </c:yVal>
        </c:ser>
        <c:dLbls>
          <c:txPr>
            <a:bodyPr anchorCtr="1"/>
            <a:lstStyle/>
            <a:p>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in val="0"/>
        </c:scaling>
        <c:delete val="0"/>
        <c:axPos val="l"/>
        <c:majorGridlines>
          <c:spPr>
            <a:ln w="9525">
              <a:solidFill>
                <a:srgbClr val="E4E8EB"/>
              </a:solidFill>
              <a:prstDash val="solid"/>
            </a:ln>
          </c:spPr>
        </c:majorGridlines>
        <c:title>
          <c:tx>
            <c:rich>
              <a:bodyPr/>
              <a:lstStyle/>
              <a:p>
                <a:r>
                  <a:rPr sz="1575">
                    <a:latin typeface="Helvetica Neue"/>
                    <a:ea typeface="Helvetica Neue"/>
                    <a:cs typeface="Helvetica Neue"/>
                  </a:rPr>
                  <a:t>Caudal específico (mm/h)</a:t>
                </a:r>
              </a:p>
            </c:rich>
          </c:tx>
          <c:overlay val="0"/>
          <c:txPr>
            <a:bodyPr anchorCtr="1"/>
            <a:lstStyle/>
            <a:p>
              <a:pPr>
                <a:defRPr sz="1575">
                  <a:latin typeface="Helvetica Neue"/>
                  <a:ea typeface="Helvetica Neue"/>
                  <a:cs typeface="Helvetica Neue"/>
                </a:defRPr>
              </a:pPr>
            </a:p>
          </c:txPr>
        </c:title>
        <c:numFmt formatCode="0.0"/>
        <c:majorTickMark val="none"/>
        <c:minorTickMark val="none"/>
        <c:spPr>
          <a:ln w="9525">
            <a:solidFill>
              <a:srgbClr val="D4D4D4"/>
            </a:solidFill>
            <a:prstDash val="solid"/>
          </a:ln>
        </c:spPr>
        <c:txPr>
          <a:bodyPr anchorCtr="1"/>
          <a:lstStyle/>
          <a:p>
            <a:pPr>
              <a:defRPr sz="1425">
                <a:solidFill>
                  <a:srgbClr val="5D6267"/>
                </a:solidFill>
                <a:latin typeface="Helvetica Neue"/>
                <a:ea typeface="Helvetica Neue"/>
                <a:cs typeface="Helvetica Neue"/>
              </a:defRPr>
            </a:pPr>
          </a:p>
        </c:txPr>
        <c:crossAx val="48650112"/>
      </c:valAx>
      <c:valAx>
        <c:axId val="48650112"/>
        <c:scaling>
          <c:orientation val="minMax"/>
          <c:max val="0"/>
          <c:min val="-335"/>
        </c:scaling>
        <c:delete val="0"/>
        <c:axPos val="b"/>
        <c:title>
          <c:tx>
            <c:rich>
              <a:bodyPr/>
              <a:lstStyle/>
              <a:p>
                <a:r>
                  <a:rPr sz="1575">
                    <a:latin typeface="Helvetica Neue"/>
                    <a:ea typeface="Helvetica Neue"/>
                    <a:cs typeface="Helvetica Neue"/>
                  </a:rPr>
                  <a:t>Horas respecto al final de la historia</a:t>
                </a:r>
              </a:p>
            </c:rich>
          </c:tx>
          <c:overlay val="0"/>
          <c:txPr>
            <a:bodyPr anchorCtr="1"/>
            <a:lstStyle/>
            <a:p>
              <a:pPr>
                <a:defRPr sz="1575">
                  <a:latin typeface="Helvetica Neue"/>
                  <a:ea typeface="Helvetica Neue"/>
                  <a:cs typeface="Helvetica Neue"/>
                </a:defRPr>
              </a:pPr>
            </a:p>
          </c:txPr>
        </c:title>
        <c:numFmt formatCode="0"/>
        <c:majorTickMark val="none"/>
        <c:minorTickMark val="none"/>
        <c:spPr>
          <a:ln w="9525">
            <a:solidFill>
              <a:srgbClr val="D4D4D4"/>
            </a:solidFill>
            <a:prstDash val="solid"/>
          </a:ln>
        </c:spPr>
        <c:txPr>
          <a:bodyPr anchorCtr="1"/>
          <a:lstStyle/>
          <a:p>
            <a:pPr>
              <a:defRPr sz="1425">
                <a:solidFill>
                  <a:srgbClr val="5D6267"/>
                </a:solidFill>
                <a:latin typeface="Helvetica Neue"/>
                <a:ea typeface="Helvetica Neue"/>
                <a:cs typeface="Helvetica Neue"/>
              </a:defRPr>
            </a:pPr>
          </a:p>
        </c:txPr>
        <c:crossAx val="48672768"/>
        <c:majorUnit val="48"/>
      </c:valAx>
      <c:spPr>
        <a:solidFill>
          <a:srgbClr val="FFFFFF"/>
        </a:solidFill>
        <a:ln w="0">
          <a:noFill/>
        </a:ln>
      </c:spPr>
    </c:plotArea>
    <c:plotVisOnly val="1"/>
  </c:chart>
  <c:spPr>
    <a:solidFill>
      <a:srgbClr val="FFFFFF"/>
    </a:solidFill>
    <a:ln w="0">
      <a:noFill/>
    </a:ln>
  </c:spPr>
  <c:externalData r:id="rIdChartSnapshot1">
    <c:autoUpdate val="0"/>
  </c:externalData>
</c:chartSpace>
</file>

<file path=ppt/slides/charts/chart2.xml><?xml version="1.0" encoding="utf-8"?>
<c:chartSpace xmlns:a="http://schemas.openxmlformats.org/drawingml/2006/main" xmlns:c="http://schemas.openxmlformats.org/drawingml/2006/chart" xmlns:r="http://schemas.openxmlformats.org/officeDocument/2006/relationships">
  <c:lang val="en-US"/>
  <c:chart>
    <c:plotArea>
      <c:scatterChart>
        <c:scatterStyle val="line"/>
        <c:ser>
          <c:idx val="0"/>
          <c:order val="0"/>
          <c:tx>
            <c:v>Alta complejidad</c:v>
          </c:tx>
          <c:spPr>
            <a:ln w="21908">
              <a:solidFill>
                <a:srgbClr val="007FA3"/>
              </a:solidFill>
              <a:prstDash val="solid"/>
            </a:ln>
          </c:spPr>
          <c:marker>
            <c:symbol val="none"/>
          </c:marker>
          <c:xVal>
            <c:numRef>
              <c:f>'Chart Data'!$A$2:$A$337</c:f>
              <c:numCache>
                <c:formatCode>General</c:formatCode>
                <c:ptCount val="336"/>
                <c:pt idx="0">
                  <c:v>-335</c:v>
                </c:pt>
                <c:pt idx="1">
                  <c:v>-334</c:v>
                </c:pt>
                <c:pt idx="2">
                  <c:v>-333</c:v>
                </c:pt>
                <c:pt idx="3">
                  <c:v>-332</c:v>
                </c:pt>
                <c:pt idx="4">
                  <c:v>-331</c:v>
                </c:pt>
                <c:pt idx="5">
                  <c:v>-330</c:v>
                </c:pt>
                <c:pt idx="6">
                  <c:v>-329</c:v>
                </c:pt>
                <c:pt idx="7">
                  <c:v>-328</c:v>
                </c:pt>
                <c:pt idx="8">
                  <c:v>-327</c:v>
                </c:pt>
                <c:pt idx="9">
                  <c:v>-326</c:v>
                </c:pt>
                <c:pt idx="10">
                  <c:v>-325</c:v>
                </c:pt>
                <c:pt idx="11">
                  <c:v>-324</c:v>
                </c:pt>
                <c:pt idx="12">
                  <c:v>-323</c:v>
                </c:pt>
                <c:pt idx="13">
                  <c:v>-322</c:v>
                </c:pt>
                <c:pt idx="14">
                  <c:v>-321</c:v>
                </c:pt>
                <c:pt idx="15">
                  <c:v>-320</c:v>
                </c:pt>
                <c:pt idx="16">
                  <c:v>-319</c:v>
                </c:pt>
                <c:pt idx="17">
                  <c:v>-318</c:v>
                </c:pt>
                <c:pt idx="18">
                  <c:v>-317</c:v>
                </c:pt>
                <c:pt idx="19">
                  <c:v>-316</c:v>
                </c:pt>
                <c:pt idx="20">
                  <c:v>-315</c:v>
                </c:pt>
                <c:pt idx="21">
                  <c:v>-314</c:v>
                </c:pt>
                <c:pt idx="22">
                  <c:v>-313</c:v>
                </c:pt>
                <c:pt idx="23">
                  <c:v>-312</c:v>
                </c:pt>
                <c:pt idx="24">
                  <c:v>-311</c:v>
                </c:pt>
                <c:pt idx="25">
                  <c:v>-310</c:v>
                </c:pt>
                <c:pt idx="26">
                  <c:v>-309</c:v>
                </c:pt>
                <c:pt idx="27">
                  <c:v>-308</c:v>
                </c:pt>
                <c:pt idx="28">
                  <c:v>-307</c:v>
                </c:pt>
                <c:pt idx="29">
                  <c:v>-306</c:v>
                </c:pt>
                <c:pt idx="30">
                  <c:v>-305</c:v>
                </c:pt>
                <c:pt idx="31">
                  <c:v>-304</c:v>
                </c:pt>
                <c:pt idx="32">
                  <c:v>-303</c:v>
                </c:pt>
                <c:pt idx="33">
                  <c:v>-302</c:v>
                </c:pt>
                <c:pt idx="34">
                  <c:v>-301</c:v>
                </c:pt>
                <c:pt idx="35">
                  <c:v>-300</c:v>
                </c:pt>
                <c:pt idx="36">
                  <c:v>-299</c:v>
                </c:pt>
                <c:pt idx="37">
                  <c:v>-298</c:v>
                </c:pt>
                <c:pt idx="38">
                  <c:v>-297</c:v>
                </c:pt>
                <c:pt idx="39">
                  <c:v>-296</c:v>
                </c:pt>
                <c:pt idx="40">
                  <c:v>-295</c:v>
                </c:pt>
                <c:pt idx="41">
                  <c:v>-294</c:v>
                </c:pt>
                <c:pt idx="42">
                  <c:v>-293</c:v>
                </c:pt>
                <c:pt idx="43">
                  <c:v>-292</c:v>
                </c:pt>
                <c:pt idx="44">
                  <c:v>-291</c:v>
                </c:pt>
                <c:pt idx="45">
                  <c:v>-290</c:v>
                </c:pt>
                <c:pt idx="46">
                  <c:v>-289</c:v>
                </c:pt>
                <c:pt idx="47">
                  <c:v>-288</c:v>
                </c:pt>
                <c:pt idx="48">
                  <c:v>-287</c:v>
                </c:pt>
                <c:pt idx="49">
                  <c:v>-286</c:v>
                </c:pt>
                <c:pt idx="50">
                  <c:v>-285</c:v>
                </c:pt>
                <c:pt idx="51">
                  <c:v>-284</c:v>
                </c:pt>
                <c:pt idx="52">
                  <c:v>-283</c:v>
                </c:pt>
                <c:pt idx="53">
                  <c:v>-282</c:v>
                </c:pt>
                <c:pt idx="54">
                  <c:v>-281</c:v>
                </c:pt>
                <c:pt idx="55">
                  <c:v>-280</c:v>
                </c:pt>
                <c:pt idx="56">
                  <c:v>-279</c:v>
                </c:pt>
                <c:pt idx="57">
                  <c:v>-278</c:v>
                </c:pt>
                <c:pt idx="58">
                  <c:v>-277</c:v>
                </c:pt>
                <c:pt idx="59">
                  <c:v>-276</c:v>
                </c:pt>
                <c:pt idx="60">
                  <c:v>-275</c:v>
                </c:pt>
                <c:pt idx="61">
                  <c:v>-274</c:v>
                </c:pt>
                <c:pt idx="62">
                  <c:v>-273</c:v>
                </c:pt>
                <c:pt idx="63">
                  <c:v>-272</c:v>
                </c:pt>
                <c:pt idx="64">
                  <c:v>-271</c:v>
                </c:pt>
                <c:pt idx="65">
                  <c:v>-270</c:v>
                </c:pt>
                <c:pt idx="66">
                  <c:v>-269</c:v>
                </c:pt>
                <c:pt idx="67">
                  <c:v>-268</c:v>
                </c:pt>
                <c:pt idx="68">
                  <c:v>-267</c:v>
                </c:pt>
                <c:pt idx="69">
                  <c:v>-266</c:v>
                </c:pt>
                <c:pt idx="70">
                  <c:v>-265</c:v>
                </c:pt>
                <c:pt idx="71">
                  <c:v>-264</c:v>
                </c:pt>
                <c:pt idx="72">
                  <c:v>-263</c:v>
                </c:pt>
                <c:pt idx="73">
                  <c:v>-262</c:v>
                </c:pt>
                <c:pt idx="74">
                  <c:v>-261</c:v>
                </c:pt>
                <c:pt idx="75">
                  <c:v>-260</c:v>
                </c:pt>
                <c:pt idx="76">
                  <c:v>-259</c:v>
                </c:pt>
                <c:pt idx="77">
                  <c:v>-258</c:v>
                </c:pt>
                <c:pt idx="78">
                  <c:v>-257</c:v>
                </c:pt>
                <c:pt idx="79">
                  <c:v>-256</c:v>
                </c:pt>
                <c:pt idx="80">
                  <c:v>-255</c:v>
                </c:pt>
                <c:pt idx="81">
                  <c:v>-254</c:v>
                </c:pt>
                <c:pt idx="82">
                  <c:v>-253</c:v>
                </c:pt>
                <c:pt idx="83">
                  <c:v>-252</c:v>
                </c:pt>
                <c:pt idx="84">
                  <c:v>-251</c:v>
                </c:pt>
                <c:pt idx="85">
                  <c:v>-250</c:v>
                </c:pt>
                <c:pt idx="86">
                  <c:v>-249</c:v>
                </c:pt>
                <c:pt idx="87">
                  <c:v>-248</c:v>
                </c:pt>
                <c:pt idx="88">
                  <c:v>-247</c:v>
                </c:pt>
                <c:pt idx="89">
                  <c:v>-246</c:v>
                </c:pt>
                <c:pt idx="90">
                  <c:v>-245</c:v>
                </c:pt>
                <c:pt idx="91">
                  <c:v>-244</c:v>
                </c:pt>
                <c:pt idx="92">
                  <c:v>-243</c:v>
                </c:pt>
                <c:pt idx="93">
                  <c:v>-242</c:v>
                </c:pt>
                <c:pt idx="94">
                  <c:v>-241</c:v>
                </c:pt>
                <c:pt idx="95">
                  <c:v>-240</c:v>
                </c:pt>
                <c:pt idx="96">
                  <c:v>-239</c:v>
                </c:pt>
                <c:pt idx="97">
                  <c:v>-238</c:v>
                </c:pt>
                <c:pt idx="98">
                  <c:v>-237</c:v>
                </c:pt>
                <c:pt idx="99">
                  <c:v>-236</c:v>
                </c:pt>
                <c:pt idx="100">
                  <c:v>-235</c:v>
                </c:pt>
                <c:pt idx="101">
                  <c:v>-234</c:v>
                </c:pt>
                <c:pt idx="102">
                  <c:v>-233</c:v>
                </c:pt>
                <c:pt idx="103">
                  <c:v>-232</c:v>
                </c:pt>
                <c:pt idx="104">
                  <c:v>-231</c:v>
                </c:pt>
                <c:pt idx="105">
                  <c:v>-230</c:v>
                </c:pt>
                <c:pt idx="106">
                  <c:v>-229</c:v>
                </c:pt>
                <c:pt idx="107">
                  <c:v>-228</c:v>
                </c:pt>
                <c:pt idx="108">
                  <c:v>-227</c:v>
                </c:pt>
                <c:pt idx="109">
                  <c:v>-226</c:v>
                </c:pt>
                <c:pt idx="110">
                  <c:v>-225</c:v>
                </c:pt>
                <c:pt idx="111">
                  <c:v>-224</c:v>
                </c:pt>
                <c:pt idx="112">
                  <c:v>-223</c:v>
                </c:pt>
                <c:pt idx="113">
                  <c:v>-222</c:v>
                </c:pt>
                <c:pt idx="114">
                  <c:v>-221</c:v>
                </c:pt>
                <c:pt idx="115">
                  <c:v>-220</c:v>
                </c:pt>
                <c:pt idx="116">
                  <c:v>-219</c:v>
                </c:pt>
                <c:pt idx="117">
                  <c:v>-218</c:v>
                </c:pt>
                <c:pt idx="118">
                  <c:v>-217</c:v>
                </c:pt>
                <c:pt idx="119">
                  <c:v>-216</c:v>
                </c:pt>
                <c:pt idx="120">
                  <c:v>-215</c:v>
                </c:pt>
                <c:pt idx="121">
                  <c:v>-214</c:v>
                </c:pt>
                <c:pt idx="122">
                  <c:v>-213</c:v>
                </c:pt>
                <c:pt idx="123">
                  <c:v>-212</c:v>
                </c:pt>
                <c:pt idx="124">
                  <c:v>-211</c:v>
                </c:pt>
                <c:pt idx="125">
                  <c:v>-210</c:v>
                </c:pt>
                <c:pt idx="126">
                  <c:v>-209</c:v>
                </c:pt>
                <c:pt idx="127">
                  <c:v>-208</c:v>
                </c:pt>
                <c:pt idx="128">
                  <c:v>-207</c:v>
                </c:pt>
                <c:pt idx="129">
                  <c:v>-206</c:v>
                </c:pt>
                <c:pt idx="130">
                  <c:v>-205</c:v>
                </c:pt>
                <c:pt idx="131">
                  <c:v>-204</c:v>
                </c:pt>
                <c:pt idx="132">
                  <c:v>-203</c:v>
                </c:pt>
                <c:pt idx="133">
                  <c:v>-202</c:v>
                </c:pt>
                <c:pt idx="134">
                  <c:v>-201</c:v>
                </c:pt>
                <c:pt idx="135">
                  <c:v>-200</c:v>
                </c:pt>
                <c:pt idx="136">
                  <c:v>-199</c:v>
                </c:pt>
                <c:pt idx="137">
                  <c:v>-198</c:v>
                </c:pt>
                <c:pt idx="138">
                  <c:v>-197</c:v>
                </c:pt>
                <c:pt idx="139">
                  <c:v>-196</c:v>
                </c:pt>
                <c:pt idx="140">
                  <c:v>-195</c:v>
                </c:pt>
                <c:pt idx="141">
                  <c:v>-194</c:v>
                </c:pt>
                <c:pt idx="142">
                  <c:v>-193</c:v>
                </c:pt>
                <c:pt idx="143">
                  <c:v>-192</c:v>
                </c:pt>
                <c:pt idx="144">
                  <c:v>-191</c:v>
                </c:pt>
                <c:pt idx="145">
                  <c:v>-190</c:v>
                </c:pt>
                <c:pt idx="146">
                  <c:v>-189</c:v>
                </c:pt>
                <c:pt idx="147">
                  <c:v>-188</c:v>
                </c:pt>
                <c:pt idx="148">
                  <c:v>-187</c:v>
                </c:pt>
                <c:pt idx="149">
                  <c:v>-186</c:v>
                </c:pt>
                <c:pt idx="150">
                  <c:v>-185</c:v>
                </c:pt>
                <c:pt idx="151">
                  <c:v>-184</c:v>
                </c:pt>
                <c:pt idx="152">
                  <c:v>-183</c:v>
                </c:pt>
                <c:pt idx="153">
                  <c:v>-182</c:v>
                </c:pt>
                <c:pt idx="154">
                  <c:v>-181</c:v>
                </c:pt>
                <c:pt idx="155">
                  <c:v>-180</c:v>
                </c:pt>
                <c:pt idx="156">
                  <c:v>-179</c:v>
                </c:pt>
                <c:pt idx="157">
                  <c:v>-178</c:v>
                </c:pt>
                <c:pt idx="158">
                  <c:v>-177</c:v>
                </c:pt>
                <c:pt idx="159">
                  <c:v>-176</c:v>
                </c:pt>
                <c:pt idx="160">
                  <c:v>-175</c:v>
                </c:pt>
                <c:pt idx="161">
                  <c:v>-174</c:v>
                </c:pt>
                <c:pt idx="162">
                  <c:v>-173</c:v>
                </c:pt>
                <c:pt idx="163">
                  <c:v>-172</c:v>
                </c:pt>
                <c:pt idx="164">
                  <c:v>-171</c:v>
                </c:pt>
                <c:pt idx="165">
                  <c:v>-170</c:v>
                </c:pt>
                <c:pt idx="166">
                  <c:v>-169</c:v>
                </c:pt>
                <c:pt idx="167">
                  <c:v>-168</c:v>
                </c:pt>
                <c:pt idx="168">
                  <c:v>-167</c:v>
                </c:pt>
                <c:pt idx="169">
                  <c:v>-166</c:v>
                </c:pt>
                <c:pt idx="170">
                  <c:v>-165</c:v>
                </c:pt>
                <c:pt idx="171">
                  <c:v>-164</c:v>
                </c:pt>
                <c:pt idx="172">
                  <c:v>-163</c:v>
                </c:pt>
                <c:pt idx="173">
                  <c:v>-162</c:v>
                </c:pt>
                <c:pt idx="174">
                  <c:v>-161</c:v>
                </c:pt>
                <c:pt idx="175">
                  <c:v>-160</c:v>
                </c:pt>
                <c:pt idx="176">
                  <c:v>-159</c:v>
                </c:pt>
                <c:pt idx="177">
                  <c:v>-158</c:v>
                </c:pt>
                <c:pt idx="178">
                  <c:v>-157</c:v>
                </c:pt>
                <c:pt idx="179">
                  <c:v>-156</c:v>
                </c:pt>
                <c:pt idx="180">
                  <c:v>-155</c:v>
                </c:pt>
                <c:pt idx="181">
                  <c:v>-154</c:v>
                </c:pt>
                <c:pt idx="182">
                  <c:v>-153</c:v>
                </c:pt>
                <c:pt idx="183">
                  <c:v>-152</c:v>
                </c:pt>
                <c:pt idx="184">
                  <c:v>-151</c:v>
                </c:pt>
                <c:pt idx="185">
                  <c:v>-150</c:v>
                </c:pt>
                <c:pt idx="186">
                  <c:v>-149</c:v>
                </c:pt>
                <c:pt idx="187">
                  <c:v>-148</c:v>
                </c:pt>
                <c:pt idx="188">
                  <c:v>-147</c:v>
                </c:pt>
                <c:pt idx="189">
                  <c:v>-146</c:v>
                </c:pt>
                <c:pt idx="190">
                  <c:v>-145</c:v>
                </c:pt>
                <c:pt idx="191">
                  <c:v>-144</c:v>
                </c:pt>
                <c:pt idx="192">
                  <c:v>-143</c:v>
                </c:pt>
                <c:pt idx="193">
                  <c:v>-142</c:v>
                </c:pt>
                <c:pt idx="194">
                  <c:v>-141</c:v>
                </c:pt>
                <c:pt idx="195">
                  <c:v>-140</c:v>
                </c:pt>
                <c:pt idx="196">
                  <c:v>-139</c:v>
                </c:pt>
                <c:pt idx="197">
                  <c:v>-138</c:v>
                </c:pt>
                <c:pt idx="198">
                  <c:v>-137</c:v>
                </c:pt>
                <c:pt idx="199">
                  <c:v>-136</c:v>
                </c:pt>
                <c:pt idx="200">
                  <c:v>-135</c:v>
                </c:pt>
                <c:pt idx="201">
                  <c:v>-134</c:v>
                </c:pt>
                <c:pt idx="202">
                  <c:v>-133</c:v>
                </c:pt>
                <c:pt idx="203">
                  <c:v>-132</c:v>
                </c:pt>
                <c:pt idx="204">
                  <c:v>-131</c:v>
                </c:pt>
                <c:pt idx="205">
                  <c:v>-130</c:v>
                </c:pt>
                <c:pt idx="206">
                  <c:v>-129</c:v>
                </c:pt>
                <c:pt idx="207">
                  <c:v>-128</c:v>
                </c:pt>
                <c:pt idx="208">
                  <c:v>-127</c:v>
                </c:pt>
                <c:pt idx="209">
                  <c:v>-126</c:v>
                </c:pt>
                <c:pt idx="210">
                  <c:v>-125</c:v>
                </c:pt>
                <c:pt idx="211">
                  <c:v>-124</c:v>
                </c:pt>
                <c:pt idx="212">
                  <c:v>-123</c:v>
                </c:pt>
                <c:pt idx="213">
                  <c:v>-122</c:v>
                </c:pt>
                <c:pt idx="214">
                  <c:v>-121</c:v>
                </c:pt>
                <c:pt idx="215">
                  <c:v>-120</c:v>
                </c:pt>
                <c:pt idx="216">
                  <c:v>-119</c:v>
                </c:pt>
                <c:pt idx="217">
                  <c:v>-118</c:v>
                </c:pt>
                <c:pt idx="218">
                  <c:v>-117</c:v>
                </c:pt>
                <c:pt idx="219">
                  <c:v>-116</c:v>
                </c:pt>
                <c:pt idx="220">
                  <c:v>-115</c:v>
                </c:pt>
                <c:pt idx="221">
                  <c:v>-114</c:v>
                </c:pt>
                <c:pt idx="222">
                  <c:v>-113</c:v>
                </c:pt>
                <c:pt idx="223">
                  <c:v>-112</c:v>
                </c:pt>
                <c:pt idx="224">
                  <c:v>-111</c:v>
                </c:pt>
                <c:pt idx="225">
                  <c:v>-110</c:v>
                </c:pt>
                <c:pt idx="226">
                  <c:v>-109</c:v>
                </c:pt>
                <c:pt idx="227">
                  <c:v>-108</c:v>
                </c:pt>
                <c:pt idx="228">
                  <c:v>-107</c:v>
                </c:pt>
                <c:pt idx="229">
                  <c:v>-106</c:v>
                </c:pt>
                <c:pt idx="230">
                  <c:v>-105</c:v>
                </c:pt>
                <c:pt idx="231">
                  <c:v>-104</c:v>
                </c:pt>
                <c:pt idx="232">
                  <c:v>-103</c:v>
                </c:pt>
                <c:pt idx="233">
                  <c:v>-102</c:v>
                </c:pt>
                <c:pt idx="234">
                  <c:v>-101</c:v>
                </c:pt>
                <c:pt idx="235">
                  <c:v>-100</c:v>
                </c:pt>
                <c:pt idx="236">
                  <c:v>-99</c:v>
                </c:pt>
                <c:pt idx="237">
                  <c:v>-98</c:v>
                </c:pt>
                <c:pt idx="238">
                  <c:v>-97</c:v>
                </c:pt>
                <c:pt idx="239">
                  <c:v>-96</c:v>
                </c:pt>
                <c:pt idx="240">
                  <c:v>-95</c:v>
                </c:pt>
                <c:pt idx="241">
                  <c:v>-94</c:v>
                </c:pt>
                <c:pt idx="242">
                  <c:v>-93</c:v>
                </c:pt>
                <c:pt idx="243">
                  <c:v>-92</c:v>
                </c:pt>
                <c:pt idx="244">
                  <c:v>-91</c:v>
                </c:pt>
                <c:pt idx="245">
                  <c:v>-90</c:v>
                </c:pt>
                <c:pt idx="246">
                  <c:v>-89</c:v>
                </c:pt>
                <c:pt idx="247">
                  <c:v>-88</c:v>
                </c:pt>
                <c:pt idx="248">
                  <c:v>-87</c:v>
                </c:pt>
                <c:pt idx="249">
                  <c:v>-86</c:v>
                </c:pt>
                <c:pt idx="250">
                  <c:v>-85</c:v>
                </c:pt>
                <c:pt idx="251">
                  <c:v>-84</c:v>
                </c:pt>
                <c:pt idx="252">
                  <c:v>-83</c:v>
                </c:pt>
                <c:pt idx="253">
                  <c:v>-82</c:v>
                </c:pt>
                <c:pt idx="254">
                  <c:v>-81</c:v>
                </c:pt>
                <c:pt idx="255">
                  <c:v>-80</c:v>
                </c:pt>
                <c:pt idx="256">
                  <c:v>-79</c:v>
                </c:pt>
                <c:pt idx="257">
                  <c:v>-78</c:v>
                </c:pt>
                <c:pt idx="258">
                  <c:v>-77</c:v>
                </c:pt>
                <c:pt idx="259">
                  <c:v>-76</c:v>
                </c:pt>
                <c:pt idx="260">
                  <c:v>-75</c:v>
                </c:pt>
                <c:pt idx="261">
                  <c:v>-74</c:v>
                </c:pt>
                <c:pt idx="262">
                  <c:v>-73</c:v>
                </c:pt>
                <c:pt idx="263">
                  <c:v>-72</c:v>
                </c:pt>
                <c:pt idx="264">
                  <c:v>-71</c:v>
                </c:pt>
                <c:pt idx="265">
                  <c:v>-70</c:v>
                </c:pt>
                <c:pt idx="266">
                  <c:v>-69</c:v>
                </c:pt>
                <c:pt idx="267">
                  <c:v>-68</c:v>
                </c:pt>
                <c:pt idx="268">
                  <c:v>-67</c:v>
                </c:pt>
                <c:pt idx="269">
                  <c:v>-66</c:v>
                </c:pt>
                <c:pt idx="270">
                  <c:v>-65</c:v>
                </c:pt>
                <c:pt idx="271">
                  <c:v>-64</c:v>
                </c:pt>
                <c:pt idx="272">
                  <c:v>-63</c:v>
                </c:pt>
                <c:pt idx="273">
                  <c:v>-62</c:v>
                </c:pt>
                <c:pt idx="274">
                  <c:v>-61</c:v>
                </c:pt>
                <c:pt idx="275">
                  <c:v>-60</c:v>
                </c:pt>
                <c:pt idx="276">
                  <c:v>-59</c:v>
                </c:pt>
                <c:pt idx="277">
                  <c:v>-58</c:v>
                </c:pt>
                <c:pt idx="278">
                  <c:v>-57</c:v>
                </c:pt>
                <c:pt idx="279">
                  <c:v>-56</c:v>
                </c:pt>
                <c:pt idx="280">
                  <c:v>-55</c:v>
                </c:pt>
                <c:pt idx="281">
                  <c:v>-54</c:v>
                </c:pt>
                <c:pt idx="282">
                  <c:v>-53</c:v>
                </c:pt>
                <c:pt idx="283">
                  <c:v>-52</c:v>
                </c:pt>
                <c:pt idx="284">
                  <c:v>-51</c:v>
                </c:pt>
                <c:pt idx="285">
                  <c:v>-50</c:v>
                </c:pt>
                <c:pt idx="286">
                  <c:v>-49</c:v>
                </c:pt>
                <c:pt idx="287">
                  <c:v>-48</c:v>
                </c:pt>
                <c:pt idx="288">
                  <c:v>-47</c:v>
                </c:pt>
                <c:pt idx="289">
                  <c:v>-46</c:v>
                </c:pt>
                <c:pt idx="290">
                  <c:v>-45</c:v>
                </c:pt>
                <c:pt idx="291">
                  <c:v>-44</c:v>
                </c:pt>
                <c:pt idx="292">
                  <c:v>-43</c:v>
                </c:pt>
                <c:pt idx="293">
                  <c:v>-42</c:v>
                </c:pt>
                <c:pt idx="294">
                  <c:v>-41</c:v>
                </c:pt>
                <c:pt idx="295">
                  <c:v>-40</c:v>
                </c:pt>
                <c:pt idx="296">
                  <c:v>-39</c:v>
                </c:pt>
                <c:pt idx="297">
                  <c:v>-38</c:v>
                </c:pt>
                <c:pt idx="298">
                  <c:v>-37</c:v>
                </c:pt>
                <c:pt idx="299">
                  <c:v>-36</c:v>
                </c:pt>
                <c:pt idx="300">
                  <c:v>-35</c:v>
                </c:pt>
                <c:pt idx="301">
                  <c:v>-34</c:v>
                </c:pt>
                <c:pt idx="302">
                  <c:v>-33</c:v>
                </c:pt>
                <c:pt idx="303">
                  <c:v>-32</c:v>
                </c:pt>
                <c:pt idx="304">
                  <c:v>-31</c:v>
                </c:pt>
                <c:pt idx="305">
                  <c:v>-30</c:v>
                </c:pt>
                <c:pt idx="306">
                  <c:v>-29</c:v>
                </c:pt>
                <c:pt idx="307">
                  <c:v>-28</c:v>
                </c:pt>
                <c:pt idx="308">
                  <c:v>-27</c:v>
                </c:pt>
                <c:pt idx="309">
                  <c:v>-26</c:v>
                </c:pt>
                <c:pt idx="310">
                  <c:v>-25</c:v>
                </c:pt>
                <c:pt idx="311">
                  <c:v>-24</c:v>
                </c:pt>
                <c:pt idx="312">
                  <c:v>-23</c:v>
                </c:pt>
                <c:pt idx="313">
                  <c:v>-22</c:v>
                </c:pt>
                <c:pt idx="314">
                  <c:v>-21</c:v>
                </c:pt>
                <c:pt idx="315">
                  <c:v>-20</c:v>
                </c:pt>
                <c:pt idx="316">
                  <c:v>-19</c:v>
                </c:pt>
                <c:pt idx="317">
                  <c:v>-18</c:v>
                </c:pt>
                <c:pt idx="318">
                  <c:v>-17</c:v>
                </c:pt>
                <c:pt idx="319">
                  <c:v>-16</c:v>
                </c:pt>
                <c:pt idx="320">
                  <c:v>-15</c:v>
                </c:pt>
                <c:pt idx="321">
                  <c:v>-14</c:v>
                </c:pt>
                <c:pt idx="322">
                  <c:v>-13</c:v>
                </c:pt>
                <c:pt idx="323">
                  <c:v>-12</c:v>
                </c:pt>
                <c:pt idx="324">
                  <c:v>-11</c:v>
                </c:pt>
                <c:pt idx="325">
                  <c:v>-10</c:v>
                </c:pt>
                <c:pt idx="326">
                  <c:v>-9</c:v>
                </c:pt>
                <c:pt idx="327">
                  <c:v>-8</c:v>
                </c:pt>
                <c:pt idx="328">
                  <c:v>-7</c:v>
                </c:pt>
                <c:pt idx="329">
                  <c:v>-6</c:v>
                </c:pt>
                <c:pt idx="330">
                  <c:v>-5</c:v>
                </c:pt>
                <c:pt idx="331">
                  <c:v>-4</c:v>
                </c:pt>
                <c:pt idx="332">
                  <c:v>-3</c:v>
                </c:pt>
                <c:pt idx="333">
                  <c:v>-2</c:v>
                </c:pt>
                <c:pt idx="334">
                  <c:v>-1</c:v>
                </c:pt>
                <c:pt idx="335">
                  <c:v>0</c:v>
                </c:pt>
              </c:numCache>
            </c:numRef>
          </c:xVal>
          <c:yVal>
            <c:numRef>
              <c:f>'Chart Data'!$B$2:$B$337</c:f>
              <c:numCache>
                <c:formatCode>0.0</c:formatCode>
                <c:ptCount val="336"/>
                <c:pt idx="0">
                  <c:v>-0.3926588297</c:v>
                </c:pt>
                <c:pt idx="1">
                  <c:v>-0.3927249312</c:v>
                </c:pt>
                <c:pt idx="2">
                  <c:v>-0.3932975233</c:v>
                </c:pt>
                <c:pt idx="3">
                  <c:v>-0.3936268389</c:v>
                </c:pt>
                <c:pt idx="4">
                  <c:v>-0.3937135637</c:v>
                </c:pt>
                <c:pt idx="5">
                  <c:v>-0.3938206136</c:v>
                </c:pt>
                <c:pt idx="6">
                  <c:v>-0.3939476013</c:v>
                </c:pt>
                <c:pt idx="7">
                  <c:v>-0.3947328329</c:v>
                </c:pt>
                <c:pt idx="8">
                  <c:v>-0.3946729898</c:v>
                </c:pt>
                <c:pt idx="9">
                  <c:v>-0.3951203525</c:v>
                </c:pt>
                <c:pt idx="10">
                  <c:v>-0.3947971165</c:v>
                </c:pt>
                <c:pt idx="11">
                  <c:v>-0.3944168091</c:v>
                </c:pt>
                <c:pt idx="12">
                  <c:v>-0.3952565789</c:v>
                </c:pt>
                <c:pt idx="13">
                  <c:v>-0.3955125809</c:v>
                </c:pt>
                <c:pt idx="14">
                  <c:v>-0.3945832551</c:v>
                </c:pt>
                <c:pt idx="15">
                  <c:v>-0.3946474791</c:v>
                </c:pt>
                <c:pt idx="16">
                  <c:v>-0.3938263059</c:v>
                </c:pt>
                <c:pt idx="17">
                  <c:v>-0.3930586874</c:v>
                </c:pt>
                <c:pt idx="18">
                  <c:v>-0.3899396062</c:v>
                </c:pt>
                <c:pt idx="19">
                  <c:v>-0.3873242736</c:v>
                </c:pt>
                <c:pt idx="20">
                  <c:v>-0.3842354417</c:v>
                </c:pt>
                <c:pt idx="21">
                  <c:v>-0.3797334731</c:v>
                </c:pt>
                <c:pt idx="22">
                  <c:v>-0.3729914129</c:v>
                </c:pt>
                <c:pt idx="23">
                  <c:v>-0.3611533046</c:v>
                </c:pt>
                <c:pt idx="24">
                  <c:v>-0.349178493</c:v>
                </c:pt>
                <c:pt idx="25">
                  <c:v>-0.3229391575</c:v>
                </c:pt>
                <c:pt idx="26">
                  <c:v>-0.2651514709</c:v>
                </c:pt>
                <c:pt idx="27">
                  <c:v>-0.2325500995</c:v>
                </c:pt>
                <c:pt idx="28">
                  <c:v>-0.2341520786</c:v>
                </c:pt>
                <c:pt idx="29">
                  <c:v>-0.243656069</c:v>
                </c:pt>
                <c:pt idx="30">
                  <c:v>-0.2539228797</c:v>
                </c:pt>
                <c:pt idx="31">
                  <c:v>-0.2638250291</c:v>
                </c:pt>
                <c:pt idx="32">
                  <c:v>-0.2699806392</c:v>
                </c:pt>
                <c:pt idx="33">
                  <c:v>-0.2757709026</c:v>
                </c:pt>
                <c:pt idx="34">
                  <c:v>-0.2781896293</c:v>
                </c:pt>
                <c:pt idx="35">
                  <c:v>-0.2746064663</c:v>
                </c:pt>
                <c:pt idx="36">
                  <c:v>-0.2684025764</c:v>
                </c:pt>
                <c:pt idx="37">
                  <c:v>-0.2584505081</c:v>
                </c:pt>
                <c:pt idx="38">
                  <c:v>-0.2361081094</c:v>
                </c:pt>
                <c:pt idx="39">
                  <c:v>-0.2077626437</c:v>
                </c:pt>
                <c:pt idx="40">
                  <c:v>-0.1843099892</c:v>
                </c:pt>
                <c:pt idx="41">
                  <c:v>-0.1695072949</c:v>
                </c:pt>
                <c:pt idx="42">
                  <c:v>-0.1580942422</c:v>
                </c:pt>
                <c:pt idx="43">
                  <c:v>-0.1549551934</c:v>
                </c:pt>
                <c:pt idx="44">
                  <c:v>-0.1570843905</c:v>
                </c:pt>
                <c:pt idx="45">
                  <c:v>-0.1580946147</c:v>
                </c:pt>
                <c:pt idx="46">
                  <c:v>-0.1504714638</c:v>
                </c:pt>
                <c:pt idx="47">
                  <c:v>-0.1285792589</c:v>
                </c:pt>
                <c:pt idx="48">
                  <c:v>-0.105568707</c:v>
                </c:pt>
                <c:pt idx="49">
                  <c:v>-0.08782737702</c:v>
                </c:pt>
                <c:pt idx="50">
                  <c:v>-0.07234974205</c:v>
                </c:pt>
                <c:pt idx="51">
                  <c:v>-0.05688164011</c:v>
                </c:pt>
                <c:pt idx="52">
                  <c:v>-0.03390869871</c:v>
                </c:pt>
                <c:pt idx="53">
                  <c:v>-0.006812641397</c:v>
                </c:pt>
                <c:pt idx="54">
                  <c:v>0.02478208393</c:v>
                </c:pt>
                <c:pt idx="55">
                  <c:v>0.04359187931</c:v>
                </c:pt>
                <c:pt idx="56">
                  <c:v>0.04661060125</c:v>
                </c:pt>
                <c:pt idx="57">
                  <c:v>0.02782656439</c:v>
                </c:pt>
                <c:pt idx="58">
                  <c:v>0.007153052837</c:v>
                </c:pt>
                <c:pt idx="59">
                  <c:v>-0.01503441576</c:v>
                </c:pt>
                <c:pt idx="60">
                  <c:v>-0.03385160118</c:v>
                </c:pt>
                <c:pt idx="61">
                  <c:v>-0.05117758736</c:v>
                </c:pt>
                <c:pt idx="62">
                  <c:v>-0.06813985854</c:v>
                </c:pt>
                <c:pt idx="63">
                  <c:v>-0.08173301816</c:v>
                </c:pt>
                <c:pt idx="64">
                  <c:v>-0.09458760917</c:v>
                </c:pt>
                <c:pt idx="65">
                  <c:v>-0.1093342081</c:v>
                </c:pt>
                <c:pt idx="66">
                  <c:v>-0.120337382</c:v>
                </c:pt>
                <c:pt idx="67">
                  <c:v>-0.1343606412</c:v>
                </c:pt>
                <c:pt idx="68">
                  <c:v>-0.1465199888</c:v>
                </c:pt>
                <c:pt idx="69">
                  <c:v>-0.1601973474</c:v>
                </c:pt>
                <c:pt idx="70">
                  <c:v>-0.1727630049</c:v>
                </c:pt>
                <c:pt idx="71">
                  <c:v>-0.1830900013</c:v>
                </c:pt>
                <c:pt idx="72">
                  <c:v>-0.1919302046</c:v>
                </c:pt>
                <c:pt idx="73">
                  <c:v>-0.2026654631</c:v>
                </c:pt>
                <c:pt idx="74">
                  <c:v>-0.2134175152</c:v>
                </c:pt>
                <c:pt idx="75">
                  <c:v>-0.2196780443</c:v>
                </c:pt>
                <c:pt idx="76">
                  <c:v>-0.2285861969</c:v>
                </c:pt>
                <c:pt idx="77">
                  <c:v>-0.2375122607</c:v>
                </c:pt>
                <c:pt idx="78">
                  <c:v>-0.2445777506</c:v>
                </c:pt>
                <c:pt idx="79">
                  <c:v>-0.2516614795</c:v>
                </c:pt>
                <c:pt idx="80">
                  <c:v>-0.2580121756</c:v>
                </c:pt>
                <c:pt idx="81">
                  <c:v>-0.2632541955</c:v>
                </c:pt>
                <c:pt idx="82">
                  <c:v>-0.2700177133</c:v>
                </c:pt>
                <c:pt idx="83">
                  <c:v>-0.275672853</c:v>
                </c:pt>
                <c:pt idx="84">
                  <c:v>-0.2805953026</c:v>
                </c:pt>
                <c:pt idx="85">
                  <c:v>-0.285160929</c:v>
                </c:pt>
                <c:pt idx="86">
                  <c:v>-0.2897453606</c:v>
                </c:pt>
                <c:pt idx="87">
                  <c:v>-0.2939727604</c:v>
                </c:pt>
                <c:pt idx="88">
                  <c:v>-0.2985945642</c:v>
                </c:pt>
                <c:pt idx="89">
                  <c:v>-0.3024834096</c:v>
                </c:pt>
                <c:pt idx="90">
                  <c:v>-0.3075177073</c:v>
                </c:pt>
                <c:pt idx="91">
                  <c:v>-0.3121943474</c:v>
                </c:pt>
                <c:pt idx="92">
                  <c:v>-0.3157616854</c:v>
                </c:pt>
                <c:pt idx="93">
                  <c:v>-0.3208495975</c:v>
                </c:pt>
                <c:pt idx="94">
                  <c:v>-0.3252032399</c:v>
                </c:pt>
                <c:pt idx="95">
                  <c:v>-0.3295734525</c:v>
                </c:pt>
                <c:pt idx="96">
                  <c:v>-0.3332080245</c:v>
                </c:pt>
                <c:pt idx="97">
                  <c:v>-0.3383604586</c:v>
                </c:pt>
                <c:pt idx="98">
                  <c:v>-0.3416484296</c:v>
                </c:pt>
                <c:pt idx="99">
                  <c:v>-0.34532547</c:v>
                </c:pt>
                <c:pt idx="100">
                  <c:v>-0.3508935571</c:v>
                </c:pt>
                <c:pt idx="101">
                  <c:v>-0.3549702764</c:v>
                </c:pt>
                <c:pt idx="102">
                  <c:v>-0.3579304814</c:v>
                </c:pt>
                <c:pt idx="103">
                  <c:v>-0.3620275557</c:v>
                </c:pt>
                <c:pt idx="104">
                  <c:v>-0.3650062382</c:v>
                </c:pt>
                <c:pt idx="105">
                  <c:v>-0.3676170409</c:v>
                </c:pt>
                <c:pt idx="106">
                  <c:v>-0.3713618517</c:v>
                </c:pt>
                <c:pt idx="107">
                  <c:v>-0.3736095726</c:v>
                </c:pt>
                <c:pt idx="108">
                  <c:v>-0.3781163692</c:v>
                </c:pt>
                <c:pt idx="109">
                  <c:v>-0.3818754256</c:v>
                </c:pt>
                <c:pt idx="110">
                  <c:v>-0.3845098913</c:v>
                </c:pt>
                <c:pt idx="111">
                  <c:v>-0.3875216544</c:v>
                </c:pt>
                <c:pt idx="112">
                  <c:v>-0.3905339241</c:v>
                </c:pt>
                <c:pt idx="113">
                  <c:v>-0.3935456574</c:v>
                </c:pt>
                <c:pt idx="114">
                  <c:v>-0.394677043</c:v>
                </c:pt>
                <c:pt idx="115">
                  <c:v>-0.398059994</c:v>
                </c:pt>
                <c:pt idx="116">
                  <c:v>-0.3991847932</c:v>
                </c:pt>
                <c:pt idx="117">
                  <c:v>-0.4010562003</c:v>
                </c:pt>
                <c:pt idx="118">
                  <c:v>-0.4025459886</c:v>
                </c:pt>
                <c:pt idx="119">
                  <c:v>-0.4029017389</c:v>
                </c:pt>
                <c:pt idx="120">
                  <c:v>-0.4024983346</c:v>
                </c:pt>
                <c:pt idx="121">
                  <c:v>-0.3975776136</c:v>
                </c:pt>
                <c:pt idx="122">
                  <c:v>-0.3888902068</c:v>
                </c:pt>
                <c:pt idx="123">
                  <c:v>-0.3572731614</c:v>
                </c:pt>
                <c:pt idx="124">
                  <c:v>-0.2463664562</c:v>
                </c:pt>
                <c:pt idx="125">
                  <c:v>-0.03775862604</c:v>
                </c:pt>
                <c:pt idx="126">
                  <c:v>0.1573354602</c:v>
                </c:pt>
                <c:pt idx="127">
                  <c:v>0.3524427414</c:v>
                </c:pt>
                <c:pt idx="128">
                  <c:v>0.5471881628</c:v>
                </c:pt>
                <c:pt idx="129">
                  <c:v>0.7757638097</c:v>
                </c:pt>
                <c:pt idx="130">
                  <c:v>1.023892641</c:v>
                </c:pt>
                <c:pt idx="131">
                  <c:v>1.232961297</c:v>
                </c:pt>
                <c:pt idx="132">
                  <c:v>1.35187149</c:v>
                </c:pt>
                <c:pt idx="133">
                  <c:v>1.493341923</c:v>
                </c:pt>
                <c:pt idx="134">
                  <c:v>1.668645024</c:v>
                </c:pt>
                <c:pt idx="135">
                  <c:v>1.753790736</c:v>
                </c:pt>
                <c:pt idx="136">
                  <c:v>1.775080204</c:v>
                </c:pt>
                <c:pt idx="137">
                  <c:v>1.788873315</c:v>
                </c:pt>
                <c:pt idx="138">
                  <c:v>1.904131413</c:v>
                </c:pt>
                <c:pt idx="139">
                  <c:v>2.030679941</c:v>
                </c:pt>
                <c:pt idx="140">
                  <c:v>2.119675159</c:v>
                </c:pt>
                <c:pt idx="141">
                  <c:v>2.159844875</c:v>
                </c:pt>
                <c:pt idx="142">
                  <c:v>2.049743414</c:v>
                </c:pt>
                <c:pt idx="143">
                  <c:v>1.980992675</c:v>
                </c:pt>
                <c:pt idx="144">
                  <c:v>1.765728474</c:v>
                </c:pt>
                <c:pt idx="145">
                  <c:v>1.610601664</c:v>
                </c:pt>
                <c:pt idx="146">
                  <c:v>1.417922974</c:v>
                </c:pt>
                <c:pt idx="147">
                  <c:v>1.229022026</c:v>
                </c:pt>
                <c:pt idx="148">
                  <c:v>1.104014397</c:v>
                </c:pt>
                <c:pt idx="149">
                  <c:v>0.9752687216</c:v>
                </c:pt>
                <c:pt idx="150">
                  <c:v>0.8841142058</c:v>
                </c:pt>
                <c:pt idx="151">
                  <c:v>0.8031219244</c:v>
                </c:pt>
                <c:pt idx="152">
                  <c:v>0.7322911024</c:v>
                </c:pt>
                <c:pt idx="153">
                  <c:v>0.6565915942</c:v>
                </c:pt>
                <c:pt idx="154">
                  <c:v>0.5944333076</c:v>
                </c:pt>
                <c:pt idx="155">
                  <c:v>0.5386761427</c:v>
                </c:pt>
                <c:pt idx="156">
                  <c:v>0.4904465973</c:v>
                </c:pt>
                <c:pt idx="157">
                  <c:v>0.4493676424</c:v>
                </c:pt>
                <c:pt idx="158">
                  <c:v>0.4222014546</c:v>
                </c:pt>
                <c:pt idx="159">
                  <c:v>0.3905364275</c:v>
                </c:pt>
                <c:pt idx="160">
                  <c:v>0.3765391111</c:v>
                </c:pt>
                <c:pt idx="161">
                  <c:v>0.3441388607</c:v>
                </c:pt>
                <c:pt idx="162">
                  <c:v>0.3309073448</c:v>
                </c:pt>
                <c:pt idx="163">
                  <c:v>0.3338377774</c:v>
                </c:pt>
                <c:pt idx="164">
                  <c:v>0.3439115584</c:v>
                </c:pt>
                <c:pt idx="165">
                  <c:v>0.3502317071</c:v>
                </c:pt>
                <c:pt idx="166">
                  <c:v>0.3666990995</c:v>
                </c:pt>
                <c:pt idx="167">
                  <c:v>0.3816654384</c:v>
                </c:pt>
                <c:pt idx="168">
                  <c:v>0.359811008</c:v>
                </c:pt>
                <c:pt idx="169">
                  <c:v>0.3315689266</c:v>
                </c:pt>
                <c:pt idx="170">
                  <c:v>0.3010711372</c:v>
                </c:pt>
                <c:pt idx="171">
                  <c:v>0.257044822</c:v>
                </c:pt>
                <c:pt idx="172">
                  <c:v>0.2133913636</c:v>
                </c:pt>
                <c:pt idx="173">
                  <c:v>0.174994871</c:v>
                </c:pt>
                <c:pt idx="174">
                  <c:v>0.1380978823</c:v>
                </c:pt>
                <c:pt idx="175">
                  <c:v>0.1079604253</c:v>
                </c:pt>
                <c:pt idx="176">
                  <c:v>0.07894643396</c:v>
                </c:pt>
                <c:pt idx="177">
                  <c:v>0.05067984387</c:v>
                </c:pt>
                <c:pt idx="178">
                  <c:v>0.03368096426</c:v>
                </c:pt>
                <c:pt idx="179">
                  <c:v>0.0163020622</c:v>
                </c:pt>
                <c:pt idx="180">
                  <c:v>-0.002208272228</c:v>
                </c:pt>
                <c:pt idx="181">
                  <c:v>-0.0165899992</c:v>
                </c:pt>
                <c:pt idx="182">
                  <c:v>-0.02834582143</c:v>
                </c:pt>
                <c:pt idx="183">
                  <c:v>-0.04123299569</c:v>
                </c:pt>
                <c:pt idx="184">
                  <c:v>-0.05487546697</c:v>
                </c:pt>
                <c:pt idx="185">
                  <c:v>-0.0726544857</c:v>
                </c:pt>
                <c:pt idx="186">
                  <c:v>-0.08367367089</c:v>
                </c:pt>
                <c:pt idx="187">
                  <c:v>-0.0988285467</c:v>
                </c:pt>
                <c:pt idx="188">
                  <c:v>-0.110979937</c:v>
                </c:pt>
                <c:pt idx="189">
                  <c:v>-0.1201271564</c:v>
                </c:pt>
                <c:pt idx="190">
                  <c:v>-0.1337842047</c:v>
                </c:pt>
                <c:pt idx="191">
                  <c:v>-0.1444358975</c:v>
                </c:pt>
                <c:pt idx="192">
                  <c:v>-0.1595963389</c:v>
                </c:pt>
                <c:pt idx="193">
                  <c:v>-0.1706229746</c:v>
                </c:pt>
                <c:pt idx="194">
                  <c:v>-0.179769516</c:v>
                </c:pt>
                <c:pt idx="195">
                  <c:v>-0.190416798</c:v>
                </c:pt>
                <c:pt idx="196">
                  <c:v>-0.198431015</c:v>
                </c:pt>
                <c:pt idx="197">
                  <c:v>-0.2109503597</c:v>
                </c:pt>
                <c:pt idx="198">
                  <c:v>-0.2204594761</c:v>
                </c:pt>
                <c:pt idx="199">
                  <c:v>-0.2295879126</c:v>
                </c:pt>
                <c:pt idx="200">
                  <c:v>-0.2398383915</c:v>
                </c:pt>
                <c:pt idx="201">
                  <c:v>-0.2482050806</c:v>
                </c:pt>
                <c:pt idx="202">
                  <c:v>-0.2539364398</c:v>
                </c:pt>
                <c:pt idx="203">
                  <c:v>-0.2641711235</c:v>
                </c:pt>
                <c:pt idx="204">
                  <c:v>-0.2706429958</c:v>
                </c:pt>
                <c:pt idx="205">
                  <c:v>-0.2771091163</c:v>
                </c:pt>
                <c:pt idx="206">
                  <c:v>-0.2839452922</c:v>
                </c:pt>
                <c:pt idx="207">
                  <c:v>-0.2911516726</c:v>
                </c:pt>
                <c:pt idx="208">
                  <c:v>-0.2987285256</c:v>
                </c:pt>
                <c:pt idx="209">
                  <c:v>-0.306676209</c:v>
                </c:pt>
                <c:pt idx="210">
                  <c:v>-0.313116461</c:v>
                </c:pt>
                <c:pt idx="211">
                  <c:v>-0.3180496693</c:v>
                </c:pt>
                <c:pt idx="212">
                  <c:v>-0.3237306178</c:v>
                </c:pt>
                <c:pt idx="213">
                  <c:v>-0.3282810152</c:v>
                </c:pt>
                <c:pt idx="214">
                  <c:v>-0.3332042694</c:v>
                </c:pt>
                <c:pt idx="215">
                  <c:v>-0.3332405984</c:v>
                </c:pt>
                <c:pt idx="216">
                  <c:v>-0.3344019651</c:v>
                </c:pt>
                <c:pt idx="217">
                  <c:v>-0.3366887271</c:v>
                </c:pt>
                <c:pt idx="218">
                  <c:v>-0.3359681666</c:v>
                </c:pt>
                <c:pt idx="219">
                  <c:v>-0.3348705769</c:v>
                </c:pt>
                <c:pt idx="220">
                  <c:v>-0.337153405</c:v>
                </c:pt>
                <c:pt idx="221">
                  <c:v>-0.3364293277</c:v>
                </c:pt>
                <c:pt idx="222">
                  <c:v>-0.3420917988</c:v>
                </c:pt>
                <c:pt idx="223">
                  <c:v>-0.3432446718</c:v>
                </c:pt>
                <c:pt idx="224">
                  <c:v>-0.3451482654</c:v>
                </c:pt>
                <c:pt idx="225">
                  <c:v>-0.3481782675</c:v>
                </c:pt>
                <c:pt idx="226">
                  <c:v>-0.3497045338</c:v>
                </c:pt>
                <c:pt idx="227">
                  <c:v>-0.3512298763</c:v>
                </c:pt>
                <c:pt idx="228">
                  <c:v>-0.3512513638</c:v>
                </c:pt>
                <c:pt idx="229">
                  <c:v>-0.3542776406</c:v>
                </c:pt>
                <c:pt idx="230">
                  <c:v>-0.3573029339</c:v>
                </c:pt>
                <c:pt idx="231">
                  <c:v>-0.3607029021</c:v>
                </c:pt>
                <c:pt idx="232">
                  <c:v>-0.3663561344</c:v>
                </c:pt>
                <c:pt idx="233">
                  <c:v>-0.3686267138</c:v>
                </c:pt>
                <c:pt idx="234">
                  <c:v>-0.3727747202</c:v>
                </c:pt>
                <c:pt idx="235">
                  <c:v>-0.3780484796</c:v>
                </c:pt>
                <c:pt idx="236">
                  <c:v>-0.3848235607</c:v>
                </c:pt>
                <c:pt idx="237">
                  <c:v>-0.3874637485</c:v>
                </c:pt>
                <c:pt idx="238">
                  <c:v>-0.3916046917</c:v>
                </c:pt>
                <c:pt idx="239">
                  <c:v>-0.3964946866</c:v>
                </c:pt>
                <c:pt idx="240">
                  <c:v>-0.401006043</c:v>
                </c:pt>
                <c:pt idx="241">
                  <c:v>-0.4058898687</c:v>
                </c:pt>
                <c:pt idx="242">
                  <c:v>-0.4100185335</c:v>
                </c:pt>
                <c:pt idx="243">
                  <c:v>-0.4137672782</c:v>
                </c:pt>
                <c:pt idx="244">
                  <c:v>-0.4167599976</c:v>
                </c:pt>
                <c:pt idx="245">
                  <c:v>-0.4231294692</c:v>
                </c:pt>
                <c:pt idx="246">
                  <c:v>-0.4264881313</c:v>
                </c:pt>
                <c:pt idx="247">
                  <c:v>-0.4302172363</c:v>
                </c:pt>
                <c:pt idx="248">
                  <c:v>-0.4335651994</c:v>
                </c:pt>
                <c:pt idx="249">
                  <c:v>-0.4357804656</c:v>
                </c:pt>
                <c:pt idx="250">
                  <c:v>-0.4409958422</c:v>
                </c:pt>
                <c:pt idx="251">
                  <c:v>-0.4431995451</c:v>
                </c:pt>
                <c:pt idx="252">
                  <c:v>-0.4457729459</c:v>
                </c:pt>
                <c:pt idx="253">
                  <c:v>-0.4498429</c:v>
                </c:pt>
                <c:pt idx="254">
                  <c:v>-0.4527790546</c:v>
                </c:pt>
                <c:pt idx="255">
                  <c:v>-0.4553324878</c:v>
                </c:pt>
                <c:pt idx="256">
                  <c:v>-0.4590058327</c:v>
                </c:pt>
                <c:pt idx="257">
                  <c:v>-0.4615443647</c:v>
                </c:pt>
                <c:pt idx="258">
                  <c:v>-0.4655777812</c:v>
                </c:pt>
                <c:pt idx="259">
                  <c:v>-0.4680998921</c:v>
                </c:pt>
                <c:pt idx="260">
                  <c:v>-0.4706131816</c:v>
                </c:pt>
                <c:pt idx="261">
                  <c:v>-0.4734930098</c:v>
                </c:pt>
                <c:pt idx="262">
                  <c:v>-0.4756117761</c:v>
                </c:pt>
                <c:pt idx="263">
                  <c:v>-0.4788478315</c:v>
                </c:pt>
                <c:pt idx="264">
                  <c:v>-0.4813221991</c:v>
                </c:pt>
                <c:pt idx="265">
                  <c:v>-0.4830345511</c:v>
                </c:pt>
                <c:pt idx="266">
                  <c:v>-0.4873661995</c:v>
                </c:pt>
                <c:pt idx="267">
                  <c:v>-0.489056766</c:v>
                </c:pt>
                <c:pt idx="268">
                  <c:v>-0.4914876223</c:v>
                </c:pt>
                <c:pt idx="269">
                  <c:v>-0.4931557477</c:v>
                </c:pt>
                <c:pt idx="270">
                  <c:v>-0.4959396422</c:v>
                </c:pt>
                <c:pt idx="271">
                  <c:v>-0.4983362556</c:v>
                </c:pt>
                <c:pt idx="272">
                  <c:v>-0.5010969639</c:v>
                </c:pt>
                <c:pt idx="273">
                  <c:v>-0.5030943155</c:v>
                </c:pt>
                <c:pt idx="274">
                  <c:v>-0.504703939</c:v>
                </c:pt>
                <c:pt idx="275">
                  <c:v>-0.5070530772</c:v>
                </c:pt>
                <c:pt idx="276">
                  <c:v>-0.50863868</c:v>
                </c:pt>
                <c:pt idx="277">
                  <c:v>-0.5113393664</c:v>
                </c:pt>
                <c:pt idx="278">
                  <c:v>-0.5132765174</c:v>
                </c:pt>
                <c:pt idx="279">
                  <c:v>-0.5159530044</c:v>
                </c:pt>
                <c:pt idx="280">
                  <c:v>-0.5178659558</c:v>
                </c:pt>
                <c:pt idx="281">
                  <c:v>-0.5193910003</c:v>
                </c:pt>
                <c:pt idx="282">
                  <c:v>-0.520903945</c:v>
                </c:pt>
                <c:pt idx="283">
                  <c:v>-0.5231562257</c:v>
                </c:pt>
                <c:pt idx="284">
                  <c:v>-0.5242692232</c:v>
                </c:pt>
                <c:pt idx="285">
                  <c:v>-0.5257461071</c:v>
                </c:pt>
                <c:pt idx="286">
                  <c:v>-0.527962625</c:v>
                </c:pt>
                <c:pt idx="287">
                  <c:v>-0.53016752</c:v>
                </c:pt>
                <c:pt idx="288">
                  <c:v>-0.5319852829</c:v>
                </c:pt>
                <c:pt idx="289">
                  <c:v>-0.5330404639</c:v>
                </c:pt>
                <c:pt idx="290">
                  <c:v>-0.5352118611</c:v>
                </c:pt>
                <c:pt idx="291">
                  <c:v>-0.5366211534</c:v>
                </c:pt>
                <c:pt idx="292">
                  <c:v>-0.5372686386</c:v>
                </c:pt>
                <c:pt idx="293">
                  <c:v>-0.5394088626</c:v>
                </c:pt>
                <c:pt idx="294">
                  <c:v>-0.5404120684</c:v>
                </c:pt>
                <c:pt idx="295">
                  <c:v>-0.5417813063</c:v>
                </c:pt>
                <c:pt idx="296">
                  <c:v>-0.5431411862</c:v>
                </c:pt>
                <c:pt idx="297">
                  <c:v>-0.5444917679</c:v>
                </c:pt>
                <c:pt idx="298">
                  <c:v>-0.5462090969</c:v>
                </c:pt>
                <c:pt idx="299">
                  <c:v>-0.5467904806</c:v>
                </c:pt>
                <c:pt idx="300">
                  <c:v>-0.5488661528</c:v>
                </c:pt>
                <c:pt idx="301">
                  <c:v>-0.5498063564</c:v>
                </c:pt>
                <c:pt idx="302">
                  <c:v>-0.5514899492</c:v>
                </c:pt>
                <c:pt idx="303">
                  <c:v>-0.5520385504</c:v>
                </c:pt>
                <c:pt idx="304">
                  <c:v>-0.5540825725</c:v>
                </c:pt>
                <c:pt idx="305">
                  <c:v>-0.5546163917</c:v>
                </c:pt>
                <c:pt idx="306">
                  <c:v>-0.5558946729</c:v>
                </c:pt>
                <c:pt idx="307">
                  <c:v>-0.5571660995</c:v>
                </c:pt>
                <c:pt idx="308">
                  <c:v>-0.5584309697</c:v>
                </c:pt>
                <c:pt idx="309">
                  <c:v>-0.5611923933</c:v>
                </c:pt>
                <c:pt idx="310">
                  <c:v>-0.5616933703</c:v>
                </c:pt>
                <c:pt idx="311">
                  <c:v>-0.5633155704</c:v>
                </c:pt>
                <c:pt idx="312">
                  <c:v>-0.5638048649</c:v>
                </c:pt>
                <c:pt idx="313">
                  <c:v>-0.5646642447</c:v>
                </c:pt>
                <c:pt idx="314">
                  <c:v>-0.5658938289</c:v>
                </c:pt>
                <c:pt idx="315">
                  <c:v>-0.5674936175</c:v>
                </c:pt>
                <c:pt idx="316">
                  <c:v>-0.5679607987</c:v>
                </c:pt>
                <c:pt idx="317">
                  <c:v>-0.5699256063</c:v>
                </c:pt>
                <c:pt idx="318">
                  <c:v>-0.5707578063</c:v>
                </c:pt>
                <c:pt idx="319">
                  <c:v>-0.5719605088</c:v>
                </c:pt>
                <c:pt idx="320">
                  <c:v>-0.5727820992</c:v>
                </c:pt>
                <c:pt idx="321">
                  <c:v>-0.5728469491</c:v>
                </c:pt>
                <c:pt idx="322">
                  <c:v>-0.5744094253</c:v>
                </c:pt>
                <c:pt idx="323">
                  <c:v>-0.5744637251</c:v>
                </c:pt>
                <c:pt idx="324">
                  <c:v>-0.5745127201</c:v>
                </c:pt>
                <c:pt idx="325">
                  <c:v>-0.5753079057</c:v>
                </c:pt>
                <c:pt idx="326">
                  <c:v>-0.5760976672</c:v>
                </c:pt>
                <c:pt idx="327">
                  <c:v>-0.5768820643</c:v>
                </c:pt>
                <c:pt idx="328">
                  <c:v>-0.5776609182</c:v>
                </c:pt>
                <c:pt idx="329">
                  <c:v>-0.5776827335</c:v>
                </c:pt>
                <c:pt idx="330">
                  <c:v>-0.5784503222</c:v>
                </c:pt>
                <c:pt idx="331">
                  <c:v>-0.5792123675</c:v>
                </c:pt>
                <c:pt idx="332">
                  <c:v>-0.580720365</c:v>
                </c:pt>
                <c:pt idx="333">
                  <c:v>-0.5810961127</c:v>
                </c:pt>
                <c:pt idx="334">
                  <c:v>-0.582218647</c:v>
                </c:pt>
                <c:pt idx="335">
                  <c:v>-0.5825853348</c:v>
                </c:pt>
              </c:numCache>
            </c:numRef>
          </c:yVal>
        </c:ser>
        <c:ser>
          <c:idx val="1"/>
          <c:order val="1"/>
          <c:tx>
            <c:v>Baja complejidad</c:v>
          </c:tx>
          <c:spPr>
            <a:ln w="21908">
              <a:solidFill>
                <a:srgbClr val="697681"/>
              </a:solidFill>
              <a:prstDash val="solid"/>
            </a:ln>
          </c:spPr>
          <c:marker>
            <c:symbol val="none"/>
          </c:marker>
          <c:xVal>
            <c:numRef>
              <c:f>'Chart Data'!$C$2:$C$337</c:f>
              <c:numCache>
                <c:formatCode>General</c:formatCode>
                <c:ptCount val="336"/>
                <c:pt idx="0">
                  <c:v>-335</c:v>
                </c:pt>
                <c:pt idx="1">
                  <c:v>-334</c:v>
                </c:pt>
                <c:pt idx="2">
                  <c:v>-333</c:v>
                </c:pt>
                <c:pt idx="3">
                  <c:v>-332</c:v>
                </c:pt>
                <c:pt idx="4">
                  <c:v>-331</c:v>
                </c:pt>
                <c:pt idx="5">
                  <c:v>-330</c:v>
                </c:pt>
                <c:pt idx="6">
                  <c:v>-329</c:v>
                </c:pt>
                <c:pt idx="7">
                  <c:v>-328</c:v>
                </c:pt>
                <c:pt idx="8">
                  <c:v>-327</c:v>
                </c:pt>
                <c:pt idx="9">
                  <c:v>-326</c:v>
                </c:pt>
                <c:pt idx="10">
                  <c:v>-325</c:v>
                </c:pt>
                <c:pt idx="11">
                  <c:v>-324</c:v>
                </c:pt>
                <c:pt idx="12">
                  <c:v>-323</c:v>
                </c:pt>
                <c:pt idx="13">
                  <c:v>-322</c:v>
                </c:pt>
                <c:pt idx="14">
                  <c:v>-321</c:v>
                </c:pt>
                <c:pt idx="15">
                  <c:v>-320</c:v>
                </c:pt>
                <c:pt idx="16">
                  <c:v>-319</c:v>
                </c:pt>
                <c:pt idx="17">
                  <c:v>-318</c:v>
                </c:pt>
                <c:pt idx="18">
                  <c:v>-317</c:v>
                </c:pt>
                <c:pt idx="19">
                  <c:v>-316</c:v>
                </c:pt>
                <c:pt idx="20">
                  <c:v>-315</c:v>
                </c:pt>
                <c:pt idx="21">
                  <c:v>-314</c:v>
                </c:pt>
                <c:pt idx="22">
                  <c:v>-313</c:v>
                </c:pt>
                <c:pt idx="23">
                  <c:v>-312</c:v>
                </c:pt>
                <c:pt idx="24">
                  <c:v>-311</c:v>
                </c:pt>
                <c:pt idx="25">
                  <c:v>-310</c:v>
                </c:pt>
                <c:pt idx="26">
                  <c:v>-309</c:v>
                </c:pt>
                <c:pt idx="27">
                  <c:v>-308</c:v>
                </c:pt>
                <c:pt idx="28">
                  <c:v>-307</c:v>
                </c:pt>
                <c:pt idx="29">
                  <c:v>-306</c:v>
                </c:pt>
                <c:pt idx="30">
                  <c:v>-305</c:v>
                </c:pt>
                <c:pt idx="31">
                  <c:v>-304</c:v>
                </c:pt>
                <c:pt idx="32">
                  <c:v>-303</c:v>
                </c:pt>
                <c:pt idx="33">
                  <c:v>-302</c:v>
                </c:pt>
                <c:pt idx="34">
                  <c:v>-301</c:v>
                </c:pt>
                <c:pt idx="35">
                  <c:v>-300</c:v>
                </c:pt>
                <c:pt idx="36">
                  <c:v>-299</c:v>
                </c:pt>
                <c:pt idx="37">
                  <c:v>-298</c:v>
                </c:pt>
                <c:pt idx="38">
                  <c:v>-297</c:v>
                </c:pt>
                <c:pt idx="39">
                  <c:v>-296</c:v>
                </c:pt>
                <c:pt idx="40">
                  <c:v>-295</c:v>
                </c:pt>
                <c:pt idx="41">
                  <c:v>-294</c:v>
                </c:pt>
                <c:pt idx="42">
                  <c:v>-293</c:v>
                </c:pt>
                <c:pt idx="43">
                  <c:v>-292</c:v>
                </c:pt>
                <c:pt idx="44">
                  <c:v>-291</c:v>
                </c:pt>
                <c:pt idx="45">
                  <c:v>-290</c:v>
                </c:pt>
                <c:pt idx="46">
                  <c:v>-289</c:v>
                </c:pt>
                <c:pt idx="47">
                  <c:v>-288</c:v>
                </c:pt>
                <c:pt idx="48">
                  <c:v>-287</c:v>
                </c:pt>
                <c:pt idx="49">
                  <c:v>-286</c:v>
                </c:pt>
                <c:pt idx="50">
                  <c:v>-285</c:v>
                </c:pt>
                <c:pt idx="51">
                  <c:v>-284</c:v>
                </c:pt>
                <c:pt idx="52">
                  <c:v>-283</c:v>
                </c:pt>
                <c:pt idx="53">
                  <c:v>-282</c:v>
                </c:pt>
                <c:pt idx="54">
                  <c:v>-281</c:v>
                </c:pt>
                <c:pt idx="55">
                  <c:v>-280</c:v>
                </c:pt>
                <c:pt idx="56">
                  <c:v>-279</c:v>
                </c:pt>
                <c:pt idx="57">
                  <c:v>-278</c:v>
                </c:pt>
                <c:pt idx="58">
                  <c:v>-277</c:v>
                </c:pt>
                <c:pt idx="59">
                  <c:v>-276</c:v>
                </c:pt>
                <c:pt idx="60">
                  <c:v>-275</c:v>
                </c:pt>
                <c:pt idx="61">
                  <c:v>-274</c:v>
                </c:pt>
                <c:pt idx="62">
                  <c:v>-273</c:v>
                </c:pt>
                <c:pt idx="63">
                  <c:v>-272</c:v>
                </c:pt>
                <c:pt idx="64">
                  <c:v>-271</c:v>
                </c:pt>
                <c:pt idx="65">
                  <c:v>-270</c:v>
                </c:pt>
                <c:pt idx="66">
                  <c:v>-269</c:v>
                </c:pt>
                <c:pt idx="67">
                  <c:v>-268</c:v>
                </c:pt>
                <c:pt idx="68">
                  <c:v>-267</c:v>
                </c:pt>
                <c:pt idx="69">
                  <c:v>-266</c:v>
                </c:pt>
                <c:pt idx="70">
                  <c:v>-265</c:v>
                </c:pt>
                <c:pt idx="71">
                  <c:v>-264</c:v>
                </c:pt>
                <c:pt idx="72">
                  <c:v>-263</c:v>
                </c:pt>
                <c:pt idx="73">
                  <c:v>-262</c:v>
                </c:pt>
                <c:pt idx="74">
                  <c:v>-261</c:v>
                </c:pt>
                <c:pt idx="75">
                  <c:v>-260</c:v>
                </c:pt>
                <c:pt idx="76">
                  <c:v>-259</c:v>
                </c:pt>
                <c:pt idx="77">
                  <c:v>-258</c:v>
                </c:pt>
                <c:pt idx="78">
                  <c:v>-257</c:v>
                </c:pt>
                <c:pt idx="79">
                  <c:v>-256</c:v>
                </c:pt>
                <c:pt idx="80">
                  <c:v>-255</c:v>
                </c:pt>
                <c:pt idx="81">
                  <c:v>-254</c:v>
                </c:pt>
                <c:pt idx="82">
                  <c:v>-253</c:v>
                </c:pt>
                <c:pt idx="83">
                  <c:v>-252</c:v>
                </c:pt>
                <c:pt idx="84">
                  <c:v>-251</c:v>
                </c:pt>
                <c:pt idx="85">
                  <c:v>-250</c:v>
                </c:pt>
                <c:pt idx="86">
                  <c:v>-249</c:v>
                </c:pt>
                <c:pt idx="87">
                  <c:v>-248</c:v>
                </c:pt>
                <c:pt idx="88">
                  <c:v>-247</c:v>
                </c:pt>
                <c:pt idx="89">
                  <c:v>-246</c:v>
                </c:pt>
                <c:pt idx="90">
                  <c:v>-245</c:v>
                </c:pt>
                <c:pt idx="91">
                  <c:v>-244</c:v>
                </c:pt>
                <c:pt idx="92">
                  <c:v>-243</c:v>
                </c:pt>
                <c:pt idx="93">
                  <c:v>-242</c:v>
                </c:pt>
                <c:pt idx="94">
                  <c:v>-241</c:v>
                </c:pt>
                <c:pt idx="95">
                  <c:v>-240</c:v>
                </c:pt>
                <c:pt idx="96">
                  <c:v>-239</c:v>
                </c:pt>
                <c:pt idx="97">
                  <c:v>-238</c:v>
                </c:pt>
                <c:pt idx="98">
                  <c:v>-237</c:v>
                </c:pt>
                <c:pt idx="99">
                  <c:v>-236</c:v>
                </c:pt>
                <c:pt idx="100">
                  <c:v>-235</c:v>
                </c:pt>
                <c:pt idx="101">
                  <c:v>-234</c:v>
                </c:pt>
                <c:pt idx="102">
                  <c:v>-233</c:v>
                </c:pt>
                <c:pt idx="103">
                  <c:v>-232</c:v>
                </c:pt>
                <c:pt idx="104">
                  <c:v>-231</c:v>
                </c:pt>
                <c:pt idx="105">
                  <c:v>-230</c:v>
                </c:pt>
                <c:pt idx="106">
                  <c:v>-229</c:v>
                </c:pt>
                <c:pt idx="107">
                  <c:v>-228</c:v>
                </c:pt>
                <c:pt idx="108">
                  <c:v>-227</c:v>
                </c:pt>
                <c:pt idx="109">
                  <c:v>-226</c:v>
                </c:pt>
                <c:pt idx="110">
                  <c:v>-225</c:v>
                </c:pt>
                <c:pt idx="111">
                  <c:v>-224</c:v>
                </c:pt>
                <c:pt idx="112">
                  <c:v>-223</c:v>
                </c:pt>
                <c:pt idx="113">
                  <c:v>-222</c:v>
                </c:pt>
                <c:pt idx="114">
                  <c:v>-221</c:v>
                </c:pt>
                <c:pt idx="115">
                  <c:v>-220</c:v>
                </c:pt>
                <c:pt idx="116">
                  <c:v>-219</c:v>
                </c:pt>
                <c:pt idx="117">
                  <c:v>-218</c:v>
                </c:pt>
                <c:pt idx="118">
                  <c:v>-217</c:v>
                </c:pt>
                <c:pt idx="119">
                  <c:v>-216</c:v>
                </c:pt>
                <c:pt idx="120">
                  <c:v>-215</c:v>
                </c:pt>
                <c:pt idx="121">
                  <c:v>-214</c:v>
                </c:pt>
                <c:pt idx="122">
                  <c:v>-213</c:v>
                </c:pt>
                <c:pt idx="123">
                  <c:v>-212</c:v>
                </c:pt>
                <c:pt idx="124">
                  <c:v>-211</c:v>
                </c:pt>
                <c:pt idx="125">
                  <c:v>-210</c:v>
                </c:pt>
                <c:pt idx="126">
                  <c:v>-209</c:v>
                </c:pt>
                <c:pt idx="127">
                  <c:v>-208</c:v>
                </c:pt>
                <c:pt idx="128">
                  <c:v>-207</c:v>
                </c:pt>
                <c:pt idx="129">
                  <c:v>-206</c:v>
                </c:pt>
                <c:pt idx="130">
                  <c:v>-205</c:v>
                </c:pt>
                <c:pt idx="131">
                  <c:v>-204</c:v>
                </c:pt>
                <c:pt idx="132">
                  <c:v>-203</c:v>
                </c:pt>
                <c:pt idx="133">
                  <c:v>-202</c:v>
                </c:pt>
                <c:pt idx="134">
                  <c:v>-201</c:v>
                </c:pt>
                <c:pt idx="135">
                  <c:v>-200</c:v>
                </c:pt>
                <c:pt idx="136">
                  <c:v>-199</c:v>
                </c:pt>
                <c:pt idx="137">
                  <c:v>-198</c:v>
                </c:pt>
                <c:pt idx="138">
                  <c:v>-197</c:v>
                </c:pt>
                <c:pt idx="139">
                  <c:v>-196</c:v>
                </c:pt>
                <c:pt idx="140">
                  <c:v>-195</c:v>
                </c:pt>
                <c:pt idx="141">
                  <c:v>-194</c:v>
                </c:pt>
                <c:pt idx="142">
                  <c:v>-193</c:v>
                </c:pt>
                <c:pt idx="143">
                  <c:v>-192</c:v>
                </c:pt>
                <c:pt idx="144">
                  <c:v>-191</c:v>
                </c:pt>
                <c:pt idx="145">
                  <c:v>-190</c:v>
                </c:pt>
                <c:pt idx="146">
                  <c:v>-189</c:v>
                </c:pt>
                <c:pt idx="147">
                  <c:v>-188</c:v>
                </c:pt>
                <c:pt idx="148">
                  <c:v>-187</c:v>
                </c:pt>
                <c:pt idx="149">
                  <c:v>-186</c:v>
                </c:pt>
                <c:pt idx="150">
                  <c:v>-185</c:v>
                </c:pt>
                <c:pt idx="151">
                  <c:v>-184</c:v>
                </c:pt>
                <c:pt idx="152">
                  <c:v>-183</c:v>
                </c:pt>
                <c:pt idx="153">
                  <c:v>-182</c:v>
                </c:pt>
                <c:pt idx="154">
                  <c:v>-181</c:v>
                </c:pt>
                <c:pt idx="155">
                  <c:v>-180</c:v>
                </c:pt>
                <c:pt idx="156">
                  <c:v>-179</c:v>
                </c:pt>
                <c:pt idx="157">
                  <c:v>-178</c:v>
                </c:pt>
                <c:pt idx="158">
                  <c:v>-177</c:v>
                </c:pt>
                <c:pt idx="159">
                  <c:v>-176</c:v>
                </c:pt>
                <c:pt idx="160">
                  <c:v>-175</c:v>
                </c:pt>
                <c:pt idx="161">
                  <c:v>-174</c:v>
                </c:pt>
                <c:pt idx="162">
                  <c:v>-173</c:v>
                </c:pt>
                <c:pt idx="163">
                  <c:v>-172</c:v>
                </c:pt>
                <c:pt idx="164">
                  <c:v>-171</c:v>
                </c:pt>
                <c:pt idx="165">
                  <c:v>-170</c:v>
                </c:pt>
                <c:pt idx="166">
                  <c:v>-169</c:v>
                </c:pt>
                <c:pt idx="167">
                  <c:v>-168</c:v>
                </c:pt>
                <c:pt idx="168">
                  <c:v>-167</c:v>
                </c:pt>
                <c:pt idx="169">
                  <c:v>-166</c:v>
                </c:pt>
                <c:pt idx="170">
                  <c:v>-165</c:v>
                </c:pt>
                <c:pt idx="171">
                  <c:v>-164</c:v>
                </c:pt>
                <c:pt idx="172">
                  <c:v>-163</c:v>
                </c:pt>
                <c:pt idx="173">
                  <c:v>-162</c:v>
                </c:pt>
                <c:pt idx="174">
                  <c:v>-161</c:v>
                </c:pt>
                <c:pt idx="175">
                  <c:v>-160</c:v>
                </c:pt>
                <c:pt idx="176">
                  <c:v>-159</c:v>
                </c:pt>
                <c:pt idx="177">
                  <c:v>-158</c:v>
                </c:pt>
                <c:pt idx="178">
                  <c:v>-157</c:v>
                </c:pt>
                <c:pt idx="179">
                  <c:v>-156</c:v>
                </c:pt>
                <c:pt idx="180">
                  <c:v>-155</c:v>
                </c:pt>
                <c:pt idx="181">
                  <c:v>-154</c:v>
                </c:pt>
                <c:pt idx="182">
                  <c:v>-153</c:v>
                </c:pt>
                <c:pt idx="183">
                  <c:v>-152</c:v>
                </c:pt>
                <c:pt idx="184">
                  <c:v>-151</c:v>
                </c:pt>
                <c:pt idx="185">
                  <c:v>-150</c:v>
                </c:pt>
                <c:pt idx="186">
                  <c:v>-149</c:v>
                </c:pt>
                <c:pt idx="187">
                  <c:v>-148</c:v>
                </c:pt>
                <c:pt idx="188">
                  <c:v>-147</c:v>
                </c:pt>
                <c:pt idx="189">
                  <c:v>-146</c:v>
                </c:pt>
                <c:pt idx="190">
                  <c:v>-145</c:v>
                </c:pt>
                <c:pt idx="191">
                  <c:v>-144</c:v>
                </c:pt>
                <c:pt idx="192">
                  <c:v>-143</c:v>
                </c:pt>
                <c:pt idx="193">
                  <c:v>-142</c:v>
                </c:pt>
                <c:pt idx="194">
                  <c:v>-141</c:v>
                </c:pt>
                <c:pt idx="195">
                  <c:v>-140</c:v>
                </c:pt>
                <c:pt idx="196">
                  <c:v>-139</c:v>
                </c:pt>
                <c:pt idx="197">
                  <c:v>-138</c:v>
                </c:pt>
                <c:pt idx="198">
                  <c:v>-137</c:v>
                </c:pt>
                <c:pt idx="199">
                  <c:v>-136</c:v>
                </c:pt>
                <c:pt idx="200">
                  <c:v>-135</c:v>
                </c:pt>
                <c:pt idx="201">
                  <c:v>-134</c:v>
                </c:pt>
                <c:pt idx="202">
                  <c:v>-133</c:v>
                </c:pt>
                <c:pt idx="203">
                  <c:v>-132</c:v>
                </c:pt>
                <c:pt idx="204">
                  <c:v>-131</c:v>
                </c:pt>
                <c:pt idx="205">
                  <c:v>-130</c:v>
                </c:pt>
                <c:pt idx="206">
                  <c:v>-129</c:v>
                </c:pt>
                <c:pt idx="207">
                  <c:v>-128</c:v>
                </c:pt>
                <c:pt idx="208">
                  <c:v>-127</c:v>
                </c:pt>
                <c:pt idx="209">
                  <c:v>-126</c:v>
                </c:pt>
                <c:pt idx="210">
                  <c:v>-125</c:v>
                </c:pt>
                <c:pt idx="211">
                  <c:v>-124</c:v>
                </c:pt>
                <c:pt idx="212">
                  <c:v>-123</c:v>
                </c:pt>
                <c:pt idx="213">
                  <c:v>-122</c:v>
                </c:pt>
                <c:pt idx="214">
                  <c:v>-121</c:v>
                </c:pt>
                <c:pt idx="215">
                  <c:v>-120</c:v>
                </c:pt>
                <c:pt idx="216">
                  <c:v>-119</c:v>
                </c:pt>
                <c:pt idx="217">
                  <c:v>-118</c:v>
                </c:pt>
                <c:pt idx="218">
                  <c:v>-117</c:v>
                </c:pt>
                <c:pt idx="219">
                  <c:v>-116</c:v>
                </c:pt>
                <c:pt idx="220">
                  <c:v>-115</c:v>
                </c:pt>
                <c:pt idx="221">
                  <c:v>-114</c:v>
                </c:pt>
                <c:pt idx="222">
                  <c:v>-113</c:v>
                </c:pt>
                <c:pt idx="223">
                  <c:v>-112</c:v>
                </c:pt>
                <c:pt idx="224">
                  <c:v>-111</c:v>
                </c:pt>
                <c:pt idx="225">
                  <c:v>-110</c:v>
                </c:pt>
                <c:pt idx="226">
                  <c:v>-109</c:v>
                </c:pt>
                <c:pt idx="227">
                  <c:v>-108</c:v>
                </c:pt>
                <c:pt idx="228">
                  <c:v>-107</c:v>
                </c:pt>
                <c:pt idx="229">
                  <c:v>-106</c:v>
                </c:pt>
                <c:pt idx="230">
                  <c:v>-105</c:v>
                </c:pt>
                <c:pt idx="231">
                  <c:v>-104</c:v>
                </c:pt>
                <c:pt idx="232">
                  <c:v>-103</c:v>
                </c:pt>
                <c:pt idx="233">
                  <c:v>-102</c:v>
                </c:pt>
                <c:pt idx="234">
                  <c:v>-101</c:v>
                </c:pt>
                <c:pt idx="235">
                  <c:v>-100</c:v>
                </c:pt>
                <c:pt idx="236">
                  <c:v>-99</c:v>
                </c:pt>
                <c:pt idx="237">
                  <c:v>-98</c:v>
                </c:pt>
                <c:pt idx="238">
                  <c:v>-97</c:v>
                </c:pt>
                <c:pt idx="239">
                  <c:v>-96</c:v>
                </c:pt>
                <c:pt idx="240">
                  <c:v>-95</c:v>
                </c:pt>
                <c:pt idx="241">
                  <c:v>-94</c:v>
                </c:pt>
                <c:pt idx="242">
                  <c:v>-93</c:v>
                </c:pt>
                <c:pt idx="243">
                  <c:v>-92</c:v>
                </c:pt>
                <c:pt idx="244">
                  <c:v>-91</c:v>
                </c:pt>
                <c:pt idx="245">
                  <c:v>-90</c:v>
                </c:pt>
                <c:pt idx="246">
                  <c:v>-89</c:v>
                </c:pt>
                <c:pt idx="247">
                  <c:v>-88</c:v>
                </c:pt>
                <c:pt idx="248">
                  <c:v>-87</c:v>
                </c:pt>
                <c:pt idx="249">
                  <c:v>-86</c:v>
                </c:pt>
                <c:pt idx="250">
                  <c:v>-85</c:v>
                </c:pt>
                <c:pt idx="251">
                  <c:v>-84</c:v>
                </c:pt>
                <c:pt idx="252">
                  <c:v>-83</c:v>
                </c:pt>
                <c:pt idx="253">
                  <c:v>-82</c:v>
                </c:pt>
                <c:pt idx="254">
                  <c:v>-81</c:v>
                </c:pt>
                <c:pt idx="255">
                  <c:v>-80</c:v>
                </c:pt>
                <c:pt idx="256">
                  <c:v>-79</c:v>
                </c:pt>
                <c:pt idx="257">
                  <c:v>-78</c:v>
                </c:pt>
                <c:pt idx="258">
                  <c:v>-77</c:v>
                </c:pt>
                <c:pt idx="259">
                  <c:v>-76</c:v>
                </c:pt>
                <c:pt idx="260">
                  <c:v>-75</c:v>
                </c:pt>
                <c:pt idx="261">
                  <c:v>-74</c:v>
                </c:pt>
                <c:pt idx="262">
                  <c:v>-73</c:v>
                </c:pt>
                <c:pt idx="263">
                  <c:v>-72</c:v>
                </c:pt>
                <c:pt idx="264">
                  <c:v>-71</c:v>
                </c:pt>
                <c:pt idx="265">
                  <c:v>-70</c:v>
                </c:pt>
                <c:pt idx="266">
                  <c:v>-69</c:v>
                </c:pt>
                <c:pt idx="267">
                  <c:v>-68</c:v>
                </c:pt>
                <c:pt idx="268">
                  <c:v>-67</c:v>
                </c:pt>
                <c:pt idx="269">
                  <c:v>-66</c:v>
                </c:pt>
                <c:pt idx="270">
                  <c:v>-65</c:v>
                </c:pt>
                <c:pt idx="271">
                  <c:v>-64</c:v>
                </c:pt>
                <c:pt idx="272">
                  <c:v>-63</c:v>
                </c:pt>
                <c:pt idx="273">
                  <c:v>-62</c:v>
                </c:pt>
                <c:pt idx="274">
                  <c:v>-61</c:v>
                </c:pt>
                <c:pt idx="275">
                  <c:v>-60</c:v>
                </c:pt>
                <c:pt idx="276">
                  <c:v>-59</c:v>
                </c:pt>
                <c:pt idx="277">
                  <c:v>-58</c:v>
                </c:pt>
                <c:pt idx="278">
                  <c:v>-57</c:v>
                </c:pt>
                <c:pt idx="279">
                  <c:v>-56</c:v>
                </c:pt>
                <c:pt idx="280">
                  <c:v>-55</c:v>
                </c:pt>
                <c:pt idx="281">
                  <c:v>-54</c:v>
                </c:pt>
                <c:pt idx="282">
                  <c:v>-53</c:v>
                </c:pt>
                <c:pt idx="283">
                  <c:v>-52</c:v>
                </c:pt>
                <c:pt idx="284">
                  <c:v>-51</c:v>
                </c:pt>
                <c:pt idx="285">
                  <c:v>-50</c:v>
                </c:pt>
                <c:pt idx="286">
                  <c:v>-49</c:v>
                </c:pt>
                <c:pt idx="287">
                  <c:v>-48</c:v>
                </c:pt>
                <c:pt idx="288">
                  <c:v>-47</c:v>
                </c:pt>
                <c:pt idx="289">
                  <c:v>-46</c:v>
                </c:pt>
                <c:pt idx="290">
                  <c:v>-45</c:v>
                </c:pt>
                <c:pt idx="291">
                  <c:v>-44</c:v>
                </c:pt>
                <c:pt idx="292">
                  <c:v>-43</c:v>
                </c:pt>
                <c:pt idx="293">
                  <c:v>-42</c:v>
                </c:pt>
                <c:pt idx="294">
                  <c:v>-41</c:v>
                </c:pt>
                <c:pt idx="295">
                  <c:v>-40</c:v>
                </c:pt>
                <c:pt idx="296">
                  <c:v>-39</c:v>
                </c:pt>
                <c:pt idx="297">
                  <c:v>-38</c:v>
                </c:pt>
                <c:pt idx="298">
                  <c:v>-37</c:v>
                </c:pt>
                <c:pt idx="299">
                  <c:v>-36</c:v>
                </c:pt>
                <c:pt idx="300">
                  <c:v>-35</c:v>
                </c:pt>
                <c:pt idx="301">
                  <c:v>-34</c:v>
                </c:pt>
                <c:pt idx="302">
                  <c:v>-33</c:v>
                </c:pt>
                <c:pt idx="303">
                  <c:v>-32</c:v>
                </c:pt>
                <c:pt idx="304">
                  <c:v>-31</c:v>
                </c:pt>
                <c:pt idx="305">
                  <c:v>-30</c:v>
                </c:pt>
                <c:pt idx="306">
                  <c:v>-29</c:v>
                </c:pt>
                <c:pt idx="307">
                  <c:v>-28</c:v>
                </c:pt>
                <c:pt idx="308">
                  <c:v>-27</c:v>
                </c:pt>
                <c:pt idx="309">
                  <c:v>-26</c:v>
                </c:pt>
                <c:pt idx="310">
                  <c:v>-25</c:v>
                </c:pt>
                <c:pt idx="311">
                  <c:v>-24</c:v>
                </c:pt>
                <c:pt idx="312">
                  <c:v>-23</c:v>
                </c:pt>
                <c:pt idx="313">
                  <c:v>-22</c:v>
                </c:pt>
                <c:pt idx="314">
                  <c:v>-21</c:v>
                </c:pt>
                <c:pt idx="315">
                  <c:v>-20</c:v>
                </c:pt>
                <c:pt idx="316">
                  <c:v>-19</c:v>
                </c:pt>
                <c:pt idx="317">
                  <c:v>-18</c:v>
                </c:pt>
                <c:pt idx="318">
                  <c:v>-17</c:v>
                </c:pt>
                <c:pt idx="319">
                  <c:v>-16</c:v>
                </c:pt>
                <c:pt idx="320">
                  <c:v>-15</c:v>
                </c:pt>
                <c:pt idx="321">
                  <c:v>-14</c:v>
                </c:pt>
                <c:pt idx="322">
                  <c:v>-13</c:v>
                </c:pt>
                <c:pt idx="323">
                  <c:v>-12</c:v>
                </c:pt>
                <c:pt idx="324">
                  <c:v>-11</c:v>
                </c:pt>
                <c:pt idx="325">
                  <c:v>-10</c:v>
                </c:pt>
                <c:pt idx="326">
                  <c:v>-9</c:v>
                </c:pt>
                <c:pt idx="327">
                  <c:v>-8</c:v>
                </c:pt>
                <c:pt idx="328">
                  <c:v>-7</c:v>
                </c:pt>
                <c:pt idx="329">
                  <c:v>-6</c:v>
                </c:pt>
                <c:pt idx="330">
                  <c:v>-5</c:v>
                </c:pt>
                <c:pt idx="331">
                  <c:v>-4</c:v>
                </c:pt>
                <c:pt idx="332">
                  <c:v>-3</c:v>
                </c:pt>
                <c:pt idx="333">
                  <c:v>-2</c:v>
                </c:pt>
                <c:pt idx="334">
                  <c:v>-1</c:v>
                </c:pt>
                <c:pt idx="335">
                  <c:v>0</c:v>
                </c:pt>
              </c:numCache>
            </c:numRef>
          </c:xVal>
          <c:yVal>
            <c:numRef>
              <c:f>'Chart Data'!$D$2:$D$337</c:f>
              <c:numCache>
                <c:formatCode>0.0</c:formatCode>
                <c:ptCount val="336"/>
                <c:pt idx="0">
                  <c:v>0.5170249343</c:v>
                </c:pt>
                <c:pt idx="1">
                  <c:v>0.5170534849</c:v>
                </c:pt>
                <c:pt idx="2">
                  <c:v>0.5171000361</c:v>
                </c:pt>
                <c:pt idx="3">
                  <c:v>0.5171663165</c:v>
                </c:pt>
                <c:pt idx="4">
                  <c:v>0.5172530413</c:v>
                </c:pt>
                <c:pt idx="5">
                  <c:v>0.5173601508</c:v>
                </c:pt>
                <c:pt idx="6">
                  <c:v>0.5174871087</c:v>
                </c:pt>
                <c:pt idx="7">
                  <c:v>0.5176336169</c:v>
                </c:pt>
                <c:pt idx="8">
                  <c:v>0.5177991986</c:v>
                </c:pt>
                <c:pt idx="9">
                  <c:v>0.5179835558</c:v>
                </c:pt>
                <c:pt idx="10">
                  <c:v>0.5181863308</c:v>
                </c:pt>
                <c:pt idx="11">
                  <c:v>0.518407166</c:v>
                </c:pt>
                <c:pt idx="12">
                  <c:v>0.5186457634</c:v>
                </c:pt>
                <c:pt idx="13">
                  <c:v>0.5189017653</c:v>
                </c:pt>
                <c:pt idx="14">
                  <c:v>0.5191747546</c:v>
                </c:pt>
                <c:pt idx="15">
                  <c:v>0.5194644928</c:v>
                </c:pt>
                <c:pt idx="16">
                  <c:v>0.5197704434</c:v>
                </c:pt>
                <c:pt idx="17">
                  <c:v>0.5200924277</c:v>
                </c:pt>
                <c:pt idx="18">
                  <c:v>0.520430088</c:v>
                </c:pt>
                <c:pt idx="19">
                  <c:v>0.5207830071</c:v>
                </c:pt>
                <c:pt idx="20">
                  <c:v>0.521150887</c:v>
                </c:pt>
                <c:pt idx="21">
                  <c:v>0.52153337</c:v>
                </c:pt>
                <c:pt idx="22">
                  <c:v>0.5219301581</c:v>
                </c:pt>
                <c:pt idx="23">
                  <c:v>0.5223407745</c:v>
                </c:pt>
                <c:pt idx="24">
                  <c:v>0.5227649808</c:v>
                </c:pt>
                <c:pt idx="25">
                  <c:v>0.5232024193</c:v>
                </c:pt>
                <c:pt idx="26">
                  <c:v>0.5236526132</c:v>
                </c:pt>
                <c:pt idx="27">
                  <c:v>0.524115324</c:v>
                </c:pt>
                <c:pt idx="28">
                  <c:v>0.5245901346</c:v>
                </c:pt>
                <c:pt idx="29">
                  <c:v>0.5250766277</c:v>
                </c:pt>
                <c:pt idx="30">
                  <c:v>0.5255745053</c:v>
                </c:pt>
                <c:pt idx="31">
                  <c:v>0.5260834694</c:v>
                </c:pt>
                <c:pt idx="32">
                  <c:v>0.5266031027</c:v>
                </c:pt>
                <c:pt idx="33">
                  <c:v>0.5271331668</c:v>
                </c:pt>
                <c:pt idx="34">
                  <c:v>0.5276733041</c:v>
                </c:pt>
                <c:pt idx="35">
                  <c:v>0.5282230973</c:v>
                </c:pt>
                <c:pt idx="36">
                  <c:v>0.5287823677</c:v>
                </c:pt>
                <c:pt idx="37">
                  <c:v>0.5293506384</c:v>
                </c:pt>
                <c:pt idx="38">
                  <c:v>0.5299277306</c:v>
                </c:pt>
                <c:pt idx="39">
                  <c:v>0.5305133462</c:v>
                </c:pt>
                <c:pt idx="40">
                  <c:v>0.5311073065</c:v>
                </c:pt>
                <c:pt idx="41">
                  <c:v>0.5317094922</c:v>
                </c:pt>
                <c:pt idx="42">
                  <c:v>0.5323197246</c:v>
                </c:pt>
                <c:pt idx="43">
                  <c:v>0.5329379439</c:v>
                </c:pt>
                <c:pt idx="44">
                  <c:v>0.5335642695</c:v>
                </c:pt>
                <c:pt idx="45">
                  <c:v>0.534198761</c:v>
                </c:pt>
                <c:pt idx="46">
                  <c:v>0.5348415971</c:v>
                </c:pt>
                <c:pt idx="47">
                  <c:v>0.5354931355</c:v>
                </c:pt>
                <c:pt idx="48">
                  <c:v>0.5361534357</c:v>
                </c:pt>
                <c:pt idx="49">
                  <c:v>0.5368227959</c:v>
                </c:pt>
                <c:pt idx="50">
                  <c:v>0.537501514</c:v>
                </c:pt>
                <c:pt idx="51">
                  <c:v>0.5381897092</c:v>
                </c:pt>
                <c:pt idx="52">
                  <c:v>0.5388876796</c:v>
                </c:pt>
                <c:pt idx="53">
                  <c:v>0.5395954847</c:v>
                </c:pt>
                <c:pt idx="54">
                  <c:v>0.5403134227</c:v>
                </c:pt>
                <c:pt idx="55">
                  <c:v>0.541041553</c:v>
                </c:pt>
                <c:pt idx="56">
                  <c:v>0.5417800546</c:v>
                </c:pt>
                <c:pt idx="57">
                  <c:v>0.5425291657</c:v>
                </c:pt>
                <c:pt idx="58">
                  <c:v>0.5432890654</c:v>
                </c:pt>
                <c:pt idx="59">
                  <c:v>0.5440599918</c:v>
                </c:pt>
                <c:pt idx="60">
                  <c:v>0.5448422432</c:v>
                </c:pt>
                <c:pt idx="61">
                  <c:v>0.5456361175</c:v>
                </c:pt>
                <c:pt idx="62">
                  <c:v>0.5464420915</c:v>
                </c:pt>
                <c:pt idx="63">
                  <c:v>0.5472604632</c:v>
                </c:pt>
                <c:pt idx="64">
                  <c:v>0.5480917692</c:v>
                </c:pt>
                <c:pt idx="65">
                  <c:v>0.5489364266</c:v>
                </c:pt>
                <c:pt idx="66">
                  <c:v>0.5497949123</c:v>
                </c:pt>
                <c:pt idx="67">
                  <c:v>0.5506677032</c:v>
                </c:pt>
                <c:pt idx="68">
                  <c:v>0.5515551567</c:v>
                </c:pt>
                <c:pt idx="69">
                  <c:v>0.5524577498</c:v>
                </c:pt>
                <c:pt idx="70">
                  <c:v>0.5533758402</c:v>
                </c:pt>
                <c:pt idx="71">
                  <c:v>0.5543096662</c:v>
                </c:pt>
                <c:pt idx="72">
                  <c:v>0.5552595854</c:v>
                </c:pt>
                <c:pt idx="73">
                  <c:v>0.5562258959</c:v>
                </c:pt>
                <c:pt idx="74">
                  <c:v>0.5572090149</c:v>
                </c:pt>
                <c:pt idx="75">
                  <c:v>0.5582093</c:v>
                </c:pt>
                <c:pt idx="76">
                  <c:v>0.5592271686</c:v>
                </c:pt>
                <c:pt idx="77">
                  <c:v>0.5602629185</c:v>
                </c:pt>
                <c:pt idx="78">
                  <c:v>0.5613167882</c:v>
                </c:pt>
                <c:pt idx="79">
                  <c:v>0.5623888969</c:v>
                </c:pt>
                <c:pt idx="80">
                  <c:v>0.5634793639</c:v>
                </c:pt>
                <c:pt idx="81">
                  <c:v>0.5645883679</c:v>
                </c:pt>
                <c:pt idx="82">
                  <c:v>0.5657159686</c:v>
                </c:pt>
                <c:pt idx="83">
                  <c:v>0.5668623447</c:v>
                </c:pt>
                <c:pt idx="84">
                  <c:v>0.5680274963</c:v>
                </c:pt>
                <c:pt idx="85">
                  <c:v>0.5692116022</c:v>
                </c:pt>
                <c:pt idx="86">
                  <c:v>0.5704144835</c:v>
                </c:pt>
                <c:pt idx="87">
                  <c:v>0.5716360807</c:v>
                </c:pt>
                <c:pt idx="88">
                  <c:v>0.5728763342</c:v>
                </c:pt>
                <c:pt idx="89">
                  <c:v>0.5741350651</c:v>
                </c:pt>
                <c:pt idx="90">
                  <c:v>0.575412035</c:v>
                </c:pt>
                <c:pt idx="91">
                  <c:v>0.5767071247</c:v>
                </c:pt>
                <c:pt idx="92">
                  <c:v>0.5780200958</c:v>
                </c:pt>
                <c:pt idx="93">
                  <c:v>0.5793507099</c:v>
                </c:pt>
                <c:pt idx="94">
                  <c:v>0.5806985497</c:v>
                </c:pt>
                <c:pt idx="95">
                  <c:v>0.5820629597</c:v>
                </c:pt>
                <c:pt idx="96">
                  <c:v>0.5834431052</c:v>
                </c:pt>
                <c:pt idx="97">
                  <c:v>0.5848382711</c:v>
                </c:pt>
                <c:pt idx="98">
                  <c:v>0.586247623</c:v>
                </c:pt>
                <c:pt idx="99">
                  <c:v>0.5876702666</c:v>
                </c:pt>
                <c:pt idx="100">
                  <c:v>0.5891053677</c:v>
                </c:pt>
                <c:pt idx="101">
                  <c:v>0.5905519724</c:v>
                </c:pt>
                <c:pt idx="102">
                  <c:v>0.5920092463</c:v>
                </c:pt>
                <c:pt idx="103">
                  <c:v>0.5934762359</c:v>
                </c:pt>
                <c:pt idx="104">
                  <c:v>0.5949520469</c:v>
                </c:pt>
                <c:pt idx="105">
                  <c:v>0.5964356065</c:v>
                </c:pt>
                <c:pt idx="106">
                  <c:v>0.5979260802</c:v>
                </c:pt>
                <c:pt idx="107">
                  <c:v>0.5994223356</c:v>
                </c:pt>
                <c:pt idx="108">
                  <c:v>0.6009232998</c:v>
                </c:pt>
                <c:pt idx="109">
                  <c:v>0.6024279594</c:v>
                </c:pt>
                <c:pt idx="110">
                  <c:v>0.6039352417</c:v>
                </c:pt>
                <c:pt idx="111">
                  <c:v>0.6054441333</c:v>
                </c:pt>
                <c:pt idx="112">
                  <c:v>0.6069535017</c:v>
                </c:pt>
                <c:pt idx="113">
                  <c:v>0.6084622741</c:v>
                </c:pt>
                <c:pt idx="114">
                  <c:v>0.6099693775</c:v>
                </c:pt>
                <c:pt idx="115">
                  <c:v>0.6114737391</c:v>
                </c:pt>
                <c:pt idx="116">
                  <c:v>0.6129742265</c:v>
                </c:pt>
                <c:pt idx="117">
                  <c:v>0.6144699454</c:v>
                </c:pt>
                <c:pt idx="118">
                  <c:v>0.6159597039</c:v>
                </c:pt>
                <c:pt idx="119">
                  <c:v>0.6174426675</c:v>
                </c:pt>
                <c:pt idx="120">
                  <c:v>0.6189178824</c:v>
                </c:pt>
                <c:pt idx="121">
                  <c:v>0.6203845739</c:v>
                </c:pt>
                <c:pt idx="122">
                  <c:v>0.6218417883</c:v>
                </c:pt>
                <c:pt idx="123">
                  <c:v>0.6232888699</c:v>
                </c:pt>
                <c:pt idx="124">
                  <c:v>0.6247249246</c:v>
                </c:pt>
                <c:pt idx="125">
                  <c:v>0.6261492968</c:v>
                </c:pt>
                <c:pt idx="126">
                  <c:v>0.627561152</c:v>
                </c:pt>
                <c:pt idx="127">
                  <c:v>0.6289598346</c:v>
                </c:pt>
                <c:pt idx="128">
                  <c:v>0.6303446293</c:v>
                </c:pt>
                <c:pt idx="129">
                  <c:v>0.6317147613</c:v>
                </c:pt>
                <c:pt idx="130">
                  <c:v>0.633069694</c:v>
                </c:pt>
                <c:pt idx="131">
                  <c:v>0.6344088316</c:v>
                </c:pt>
                <c:pt idx="132">
                  <c:v>0.6357316971</c:v>
                </c:pt>
                <c:pt idx="133">
                  <c:v>0.6370379925</c:v>
                </c:pt>
                <c:pt idx="134">
                  <c:v>0.6383273005</c:v>
                </c:pt>
                <c:pt idx="135">
                  <c:v>0.6395992041</c:v>
                </c:pt>
                <c:pt idx="136">
                  <c:v>0.6408533454</c:v>
                </c:pt>
                <c:pt idx="137">
                  <c:v>0.6420894861</c:v>
                </c:pt>
                <c:pt idx="138">
                  <c:v>0.643307209</c:v>
                </c:pt>
                <c:pt idx="139">
                  <c:v>0.6445061564</c:v>
                </c:pt>
                <c:pt idx="140">
                  <c:v>0.6456859708</c:v>
                </c:pt>
                <c:pt idx="141">
                  <c:v>0.6468461752</c:v>
                </c:pt>
                <c:pt idx="142">
                  <c:v>0.647986412</c:v>
                </c:pt>
                <c:pt idx="143">
                  <c:v>0.6491062045</c:v>
                </c:pt>
                <c:pt idx="144">
                  <c:v>0.650205195</c:v>
                </c:pt>
                <c:pt idx="145">
                  <c:v>0.6512832046</c:v>
                </c:pt>
                <c:pt idx="146">
                  <c:v>0.6523404121</c:v>
                </c:pt>
                <c:pt idx="147">
                  <c:v>0.6533772945</c:v>
                </c:pt>
                <c:pt idx="148">
                  <c:v>0.6543944478</c:v>
                </c:pt>
                <c:pt idx="149">
                  <c:v>0.6553925276</c:v>
                </c:pt>
                <c:pt idx="150">
                  <c:v>0.6563722491</c:v>
                </c:pt>
                <c:pt idx="151">
                  <c:v>0.6573343277</c:v>
                </c:pt>
                <c:pt idx="152">
                  <c:v>0.6582796574</c:v>
                </c:pt>
                <c:pt idx="153">
                  <c:v>0.6592091918</c:v>
                </c:pt>
                <c:pt idx="154">
                  <c:v>0.6601238251</c:v>
                </c:pt>
                <c:pt idx="155">
                  <c:v>0.6610245705</c:v>
                </c:pt>
                <c:pt idx="156">
                  <c:v>0.6619124413</c:v>
                </c:pt>
                <c:pt idx="157">
                  <c:v>0.6627883911</c:v>
                </c:pt>
                <c:pt idx="158">
                  <c:v>0.6636535525</c:v>
                </c:pt>
                <c:pt idx="159">
                  <c:v>0.6645089388</c:v>
                </c:pt>
                <c:pt idx="160">
                  <c:v>0.6653556824</c:v>
                </c:pt>
                <c:pt idx="161">
                  <c:v>0.6661947966</c:v>
                </c:pt>
                <c:pt idx="162">
                  <c:v>0.6670272946</c:v>
                </c:pt>
                <c:pt idx="163">
                  <c:v>0.6678541303</c:v>
                </c:pt>
                <c:pt idx="164">
                  <c:v>0.6686764956</c:v>
                </c:pt>
                <c:pt idx="165">
                  <c:v>0.6694951653</c:v>
                </c:pt>
                <c:pt idx="166">
                  <c:v>0.6703112125</c:v>
                </c:pt>
                <c:pt idx="167">
                  <c:v>0.6711255312</c:v>
                </c:pt>
                <c:pt idx="168">
                  <c:v>0.6719391942</c:v>
                </c:pt>
                <c:pt idx="169">
                  <c:v>0.6727530956</c:v>
                </c:pt>
                <c:pt idx="170">
                  <c:v>0.673568368</c:v>
                </c:pt>
                <c:pt idx="171">
                  <c:v>0.6743858457</c:v>
                </c:pt>
                <c:pt idx="172">
                  <c:v>0.6752063036</c:v>
                </c:pt>
                <c:pt idx="173">
                  <c:v>0.6760299206</c:v>
                </c:pt>
                <c:pt idx="174">
                  <c:v>0.6768569946</c:v>
                </c:pt>
                <c:pt idx="175">
                  <c:v>0.677687645</c:v>
                </c:pt>
                <c:pt idx="176">
                  <c:v>0.6785220504</c:v>
                </c:pt>
                <c:pt idx="177">
                  <c:v>0.6793603897</c:v>
                </c:pt>
                <c:pt idx="178">
                  <c:v>0.680202961</c:v>
                </c:pt>
                <c:pt idx="179">
                  <c:v>0.6810498238</c:v>
                </c:pt>
                <c:pt idx="180">
                  <c:v>0.6819009781</c:v>
                </c:pt>
                <c:pt idx="181">
                  <c:v>0.682756424</c:v>
                </c:pt>
                <c:pt idx="182">
                  <c:v>0.6836161613</c:v>
                </c:pt>
                <c:pt idx="183">
                  <c:v>0.6844800115</c:v>
                </c:pt>
                <c:pt idx="184">
                  <c:v>0.6853477359</c:v>
                </c:pt>
                <c:pt idx="185">
                  <c:v>0.686218977</c:v>
                </c:pt>
                <c:pt idx="186">
                  <c:v>0.6870934367</c:v>
                </c:pt>
                <c:pt idx="187">
                  <c:v>0.6879706979</c:v>
                </c:pt>
                <c:pt idx="188">
                  <c:v>0.6888501644</c:v>
                </c:pt>
                <c:pt idx="189">
                  <c:v>0.6897313595</c:v>
                </c:pt>
                <c:pt idx="190">
                  <c:v>0.6906136274</c:v>
                </c:pt>
                <c:pt idx="191">
                  <c:v>0.6914964318</c:v>
                </c:pt>
                <c:pt idx="192">
                  <c:v>0.6923791766</c:v>
                </c:pt>
                <c:pt idx="193">
                  <c:v>0.6932612062</c:v>
                </c:pt>
                <c:pt idx="194">
                  <c:v>0.694141686</c:v>
                </c:pt>
                <c:pt idx="195">
                  <c:v>0.69502002</c:v>
                </c:pt>
                <c:pt idx="196">
                  <c:v>0.6958954334</c:v>
                </c:pt>
                <c:pt idx="197">
                  <c:v>0.6967671514</c:v>
                </c:pt>
                <c:pt idx="198">
                  <c:v>0.6976345181</c:v>
                </c:pt>
                <c:pt idx="199">
                  <c:v>0.6984969378</c:v>
                </c:pt>
                <c:pt idx="200">
                  <c:v>0.6993542314</c:v>
                </c:pt>
                <c:pt idx="201">
                  <c:v>0.7002063394</c:v>
                </c:pt>
                <c:pt idx="202">
                  <c:v>0.7010532022</c:v>
                </c:pt>
                <c:pt idx="203">
                  <c:v>0.7018947005</c:v>
                </c:pt>
                <c:pt idx="204">
                  <c:v>0.7027306557</c:v>
                </c:pt>
                <c:pt idx="205">
                  <c:v>0.7035608888</c:v>
                </c:pt>
                <c:pt idx="206">
                  <c:v>0.7043853402</c:v>
                </c:pt>
                <c:pt idx="207">
                  <c:v>0.7052043676</c:v>
                </c:pt>
                <c:pt idx="208">
                  <c:v>0.7060180902</c:v>
                </c:pt>
                <c:pt idx="209">
                  <c:v>0.7068269849</c:v>
                </c:pt>
                <c:pt idx="210">
                  <c:v>0.70763129</c:v>
                </c:pt>
                <c:pt idx="211">
                  <c:v>0.7084314823</c:v>
                </c:pt>
                <c:pt idx="212">
                  <c:v>0.7092279792</c:v>
                </c:pt>
                <c:pt idx="213">
                  <c:v>0.7100210786</c:v>
                </c:pt>
                <c:pt idx="214">
                  <c:v>0.710811317</c:v>
                </c:pt>
                <c:pt idx="215">
                  <c:v>0.711599052</c:v>
                </c:pt>
                <c:pt idx="216">
                  <c:v>0.7123847008</c:v>
                </c:pt>
                <c:pt idx="217">
                  <c:v>0.7131686211</c:v>
                </c:pt>
                <c:pt idx="218">
                  <c:v>0.713950932</c:v>
                </c:pt>
                <c:pt idx="219">
                  <c:v>0.7147319913</c:v>
                </c:pt>
                <c:pt idx="220">
                  <c:v>0.7155118585</c:v>
                </c:pt>
                <c:pt idx="221">
                  <c:v>0.716290772</c:v>
                </c:pt>
                <c:pt idx="222">
                  <c:v>0.7170687318</c:v>
                </c:pt>
                <c:pt idx="223">
                  <c:v>0.7178459167</c:v>
                </c:pt>
                <c:pt idx="224">
                  <c:v>0.7186222672</c:v>
                </c:pt>
                <c:pt idx="225">
                  <c:v>0.7193979025</c:v>
                </c:pt>
                <c:pt idx="226">
                  <c:v>0.7201727033</c:v>
                </c:pt>
                <c:pt idx="227">
                  <c:v>0.72094661</c:v>
                </c:pt>
                <c:pt idx="228">
                  <c:v>0.721719563</c:v>
                </c:pt>
                <c:pt idx="229">
                  <c:v>0.7224915028</c:v>
                </c:pt>
                <c:pt idx="230">
                  <c:v>0.7232624292</c:v>
                </c:pt>
                <c:pt idx="231">
                  <c:v>0.7240322828</c:v>
                </c:pt>
                <c:pt idx="232">
                  <c:v>0.7248010039</c:v>
                </c:pt>
                <c:pt idx="233">
                  <c:v>0.7255687118</c:v>
                </c:pt>
                <c:pt idx="234">
                  <c:v>0.7263351083</c:v>
                </c:pt>
                <c:pt idx="235">
                  <c:v>0.7271001339</c:v>
                </c:pt>
                <c:pt idx="236">
                  <c:v>0.7278635502</c:v>
                </c:pt>
                <c:pt idx="237">
                  <c:v>0.7286251187</c:v>
                </c:pt>
                <c:pt idx="238">
                  <c:v>0.7293845415</c:v>
                </c:pt>
                <c:pt idx="239">
                  <c:v>0.7301414609</c:v>
                </c:pt>
                <c:pt idx="240">
                  <c:v>0.7308955789</c:v>
                </c:pt>
                <c:pt idx="241">
                  <c:v>0.7316464186</c:v>
                </c:pt>
                <c:pt idx="242">
                  <c:v>0.7323935032</c:v>
                </c:pt>
                <c:pt idx="243">
                  <c:v>0.7331364155</c:v>
                </c:pt>
                <c:pt idx="244">
                  <c:v>0.7338747978</c:v>
                </c:pt>
                <c:pt idx="245">
                  <c:v>0.7346083522</c:v>
                </c:pt>
                <c:pt idx="246">
                  <c:v>0.7353368402</c:v>
                </c:pt>
                <c:pt idx="247">
                  <c:v>0.7360601425</c:v>
                </c:pt>
                <c:pt idx="248">
                  <c:v>0.7367780209</c:v>
                </c:pt>
                <c:pt idx="249">
                  <c:v>0.737490356</c:v>
                </c:pt>
                <c:pt idx="250">
                  <c:v>0.7381970286</c:v>
                </c:pt>
                <c:pt idx="251">
                  <c:v>0.7388978004</c:v>
                </c:pt>
                <c:pt idx="252">
                  <c:v>0.7395925522</c:v>
                </c:pt>
                <c:pt idx="253">
                  <c:v>0.7402809858</c:v>
                </c:pt>
                <c:pt idx="254">
                  <c:v>0.7409627438</c:v>
                </c:pt>
                <c:pt idx="255">
                  <c:v>0.7416375279</c:v>
                </c:pt>
                <c:pt idx="256">
                  <c:v>0.7423050404</c:v>
                </c:pt>
                <c:pt idx="257">
                  <c:v>0.7429649234</c:v>
                </c:pt>
                <c:pt idx="258">
                  <c:v>0.7436168194</c:v>
                </c:pt>
                <c:pt idx="259">
                  <c:v>0.7442602515</c:v>
                </c:pt>
                <c:pt idx="260">
                  <c:v>0.7448949218</c:v>
                </c:pt>
                <c:pt idx="261">
                  <c:v>0.7455203533</c:v>
                </c:pt>
                <c:pt idx="262">
                  <c:v>0.7461362481</c:v>
                </c:pt>
                <c:pt idx="263">
                  <c:v>0.7467421889</c:v>
                </c:pt>
                <c:pt idx="264">
                  <c:v>0.7473378778</c:v>
                </c:pt>
                <c:pt idx="265">
                  <c:v>0.7479230762</c:v>
                </c:pt>
                <c:pt idx="266">
                  <c:v>0.7484974265</c:v>
                </c:pt>
                <c:pt idx="267">
                  <c:v>0.7490608096</c:v>
                </c:pt>
                <c:pt idx="268">
                  <c:v>0.749612987</c:v>
                </c:pt>
                <c:pt idx="269">
                  <c:v>0.7501539588</c:v>
                </c:pt>
                <c:pt idx="270">
                  <c:v>0.7506834865</c:v>
                </c:pt>
                <c:pt idx="271">
                  <c:v>0.7512015104</c:v>
                </c:pt>
                <c:pt idx="272">
                  <c:v>0.7517077923</c:v>
                </c:pt>
                <c:pt idx="273">
                  <c:v>0.7522022128</c:v>
                </c:pt>
                <c:pt idx="274">
                  <c:v>0.7526847124</c:v>
                </c:pt>
                <c:pt idx="275">
                  <c:v>0.7531551719</c:v>
                </c:pt>
                <c:pt idx="276">
                  <c:v>0.7536135912</c:v>
                </c:pt>
                <c:pt idx="277">
                  <c:v>0.7540599108</c:v>
                </c:pt>
                <c:pt idx="278">
                  <c:v>0.7544941902</c:v>
                </c:pt>
                <c:pt idx="279">
                  <c:v>0.7549163103</c:v>
                </c:pt>
                <c:pt idx="280">
                  <c:v>0.7553262711</c:v>
                </c:pt>
                <c:pt idx="281">
                  <c:v>0.7557241917</c:v>
                </c:pt>
                <c:pt idx="282">
                  <c:v>0.7561098933</c:v>
                </c:pt>
                <c:pt idx="283">
                  <c:v>0.7564835548</c:v>
                </c:pt>
                <c:pt idx="284">
                  <c:v>0.7568451166</c:v>
                </c:pt>
                <c:pt idx="285">
                  <c:v>0.7571947575</c:v>
                </c:pt>
                <c:pt idx="286">
                  <c:v>0.7575326562</c:v>
                </c:pt>
                <c:pt idx="287">
                  <c:v>0.757858932</c:v>
                </c:pt>
                <c:pt idx="288">
                  <c:v>0.7581738234</c:v>
                </c:pt>
                <c:pt idx="289">
                  <c:v>0.758477509</c:v>
                </c:pt>
                <c:pt idx="290">
                  <c:v>0.758770287</c:v>
                </c:pt>
                <c:pt idx="291">
                  <c:v>0.7590523958</c:v>
                </c:pt>
                <c:pt idx="292">
                  <c:v>0.7593241334</c:v>
                </c:pt>
                <c:pt idx="293">
                  <c:v>0.7595857382</c:v>
                </c:pt>
                <c:pt idx="294">
                  <c:v>0.7598374486</c:v>
                </c:pt>
                <c:pt idx="295">
                  <c:v>0.7600795031</c:v>
                </c:pt>
                <c:pt idx="296">
                  <c:v>0.7603121996</c:v>
                </c:pt>
                <c:pt idx="297">
                  <c:v>0.7605355978</c:v>
                </c:pt>
                <c:pt idx="298">
                  <c:v>0.7607500553</c:v>
                </c:pt>
                <c:pt idx="299">
                  <c:v>0.7609556317</c:v>
                </c:pt>
                <c:pt idx="300">
                  <c:v>0.7611526847</c:v>
                </c:pt>
                <c:pt idx="301">
                  <c:v>0.7613414526</c:v>
                </c:pt>
                <c:pt idx="302">
                  <c:v>0.7615221143</c:v>
                </c:pt>
                <c:pt idx="303">
                  <c:v>0.7616950274</c:v>
                </c:pt>
                <c:pt idx="304">
                  <c:v>0.7618603706</c:v>
                </c:pt>
                <c:pt idx="305">
                  <c:v>0.7620185018</c:v>
                </c:pt>
                <c:pt idx="306">
                  <c:v>0.7621695399</c:v>
                </c:pt>
                <c:pt idx="307">
                  <c:v>0.7623137832</c:v>
                </c:pt>
                <c:pt idx="308">
                  <c:v>0.7624514699</c:v>
                </c:pt>
                <c:pt idx="309">
                  <c:v>0.7625828385</c:v>
                </c:pt>
                <c:pt idx="310">
                  <c:v>0.7627080679</c:v>
                </c:pt>
                <c:pt idx="311">
                  <c:v>0.7628273964</c:v>
                </c:pt>
                <c:pt idx="312">
                  <c:v>0.7629409432</c:v>
                </c:pt>
                <c:pt idx="313">
                  <c:v>0.7630488873</c:v>
                </c:pt>
                <c:pt idx="314">
                  <c:v>0.7631512284</c:v>
                </c:pt>
                <c:pt idx="315">
                  <c:v>0.763248086</c:v>
                </c:pt>
                <c:pt idx="316">
                  <c:v>0.7633395791</c:v>
                </c:pt>
                <c:pt idx="317">
                  <c:v>0.7634257078</c:v>
                </c:pt>
                <c:pt idx="318">
                  <c:v>0.7635064721</c:v>
                </c:pt>
                <c:pt idx="319">
                  <c:v>0.7635819912</c:v>
                </c:pt>
                <c:pt idx="320">
                  <c:v>0.7636521459</c:v>
                </c:pt>
                <c:pt idx="321">
                  <c:v>0.7637169957</c:v>
                </c:pt>
                <c:pt idx="322">
                  <c:v>0.7637765408</c:v>
                </c:pt>
                <c:pt idx="323">
                  <c:v>0.7638308406</c:v>
                </c:pt>
                <c:pt idx="324">
                  <c:v>0.7638798356</c:v>
                </c:pt>
                <c:pt idx="325">
                  <c:v>0.7639235258</c:v>
                </c:pt>
                <c:pt idx="326">
                  <c:v>0.7639619112</c:v>
                </c:pt>
                <c:pt idx="327">
                  <c:v>0.763994813</c:v>
                </c:pt>
                <c:pt idx="328">
                  <c:v>0.7640222311</c:v>
                </c:pt>
                <c:pt idx="329">
                  <c:v>0.7640440464</c:v>
                </c:pt>
                <c:pt idx="330">
                  <c:v>0.7640601993</c:v>
                </c:pt>
                <c:pt idx="331">
                  <c:v>0.7640707493</c:v>
                </c:pt>
                <c:pt idx="332">
                  <c:v>0.7640758157</c:v>
                </c:pt>
                <c:pt idx="333">
                  <c:v>0.7640758753</c:v>
                </c:pt>
                <c:pt idx="334">
                  <c:v>0.7640712261</c:v>
                </c:pt>
                <c:pt idx="335">
                  <c:v>0.7640621662</c:v>
                </c:pt>
              </c:numCache>
            </c:numRef>
          </c:yVal>
        </c:ser>
        <c:dLbls>
          <c:txPr>
            <a:bodyPr anchorCtr="1"/>
            <a:lstStyle/>
            <a:p>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w="9525">
              <a:solidFill>
                <a:srgbClr val="E4E8EB"/>
              </a:solidFill>
              <a:prstDash val="solid"/>
            </a:ln>
          </c:spPr>
        </c:majorGridlines>
        <c:title>
          <c:tx>
            <c:rich>
              <a:bodyPr/>
              <a:lstStyle/>
              <a:p>
                <a:r>
                  <a:rPr sz="1575">
                    <a:latin typeface="Helvetica Neue"/>
                    <a:ea typeface="Helvetica Neue"/>
                    <a:cs typeface="Helvetica Neue"/>
                  </a:rPr>
                  <a:t>Componentes (mm/h)</a:t>
                </a:r>
              </a:p>
            </c:rich>
          </c:tx>
          <c:overlay val="0"/>
          <c:txPr>
            <a:bodyPr anchorCtr="1"/>
            <a:lstStyle/>
            <a:p>
              <a:pPr>
                <a:defRPr sz="1575">
                  <a:latin typeface="Helvetica Neue"/>
                  <a:ea typeface="Helvetica Neue"/>
                  <a:cs typeface="Helvetica Neue"/>
                </a:defRPr>
              </a:pPr>
            </a:p>
          </c:txPr>
        </c:title>
        <c:numFmt formatCode="0.0"/>
        <c:majorTickMark val="none"/>
        <c:minorTickMark val="none"/>
        <c:spPr>
          <a:ln w="9525">
            <a:solidFill>
              <a:srgbClr val="D4D4D4"/>
            </a:solidFill>
            <a:prstDash val="solid"/>
          </a:ln>
        </c:spPr>
        <c:txPr>
          <a:bodyPr anchorCtr="1"/>
          <a:lstStyle/>
          <a:p>
            <a:pPr>
              <a:defRPr sz="1425">
                <a:solidFill>
                  <a:srgbClr val="5D6267"/>
                </a:solidFill>
                <a:latin typeface="Helvetica Neue"/>
                <a:ea typeface="Helvetica Neue"/>
                <a:cs typeface="Helvetica Neue"/>
              </a:defRPr>
            </a:pPr>
          </a:p>
        </c:txPr>
        <c:crossAx val="48650112"/>
      </c:valAx>
      <c:valAx>
        <c:axId val="48650112"/>
        <c:scaling>
          <c:orientation val="minMax"/>
          <c:max val="0"/>
          <c:min val="-335"/>
        </c:scaling>
        <c:delete val="0"/>
        <c:axPos val="b"/>
        <c:title>
          <c:tx>
            <c:rich>
              <a:bodyPr/>
              <a:lstStyle/>
              <a:p>
                <a:r>
                  <a:rPr sz="1575">
                    <a:latin typeface="Helvetica Neue"/>
                    <a:ea typeface="Helvetica Neue"/>
                    <a:cs typeface="Helvetica Neue"/>
                  </a:rPr>
                  <a:t>Horas respecto al final de la historia</a:t>
                </a:r>
              </a:p>
            </c:rich>
          </c:tx>
          <c:overlay val="0"/>
          <c:txPr>
            <a:bodyPr anchorCtr="1"/>
            <a:lstStyle/>
            <a:p>
              <a:pPr>
                <a:defRPr sz="1575">
                  <a:latin typeface="Helvetica Neue"/>
                  <a:ea typeface="Helvetica Neue"/>
                  <a:cs typeface="Helvetica Neue"/>
                </a:defRPr>
              </a:pPr>
            </a:p>
          </c:txPr>
        </c:title>
        <c:numFmt formatCode="0"/>
        <c:majorTickMark val="none"/>
        <c:minorTickMark val="none"/>
        <c:spPr>
          <a:ln w="9525">
            <a:solidFill>
              <a:srgbClr val="D4D4D4"/>
            </a:solidFill>
            <a:prstDash val="solid"/>
          </a:ln>
        </c:spPr>
        <c:txPr>
          <a:bodyPr anchorCtr="1"/>
          <a:lstStyle/>
          <a:p>
            <a:pPr>
              <a:defRPr sz="1425">
                <a:solidFill>
                  <a:srgbClr val="5D6267"/>
                </a:solidFill>
                <a:latin typeface="Helvetica Neue"/>
                <a:ea typeface="Helvetica Neue"/>
                <a:cs typeface="Helvetica Neue"/>
              </a:defRPr>
            </a:pPr>
          </a:p>
        </c:txPr>
        <c:crossAx val="48672768"/>
        <c:majorUnit val="48"/>
      </c:valAx>
      <c:spPr>
        <a:solidFill>
          <a:srgbClr val="FFFFFF"/>
        </a:solidFill>
        <a:ln w="0">
          <a:noFill/>
        </a:ln>
      </c:spPr>
    </c:plotArea>
    <c:legend>
      <c:legendPos val="b"/>
      <c:overlay val="0"/>
      <c:txPr>
        <a:bodyPr anchorCtr="1"/>
        <a:lstStyle/>
        <a:p>
          <a:pPr>
            <a:defRPr sz="1650">
              <a:solidFill>
                <a:srgbClr val="242C33"/>
              </a:solidFill>
              <a:latin typeface="Helvetica Neue"/>
              <a:ea typeface="Helvetica Neue"/>
              <a:cs typeface="Helvetica Neue"/>
            </a:defRPr>
          </a:pPr>
        </a:p>
      </c:txPr>
    </c:legend>
    <c:plotVisOnly val="1"/>
  </c:chart>
  <c:spPr>
    <a:solidFill>
      <a:srgbClr val="FFFFFF"/>
    </a:solidFill>
    <a:l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MSE normalizado</c:v>
          </c:tx>
          <c:spPr>
            <a:ln xmlns:a="http://schemas.openxmlformats.org/drawingml/2006/main" w="26670">
              <a:solidFill>
                <a:srgbClr val="697681"/>
              </a:solidFill>
              <a:prstDash val="solid"/>
            </a:ln>
          </c:spPr>
          <c:marker>
            <c:symbol val="none"/>
          </c:marker>
          <c:xVal>
            <c:numRef>
              <c:f>'Chart Data'!$A$2:$A$21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xVal>
          <c:yVal>
            <c:numRef>
              <c:f>'Chart Data'!$B$2:$B$21</c:f>
              <c:numCache>
                <c:formatCode>0.00</c:formatCode>
                <c:ptCount val="20"/>
                <c:pt idx="0">
                  <c:v>0.4543403115</c:v>
                </c:pt>
                <c:pt idx="1">
                  <c:v>0.4086203716</c:v>
                </c:pt>
                <c:pt idx="2">
                  <c:v>0.3977067604</c:v>
                </c:pt>
                <c:pt idx="3">
                  <c:v>0.3904987351</c:v>
                </c:pt>
                <c:pt idx="4">
                  <c:v>0.3859228356</c:v>
                </c:pt>
                <c:pt idx="5">
                  <c:v>0.3803223738</c:v>
                </c:pt>
                <c:pt idx="6">
                  <c:v>0.3777067817</c:v>
                </c:pt>
                <c:pt idx="7">
                  <c:v>0.372412981</c:v>
                </c:pt>
                <c:pt idx="8">
                  <c:v>0.3701943089</c:v>
                </c:pt>
                <c:pt idx="9">
                  <c:v>0.3651318729</c:v>
                </c:pt>
                <c:pt idx="10">
                  <c:v>0.3609924156</c:v>
                </c:pt>
                <c:pt idx="11">
                  <c:v>0.3578091695</c:v>
                </c:pt>
                <c:pt idx="12">
                  <c:v>0.3545382808</c:v>
                </c:pt>
                <c:pt idx="13">
                  <c:v>0.3485748396</c:v>
                </c:pt>
                <c:pt idx="14">
                  <c:v>0.3444824215</c:v>
                </c:pt>
                <c:pt idx="15">
                  <c:v>0.3401333168</c:v>
                </c:pt>
                <c:pt idx="16">
                  <c:v>0.3362670536</c:v>
                </c:pt>
                <c:pt idx="17">
                  <c:v>0.3304385486</c:v>
                </c:pt>
                <c:pt idx="18">
                  <c:v>0.3251891718</c:v>
                </c:pt>
                <c:pt idx="19">
                  <c:v>0.3215722725</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0.46"/>
          <c:min val="0.3"/>
        </c:scaling>
        <c:delete val="0"/>
        <c:axPos val="l"/>
        <c:majorGridlines>
          <c:spPr>
            <a:ln xmlns:a="http://schemas.openxmlformats.org/drawingml/2006/main" w="9525">
              <a:solidFill>
                <a:srgbClr val="DEE4E8"/>
              </a:solidFill>
              <a:prstDash val="solid"/>
            </a:ln>
          </c:spPr>
        </c:majorGridlines>
        <c:title>
          <c:tx>
            <c:rich>
              <a:bodyPr xmlns:a="http://schemas.openxmlformats.org/drawingml/2006/main"/>
              <a:lstStyle xmlns:a="http://schemas.openxmlformats.org/drawingml/2006/main"/>
              <a:p xmlns:a="http://schemas.openxmlformats.org/drawingml/2006/main">
                <a:r>
                  <a:rPr sz="1500">
                    <a:latin typeface="Helvetica Neue"/>
                    <a:ea typeface="Helvetica Neue"/>
                    <a:cs typeface="Helvetica Neue"/>
                  </a:rPr>
                  <a:t>MSE normalizado</a:t>
                </a:r>
              </a:p>
            </c:rich>
          </c:tx>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D6267"/>
                </a:solidFill>
                <a:latin typeface="Helvetica Neue"/>
                <a:ea typeface="Helvetica Neue"/>
                <a:cs typeface="Helvetica Neue"/>
              </a:defRPr>
            </a:pPr>
          </a:p>
        </c:txPr>
        <c:crossAx val="48650112"/>
        <c:majorUnit val="0.04"/>
      </c:valAx>
      <c:valAx>
        <c:axId val="48650112"/>
        <c:scaling>
          <c:orientation val="minMax"/>
          <c:max val="20"/>
          <c:min val="0"/>
        </c:scaling>
        <c:delete val="0"/>
        <c:axPos val="b"/>
        <c:title>
          <c:tx>
            <c:rich>
              <a:bodyPr xmlns:a="http://schemas.openxmlformats.org/drawingml/2006/main"/>
              <a:lstStyle xmlns:a="http://schemas.openxmlformats.org/drawingml/2006/main"/>
              <a:p xmlns:a="http://schemas.openxmlformats.org/drawingml/2006/main">
                <a:r>
                  <a:rPr sz="1500">
                    <a:latin typeface="Helvetica Neue"/>
                    <a:ea typeface="Helvetica Neue"/>
                    <a:cs typeface="Helvetica Neue"/>
                  </a:rPr>
                  <a:t>Época</a:t>
                </a:r>
              </a:p>
            </c:rich>
          </c:tx>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D6267"/>
                </a:solidFill>
                <a:latin typeface="Helvetica Neue"/>
                <a:ea typeface="Helvetica Neue"/>
                <a:cs typeface="Helvetica Neue"/>
              </a:defRPr>
            </a:pPr>
          </a:p>
        </c:txPr>
        <c:crossAx val="48672768"/>
        <c:majorUnit val="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RMSE (mm/h)</c:v>
          </c:tx>
          <c:spPr>
            <a:ln xmlns:a="http://schemas.openxmlformats.org/drawingml/2006/main" w="26670">
              <a:solidFill>
                <a:srgbClr val="007FA3"/>
              </a:solidFill>
              <a:prstDash val="solid"/>
            </a:ln>
          </c:spPr>
          <c:marker>
            <c:symbol val="none"/>
          </c:marker>
          <c:xVal>
            <c:numRef>
              <c:f>'Chart Data'!$A$2:$A$21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xVal>
          <c:yVal>
            <c:numRef>
              <c:f>'Chart Data'!$B$2:$B$21</c:f>
              <c:numCache>
                <c:formatCode>0.000</c:formatCode>
                <c:ptCount val="20"/>
                <c:pt idx="0">
                  <c:v>0.1077059515</c:v>
                </c:pt>
                <c:pt idx="1">
                  <c:v>0.1064897597</c:v>
                </c:pt>
                <c:pt idx="2">
                  <c:v>0.1044919738</c:v>
                </c:pt>
                <c:pt idx="3">
                  <c:v>0.1038984243</c:v>
                </c:pt>
                <c:pt idx="4">
                  <c:v>0.1031391072</c:v>
                </c:pt>
                <c:pt idx="5">
                  <c:v>0.1031681413</c:v>
                </c:pt>
                <c:pt idx="6">
                  <c:v>0.1026050642</c:v>
                </c:pt>
                <c:pt idx="7">
                  <c:v>0.1023678481</c:v>
                </c:pt>
                <c:pt idx="8">
                  <c:v>0.1029633738</c:v>
                </c:pt>
                <c:pt idx="9">
                  <c:v>0.102283062</c:v>
                </c:pt>
                <c:pt idx="10">
                  <c:v>0.1027317068</c:v>
                </c:pt>
                <c:pt idx="11">
                  <c:v>0.1031232473</c:v>
                </c:pt>
                <c:pt idx="12">
                  <c:v>0.1028641233</c:v>
                </c:pt>
                <c:pt idx="13">
                  <c:v>0.1023421829</c:v>
                </c:pt>
                <c:pt idx="14">
                  <c:v>0.1024326325</c:v>
                </c:pt>
                <c:pt idx="15">
                  <c:v>0.1034709919</c:v>
                </c:pt>
                <c:pt idx="16">
                  <c:v>0.1047892471</c:v>
                </c:pt>
                <c:pt idx="17">
                  <c:v>0.1045882732</c:v>
                </c:pt>
                <c:pt idx="18">
                  <c:v>0.1053612001</c:v>
                </c:pt>
                <c:pt idx="19">
                  <c:v>0.1066446567</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0.109"/>
          <c:min val="0.101"/>
        </c:scaling>
        <c:delete val="0"/>
        <c:axPos val="l"/>
        <c:majorGridlines>
          <c:spPr>
            <a:ln xmlns:a="http://schemas.openxmlformats.org/drawingml/2006/main" w="9525">
              <a:solidFill>
                <a:srgbClr val="DEE4E8"/>
              </a:solidFill>
              <a:prstDash val="solid"/>
            </a:ln>
          </c:spPr>
        </c:majorGridlines>
        <c:title>
          <c:tx>
            <c:rich>
              <a:bodyPr xmlns:a="http://schemas.openxmlformats.org/drawingml/2006/main"/>
              <a:lstStyle xmlns:a="http://schemas.openxmlformats.org/drawingml/2006/main"/>
              <a:p xmlns:a="http://schemas.openxmlformats.org/drawingml/2006/main">
                <a:r>
                  <a:rPr sz="1500">
                    <a:latin typeface="Helvetica Neue"/>
                    <a:ea typeface="Helvetica Neue"/>
                    <a:cs typeface="Helvetica Neue"/>
                  </a:rPr>
                  <a:t>RMSE (mm/h)</a:t>
                </a:r>
              </a:p>
            </c:rich>
          </c:tx>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D6267"/>
                </a:solidFill>
                <a:latin typeface="Helvetica Neue"/>
                <a:ea typeface="Helvetica Neue"/>
                <a:cs typeface="Helvetica Neue"/>
              </a:defRPr>
            </a:pPr>
          </a:p>
        </c:txPr>
        <c:crossAx val="48650112"/>
        <c:majorUnit val="0.002"/>
      </c:valAx>
      <c:valAx>
        <c:axId val="48650112"/>
        <c:scaling>
          <c:orientation val="minMax"/>
          <c:max val="20"/>
          <c:min val="0"/>
        </c:scaling>
        <c:delete val="0"/>
        <c:axPos val="b"/>
        <c:title>
          <c:tx>
            <c:rich>
              <a:bodyPr xmlns:a="http://schemas.openxmlformats.org/drawingml/2006/main"/>
              <a:lstStyle xmlns:a="http://schemas.openxmlformats.org/drawingml/2006/main"/>
              <a:p xmlns:a="http://schemas.openxmlformats.org/drawingml/2006/main">
                <a:r>
                  <a:rPr sz="1500">
                    <a:latin typeface="Helvetica Neue"/>
                    <a:ea typeface="Helvetica Neue"/>
                    <a:cs typeface="Helvetica Neue"/>
                  </a:rPr>
                  <a:t>Época</a:t>
                </a:r>
              </a:p>
            </c:rich>
          </c:tx>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D6267"/>
                </a:solidFill>
                <a:latin typeface="Helvetica Neue"/>
                <a:ea typeface="Helvetica Neue"/>
                <a:cs typeface="Helvetica Neue"/>
              </a:defRPr>
            </a:pPr>
          </a:p>
        </c:txPr>
        <c:crossAx val="48672768"/>
        <c:majorUnit val="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ser>
          <c:idx val="0"/>
          <c:order val="0"/>
          <c:tx>
            <c:v>RMSE (mm/h)</c:v>
          </c:tx>
          <c:spPr>
            <a:ln xmlns:a="http://schemas.openxmlformats.org/drawingml/2006/main" w="26670">
              <a:solidFill>
                <a:srgbClr val="007FA3"/>
              </a:solidFill>
              <a:prstDash val="solid"/>
            </a:ln>
          </c:spPr>
          <c:marker>
            <c:symbol val="none"/>
          </c:marker>
          <c:xVal>
            <c:numRef>
              <c:f>'Chart Data'!$A$2:$A$49</c:f>
              <c:numCache>
                <c:formatCode>General</c:formatCode>
                <c:ptCount val="4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numCache>
            </c:numRef>
          </c:xVal>
          <c:yVal>
            <c:numRef>
              <c:f>'Chart Data'!$B$2:$B$49</c:f>
              <c:numCache>
                <c:formatCode>0.000</c:formatCode>
                <c:ptCount val="48"/>
                <c:pt idx="0">
                  <c:v>0.03270539668</c:v>
                </c:pt>
                <c:pt idx="1">
                  <c:v>0.04480947079</c:v>
                </c:pt>
                <c:pt idx="2">
                  <c:v>0.05296073717</c:v>
                </c:pt>
                <c:pt idx="3">
                  <c:v>0.05941315373</c:v>
                </c:pt>
                <c:pt idx="4">
                  <c:v>0.06197837077</c:v>
                </c:pt>
                <c:pt idx="5">
                  <c:v>0.06333737563</c:v>
                </c:pt>
                <c:pt idx="6">
                  <c:v>0.06386187067</c:v>
                </c:pt>
                <c:pt idx="7">
                  <c:v>0.0637551909</c:v>
                </c:pt>
                <c:pt idx="8">
                  <c:v>0.06333618036</c:v>
                </c:pt>
                <c:pt idx="9">
                  <c:v>0.06560454874</c:v>
                </c:pt>
                <c:pt idx="10">
                  <c:v>0.07054181123</c:v>
                </c:pt>
                <c:pt idx="11">
                  <c:v>0.0746522644</c:v>
                </c:pt>
                <c:pt idx="12">
                  <c:v>0.07802518451</c:v>
                </c:pt>
                <c:pt idx="13">
                  <c:v>0.08025236331</c:v>
                </c:pt>
                <c:pt idx="14">
                  <c:v>0.08302942299</c:v>
                </c:pt>
                <c:pt idx="15">
                  <c:v>0.08538970172</c:v>
                </c:pt>
                <c:pt idx="16">
                  <c:v>0.08817889611</c:v>
                </c:pt>
                <c:pt idx="17">
                  <c:v>0.09116999389</c:v>
                </c:pt>
                <c:pt idx="18">
                  <c:v>0.0961041639</c:v>
                </c:pt>
                <c:pt idx="19">
                  <c:v>0.1124298731</c:v>
                </c:pt>
                <c:pt idx="20">
                  <c:v>0.1322524023</c:v>
                </c:pt>
                <c:pt idx="21">
                  <c:v>0.142800816</c:v>
                </c:pt>
                <c:pt idx="22">
                  <c:v>0.1259789928</c:v>
                </c:pt>
                <c:pt idx="23">
                  <c:v>0.1096931989</c:v>
                </c:pt>
                <c:pt idx="24">
                  <c:v>0.1028126282</c:v>
                </c:pt>
                <c:pt idx="25">
                  <c:v>0.1018049136</c:v>
                </c:pt>
                <c:pt idx="26">
                  <c:v>0.1055082023</c:v>
                </c:pt>
                <c:pt idx="27">
                  <c:v>0.1127080109</c:v>
                </c:pt>
                <c:pt idx="28">
                  <c:v>0.1122350499</c:v>
                </c:pt>
                <c:pt idx="29">
                  <c:v>0.1131979365</c:v>
                </c:pt>
                <c:pt idx="30">
                  <c:v>0.1103754287</c:v>
                </c:pt>
                <c:pt idx="31">
                  <c:v>0.1101759057</c:v>
                </c:pt>
                <c:pt idx="32">
                  <c:v>0.1152520532</c:v>
                </c:pt>
                <c:pt idx="33">
                  <c:v>0.1188196435</c:v>
                </c:pt>
                <c:pt idx="34">
                  <c:v>0.1189083245</c:v>
                </c:pt>
                <c:pt idx="35">
                  <c:v>0.1187857974</c:v>
                </c:pt>
                <c:pt idx="36">
                  <c:v>0.1196778493</c:v>
                </c:pt>
                <c:pt idx="37">
                  <c:v>0.1208216404</c:v>
                </c:pt>
                <c:pt idx="38">
                  <c:v>0.1215579955</c:v>
                </c:pt>
                <c:pt idx="39">
                  <c:v>0.1213643704</c:v>
                </c:pt>
                <c:pt idx="40">
                  <c:v>0.1210762615</c:v>
                </c:pt>
                <c:pt idx="41">
                  <c:v>0.1215738423</c:v>
                </c:pt>
                <c:pt idx="42">
                  <c:v>0.1237463998</c:v>
                </c:pt>
                <c:pt idx="43">
                  <c:v>0.1237248165</c:v>
                </c:pt>
                <c:pt idx="44">
                  <c:v>0.1222581391</c:v>
                </c:pt>
                <c:pt idx="45">
                  <c:v>0.1221808988</c:v>
                </c:pt>
                <c:pt idx="46">
                  <c:v>0.1208372513</c:v>
                </c:pt>
                <c:pt idx="47">
                  <c:v>0.1196457737</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0.16"/>
          <c:min val="0"/>
        </c:scaling>
        <c:delete val="0"/>
        <c:axPos val="l"/>
        <c:majorGridlines>
          <c:spPr>
            <a:ln xmlns:a="http://schemas.openxmlformats.org/drawingml/2006/main" w="9525">
              <a:solidFill>
                <a:srgbClr val="DEE4E8"/>
              </a:solidFill>
              <a:prstDash val="solid"/>
            </a:ln>
          </c:spPr>
        </c:majorGridlines>
        <c:title>
          <c:tx>
            <c:rich>
              <a:bodyPr xmlns:a="http://schemas.openxmlformats.org/drawingml/2006/main"/>
              <a:lstStyle xmlns:a="http://schemas.openxmlformats.org/drawingml/2006/main"/>
              <a:p xmlns:a="http://schemas.openxmlformats.org/drawingml/2006/main">
                <a:r>
                  <a:rPr sz="1500">
                    <a:latin typeface="Helvetica Neue"/>
                    <a:ea typeface="Helvetica Neue"/>
                    <a:cs typeface="Helvetica Neue"/>
                  </a:rPr>
                  <a:t>RMSE (mm/h)</a:t>
                </a:r>
              </a:p>
            </c:rich>
          </c:tx>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D6267"/>
                </a:solidFill>
                <a:latin typeface="Helvetica Neue"/>
                <a:ea typeface="Helvetica Neue"/>
                <a:cs typeface="Helvetica Neue"/>
              </a:defRPr>
            </a:pPr>
          </a:p>
        </c:txPr>
        <c:crossAx val="48650112"/>
        <c:majorUnit val="0.04"/>
      </c:valAx>
      <c:valAx>
        <c:axId val="48650112"/>
        <c:scaling>
          <c:orientation val="minMax"/>
          <c:max val="48"/>
          <c:min val="0"/>
        </c:scaling>
        <c:delete val="0"/>
        <c:axPos val="b"/>
        <c:title>
          <c:tx>
            <c:rich>
              <a:bodyPr xmlns:a="http://schemas.openxmlformats.org/drawingml/2006/main"/>
              <a:lstStyle xmlns:a="http://schemas.openxmlformats.org/drawingml/2006/main"/>
              <a:p xmlns:a="http://schemas.openxmlformats.org/drawingml/2006/main">
                <a:r>
                  <a:rPr sz="1500">
                    <a:latin typeface="Helvetica Neue"/>
                    <a:ea typeface="Helvetica Neue"/>
                    <a:cs typeface="Helvetica Neue"/>
                  </a:rPr>
                  <a:t>Horizonte (horas)</a:t>
                </a:r>
              </a:p>
            </c:rich>
          </c:tx>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D6267"/>
                </a:solidFill>
                <a:latin typeface="Helvetica Neue"/>
                <a:ea typeface="Helvetica Neue"/>
                <a:cs typeface="Helvetica Neue"/>
              </a:defRPr>
            </a:pPr>
          </a:p>
        </c:txPr>
        <c:crossAx val="48672768"/>
        <c:majorUnit val="1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
        <c:ser>
          <c:idx val="0"/>
          <c:order val="0"/>
          <c:tx>
            <c:v>NSE</c:v>
          </c:tx>
          <c:spPr>
            <a:ln xmlns:a="http://schemas.openxmlformats.org/drawingml/2006/main" w="26670">
              <a:solidFill>
                <a:srgbClr val="697681"/>
              </a:solidFill>
              <a:prstDash val="solid"/>
            </a:ln>
          </c:spPr>
          <c:marker>
            <c:symbol val="none"/>
          </c:marker>
          <c:xVal>
            <c:numRef>
              <c:f>'Chart Data'!$A$2:$A$49</c:f>
              <c:numCache>
                <c:formatCode>General</c:formatCode>
                <c:ptCount val="4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numCache>
            </c:numRef>
          </c:xVal>
          <c:yVal>
            <c:numRef>
              <c:f>'Chart Data'!$B$2:$B$49</c:f>
              <c:numCache>
                <c:formatCode>0.00</c:formatCode>
                <c:ptCount val="48"/>
                <c:pt idx="0">
                  <c:v>0.968538625</c:v>
                </c:pt>
                <c:pt idx="1">
                  <c:v>0.9433284422</c:v>
                </c:pt>
                <c:pt idx="2">
                  <c:v>0.9227993892</c:v>
                </c:pt>
                <c:pt idx="3">
                  <c:v>0.9039396465</c:v>
                </c:pt>
                <c:pt idx="4">
                  <c:v>0.8943707466</c:v>
                </c:pt>
                <c:pt idx="5">
                  <c:v>0.8857554587</c:v>
                </c:pt>
                <c:pt idx="6">
                  <c:v>0.8792475288</c:v>
                </c:pt>
                <c:pt idx="7">
                  <c:v>0.8734796717</c:v>
                </c:pt>
                <c:pt idx="8">
                  <c:v>0.8690325351</c:v>
                </c:pt>
                <c:pt idx="9">
                  <c:v>0.854189835</c:v>
                </c:pt>
                <c:pt idx="10">
                  <c:v>0.8302074852</c:v>
                </c:pt>
                <c:pt idx="11">
                  <c:v>0.8079299609</c:v>
                </c:pt>
                <c:pt idx="12">
                  <c:v>0.7865064514</c:v>
                </c:pt>
                <c:pt idx="13">
                  <c:v>0.7693030117</c:v>
                </c:pt>
                <c:pt idx="14">
                  <c:v>0.7493837572</c:v>
                </c:pt>
                <c:pt idx="15">
                  <c:v>0.7327192779</c:v>
                </c:pt>
                <c:pt idx="16">
                  <c:v>0.713576069</c:v>
                </c:pt>
                <c:pt idx="17">
                  <c:v>0.6939672854</c:v>
                </c:pt>
                <c:pt idx="18">
                  <c:v>0.6642096578</c:v>
                </c:pt>
                <c:pt idx="19">
                  <c:v>0.5840720625</c:v>
                </c:pt>
                <c:pt idx="20">
                  <c:v>0.4976277404</c:v>
                </c:pt>
                <c:pt idx="21">
                  <c:v>0.4512656832</c:v>
                </c:pt>
                <c:pt idx="22">
                  <c:v>0.5049610112</c:v>
                </c:pt>
                <c:pt idx="23">
                  <c:v>0.5660353508</c:v>
                </c:pt>
                <c:pt idx="24">
                  <c:v>0.5917460205</c:v>
                </c:pt>
                <c:pt idx="25">
                  <c:v>0.5915350243</c:v>
                </c:pt>
                <c:pt idx="26">
                  <c:v>0.5697704853</c:v>
                </c:pt>
                <c:pt idx="27">
                  <c:v>0.5326840824</c:v>
                </c:pt>
                <c:pt idx="28">
                  <c:v>0.5326853276</c:v>
                </c:pt>
                <c:pt idx="29">
                  <c:v>0.5253298711</c:v>
                </c:pt>
                <c:pt idx="30">
                  <c:v>0.5354723363</c:v>
                </c:pt>
                <c:pt idx="31">
                  <c:v>0.5349902373</c:v>
                </c:pt>
                <c:pt idx="32">
                  <c:v>0.5100366295</c:v>
                </c:pt>
                <c:pt idx="33">
                  <c:v>0.4950969891</c:v>
                </c:pt>
                <c:pt idx="34">
                  <c:v>0.4935111789</c:v>
                </c:pt>
                <c:pt idx="35">
                  <c:v>0.4932607005</c:v>
                </c:pt>
                <c:pt idx="36">
                  <c:v>0.4879980674</c:v>
                </c:pt>
                <c:pt idx="37">
                  <c:v>0.4806798691</c:v>
                </c:pt>
                <c:pt idx="38">
                  <c:v>0.4753761003</c:v>
                </c:pt>
                <c:pt idx="39">
                  <c:v>0.4748497367</c:v>
                </c:pt>
                <c:pt idx="40">
                  <c:v>0.4752202862</c:v>
                </c:pt>
                <c:pt idx="41">
                  <c:v>0.4745381186</c:v>
                </c:pt>
                <c:pt idx="42">
                  <c:v>0.467177215</c:v>
                </c:pt>
                <c:pt idx="43">
                  <c:v>0.4687353689</c:v>
                </c:pt>
                <c:pt idx="44">
                  <c:v>0.4748558437</c:v>
                </c:pt>
                <c:pt idx="45">
                  <c:v>0.4749069953</c:v>
                </c:pt>
                <c:pt idx="46">
                  <c:v>0.4784776083</c:v>
                </c:pt>
                <c:pt idx="47">
                  <c:v>0.4798022995</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EE4E8"/>
              </a:solidFill>
              <a:prstDash val="solid"/>
            </a:ln>
          </c:spPr>
        </c:majorGridlines>
        <c:title>
          <c:tx>
            <c:rich>
              <a:bodyPr xmlns:a="http://schemas.openxmlformats.org/drawingml/2006/main"/>
              <a:lstStyle xmlns:a="http://schemas.openxmlformats.org/drawingml/2006/main"/>
              <a:p xmlns:a="http://schemas.openxmlformats.org/drawingml/2006/main">
                <a:r>
                  <a:rPr sz="1500">
                    <a:latin typeface="Helvetica Neue"/>
                    <a:ea typeface="Helvetica Neue"/>
                    <a:cs typeface="Helvetica Neue"/>
                  </a:rPr>
                  <a:t>NSE</a:t>
                </a:r>
              </a:p>
            </c:rich>
          </c:tx>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D6267"/>
                </a:solidFill>
                <a:latin typeface="Helvetica Neue"/>
                <a:ea typeface="Helvetica Neue"/>
                <a:cs typeface="Helvetica Neue"/>
              </a:defRPr>
            </a:pPr>
          </a:p>
        </c:txPr>
        <c:crossAx val="48650112"/>
        <c:majorUnit val="0.25"/>
      </c:valAx>
      <c:valAx>
        <c:axId val="48650112"/>
        <c:scaling>
          <c:orientation val="minMax"/>
          <c:max val="48"/>
          <c:min val="0"/>
        </c:scaling>
        <c:delete val="0"/>
        <c:axPos val="b"/>
        <c:title>
          <c:tx>
            <c:rich>
              <a:bodyPr xmlns:a="http://schemas.openxmlformats.org/drawingml/2006/main"/>
              <a:lstStyle xmlns:a="http://schemas.openxmlformats.org/drawingml/2006/main"/>
              <a:p xmlns:a="http://schemas.openxmlformats.org/drawingml/2006/main">
                <a:r>
                  <a:rPr sz="1500">
                    <a:latin typeface="Helvetica Neue"/>
                    <a:ea typeface="Helvetica Neue"/>
                    <a:cs typeface="Helvetica Neue"/>
                  </a:rPr>
                  <a:t>Horizonte (horas)</a:t>
                </a:r>
              </a:p>
            </c:rich>
          </c:tx>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D6267"/>
                </a:solidFill>
                <a:latin typeface="Helvetica Neue"/>
                <a:ea typeface="Helvetica Neue"/>
                <a:cs typeface="Helvetica Neue"/>
              </a:defRPr>
            </a:pPr>
          </a:p>
        </c:txPr>
        <c:crossAx val="48672768"/>
        <c:majorUnit val="1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01">
            <a:extLst xmlns:a="http://schemas.openxmlformats.org/drawingml/2006/main">
              <a:ext uri="{FF2B5EF4-FFF2-40B4-BE49-F238E27FC236}">
                <a16:creationId xmlns:a16="http://schemas.microsoft.com/office/drawing/2014/main" id="{5E2D36D9-E22B-4CA9-9D30-BE0797CD3FA9}"/>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01</a:t>
            </a:r>
          </a:p>
        </p:txBody>
      </p:sp>
      <p:sp>
        <p:nvSpPr>
          <p:cNvPr id="2" name="DMEL">
            <a:extLst xmlns:a="http://schemas.openxmlformats.org/drawingml/2006/main">
              <a:ext uri="{FF2B5EF4-FFF2-40B4-BE49-F238E27FC236}">
                <a16:creationId xmlns:a16="http://schemas.microsoft.com/office/drawing/2014/main" id="{C458442D-710E-42F4-A208-EC13ED33BDA8}"/>
              </a:ext>
            </a:extLst>
          </p:cNvPr>
          <p:cNvSpPr>
            <a:spLocks xmlns:a="http://schemas.openxmlformats.org/drawingml/2006/main" noGrp="1"/>
          </p:cNvSpPr>
          <p:nvPr/>
        </p:nvSpPr>
        <p:spPr>
          <a:xfrm xmlns:a="http://schemas.openxmlformats.org/drawingml/2006/main">
            <a:off x="685800" y="20764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8400" b="1">
                <a:solidFill>
                  <a:srgbClr val="FFFFFF"/>
                </a:solidFill>
                <a:latin typeface="Helvetica Neue"/>
                <a:ea typeface="Helvetica Neue"/>
                <a:cs typeface="Helvetica Neue"/>
              </a:defRPr>
            </a:pPr>
            <a:r>
              <a:rPr sz="5400" b="1">
                <a:solidFill>
                  <a:srgbClr val="064B6B"/>
                </a:solidFill>
                <a:latin typeface="Helvetica Neue"/>
                <a:ea typeface="Helvetica Neue"/>
                <a:cs typeface="Helvetica Neue"/>
              </a:rPr>
              <a:t>DMEL</a:t>
            </a:r>
          </a:p>
        </p:txBody>
      </p:sp>
      <p:sp>
        <p:nvSpPr>
          <p:cNvPr id="3" name="Pronóstico de caudal&#10;con dos ramas de aprendizaje">
            <a:extLst xmlns:a="http://schemas.openxmlformats.org/drawingml/2006/main">
              <a:ext uri="{FF2B5EF4-FFF2-40B4-BE49-F238E27FC236}">
                <a16:creationId xmlns:a16="http://schemas.microsoft.com/office/drawing/2014/main" id="{DCD490E8-654B-4E00-9ECD-21C9B005E215}"/>
              </a:ext>
            </a:extLst>
          </p:cNvPr>
          <p:cNvSpPr>
            <a:spLocks xmlns:a="http://schemas.openxmlformats.org/drawingml/2006/main" noGrp="1"/>
          </p:cNvSpPr>
          <p:nvPr/>
        </p:nvSpPr>
        <p:spPr>
          <a:xfrm xmlns:a="http://schemas.openxmlformats.org/drawingml/2006/main">
            <a:off x="685800" y="3086100"/>
            <a:ext cx="10477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900" b="1">
                <a:solidFill>
                  <a:srgbClr val="FFFFFF"/>
                </a:solidFill>
                <a:latin typeface="Helvetica Neue"/>
                <a:ea typeface="Helvetica Neue"/>
                <a:cs typeface="Helvetica Neue"/>
              </a:defRPr>
            </a:pPr>
            <a:r>
              <a:rPr sz="3150" b="1">
                <a:solidFill>
                  <a:srgbClr val="242C33"/>
                </a:solidFill>
                <a:latin typeface="Helvetica Neue"/>
                <a:ea typeface="Helvetica Neue"/>
                <a:cs typeface="Helvetica Neue"/>
              </a:rPr>
              <a:t>Pronóstico de caudal</a:t>
            </a:r>
          </a:p>
          <a:p xmlns:a="http://schemas.openxmlformats.org/drawingml/2006/main">
            <a:pPr algn="l">
              <a:buNone/>
              <a:defRPr sz="3900" b="1">
                <a:solidFill>
                  <a:srgbClr val="FFFFFF"/>
                </a:solidFill>
                <a:latin typeface="Helvetica Neue"/>
                <a:ea typeface="Helvetica Neue"/>
                <a:cs typeface="Helvetica Neue"/>
              </a:defRPr>
            </a:pPr>
            <a:r>
              <a:rPr sz="3150" b="1">
                <a:solidFill>
                  <a:srgbClr val="242C33"/>
                </a:solidFill>
                <a:latin typeface="Helvetica Neue"/>
                <a:ea typeface="Helvetica Neue"/>
                <a:cs typeface="Helvetica Neue"/>
              </a:rPr>
              <a:t>con dos ramas de aprendizaje</a:t>
            </a:r>
          </a:p>
        </p:txBody>
      </p:sp>
      <p:sp>
        <p:nvSpPr>
          <p:cNvPr id="4" name="Aplicación al dataset Rainfall–Runoff">
            <a:extLst xmlns:a="http://schemas.openxmlformats.org/drawingml/2006/main">
              <a:ext uri="{FF2B5EF4-FFF2-40B4-BE49-F238E27FC236}">
                <a16:creationId xmlns:a16="http://schemas.microsoft.com/office/drawing/2014/main" id="{6C3D4B8E-1300-43F2-BBC5-252C66B4DEBD}"/>
              </a:ext>
            </a:extLst>
          </p:cNvPr>
          <p:cNvSpPr>
            <a:spLocks xmlns:a="http://schemas.openxmlformats.org/drawingml/2006/main" noGrp="1"/>
          </p:cNvSpPr>
          <p:nvPr/>
        </p:nvSpPr>
        <p:spPr>
          <a:xfrm xmlns:a="http://schemas.openxmlformats.org/drawingml/2006/main">
            <a:off x="704850" y="45720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400" b="0">
                <a:solidFill>
                  <a:srgbClr val="007FA3"/>
                </a:solidFill>
                <a:latin typeface="Helvetica Neue"/>
                <a:ea typeface="Helvetica Neue"/>
                <a:cs typeface="Helvetica Neue"/>
              </a:defRPr>
            </a:pPr>
            <a:r>
              <a:rPr sz="2175" b="0">
                <a:solidFill>
                  <a:srgbClr val="007FA3"/>
                </a:solidFill>
                <a:latin typeface="Helvetica Neue"/>
                <a:ea typeface="Helvetica Neue"/>
                <a:cs typeface="Helvetica Neue"/>
              </a:rPr>
              <a:t>Aplicación al dataset Rainfall–Runoff</a:t>
            </a:r>
          </a:p>
        </p:txBody>
      </p:sp>
      <p:sp>
        <p:nvSpPr>
          <p:cNvPr id="5" name="Laboratorio 2 · Deep Learning · UTEC">
            <a:extLst xmlns:a="http://schemas.openxmlformats.org/drawingml/2006/main">
              <a:ext uri="{FF2B5EF4-FFF2-40B4-BE49-F238E27FC236}">
                <a16:creationId xmlns:a16="http://schemas.microsoft.com/office/drawing/2014/main" id="{0C73385D-F74E-480F-B09D-F258FBCC7FBA}"/>
              </a:ext>
            </a:extLst>
          </p:cNvPr>
          <p:cNvSpPr>
            <a:spLocks xmlns:a="http://schemas.openxmlformats.org/drawingml/2006/main" noGrp="1"/>
          </p:cNvSpPr>
          <p:nvPr/>
        </p:nvSpPr>
        <p:spPr>
          <a:xfrm xmlns:a="http://schemas.openxmlformats.org/drawingml/2006/main">
            <a:off x="704850" y="544830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5D6267"/>
                </a:solidFill>
                <a:latin typeface="Helvetica Neue"/>
                <a:ea typeface="Helvetica Neue"/>
                <a:cs typeface="Helvetica Neue"/>
              </a:defRPr>
            </a:pPr>
            <a:r>
              <a:rPr sz="1800" b="0">
                <a:solidFill>
                  <a:srgbClr val="5D6267"/>
                </a:solidFill>
                <a:latin typeface="Helvetica Neue"/>
                <a:ea typeface="Helvetica Neue"/>
                <a:cs typeface="Helvetica Neue"/>
              </a:rPr>
              <a:t>Laboratorio 2   Deep Learning   UTEC</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b228435c5c547f7"/>
          <a:stretch xmlns:a="http://schemas.openxmlformats.org/drawingml/2006/main"/>
        </p:blipFill>
        <p:spPr>
          <a:xfrm xmlns:a="http://schemas.openxmlformats.org/drawingml/2006/main">
            <a:off x="685952" y="571500"/>
            <a:ext cx="2323796" cy="858949"/>
          </a:xfrm>
          <a:prstGeom xmlns:a="http://schemas.openxmlformats.org/drawingml/2006/main" prst="rect">
            <a:avLst/>
          </a:prstGeom>
        </p:spPr>
      </p:pic>
    </p:spTree>
    <p:extLst>
      <p:ext uri="{BB962C8B-B14F-4D97-AF65-F5344CB8AC3E}">
        <p14:creationId xmlns:p14="http://schemas.microsoft.com/office/powerpoint/2010/main" val="20809849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El problema que aborda DMEL">
            <a:extLst xmlns:a="http://schemas.openxmlformats.org/drawingml/2006/main">
              <a:ext uri="{FF2B5EF4-FFF2-40B4-BE49-F238E27FC236}">
                <a16:creationId xmlns:a16="http://schemas.microsoft.com/office/drawing/2014/main" id="{6472F103-7650-4EF7-B3F6-367E831DE87B}"/>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El problema que aborda DMEL</a:t>
            </a:r>
          </a:p>
        </p:txBody>
      </p:sp>
      <p:sp>
        <p:nvSpPr>
          <p:cNvPr id="2" name="Wang et al. (2026), secciones 2–3, figura 5 y tabla 6">
            <a:extLst xmlns:a="http://schemas.openxmlformats.org/drawingml/2006/main">
              <a:ext uri="{FF2B5EF4-FFF2-40B4-BE49-F238E27FC236}">
                <a16:creationId xmlns:a16="http://schemas.microsoft.com/office/drawing/2014/main" id="{853D25FC-7A4B-47BA-9E6F-88BCC1DC19F7}"/>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Wang et al. (2026), secciones 2–3, figura 5 y tabla 6</a:t>
            </a:r>
          </a:p>
        </p:txBody>
      </p:sp>
      <p:sp>
        <p:nvSpPr>
          <p:cNvPr id="3" name="02">
            <a:extLst xmlns:a="http://schemas.openxmlformats.org/drawingml/2006/main">
              <a:ext uri="{FF2B5EF4-FFF2-40B4-BE49-F238E27FC236}">
                <a16:creationId xmlns:a16="http://schemas.microsoft.com/office/drawing/2014/main" id="{CE6FE671-9AA4-4C17-987F-E39F18895C9B}"/>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02</a:t>
            </a:r>
          </a:p>
        </p:txBody>
      </p:sp>
      <p:sp>
        <p:nvSpPr>
          <p:cNvPr id="4" name="Patrones de distinta complejidad">
            <a:extLst xmlns:a="http://schemas.openxmlformats.org/drawingml/2006/main">
              <a:ext uri="{FF2B5EF4-FFF2-40B4-BE49-F238E27FC236}">
                <a16:creationId xmlns:a16="http://schemas.microsoft.com/office/drawing/2014/main" id="{B6A52482-D431-4115-8E42-DEF50762F2FE}"/>
              </a:ext>
            </a:extLst>
          </p:cNvPr>
          <p:cNvSpPr>
            <a:spLocks xmlns:a="http://schemas.openxmlformats.org/drawingml/2006/main" noGrp="1"/>
          </p:cNvSpPr>
          <p:nvPr/>
        </p:nvSpPr>
        <p:spPr>
          <a:xfrm xmlns:a="http://schemas.openxmlformats.org/drawingml/2006/main">
            <a:off x="647700" y="1657350"/>
            <a:ext cx="561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Patrones de distinta complejidad</a:t>
            </a:r>
          </a:p>
        </p:txBody>
      </p:sp>
      <p:sp>
        <p:nvSpPr>
          <p:cNvPr id="5" name="Los picos y las variaciones suaves plantean desafíos diferen">
            <a:extLst xmlns:a="http://schemas.openxmlformats.org/drawingml/2006/main">
              <a:ext uri="{FF2B5EF4-FFF2-40B4-BE49-F238E27FC236}">
                <a16:creationId xmlns:a16="http://schemas.microsoft.com/office/drawing/2014/main" id="{D2393071-A147-41EC-AD2E-65637A85E168}"/>
              </a:ext>
            </a:extLst>
          </p:cNvPr>
          <p:cNvSpPr>
            <a:spLocks xmlns:a="http://schemas.openxmlformats.org/drawingml/2006/main" noGrp="1"/>
          </p:cNvSpPr>
          <p:nvPr/>
        </p:nvSpPr>
        <p:spPr>
          <a:xfrm xmlns:a="http://schemas.openxmlformats.org/drawingml/2006/main">
            <a:off x="647700" y="2085975"/>
            <a:ext cx="561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Los picos y las variaciones suaves plantean desafíos diferentes al predictor.</a:t>
            </a:r>
          </a:p>
        </p:txBody>
      </p:sp>
      <p:sp>
        <p:nvSpPr>
          <p:cNvPr id="6" name="Experimento original">
            <a:extLst xmlns:a="http://schemas.openxmlformats.org/drawingml/2006/main">
              <a:ext uri="{FF2B5EF4-FFF2-40B4-BE49-F238E27FC236}">
                <a16:creationId xmlns:a16="http://schemas.microsoft.com/office/drawing/2014/main" id="{E5379656-296A-4F74-BF7C-0AE36D01D687}"/>
              </a:ext>
            </a:extLst>
          </p:cNvPr>
          <p:cNvSpPr>
            <a:spLocks xmlns:a="http://schemas.openxmlformats.org/drawingml/2006/main" noGrp="1"/>
          </p:cNvSpPr>
          <p:nvPr/>
        </p:nvSpPr>
        <p:spPr>
          <a:xfrm xmlns:a="http://schemas.openxmlformats.org/drawingml/2006/main">
            <a:off x="647700" y="3095625"/>
            <a:ext cx="561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Experimento original</a:t>
            </a:r>
          </a:p>
        </p:txBody>
      </p:sp>
      <p:sp>
        <p:nvSpPr>
          <p:cNvPr id="7" name="Shuangpai y Fenghuang, China. Registros diarios de 2002 a 20">
            <a:extLst xmlns:a="http://schemas.openxmlformats.org/drawingml/2006/main">
              <a:ext uri="{FF2B5EF4-FFF2-40B4-BE49-F238E27FC236}">
                <a16:creationId xmlns:a16="http://schemas.microsoft.com/office/drawing/2014/main" id="{431DC34A-D8EA-4109-BE72-BED21062D860}"/>
              </a:ext>
            </a:extLst>
          </p:cNvPr>
          <p:cNvSpPr>
            <a:spLocks xmlns:a="http://schemas.openxmlformats.org/drawingml/2006/main" noGrp="1"/>
          </p:cNvSpPr>
          <p:nvPr/>
        </p:nvSpPr>
        <p:spPr>
          <a:xfrm xmlns:a="http://schemas.openxmlformats.org/drawingml/2006/main">
            <a:off x="647700" y="3524250"/>
            <a:ext cx="561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Shuangpai y Fenghuang, China. Registros diarios de 2002 a 2005.</a:t>
            </a:r>
          </a:p>
        </p:txBody>
      </p:sp>
      <p:sp>
        <p:nvSpPr>
          <p:cNvPr id="8" name="Pronóstico de varios pasos">
            <a:extLst xmlns:a="http://schemas.openxmlformats.org/drawingml/2006/main">
              <a:ext uri="{FF2B5EF4-FFF2-40B4-BE49-F238E27FC236}">
                <a16:creationId xmlns:a16="http://schemas.microsoft.com/office/drawing/2014/main" id="{2D1340EE-47FC-47D9-AF68-0A951EA06517}"/>
              </a:ext>
            </a:extLst>
          </p:cNvPr>
          <p:cNvSpPr>
            <a:spLocks xmlns:a="http://schemas.openxmlformats.org/drawingml/2006/main" noGrp="1"/>
          </p:cNvSpPr>
          <p:nvPr/>
        </p:nvSpPr>
        <p:spPr>
          <a:xfrm xmlns:a="http://schemas.openxmlformats.org/drawingml/2006/main">
            <a:off x="647700" y="4533900"/>
            <a:ext cx="561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Pronóstico de varios pasos</a:t>
            </a:r>
          </a:p>
        </p:txBody>
      </p:sp>
      <p:sp>
        <p:nvSpPr>
          <p:cNvPr id="9" name="Historia de 7 días. Horizontes de 1, 3, 5 y 7 días.">
            <a:extLst xmlns:a="http://schemas.openxmlformats.org/drawingml/2006/main">
              <a:ext uri="{FF2B5EF4-FFF2-40B4-BE49-F238E27FC236}">
                <a16:creationId xmlns:a16="http://schemas.microsoft.com/office/drawing/2014/main" id="{C3C8A380-4065-4F8D-A562-50BC1930A2FC}"/>
              </a:ext>
            </a:extLst>
          </p:cNvPr>
          <p:cNvSpPr>
            <a:spLocks xmlns:a="http://schemas.openxmlformats.org/drawingml/2006/main" noGrp="1"/>
          </p:cNvSpPr>
          <p:nvPr/>
        </p:nvSpPr>
        <p:spPr>
          <a:xfrm xmlns:a="http://schemas.openxmlformats.org/drawingml/2006/main">
            <a:off x="647700" y="4962525"/>
            <a:ext cx="561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Historia de 7 días. Horizontes de 1, 3, 5 y 7 días.</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06a50e89dfd441af"/>
          <a:stretch xmlns:a="http://schemas.openxmlformats.org/drawingml/2006/main"/>
        </p:blipFill>
        <p:spPr>
          <a:xfrm xmlns:a="http://schemas.openxmlformats.org/drawingml/2006/main">
            <a:off x="6896100" y="1569958"/>
            <a:ext cx="4333875" cy="4203859"/>
          </a:xfrm>
          <a:prstGeom xmlns:a="http://schemas.openxmlformats.org/drawingml/2006/main" prst="rect">
            <a:avLst/>
          </a:prstGeom>
        </p:spPr>
      </p:pic>
      <p:sp>
        <p:nvSpPr>
          <p:cNvPr id="11" name="Cuenca del estudio original">
            <a:extLst xmlns:a="http://schemas.openxmlformats.org/drawingml/2006/main">
              <a:ext uri="{FF2B5EF4-FFF2-40B4-BE49-F238E27FC236}">
                <a16:creationId xmlns:a16="http://schemas.microsoft.com/office/drawing/2014/main" id="{B2D5765A-3C89-4BA5-AA81-8F08A8C5FE14}"/>
              </a:ext>
            </a:extLst>
          </p:cNvPr>
          <p:cNvSpPr>
            <a:spLocks xmlns:a="http://schemas.openxmlformats.org/drawingml/2006/main" noGrp="1"/>
          </p:cNvSpPr>
          <p:nvPr/>
        </p:nvSpPr>
        <p:spPr>
          <a:xfrm xmlns:a="http://schemas.openxmlformats.org/drawingml/2006/main">
            <a:off x="6991350" y="5953125"/>
            <a:ext cx="433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Cuenca del estudio original</a:t>
            </a:r>
          </a:p>
        </p:txBody>
      </p:sp>
      <p:sp>
        <p:nvSpPr>
          <p:cNvPr id="12" name="DMEL, Shuangpai a 7 días: NSE 0.8255">
            <a:extLst xmlns:a="http://schemas.openxmlformats.org/drawingml/2006/main">
              <a:ext uri="{FF2B5EF4-FFF2-40B4-BE49-F238E27FC236}">
                <a16:creationId xmlns:a16="http://schemas.microsoft.com/office/drawing/2014/main" id="{38C5D9CB-4DA5-423B-9D3D-2FAB2B166E14}"/>
              </a:ext>
            </a:extLst>
          </p:cNvPr>
          <p:cNvSpPr>
            <a:spLocks xmlns:a="http://schemas.openxmlformats.org/drawingml/2006/main" noGrp="1"/>
          </p:cNvSpPr>
          <p:nvPr/>
        </p:nvSpPr>
        <p:spPr>
          <a:xfrm xmlns:a="http://schemas.openxmlformats.org/drawingml/2006/main">
            <a:off x="695325" y="5886450"/>
            <a:ext cx="600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00" b="1">
                <a:solidFill>
                  <a:srgbClr val="007FA3"/>
                </a:solidFill>
                <a:latin typeface="Helvetica Neue"/>
                <a:ea typeface="Helvetica Neue"/>
                <a:cs typeface="Helvetica Neue"/>
              </a:defRPr>
            </a:pPr>
            <a:r>
              <a:rPr sz="1800" b="1">
                <a:solidFill>
                  <a:srgbClr val="007FA3"/>
                </a:solidFill>
                <a:latin typeface="Helvetica Neue"/>
                <a:ea typeface="Helvetica Neue"/>
                <a:cs typeface="Helvetica Neue"/>
              </a:rPr>
              <a:t>DMEL, Shuangpai a 7 días: NSE 0.8255</a:t>
            </a:r>
          </a:p>
        </p:txBody>
      </p:sp>
    </p:spTree>
    <p:extLst>
      <p:ext uri="{BB962C8B-B14F-4D97-AF65-F5344CB8AC3E}">
        <p14:creationId xmlns:p14="http://schemas.microsoft.com/office/powerpoint/2010/main" val="134256497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La propuesta central de DMEL">
            <a:extLst xmlns:a="http://schemas.openxmlformats.org/drawingml/2006/main">
              <a:ext uri="{FF2B5EF4-FFF2-40B4-BE49-F238E27FC236}">
                <a16:creationId xmlns:a16="http://schemas.microsoft.com/office/drawing/2014/main" id="{A700939F-301D-4F55-A1D3-6BFE99276B2E}"/>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La propuesta central de DMEL</a:t>
            </a:r>
          </a:p>
        </p:txBody>
      </p:sp>
      <p:sp>
        <p:nvSpPr>
          <p:cNvPr id="2" name="Wang et al. (2026), fig. 3. Detalle de preprocesamiento y pr">
            <a:extLst xmlns:a="http://schemas.openxmlformats.org/drawingml/2006/main">
              <a:ext uri="{FF2B5EF4-FFF2-40B4-BE49-F238E27FC236}">
                <a16:creationId xmlns:a16="http://schemas.microsoft.com/office/drawing/2014/main" id="{FE53786C-3824-4F85-9AE6-92488EB4EA8D}"/>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Wang et al. (2026), fig. 3. Detalle de preprocesamiento y predicción</a:t>
            </a:r>
          </a:p>
        </p:txBody>
      </p:sp>
      <p:sp>
        <p:nvSpPr>
          <p:cNvPr id="3" name="03">
            <a:extLst xmlns:a="http://schemas.openxmlformats.org/drawingml/2006/main">
              <a:ext uri="{FF2B5EF4-FFF2-40B4-BE49-F238E27FC236}">
                <a16:creationId xmlns:a16="http://schemas.microsoft.com/office/drawing/2014/main" id="{E0589DCC-BCE5-4D8C-9998-96924D85DD0F}"/>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03</a:t>
            </a:r>
          </a:p>
        </p:txBody>
      </p:sp>
      <p:sp>
        <p:nvSpPr>
          <p:cNvPr id="4" name="1. Separar la señal">
            <a:extLst xmlns:a="http://schemas.openxmlformats.org/drawingml/2006/main">
              <a:ext uri="{FF2B5EF4-FFF2-40B4-BE49-F238E27FC236}">
                <a16:creationId xmlns:a16="http://schemas.microsoft.com/office/drawing/2014/main" id="{A213E681-C6A9-4CD2-ACE4-9B7FA1C733D1}"/>
              </a:ext>
            </a:extLst>
          </p:cNvPr>
          <p:cNvSpPr>
            <a:spLocks xmlns:a="http://schemas.openxmlformats.org/drawingml/2006/main" noGrp="1"/>
          </p:cNvSpPr>
          <p:nvPr/>
        </p:nvSpPr>
        <p:spPr>
          <a:xfrm xmlns:a="http://schemas.openxmlformats.org/drawingml/2006/main">
            <a:off x="647700" y="165735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1. Separar la señal</a:t>
            </a:r>
          </a:p>
        </p:txBody>
      </p:sp>
      <p:sp>
        <p:nvSpPr>
          <p:cNvPr id="5" name="CEEMDAN extrae modos y conserva un residuo.">
            <a:extLst xmlns:a="http://schemas.openxmlformats.org/drawingml/2006/main">
              <a:ext uri="{FF2B5EF4-FFF2-40B4-BE49-F238E27FC236}">
                <a16:creationId xmlns:a16="http://schemas.microsoft.com/office/drawing/2014/main" id="{4C46455E-4ED9-4573-8858-7D894063E065}"/>
              </a:ext>
            </a:extLst>
          </p:cNvPr>
          <p:cNvSpPr>
            <a:spLocks xmlns:a="http://schemas.openxmlformats.org/drawingml/2006/main" noGrp="1"/>
          </p:cNvSpPr>
          <p:nvPr/>
        </p:nvSpPr>
        <p:spPr>
          <a:xfrm xmlns:a="http://schemas.openxmlformats.org/drawingml/2006/main">
            <a:off x="647700" y="2085975"/>
            <a:ext cx="533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CEEMDAN extrae modos y conserva un residuo.</a:t>
            </a:r>
          </a:p>
        </p:txBody>
      </p:sp>
      <p:sp>
        <p:nvSpPr>
          <p:cNvPr id="6" name="2. Reconocer los modos">
            <a:extLst xmlns:a="http://schemas.openxmlformats.org/drawingml/2006/main">
              <a:ext uri="{FF2B5EF4-FFF2-40B4-BE49-F238E27FC236}">
                <a16:creationId xmlns:a16="http://schemas.microsoft.com/office/drawing/2014/main" id="{6045E59E-2EA6-4C14-B8EB-C37FDFE9ABA0}"/>
              </a:ext>
            </a:extLst>
          </p:cNvPr>
          <p:cNvSpPr>
            <a:spLocks xmlns:a="http://schemas.openxmlformats.org/drawingml/2006/main" noGrp="1"/>
          </p:cNvSpPr>
          <p:nvPr/>
        </p:nvSpPr>
        <p:spPr>
          <a:xfrm xmlns:a="http://schemas.openxmlformats.org/drawingml/2006/main">
            <a:off x="647700" y="3095625"/>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2. Reconocer los modos</a:t>
            </a:r>
          </a:p>
        </p:txBody>
      </p:sp>
      <p:sp>
        <p:nvSpPr>
          <p:cNvPr id="7" name="MRS combina componentes de entropía similar y decide su ruta">
            <a:extLst xmlns:a="http://schemas.openxmlformats.org/drawingml/2006/main">
              <a:ext uri="{FF2B5EF4-FFF2-40B4-BE49-F238E27FC236}">
                <a16:creationId xmlns:a16="http://schemas.microsoft.com/office/drawing/2014/main" id="{ECDD0E80-1962-4615-A750-64C001E0DDE2}"/>
              </a:ext>
            </a:extLst>
          </p:cNvPr>
          <p:cNvSpPr>
            <a:spLocks xmlns:a="http://schemas.openxmlformats.org/drawingml/2006/main" noGrp="1"/>
          </p:cNvSpPr>
          <p:nvPr/>
        </p:nvSpPr>
        <p:spPr>
          <a:xfrm xmlns:a="http://schemas.openxmlformats.org/drawingml/2006/main">
            <a:off x="647700" y="3524250"/>
            <a:ext cx="533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MRS combina componentes de entropía similar y decide su ruta.</a:t>
            </a:r>
          </a:p>
        </p:txBody>
      </p:sp>
      <p:sp>
        <p:nvSpPr>
          <p:cNvPr id="8" name="3. Especializar los predictores">
            <a:extLst xmlns:a="http://schemas.openxmlformats.org/drawingml/2006/main">
              <a:ext uri="{FF2B5EF4-FFF2-40B4-BE49-F238E27FC236}">
                <a16:creationId xmlns:a16="http://schemas.microsoft.com/office/drawing/2014/main" id="{BF6D81E6-70D1-4BEC-B981-BE3FB4696301}"/>
              </a:ext>
            </a:extLst>
          </p:cNvPr>
          <p:cNvSpPr>
            <a:spLocks xmlns:a="http://schemas.openxmlformats.org/drawingml/2006/main" noGrp="1"/>
          </p:cNvSpPr>
          <p:nvPr/>
        </p:nvSpPr>
        <p:spPr>
          <a:xfrm xmlns:a="http://schemas.openxmlformats.org/drawingml/2006/main">
            <a:off x="647700" y="453390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3. Especializar los predictores</a:t>
            </a:r>
          </a:p>
        </p:txBody>
      </p:sp>
      <p:sp>
        <p:nvSpPr>
          <p:cNvPr id="9" name="Informer y LSTM pronostican grupos distintos. El ensamble su">
            <a:extLst xmlns:a="http://schemas.openxmlformats.org/drawingml/2006/main">
              <a:ext uri="{FF2B5EF4-FFF2-40B4-BE49-F238E27FC236}">
                <a16:creationId xmlns:a16="http://schemas.microsoft.com/office/drawing/2014/main" id="{F0F5D232-C201-481F-8579-98826E36146B}"/>
              </a:ext>
            </a:extLst>
          </p:cNvPr>
          <p:cNvSpPr>
            <a:spLocks xmlns:a="http://schemas.openxmlformats.org/drawingml/2006/main" noGrp="1"/>
          </p:cNvSpPr>
          <p:nvPr/>
        </p:nvSpPr>
        <p:spPr>
          <a:xfrm xmlns:a="http://schemas.openxmlformats.org/drawingml/2006/main">
            <a:off x="647700" y="4962525"/>
            <a:ext cx="533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Informer y LSTM pronostican grupos distintos. El ensamble suma sus salidas.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e6beeab5a11f41ff"/>
          <a:stretch xmlns:a="http://schemas.openxmlformats.org/drawingml/2006/main"/>
        </p:blipFill>
        <p:spPr>
          <a:xfrm xmlns:a="http://schemas.openxmlformats.org/drawingml/2006/main">
            <a:off x="6663659" y="1428750"/>
            <a:ext cx="4703508" cy="4905375"/>
          </a:xfrm>
          <a:prstGeom xmlns:a="http://schemas.openxmlformats.org/drawingml/2006/main" prst="rect">
            <a:avLst/>
          </a:prstGeom>
        </p:spPr>
      </p:pic>
    </p:spTree>
    <p:extLst>
      <p:ext uri="{BB962C8B-B14F-4D97-AF65-F5344CB8AC3E}">
        <p14:creationId xmlns:p14="http://schemas.microsoft.com/office/powerpoint/2010/main" val="156786889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CEEMDAN: descomposición de la señal">
            <a:extLst xmlns:a="http://schemas.openxmlformats.org/drawingml/2006/main">
              <a:ext uri="{FF2B5EF4-FFF2-40B4-BE49-F238E27FC236}">
                <a16:creationId xmlns:a16="http://schemas.microsoft.com/office/drawing/2014/main" id="{70DEFAB3-5DE2-42AC-BC32-A6BBC49232C1}"/>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CEEMDAN: descomposición de la señal</a:t>
            </a:r>
          </a:p>
        </p:txBody>
      </p:sp>
      <p:sp>
        <p:nvSpPr>
          <p:cNvPr id="2" name="Wang et al. (2026), secciones 2.1.1 y 4.1; Torres et al. (20">
            <a:extLst xmlns:a="http://schemas.openxmlformats.org/drawingml/2006/main">
              <a:ext uri="{FF2B5EF4-FFF2-40B4-BE49-F238E27FC236}">
                <a16:creationId xmlns:a16="http://schemas.microsoft.com/office/drawing/2014/main" id="{41E2193B-D47E-4AAF-83CB-1C5D6777AD38}"/>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Wang et al. (2026), secciones 2.1.1 y 4.1; Torres et al. (2011)</a:t>
            </a:r>
          </a:p>
        </p:txBody>
      </p:sp>
      <p:sp>
        <p:nvSpPr>
          <p:cNvPr id="3" name="04">
            <a:extLst xmlns:a="http://schemas.openxmlformats.org/drawingml/2006/main">
              <a:ext uri="{FF2B5EF4-FFF2-40B4-BE49-F238E27FC236}">
                <a16:creationId xmlns:a16="http://schemas.microsoft.com/office/drawing/2014/main" id="{65EB3167-F56B-4608-AE06-F0A13EF07CFF}"/>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04</a:t>
            </a:r>
          </a:p>
        </p:txBody>
      </p:sp>
      <p:sp>
        <p:nvSpPr>
          <p:cNvPr id="4" name="q(t) = Σ IMFₖ(t) + r(t)">
            <a:extLst xmlns:a="http://schemas.openxmlformats.org/drawingml/2006/main">
              <a:ext uri="{FF2B5EF4-FFF2-40B4-BE49-F238E27FC236}">
                <a16:creationId xmlns:a16="http://schemas.microsoft.com/office/drawing/2014/main" id="{EDCD10B3-DF67-4181-993D-2E1BE873584E}"/>
              </a:ext>
            </a:extLst>
          </p:cNvPr>
          <p:cNvSpPr>
            <a:spLocks xmlns:a="http://schemas.openxmlformats.org/drawingml/2006/main" noGrp="1"/>
          </p:cNvSpPr>
          <p:nvPr/>
        </p:nvSpPr>
        <p:spPr>
          <a:xfrm xmlns:a="http://schemas.openxmlformats.org/drawingml/2006/main">
            <a:off x="704850" y="1714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4575" b="1">
                <a:solidFill>
                  <a:srgbClr val="007FA3"/>
                </a:solidFill>
                <a:latin typeface="Helvetica Neue"/>
                <a:ea typeface="Helvetica Neue"/>
                <a:cs typeface="Helvetica Neue"/>
              </a:defRPr>
            </a:pPr>
            <a:r>
              <a:rPr sz="4575" b="1">
                <a:solidFill>
                  <a:srgbClr val="007FA3"/>
                </a:solidFill>
                <a:latin typeface="Helvetica Neue"/>
                <a:ea typeface="Helvetica Neue"/>
                <a:cs typeface="Helvetica Neue"/>
              </a:rPr>
              <a:t>q(t) = Σ IMFₖ(t) + r(t)</a:t>
            </a:r>
          </a:p>
        </p:txBody>
      </p:sp>
      <p:sp>
        <p:nvSpPr>
          <p:cNvPr id="5" name="Modos intrínsecos, IMF">
            <a:extLst xmlns:a="http://schemas.openxmlformats.org/drawingml/2006/main">
              <a:ext uri="{FF2B5EF4-FFF2-40B4-BE49-F238E27FC236}">
                <a16:creationId xmlns:a16="http://schemas.microsoft.com/office/drawing/2014/main" id="{7F0271E1-D97C-43B6-AE29-0E2D971A0D4B}"/>
              </a:ext>
            </a:extLst>
          </p:cNvPr>
          <p:cNvSpPr>
            <a:spLocks xmlns:a="http://schemas.openxmlformats.org/drawingml/2006/main" noGrp="1"/>
          </p:cNvSpPr>
          <p:nvPr/>
        </p:nvSpPr>
        <p:spPr>
          <a:xfrm xmlns:a="http://schemas.openxmlformats.org/drawingml/2006/main">
            <a:off x="714375" y="3095625"/>
            <a:ext cx="1019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Modos intrínsecos, IMF</a:t>
            </a:r>
          </a:p>
        </p:txBody>
      </p:sp>
      <p:sp>
        <p:nvSpPr>
          <p:cNvPr id="6" name="Oscilaciones que la descomposición extrae de la propia señal">
            <a:extLst xmlns:a="http://schemas.openxmlformats.org/drawingml/2006/main">
              <a:ext uri="{FF2B5EF4-FFF2-40B4-BE49-F238E27FC236}">
                <a16:creationId xmlns:a16="http://schemas.microsoft.com/office/drawing/2014/main" id="{FA4B113C-F29A-48D1-87F2-5DAC18719783}"/>
              </a:ext>
            </a:extLst>
          </p:cNvPr>
          <p:cNvSpPr>
            <a:spLocks xmlns:a="http://schemas.openxmlformats.org/drawingml/2006/main" noGrp="1"/>
          </p:cNvSpPr>
          <p:nvPr/>
        </p:nvSpPr>
        <p:spPr>
          <a:xfrm xmlns:a="http://schemas.openxmlformats.org/drawingml/2006/main">
            <a:off x="714375" y="3524250"/>
            <a:ext cx="1019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Oscilaciones que la descomposición extrae de la propia señal.</a:t>
            </a:r>
          </a:p>
        </p:txBody>
      </p:sp>
      <p:sp>
        <p:nvSpPr>
          <p:cNvPr id="7" name="Ruido adaptativo y promedio">
            <a:extLst xmlns:a="http://schemas.openxmlformats.org/drawingml/2006/main">
              <a:ext uri="{FF2B5EF4-FFF2-40B4-BE49-F238E27FC236}">
                <a16:creationId xmlns:a16="http://schemas.microsoft.com/office/drawing/2014/main" id="{31ECD89D-506C-47D5-8D4E-35D5D59E3652}"/>
              </a:ext>
            </a:extLst>
          </p:cNvPr>
          <p:cNvSpPr>
            <a:spLocks xmlns:a="http://schemas.openxmlformats.org/drawingml/2006/main" noGrp="1"/>
          </p:cNvSpPr>
          <p:nvPr/>
        </p:nvSpPr>
        <p:spPr>
          <a:xfrm xmlns:a="http://schemas.openxmlformats.org/drawingml/2006/main">
            <a:off x="714375" y="4352925"/>
            <a:ext cx="1019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Ruido adaptativo y promedio</a:t>
            </a:r>
          </a:p>
        </p:txBody>
      </p:sp>
      <p:sp>
        <p:nvSpPr>
          <p:cNvPr id="8" name="CEEMDAN usa múltiples realizaciones para reducir la mezcla d">
            <a:extLst xmlns:a="http://schemas.openxmlformats.org/drawingml/2006/main">
              <a:ext uri="{FF2B5EF4-FFF2-40B4-BE49-F238E27FC236}">
                <a16:creationId xmlns:a16="http://schemas.microsoft.com/office/drawing/2014/main" id="{4EEAE984-0181-4BBF-845E-228B460C3C80}"/>
              </a:ext>
            </a:extLst>
          </p:cNvPr>
          <p:cNvSpPr>
            <a:spLocks xmlns:a="http://schemas.openxmlformats.org/drawingml/2006/main" noGrp="1"/>
          </p:cNvSpPr>
          <p:nvPr/>
        </p:nvSpPr>
        <p:spPr>
          <a:xfrm xmlns:a="http://schemas.openxmlformats.org/drawingml/2006/main">
            <a:off x="714375" y="4781550"/>
            <a:ext cx="1019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CEEMDAN usa múltiples realizaciones para reducir la mezcla de modos.</a:t>
            </a:r>
          </a:p>
        </p:txBody>
      </p:sp>
      <p:sp>
        <p:nvSpPr>
          <p:cNvPr id="9" name="Paper: 100 realizaciones y ruido reportado de 0.2. El residu">
            <a:extLst xmlns:a="http://schemas.openxmlformats.org/drawingml/2006/main">
              <a:ext uri="{FF2B5EF4-FFF2-40B4-BE49-F238E27FC236}">
                <a16:creationId xmlns:a16="http://schemas.microsoft.com/office/drawing/2014/main" id="{82B2B79D-9F06-4D26-9D8B-FD6585E3775D}"/>
              </a:ext>
            </a:extLst>
          </p:cNvPr>
          <p:cNvSpPr>
            <a:spLocks xmlns:a="http://schemas.openxmlformats.org/drawingml/2006/main" noGrp="1"/>
          </p:cNvSpPr>
          <p:nvPr/>
        </p:nvSpPr>
        <p:spPr>
          <a:xfrm xmlns:a="http://schemas.openxmlformats.org/drawingml/2006/main">
            <a:off x="714375" y="57626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725" b="0">
                <a:solidFill>
                  <a:srgbClr val="5D6267"/>
                </a:solidFill>
                <a:latin typeface="Helvetica Neue"/>
                <a:ea typeface="Helvetica Neue"/>
                <a:cs typeface="Helvetica Neue"/>
              </a:defRPr>
            </a:pPr>
            <a:r>
              <a:rPr sz="1725" b="0">
                <a:solidFill>
                  <a:srgbClr val="5D6267"/>
                </a:solidFill>
                <a:latin typeface="Helvetica Neue"/>
                <a:ea typeface="Helvetica Neue"/>
                <a:cs typeface="Helvetica Neue"/>
              </a:rPr>
              <a:t>Paper: 100 realizaciones y ruido reportado de 0.2. El residuo forma parte de la reconstrucción.</a:t>
            </a:r>
          </a:p>
        </p:txBody>
      </p:sp>
    </p:spTree>
    <p:extLst>
      <p:ext uri="{BB962C8B-B14F-4D97-AF65-F5344CB8AC3E}">
        <p14:creationId xmlns:p14="http://schemas.microsoft.com/office/powerpoint/2010/main" val="98847063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Entropía muestral y reconocimiento modal">
            <a:extLst xmlns:a="http://schemas.openxmlformats.org/drawingml/2006/main">
              <a:ext uri="{FF2B5EF4-FFF2-40B4-BE49-F238E27FC236}">
                <a16:creationId xmlns:a16="http://schemas.microsoft.com/office/drawing/2014/main" id="{D9C3E026-0B7F-45AC-81AA-58E2EFF298A6}"/>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Entropía muestral y reconocimiento modal</a:t>
            </a:r>
          </a:p>
        </p:txBody>
      </p:sp>
      <p:sp>
        <p:nvSpPr>
          <p:cNvPr id="2" name="Wang et al. (2026), secciones 2.1.2 y 2.2.1">
            <a:extLst xmlns:a="http://schemas.openxmlformats.org/drawingml/2006/main">
              <a:ext uri="{FF2B5EF4-FFF2-40B4-BE49-F238E27FC236}">
                <a16:creationId xmlns:a16="http://schemas.microsoft.com/office/drawing/2014/main" id="{080B035A-44CD-4EEB-89EB-F7C0CB467E4E}"/>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Wang et al. (2026), secciones 2.1.2 y 2.2.1</a:t>
            </a:r>
          </a:p>
        </p:txBody>
      </p:sp>
      <p:sp>
        <p:nvSpPr>
          <p:cNvPr id="3" name="05">
            <a:extLst xmlns:a="http://schemas.openxmlformats.org/drawingml/2006/main">
              <a:ext uri="{FF2B5EF4-FFF2-40B4-BE49-F238E27FC236}">
                <a16:creationId xmlns:a16="http://schemas.microsoft.com/office/drawing/2014/main" id="{AEF02AB9-B37D-46B8-89D3-C02EA9E607F3}"/>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05</a:t>
            </a:r>
          </a:p>
        </p:txBody>
      </p:sp>
      <p:sp>
        <p:nvSpPr>
          <p:cNvPr id="4" name="SampEn = −ln(A / B)">
            <a:extLst xmlns:a="http://schemas.openxmlformats.org/drawingml/2006/main">
              <a:ext uri="{FF2B5EF4-FFF2-40B4-BE49-F238E27FC236}">
                <a16:creationId xmlns:a16="http://schemas.microsoft.com/office/drawing/2014/main" id="{1C38A5BD-511E-40F1-98FA-729EFDB7EF7A}"/>
              </a:ext>
            </a:extLst>
          </p:cNvPr>
          <p:cNvSpPr>
            <a:spLocks xmlns:a="http://schemas.openxmlformats.org/drawingml/2006/main" noGrp="1"/>
          </p:cNvSpPr>
          <p:nvPr/>
        </p:nvSpPr>
        <p:spPr>
          <a:xfrm xmlns:a="http://schemas.openxmlformats.org/drawingml/2006/main">
            <a:off x="685800" y="167640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4425" b="1">
                <a:solidFill>
                  <a:srgbClr val="007FA3"/>
                </a:solidFill>
                <a:latin typeface="Helvetica Neue"/>
                <a:ea typeface="Helvetica Neue"/>
                <a:cs typeface="Helvetica Neue"/>
              </a:defRPr>
            </a:pPr>
            <a:r>
              <a:rPr sz="4425" b="1">
                <a:solidFill>
                  <a:srgbClr val="007FA3"/>
                </a:solidFill>
                <a:latin typeface="Helvetica Neue"/>
                <a:ea typeface="Helvetica Neue"/>
                <a:cs typeface="Helvetica Neue"/>
              </a:rPr>
              <a:t>SampEn = −ln(A / B)</a:t>
            </a:r>
          </a:p>
        </p:txBody>
      </p:sp>
      <p:graphicFrame>
        <p:nvGraphicFramePr>
          <p:cNvPr id="13" name=""/>
          <p:cNvGraphicFramePr/>
          <p:nvPr/>
        </p:nvGraphicFramePr>
        <p:xfrm>
          <a:off xmlns:a="http://schemas.openxmlformats.org/drawingml/2006/main" x="609600" y="2847975"/>
          <a:ext xmlns:a="http://schemas.openxmlformats.org/drawingml/2006/main" cx="10972800" cy="2552700"/>
        </p:xfrm>
        <a:graphic xmlns:a="http://schemas.openxmlformats.org/drawingml/2006/main">
          <a:graphicData uri="http://schemas.openxmlformats.org/drawingml/2006/table">
            <a:tbl>
              <a:tblPr firstRow="1" bandRow="0"/>
              <a:tblGrid>
                <a:gridCol w="2952750"/>
                <a:gridCol w="8020050"/>
              </a:tblGrid>
              <a:tr h="638175">
                <a:tc>
                  <a:txBody>
                    <a:bodyPr/>
                    <a:lstStyle/>
                    <a:p>
                      <a:r>
                        <a:rPr sz="1875" b="1">
                          <a:solidFill>
                            <a:srgbClr val="064B6B"/>
                          </a:solidFill>
                          <a:latin typeface="Helvetica Neue"/>
                          <a:ea typeface="Helvetica Neue"/>
                          <a:cs typeface="Helvetica Neue"/>
                        </a:rPr>
                        <a:t>Cantidad</a:t>
                      </a:r>
                    </a:p>
                  </a:txBody>
                  <a:tcPr marL="142875" marR="142875" marT="114300" marB="114300" anchor="ctr">
                    <a:solidFill>
                      <a:srgbClr val="EAF4F8"/>
                    </a:solidFill>
                  </a:tcPr>
                </a:tc>
                <a:tc>
                  <a:txBody>
                    <a:bodyPr/>
                    <a:lstStyle/>
                    <a:p>
                      <a:r>
                        <a:rPr sz="1875" b="1">
                          <a:solidFill>
                            <a:srgbClr val="064B6B"/>
                          </a:solidFill>
                          <a:latin typeface="Helvetica Neue"/>
                          <a:ea typeface="Helvetica Neue"/>
                          <a:cs typeface="Helvetica Neue"/>
                        </a:rPr>
                        <a:t>Interpretación</a:t>
                      </a:r>
                    </a:p>
                  </a:txBody>
                  <a:tcPr marL="142875" marR="142875" marT="114300" marB="114300" anchor="ctr">
                    <a:solidFill>
                      <a:srgbClr val="EAF4F8"/>
                    </a:solidFill>
                  </a:tcPr>
                </a:tc>
              </a:tr>
              <a:tr h="638175">
                <a:tc>
                  <a:txBody>
                    <a:bodyPr/>
                    <a:lstStyle/>
                    <a:p>
                      <a:r>
                        <a:rPr sz="1875" b="0">
                          <a:solidFill>
                            <a:srgbClr val="242C33"/>
                          </a:solidFill>
                          <a:latin typeface="Helvetica Neue"/>
                          <a:ea typeface="Helvetica Neue"/>
                          <a:cs typeface="Helvetica Neue"/>
                        </a:rPr>
                        <a:t>B</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Pares de patrones similares de longitud m</a:t>
                      </a:r>
                    </a:p>
                  </a:txBody>
                  <a:tcPr marL="142875" marR="142875" marT="114300" marB="114300" anchor="ctr">
                    <a:solidFill>
                      <a:srgbClr val="FFFFFF"/>
                    </a:solidFill>
                  </a:tcPr>
                </a:tc>
              </a:tr>
              <a:tr h="638175">
                <a:tc>
                  <a:txBody>
                    <a:bodyPr/>
                    <a:lstStyle/>
                    <a:p>
                      <a:r>
                        <a:rPr sz="1875" b="0">
                          <a:solidFill>
                            <a:srgbClr val="242C33"/>
                          </a:solidFill>
                          <a:latin typeface="Helvetica Neue"/>
                          <a:ea typeface="Helvetica Neue"/>
                          <a:cs typeface="Helvetica Neue"/>
                        </a:rPr>
                        <a:t>A</a:t>
                      </a:r>
                    </a:p>
                  </a:txBody>
                  <a:tcPr marL="142875" marR="142875" marT="114300" marB="114300" anchor="ctr">
                    <a:solidFill>
                      <a:srgbClr val="F5F7F8"/>
                    </a:solidFill>
                  </a:tcPr>
                </a:tc>
                <a:tc>
                  <a:txBody>
                    <a:bodyPr/>
                    <a:lstStyle/>
                    <a:p>
                      <a:r>
                        <a:rPr sz="1875" b="0">
                          <a:solidFill>
                            <a:srgbClr val="242C33"/>
                          </a:solidFill>
                          <a:latin typeface="Helvetica Neue"/>
                          <a:ea typeface="Helvetica Neue"/>
                          <a:cs typeface="Helvetica Neue"/>
                        </a:rPr>
                        <a:t>Pares que siguen siendo similares con longitud m + 1</a:t>
                      </a:r>
                    </a:p>
                  </a:txBody>
                  <a:tcPr marL="142875" marR="142875" marT="114300" marB="114300" anchor="ctr">
                    <a:solidFill>
                      <a:srgbClr val="F5F7F8"/>
                    </a:solidFill>
                  </a:tcPr>
                </a:tc>
              </a:tr>
              <a:tr h="638175">
                <a:tc>
                  <a:txBody>
                    <a:bodyPr/>
                    <a:lstStyle/>
                    <a:p>
                      <a:r>
                        <a:rPr sz="1875" b="0">
                          <a:solidFill>
                            <a:srgbClr val="242C33"/>
                          </a:solidFill>
                          <a:latin typeface="Helvetica Neue"/>
                          <a:ea typeface="Helvetica Neue"/>
                          <a:cs typeface="Helvetica Neue"/>
                        </a:rPr>
                        <a:t>Entropía mayor</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Menor regularidad en la repetición de patrones</a:t>
                      </a:r>
                    </a:p>
                  </a:txBody>
                  <a:tcPr marL="142875" marR="142875" marT="114300" marB="114300" anchor="ctr">
                    <a:solidFill>
                      <a:srgbClr val="FFFFFF"/>
                    </a:solidFill>
                  </a:tcPr>
                </a:tc>
              </a:tr>
            </a:tbl>
          </a:graphicData>
        </a:graphic>
      </p:graphicFrame>
      <p:sp>
        <p:nvSpPr>
          <p:cNvPr id="6" name="m = 2; tolerancia = 0.2 × desviación estándar de cada señal">
            <a:extLst xmlns:a="http://schemas.openxmlformats.org/drawingml/2006/main">
              <a:ext uri="{FF2B5EF4-FFF2-40B4-BE49-F238E27FC236}">
                <a16:creationId xmlns:a16="http://schemas.microsoft.com/office/drawing/2014/main" id="{6C1DA1A0-A05C-4198-B45A-06B294EB26E6}"/>
              </a:ext>
            </a:extLst>
          </p:cNvPr>
          <p:cNvSpPr>
            <a:spLocks xmlns:a="http://schemas.openxmlformats.org/drawingml/2006/main" noGrp="1"/>
          </p:cNvSpPr>
          <p:nvPr/>
        </p:nvSpPr>
        <p:spPr>
          <a:xfrm xmlns:a="http://schemas.openxmlformats.org/drawingml/2006/main">
            <a:off x="714375" y="57150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242C33"/>
                </a:solidFill>
                <a:latin typeface="Helvetica Neue"/>
                <a:ea typeface="Helvetica Neue"/>
                <a:cs typeface="Helvetica Neue"/>
              </a:defRPr>
            </a:pPr>
            <a:r>
              <a:rPr sz="1875" b="0">
                <a:solidFill>
                  <a:srgbClr val="242C33"/>
                </a:solidFill>
                <a:latin typeface="Helvetica Neue"/>
                <a:ea typeface="Helvetica Neue"/>
                <a:cs typeface="Helvetica Neue"/>
              </a:rPr>
              <a:t>m = 2; tolerancia = 0.2 × desviación estándar de cada señal</a:t>
            </a:r>
          </a:p>
        </p:txBody>
      </p:sp>
    </p:spTree>
    <p:extLst>
      <p:ext uri="{BB962C8B-B14F-4D97-AF65-F5344CB8AC3E}">
        <p14:creationId xmlns:p14="http://schemas.microsoft.com/office/powerpoint/2010/main" val="105654776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Informer para componentes más irregulares">
            <a:extLst xmlns:a="http://schemas.openxmlformats.org/drawingml/2006/main">
              <a:ext uri="{FF2B5EF4-FFF2-40B4-BE49-F238E27FC236}">
                <a16:creationId xmlns:a16="http://schemas.microsoft.com/office/drawing/2014/main" id="{92A17D03-F553-4094-9889-58643C220637}"/>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Informer para componentes más irregulares</a:t>
            </a:r>
          </a:p>
        </p:txBody>
      </p:sp>
      <p:sp>
        <p:nvSpPr>
          <p:cNvPr id="2" name="Wang et al. (2026), figura 1; Zhou et al. (2021)">
            <a:extLst xmlns:a="http://schemas.openxmlformats.org/drawingml/2006/main">
              <a:ext uri="{FF2B5EF4-FFF2-40B4-BE49-F238E27FC236}">
                <a16:creationId xmlns:a16="http://schemas.microsoft.com/office/drawing/2014/main" id="{633145CD-2492-434A-9CC7-BE0E8D907376}"/>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Wang et al. (2026), figura 1; Zhou et al. (2021)</a:t>
            </a:r>
          </a:p>
        </p:txBody>
      </p:sp>
      <p:sp>
        <p:nvSpPr>
          <p:cNvPr id="3" name="06">
            <a:extLst xmlns:a="http://schemas.openxmlformats.org/drawingml/2006/main">
              <a:ext uri="{FF2B5EF4-FFF2-40B4-BE49-F238E27FC236}">
                <a16:creationId xmlns:a16="http://schemas.microsoft.com/office/drawing/2014/main" id="{2B6C6FFD-9ABC-40C7-83C5-83B723ACFD7A}"/>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06</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3742efb9b574ef2"/>
          <a:stretch xmlns:a="http://schemas.openxmlformats.org/drawingml/2006/main"/>
        </p:blipFill>
        <p:spPr>
          <a:xfrm xmlns:a="http://schemas.openxmlformats.org/drawingml/2006/main">
            <a:off x="597694" y="1695450"/>
            <a:ext cx="6643688" cy="4429125"/>
          </a:xfrm>
          <a:prstGeom xmlns:a="http://schemas.openxmlformats.org/drawingml/2006/main" prst="rect">
            <a:avLst/>
          </a:prstGeom>
        </p:spPr>
      </p:pic>
      <p:sp>
        <p:nvSpPr>
          <p:cNvPr id="5" name="Atención ProbSparse">
            <a:extLst xmlns:a="http://schemas.openxmlformats.org/drawingml/2006/main">
              <a:ext uri="{FF2B5EF4-FFF2-40B4-BE49-F238E27FC236}">
                <a16:creationId xmlns:a16="http://schemas.microsoft.com/office/drawing/2014/main" id="{D610651F-5744-409C-AEFD-4536CDBB80DF}"/>
              </a:ext>
            </a:extLst>
          </p:cNvPr>
          <p:cNvSpPr>
            <a:spLocks xmlns:a="http://schemas.openxmlformats.org/drawingml/2006/main" noGrp="1"/>
          </p:cNvSpPr>
          <p:nvPr/>
        </p:nvSpPr>
        <p:spPr>
          <a:xfrm xmlns:a="http://schemas.openxmlformats.org/drawingml/2006/main">
            <a:off x="7686675" y="1695450"/>
            <a:ext cx="3876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Atención ProbSparse</a:t>
            </a:r>
          </a:p>
        </p:txBody>
      </p:sp>
      <p:sp>
        <p:nvSpPr>
          <p:cNvPr id="6" name="Concentra el cálculo en consultas seleccionadas.">
            <a:extLst xmlns:a="http://schemas.openxmlformats.org/drawingml/2006/main">
              <a:ext uri="{FF2B5EF4-FFF2-40B4-BE49-F238E27FC236}">
                <a16:creationId xmlns:a16="http://schemas.microsoft.com/office/drawing/2014/main" id="{2508D37E-9571-43D7-A598-6A54D2A00D6B}"/>
              </a:ext>
            </a:extLst>
          </p:cNvPr>
          <p:cNvSpPr>
            <a:spLocks xmlns:a="http://schemas.openxmlformats.org/drawingml/2006/main" noGrp="1"/>
          </p:cNvSpPr>
          <p:nvPr/>
        </p:nvSpPr>
        <p:spPr>
          <a:xfrm xmlns:a="http://schemas.openxmlformats.org/drawingml/2006/main">
            <a:off x="7686675" y="2124075"/>
            <a:ext cx="38766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Concentra el cálculo en consultas seleccionadas.</a:t>
            </a:r>
          </a:p>
        </p:txBody>
      </p:sp>
      <p:sp>
        <p:nvSpPr>
          <p:cNvPr id="7" name="Reducción temporal">
            <a:extLst xmlns:a="http://schemas.openxmlformats.org/drawingml/2006/main">
              <a:ext uri="{FF2B5EF4-FFF2-40B4-BE49-F238E27FC236}">
                <a16:creationId xmlns:a16="http://schemas.microsoft.com/office/drawing/2014/main" id="{730F392A-5B50-4E9C-97EF-79DD3C6C3A8F}"/>
              </a:ext>
            </a:extLst>
          </p:cNvPr>
          <p:cNvSpPr>
            <a:spLocks xmlns:a="http://schemas.openxmlformats.org/drawingml/2006/main" noGrp="1"/>
          </p:cNvSpPr>
          <p:nvPr/>
        </p:nvSpPr>
        <p:spPr>
          <a:xfrm xmlns:a="http://schemas.openxmlformats.org/drawingml/2006/main">
            <a:off x="7686675" y="3219450"/>
            <a:ext cx="3876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Reducción temporal</a:t>
            </a:r>
          </a:p>
        </p:txBody>
      </p:sp>
      <p:sp>
        <p:nvSpPr>
          <p:cNvPr id="8" name="El encoder acorta las representaciones entre capas.">
            <a:extLst xmlns:a="http://schemas.openxmlformats.org/drawingml/2006/main">
              <a:ext uri="{FF2B5EF4-FFF2-40B4-BE49-F238E27FC236}">
                <a16:creationId xmlns:a16="http://schemas.microsoft.com/office/drawing/2014/main" id="{09A69E9C-5589-4203-BB67-938BF4A7EEF2}"/>
              </a:ext>
            </a:extLst>
          </p:cNvPr>
          <p:cNvSpPr>
            <a:spLocks xmlns:a="http://schemas.openxmlformats.org/drawingml/2006/main" noGrp="1"/>
          </p:cNvSpPr>
          <p:nvPr/>
        </p:nvSpPr>
        <p:spPr>
          <a:xfrm xmlns:a="http://schemas.openxmlformats.org/drawingml/2006/main">
            <a:off x="7686675" y="3648075"/>
            <a:ext cx="38766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El encoder acorta las representaciones entre capas.</a:t>
            </a:r>
          </a:p>
        </p:txBody>
      </p:sp>
      <p:sp>
        <p:nvSpPr>
          <p:cNvPr id="9" name="Salida directa">
            <a:extLst xmlns:a="http://schemas.openxmlformats.org/drawingml/2006/main">
              <a:ext uri="{FF2B5EF4-FFF2-40B4-BE49-F238E27FC236}">
                <a16:creationId xmlns:a16="http://schemas.microsoft.com/office/drawing/2014/main" id="{B7F9BBB0-4B9B-4252-B55A-E529D8840AB8}"/>
              </a:ext>
            </a:extLst>
          </p:cNvPr>
          <p:cNvSpPr>
            <a:spLocks xmlns:a="http://schemas.openxmlformats.org/drawingml/2006/main" noGrp="1"/>
          </p:cNvSpPr>
          <p:nvPr/>
        </p:nvSpPr>
        <p:spPr>
          <a:xfrm xmlns:a="http://schemas.openxmlformats.org/drawingml/2006/main">
            <a:off x="7686675" y="4743450"/>
            <a:ext cx="3876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Salida directa</a:t>
            </a:r>
          </a:p>
        </p:txBody>
      </p:sp>
      <p:sp>
        <p:nvSpPr>
          <p:cNvPr id="10" name="El decoder produce varios pasos en una pasada.">
            <a:extLst xmlns:a="http://schemas.openxmlformats.org/drawingml/2006/main">
              <a:ext uri="{FF2B5EF4-FFF2-40B4-BE49-F238E27FC236}">
                <a16:creationId xmlns:a16="http://schemas.microsoft.com/office/drawing/2014/main" id="{82176C4D-E978-4FF8-B3F5-B1ED774B8A70}"/>
              </a:ext>
            </a:extLst>
          </p:cNvPr>
          <p:cNvSpPr>
            <a:spLocks xmlns:a="http://schemas.openxmlformats.org/drawingml/2006/main" noGrp="1"/>
          </p:cNvSpPr>
          <p:nvPr/>
        </p:nvSpPr>
        <p:spPr>
          <a:xfrm xmlns:a="http://schemas.openxmlformats.org/drawingml/2006/main">
            <a:off x="7686675" y="5172075"/>
            <a:ext cx="38766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El decoder produce varios pasos en una pasada.</a:t>
            </a:r>
          </a:p>
        </p:txBody>
      </p:sp>
    </p:spTree>
    <p:extLst>
      <p:ext uri="{BB962C8B-B14F-4D97-AF65-F5344CB8AC3E}">
        <p14:creationId xmlns:p14="http://schemas.microsoft.com/office/powerpoint/2010/main" val="205545548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STM y suma de las dos ramas">
            <a:extLst xmlns:a="http://schemas.openxmlformats.org/drawingml/2006/main">
              <a:ext uri="{FF2B5EF4-FFF2-40B4-BE49-F238E27FC236}">
                <a16:creationId xmlns:a16="http://schemas.microsoft.com/office/drawing/2014/main" id="{4B8CA7F2-C66C-4513-95AA-8A6E553FA099}"/>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LSTM y suma de las dos ramas</a:t>
            </a:r>
          </a:p>
        </p:txBody>
      </p:sp>
      <p:sp>
        <p:nvSpPr>
          <p:cNvPr id="2" name="Wang et al. (2026), figura 2 y ecuación 14">
            <a:extLst xmlns:a="http://schemas.openxmlformats.org/drawingml/2006/main">
              <a:ext uri="{FF2B5EF4-FFF2-40B4-BE49-F238E27FC236}">
                <a16:creationId xmlns:a16="http://schemas.microsoft.com/office/drawing/2014/main" id="{4F76FF59-1510-4773-83A6-5058E657AF0E}"/>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Wang et al. (2026), figura 2 y ecuación 14</a:t>
            </a:r>
          </a:p>
        </p:txBody>
      </p:sp>
      <p:sp>
        <p:nvSpPr>
          <p:cNvPr id="3" name="07">
            <a:extLst xmlns:a="http://schemas.openxmlformats.org/drawingml/2006/main">
              <a:ext uri="{FF2B5EF4-FFF2-40B4-BE49-F238E27FC236}">
                <a16:creationId xmlns:a16="http://schemas.microsoft.com/office/drawing/2014/main" id="{763855BC-D081-4316-A036-18C4003EF066}"/>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07</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915cd56bf234f57"/>
          <a:stretch xmlns:a="http://schemas.openxmlformats.org/drawingml/2006/main"/>
        </p:blipFill>
        <p:spPr>
          <a:xfrm xmlns:a="http://schemas.openxmlformats.org/drawingml/2006/main">
            <a:off x="590550" y="1756802"/>
            <a:ext cx="6096000" cy="3944471"/>
          </a:xfrm>
          <a:prstGeom xmlns:a="http://schemas.openxmlformats.org/drawingml/2006/main" prst="rect">
            <a:avLst/>
          </a:prstGeom>
        </p:spPr>
      </p:pic>
      <p:sp>
        <p:nvSpPr>
          <p:cNvPr id="5" name="Memoria y compuertas">
            <a:extLst xmlns:a="http://schemas.openxmlformats.org/drawingml/2006/main">
              <a:ext uri="{FF2B5EF4-FFF2-40B4-BE49-F238E27FC236}">
                <a16:creationId xmlns:a16="http://schemas.microsoft.com/office/drawing/2014/main" id="{968D441C-27D8-4391-B08E-3237A718973A}"/>
              </a:ext>
            </a:extLst>
          </p:cNvPr>
          <p:cNvSpPr>
            <a:spLocks xmlns:a="http://schemas.openxmlformats.org/drawingml/2006/main" noGrp="1"/>
          </p:cNvSpPr>
          <p:nvPr/>
        </p:nvSpPr>
        <p:spPr>
          <a:xfrm xmlns:a="http://schemas.openxmlformats.org/drawingml/2006/main">
            <a:off x="7239000" y="1685925"/>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Memoria y compuertas</a:t>
            </a:r>
          </a:p>
        </p:txBody>
      </p:sp>
      <p:sp>
        <p:nvSpPr>
          <p:cNvPr id="6" name="La LSTM regula qué información conserva, incorpora y entrega">
            <a:extLst xmlns:a="http://schemas.openxmlformats.org/drawingml/2006/main">
              <a:ext uri="{FF2B5EF4-FFF2-40B4-BE49-F238E27FC236}">
                <a16:creationId xmlns:a16="http://schemas.microsoft.com/office/drawing/2014/main" id="{FE747ED7-C000-42EE-BF0C-94489721779F}"/>
              </a:ext>
            </a:extLst>
          </p:cNvPr>
          <p:cNvSpPr>
            <a:spLocks xmlns:a="http://schemas.openxmlformats.org/drawingml/2006/main" noGrp="1"/>
          </p:cNvSpPr>
          <p:nvPr/>
        </p:nvSpPr>
        <p:spPr>
          <a:xfrm xmlns:a="http://schemas.openxmlformats.org/drawingml/2006/main">
            <a:off x="7239000" y="2114550"/>
            <a:ext cx="419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La LSTM regula qué información conserva, incorpora y entrega.</a:t>
            </a:r>
          </a:p>
        </p:txBody>
      </p:sp>
      <p:sp>
        <p:nvSpPr>
          <p:cNvPr id="7" name="Rama de menor complejidad">
            <a:extLst xmlns:a="http://schemas.openxmlformats.org/drawingml/2006/main">
              <a:ext uri="{FF2B5EF4-FFF2-40B4-BE49-F238E27FC236}">
                <a16:creationId xmlns:a16="http://schemas.microsoft.com/office/drawing/2014/main" id="{B2EAC609-889A-46CE-875C-11B4EA67B7DB}"/>
              </a:ext>
            </a:extLst>
          </p:cNvPr>
          <p:cNvSpPr>
            <a:spLocks xmlns:a="http://schemas.openxmlformats.org/drawingml/2006/main" noGrp="1"/>
          </p:cNvSpPr>
          <p:nvPr/>
        </p:nvSpPr>
        <p:spPr>
          <a:xfrm xmlns:a="http://schemas.openxmlformats.org/drawingml/2006/main">
            <a:off x="7239000" y="3276600"/>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Rama de menor complejidad</a:t>
            </a:r>
          </a:p>
        </p:txBody>
      </p:sp>
      <p:sp>
        <p:nvSpPr>
          <p:cNvPr id="8" name="El paper la asigna a los componentes más regulares.">
            <a:extLst xmlns:a="http://schemas.openxmlformats.org/drawingml/2006/main">
              <a:ext uri="{FF2B5EF4-FFF2-40B4-BE49-F238E27FC236}">
                <a16:creationId xmlns:a16="http://schemas.microsoft.com/office/drawing/2014/main" id="{16E44C10-2CBB-4303-8823-ACDA4BB781C7}"/>
              </a:ext>
            </a:extLst>
          </p:cNvPr>
          <p:cNvSpPr>
            <a:spLocks xmlns:a="http://schemas.openxmlformats.org/drawingml/2006/main" noGrp="1"/>
          </p:cNvSpPr>
          <p:nvPr/>
        </p:nvSpPr>
        <p:spPr>
          <a:xfrm xmlns:a="http://schemas.openxmlformats.org/drawingml/2006/main">
            <a:off x="7239000" y="3705225"/>
            <a:ext cx="419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El paper la asigna a los componentes más regulares.</a:t>
            </a:r>
          </a:p>
        </p:txBody>
      </p:sp>
      <p:sp>
        <p:nvSpPr>
          <p:cNvPr id="9" name="q̂ = q̂Informer + q̂LSTM">
            <a:extLst xmlns:a="http://schemas.openxmlformats.org/drawingml/2006/main">
              <a:ext uri="{FF2B5EF4-FFF2-40B4-BE49-F238E27FC236}">
                <a16:creationId xmlns:a16="http://schemas.microsoft.com/office/drawing/2014/main" id="{B18AEE9F-2D92-44B9-BA9C-072CEFA9E9EB}"/>
              </a:ext>
            </a:extLst>
          </p:cNvPr>
          <p:cNvSpPr>
            <a:spLocks xmlns:a="http://schemas.openxmlformats.org/drawingml/2006/main" noGrp="1"/>
          </p:cNvSpPr>
          <p:nvPr/>
        </p:nvSpPr>
        <p:spPr>
          <a:xfrm xmlns:a="http://schemas.openxmlformats.org/drawingml/2006/main">
            <a:off x="7219950" y="5076825"/>
            <a:ext cx="42767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700" b="1">
                <a:solidFill>
                  <a:srgbClr val="007FA3"/>
                </a:solidFill>
                <a:latin typeface="Helvetica Neue"/>
                <a:ea typeface="Helvetica Neue"/>
                <a:cs typeface="Helvetica Neue"/>
              </a:defRPr>
            </a:pPr>
            <a:r>
              <a:rPr sz="2700" b="1">
                <a:solidFill>
                  <a:srgbClr val="007FA3"/>
                </a:solidFill>
                <a:latin typeface="Helvetica Neue"/>
                <a:ea typeface="Helvetica Neue"/>
                <a:cs typeface="Helvetica Neue"/>
              </a:rPr>
              <a:t>q̂ = q̂Informer + q̂LSTM</a:t>
            </a:r>
          </a:p>
        </p:txBody>
      </p:sp>
    </p:spTree>
    <p:extLst>
      <p:ext uri="{BB962C8B-B14F-4D97-AF65-F5344CB8AC3E}">
        <p14:creationId xmlns:p14="http://schemas.microsoft.com/office/powerpoint/2010/main" val="101121764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daptación del paper al laboratorio">
            <a:extLst xmlns:a="http://schemas.openxmlformats.org/drawingml/2006/main">
              <a:ext uri="{FF2B5EF4-FFF2-40B4-BE49-F238E27FC236}">
                <a16:creationId xmlns:a16="http://schemas.microsoft.com/office/drawing/2014/main" id="{33134B7E-E8F8-4572-8DAA-BCB1D02944DB}"/>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Adaptación del paper al laboratorio</a:t>
            </a:r>
          </a:p>
        </p:txBody>
      </p:sp>
      <p:sp>
        <p:nvSpPr>
          <p:cNvPr id="2" name="Laboratorio 2, pp. 1–2; Wang et al. (2026), sección 3; confi">
            <a:extLst xmlns:a="http://schemas.openxmlformats.org/drawingml/2006/main">
              <a:ext uri="{FF2B5EF4-FFF2-40B4-BE49-F238E27FC236}">
                <a16:creationId xmlns:a16="http://schemas.microsoft.com/office/drawing/2014/main" id="{5A938F49-AF20-456A-B9C2-8475AD897865}"/>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Laboratorio 2, pp. 1–2; Wang et al. (2026), sección 3; configs/dmel.json</a:t>
            </a:r>
          </a:p>
        </p:txBody>
      </p:sp>
      <p:sp>
        <p:nvSpPr>
          <p:cNvPr id="3" name="08">
            <a:extLst xmlns:a="http://schemas.openxmlformats.org/drawingml/2006/main">
              <a:ext uri="{FF2B5EF4-FFF2-40B4-BE49-F238E27FC236}">
                <a16:creationId xmlns:a16="http://schemas.microsoft.com/office/drawing/2014/main" id="{AD3BBBE6-F5E8-4B28-9B9C-09A27A6D5AC1}"/>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08</a:t>
            </a:r>
          </a:p>
        </p:txBody>
      </p:sp>
      <p:graphicFrame>
        <p:nvGraphicFramePr>
          <p:cNvPr id="11" name=""/>
          <p:cNvGraphicFramePr/>
          <p:nvPr/>
        </p:nvGraphicFramePr>
        <p:xfrm>
          <a:off xmlns:a="http://schemas.openxmlformats.org/drawingml/2006/main" x="609600" y="1657350"/>
          <a:ext xmlns:a="http://schemas.openxmlformats.org/drawingml/2006/main" cx="10972800" cy="4000500"/>
        </p:xfrm>
        <a:graphic xmlns:a="http://schemas.openxmlformats.org/drawingml/2006/main">
          <a:graphicData uri="http://schemas.openxmlformats.org/drawingml/2006/table">
            <a:tbl>
              <a:tblPr firstRow="1" bandRow="0"/>
              <a:tblGrid>
                <a:gridCol w="2247900"/>
                <a:gridCol w="3762375"/>
                <a:gridCol w="4962525"/>
              </a:tblGrid>
              <a:tr h="571500">
                <a:tc>
                  <a:txBody>
                    <a:bodyPr/>
                    <a:lstStyle/>
                    <a:p>
                      <a:r>
                        <a:rPr sz="1800" b="1">
                          <a:solidFill>
                            <a:srgbClr val="064B6B"/>
                          </a:solidFill>
                          <a:latin typeface="Helvetica Neue"/>
                          <a:ea typeface="Helvetica Neue"/>
                          <a:cs typeface="Helvetica Neue"/>
                        </a:rPr>
                        <a:t>Aspecto</a:t>
                      </a:r>
                    </a:p>
                  </a:txBody>
                  <a:tcPr marL="142875" marR="142875" marT="114300" marB="114300" anchor="ctr">
                    <a:solidFill>
                      <a:srgbClr val="EAF4F8"/>
                    </a:solidFill>
                  </a:tcPr>
                </a:tc>
                <a:tc>
                  <a:txBody>
                    <a:bodyPr/>
                    <a:lstStyle/>
                    <a:p>
                      <a:r>
                        <a:rPr sz="1800" b="1">
                          <a:solidFill>
                            <a:srgbClr val="064B6B"/>
                          </a:solidFill>
                          <a:latin typeface="Helvetica Neue"/>
                          <a:ea typeface="Helvetica Neue"/>
                          <a:cs typeface="Helvetica Neue"/>
                        </a:rPr>
                        <a:t>Paper original</a:t>
                      </a:r>
                    </a:p>
                  </a:txBody>
                  <a:tcPr marL="142875" marR="142875" marT="114300" marB="114300" anchor="ctr">
                    <a:solidFill>
                      <a:srgbClr val="EAF4F8"/>
                    </a:solidFill>
                  </a:tcPr>
                </a:tc>
                <a:tc>
                  <a:txBody>
                    <a:bodyPr/>
                    <a:lstStyle/>
                    <a:p>
                      <a:r>
                        <a:rPr sz="1800" b="1">
                          <a:solidFill>
                            <a:srgbClr val="064B6B"/>
                          </a:solidFill>
                          <a:latin typeface="Helvetica Neue"/>
                          <a:ea typeface="Helvetica Neue"/>
                          <a:cs typeface="Helvetica Neue"/>
                        </a:rPr>
                        <a:t>Nuestro laboratorio</a:t>
                      </a:r>
                    </a:p>
                  </a:txBody>
                  <a:tcPr marL="142875" marR="142875" marT="114300" marB="114300" anchor="ctr">
                    <a:solidFill>
                      <a:srgbClr val="EAF4F8"/>
                    </a:solidFill>
                  </a:tcPr>
                </a:tc>
              </a:tr>
              <a:tr h="571500">
                <a:tc>
                  <a:txBody>
                    <a:bodyPr/>
                    <a:lstStyle/>
                    <a:p>
                      <a:r>
                        <a:rPr sz="1800" b="0">
                          <a:solidFill>
                            <a:srgbClr val="242C33"/>
                          </a:solidFill>
                          <a:latin typeface="Helvetica Neue"/>
                          <a:ea typeface="Helvetica Neue"/>
                          <a:cs typeface="Helvetica Neue"/>
                        </a:rPr>
                        <a:t>Resolución</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Diaria</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Horaria</a:t>
                      </a:r>
                    </a:p>
                  </a:txBody>
                  <a:tcPr marL="142875" marR="142875" marT="114300" marB="114300" anchor="ctr">
                    <a:solidFill>
                      <a:srgbClr val="FFFFFF"/>
                    </a:solidFill>
                  </a:tcPr>
                </a:tc>
              </a:tr>
              <a:tr h="571500">
                <a:tc>
                  <a:txBody>
                    <a:bodyPr/>
                    <a:lstStyle/>
                    <a:p>
                      <a:r>
                        <a:rPr sz="1800" b="0">
                          <a:solidFill>
                            <a:srgbClr val="242C33"/>
                          </a:solidFill>
                          <a:latin typeface="Helvetica Neue"/>
                          <a:ea typeface="Helvetica Neue"/>
                          <a:cs typeface="Helvetica Neue"/>
                        </a:rPr>
                        <a:t>Historia</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7 días</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336 horas, equivalentes a 14 días</a:t>
                      </a:r>
                    </a:p>
                  </a:txBody>
                  <a:tcPr marL="142875" marR="142875" marT="114300" marB="114300" anchor="ctr">
                    <a:solidFill>
                      <a:srgbClr val="F5F7F8"/>
                    </a:solidFill>
                  </a:tcPr>
                </a:tc>
              </a:tr>
              <a:tr h="571500">
                <a:tc>
                  <a:txBody>
                    <a:bodyPr/>
                    <a:lstStyle/>
                    <a:p>
                      <a:r>
                        <a:rPr sz="1800" b="0">
                          <a:solidFill>
                            <a:srgbClr val="242C33"/>
                          </a:solidFill>
                          <a:latin typeface="Helvetica Neue"/>
                          <a:ea typeface="Helvetica Neue"/>
                          <a:cs typeface="Helvetica Neue"/>
                        </a:rPr>
                        <a:t>Pronóstico</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1, 3, 5 o 7 días</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48 valores horarios</a:t>
                      </a:r>
                    </a:p>
                  </a:txBody>
                  <a:tcPr marL="142875" marR="142875" marT="114300" marB="114300" anchor="ctr">
                    <a:solidFill>
                      <a:srgbClr val="FFFFFF"/>
                    </a:solidFill>
                  </a:tcPr>
                </a:tc>
              </a:tr>
              <a:tr h="571500">
                <a:tc>
                  <a:txBody>
                    <a:bodyPr/>
                    <a:lstStyle/>
                    <a:p>
                      <a:r>
                        <a:rPr sz="1800" b="0">
                          <a:solidFill>
                            <a:srgbClr val="242C33"/>
                          </a:solidFill>
                          <a:latin typeface="Helvetica Neue"/>
                          <a:ea typeface="Helvetica Neue"/>
                          <a:cs typeface="Helvetica Neue"/>
                        </a:rPr>
                        <a:t>Entradas</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Caudal en casos principales</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Caudal y 11 meteorológicas</a:t>
                      </a:r>
                    </a:p>
                  </a:txBody>
                  <a:tcPr marL="142875" marR="142875" marT="114300" marB="114300" anchor="ctr">
                    <a:solidFill>
                      <a:srgbClr val="F5F7F8"/>
                    </a:solidFill>
                  </a:tcPr>
                </a:tc>
              </a:tr>
              <a:tr h="571500">
                <a:tc>
                  <a:txBody>
                    <a:bodyPr/>
                    <a:lstStyle/>
                    <a:p>
                      <a:r>
                        <a:rPr sz="1800" b="0">
                          <a:solidFill>
                            <a:srgbClr val="242C33"/>
                          </a:solidFill>
                          <a:latin typeface="Helvetica Neue"/>
                          <a:ea typeface="Helvetica Neue"/>
                          <a:cs typeface="Helvetica Neue"/>
                        </a:rPr>
                        <a:t>Partición</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70 / 15 / 15</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Flags split proporcionados</a:t>
                      </a:r>
                    </a:p>
                  </a:txBody>
                  <a:tcPr marL="142875" marR="142875" marT="114300" marB="114300" anchor="ctr">
                    <a:solidFill>
                      <a:srgbClr val="FFFFFF"/>
                    </a:solidFill>
                  </a:tcPr>
                </a:tc>
              </a:tr>
              <a:tr h="571500">
                <a:tc>
                  <a:txBody>
                    <a:bodyPr/>
                    <a:lstStyle/>
                    <a:p>
                      <a:r>
                        <a:rPr sz="1800" b="0">
                          <a:solidFill>
                            <a:srgbClr val="242C33"/>
                          </a:solidFill>
                          <a:latin typeface="Helvetica Neue"/>
                          <a:ea typeface="Helvetica Neue"/>
                          <a:cs typeface="Helvetica Neue"/>
                        </a:rPr>
                        <a:t>Salida física</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m³/s en casos principales</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Caudal específico en mm/h</a:t>
                      </a:r>
                    </a:p>
                  </a:txBody>
                  <a:tcPr marL="142875" marR="142875" marT="114300" marB="114300" anchor="ctr">
                    <a:solidFill>
                      <a:srgbClr val="F5F7F8"/>
                    </a:solidFill>
                  </a:tcPr>
                </a:tc>
              </a:tr>
            </a:tbl>
          </a:graphicData>
        </a:graphic>
      </p:graphicFrame>
      <p:sp>
        <p:nvSpPr>
          <p:cNvPr id="5" name="El laboratorio permite simplificaciones justificadas que con">
            <a:extLst xmlns:a="http://schemas.openxmlformats.org/drawingml/2006/main">
              <a:ext uri="{FF2B5EF4-FFF2-40B4-BE49-F238E27FC236}">
                <a16:creationId xmlns:a16="http://schemas.microsoft.com/office/drawing/2014/main" id="{1F5B1C72-B12F-4336-B175-E15011E26931}"/>
              </a:ext>
            </a:extLst>
          </p:cNvPr>
          <p:cNvSpPr>
            <a:spLocks xmlns:a="http://schemas.openxmlformats.org/drawingml/2006/main" noGrp="1"/>
          </p:cNvSpPr>
          <p:nvPr/>
        </p:nvSpPr>
        <p:spPr>
          <a:xfrm xmlns:a="http://schemas.openxmlformats.org/drawingml/2006/main">
            <a:off x="666750" y="58578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00" b="1">
                <a:solidFill>
                  <a:srgbClr val="007FA3"/>
                </a:solidFill>
                <a:latin typeface="Helvetica Neue"/>
                <a:ea typeface="Helvetica Neue"/>
                <a:cs typeface="Helvetica Neue"/>
              </a:defRPr>
            </a:pPr>
            <a:r>
              <a:rPr sz="1800" b="1">
                <a:solidFill>
                  <a:srgbClr val="007FA3"/>
                </a:solidFill>
                <a:latin typeface="Helvetica Neue"/>
                <a:ea typeface="Helvetica Neue"/>
                <a:cs typeface="Helvetica Neue"/>
              </a:rPr>
              <a:t>El laboratorio permite simplificaciones justificadas que conserven la propuesta central.</a:t>
            </a:r>
          </a:p>
        </p:txBody>
      </p:sp>
    </p:spTree>
    <p:extLst>
      <p:ext uri="{BB962C8B-B14F-4D97-AF65-F5344CB8AC3E}">
        <p14:creationId xmlns:p14="http://schemas.microsoft.com/office/powerpoint/2010/main" val="128733851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Contrato del dataset Rainfall–Runoff">
            <a:extLst xmlns:a="http://schemas.openxmlformats.org/drawingml/2006/main">
              <a:ext uri="{FF2B5EF4-FFF2-40B4-BE49-F238E27FC236}">
                <a16:creationId xmlns:a16="http://schemas.microsoft.com/office/drawing/2014/main" id="{131A89FE-C14E-493B-95F2-365501994663}"/>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Contrato del dataset Rainfall–Runoff</a:t>
            </a:r>
          </a:p>
        </p:txBody>
      </p:sp>
      <p:sp>
        <p:nvSpPr>
          <p:cNvPr id="2" name="Conteos por partición: metadata.json. Total de train.h5: ver">
            <a:extLst xmlns:a="http://schemas.openxmlformats.org/drawingml/2006/main">
              <a:ext uri="{FF2B5EF4-FFF2-40B4-BE49-F238E27FC236}">
                <a16:creationId xmlns:a16="http://schemas.microsoft.com/office/drawing/2014/main" id="{F423424B-B1F0-486B-BA7E-0DBA90998CB9}"/>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Conteos por partición: metadata.json. Total de train.h5: verificado en Khipu</a:t>
            </a:r>
          </a:p>
        </p:txBody>
      </p:sp>
      <p:sp>
        <p:nvSpPr>
          <p:cNvPr id="3" name="09">
            <a:extLst xmlns:a="http://schemas.openxmlformats.org/drawingml/2006/main">
              <a:ext uri="{FF2B5EF4-FFF2-40B4-BE49-F238E27FC236}">
                <a16:creationId xmlns:a16="http://schemas.microsoft.com/office/drawing/2014/main" id="{1A2FD6EA-BA69-4086-9F26-036C6D2F9E1A}"/>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09</a:t>
            </a:r>
          </a:p>
        </p:txBody>
      </p:sp>
      <p:sp>
        <p:nvSpPr>
          <p:cNvPr id="4" name="X: [N, 336, 12]">
            <a:extLst xmlns:a="http://schemas.openxmlformats.org/drawingml/2006/main">
              <a:ext uri="{FF2B5EF4-FFF2-40B4-BE49-F238E27FC236}">
                <a16:creationId xmlns:a16="http://schemas.microsoft.com/office/drawing/2014/main" id="{A5E34C5A-D0ED-4B94-A76D-6997307C1462}"/>
              </a:ext>
            </a:extLst>
          </p:cNvPr>
          <p:cNvSpPr>
            <a:spLocks xmlns:a="http://schemas.openxmlformats.org/drawingml/2006/main" noGrp="1"/>
          </p:cNvSpPr>
          <p:nvPr/>
        </p:nvSpPr>
        <p:spPr>
          <a:xfrm xmlns:a="http://schemas.openxmlformats.org/drawingml/2006/main">
            <a:off x="666750" y="1581150"/>
            <a:ext cx="4953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225" b="1">
                <a:solidFill>
                  <a:srgbClr val="007FA3"/>
                </a:solidFill>
                <a:latin typeface="Helvetica Neue"/>
                <a:ea typeface="Helvetica Neue"/>
                <a:cs typeface="Helvetica Neue"/>
              </a:defRPr>
            </a:pPr>
            <a:r>
              <a:rPr sz="3225" b="1">
                <a:solidFill>
                  <a:srgbClr val="007FA3"/>
                </a:solidFill>
                <a:latin typeface="Helvetica Neue"/>
                <a:ea typeface="Helvetica Neue"/>
                <a:cs typeface="Helvetica Neue"/>
              </a:rPr>
              <a:t>X: [N, 336, 12]</a:t>
            </a:r>
          </a:p>
        </p:txBody>
      </p:sp>
      <p:sp>
        <p:nvSpPr>
          <p:cNvPr id="5" name="y: [N, 48]">
            <a:extLst xmlns:a="http://schemas.openxmlformats.org/drawingml/2006/main">
              <a:ext uri="{FF2B5EF4-FFF2-40B4-BE49-F238E27FC236}">
                <a16:creationId xmlns:a16="http://schemas.microsoft.com/office/drawing/2014/main" id="{758BBF21-1452-45A3-BB74-C39B9BD60890}"/>
              </a:ext>
            </a:extLst>
          </p:cNvPr>
          <p:cNvSpPr>
            <a:spLocks xmlns:a="http://schemas.openxmlformats.org/drawingml/2006/main" noGrp="1"/>
          </p:cNvSpPr>
          <p:nvPr/>
        </p:nvSpPr>
        <p:spPr>
          <a:xfrm xmlns:a="http://schemas.openxmlformats.org/drawingml/2006/main">
            <a:off x="6810375" y="1581150"/>
            <a:ext cx="4572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225" b="1">
                <a:solidFill>
                  <a:srgbClr val="007FA3"/>
                </a:solidFill>
                <a:latin typeface="Helvetica Neue"/>
                <a:ea typeface="Helvetica Neue"/>
                <a:cs typeface="Helvetica Neue"/>
              </a:defRPr>
            </a:pPr>
            <a:r>
              <a:rPr sz="3225" b="1">
                <a:solidFill>
                  <a:srgbClr val="007FA3"/>
                </a:solidFill>
                <a:latin typeface="Helvetica Neue"/>
                <a:ea typeface="Helvetica Neue"/>
                <a:cs typeface="Helvetica Neue"/>
              </a:rPr>
              <a:t>y: [N, 48]</a:t>
            </a:r>
          </a:p>
        </p:txBody>
      </p:sp>
      <p:graphicFrame>
        <p:nvGraphicFramePr>
          <p:cNvPr id="16" name=""/>
          <p:cNvGraphicFramePr/>
          <p:nvPr/>
        </p:nvGraphicFramePr>
        <p:xfrm>
          <a:off xmlns:a="http://schemas.openxmlformats.org/drawingml/2006/main" x="609600" y="2619375"/>
          <a:ext xmlns:a="http://schemas.openxmlformats.org/drawingml/2006/main" cx="10972800" cy="2600325"/>
        </p:xfrm>
        <a:graphic xmlns:a="http://schemas.openxmlformats.org/drawingml/2006/main">
          <a:graphicData uri="http://schemas.openxmlformats.org/drawingml/2006/table">
            <a:tbl>
              <a:tblPr firstRow="1" bandRow="0"/>
              <a:tblGrid>
                <a:gridCol w="2952750"/>
                <a:gridCol w="2333625"/>
                <a:gridCol w="5686425"/>
              </a:tblGrid>
              <a:tr h="650081">
                <a:tc>
                  <a:txBody>
                    <a:bodyPr/>
                    <a:lstStyle/>
                    <a:p>
                      <a:r>
                        <a:rPr sz="1950" b="1">
                          <a:solidFill>
                            <a:srgbClr val="064B6B"/>
                          </a:solidFill>
                          <a:latin typeface="Helvetica Neue"/>
                          <a:ea typeface="Helvetica Neue"/>
                          <a:cs typeface="Helvetica Neue"/>
                        </a:rPr>
                        <a:t>Partición</a:t>
                      </a:r>
                    </a:p>
                  </a:txBody>
                  <a:tcPr marL="142875" marR="142875" marT="114300" marB="114300" anchor="ctr">
                    <a:solidFill>
                      <a:srgbClr val="EAF4F8"/>
                    </a:solidFill>
                  </a:tcPr>
                </a:tc>
                <a:tc>
                  <a:txBody>
                    <a:bodyPr/>
                    <a:lstStyle/>
                    <a:p>
                      <a:r>
                        <a:rPr sz="1950" b="1">
                          <a:solidFill>
                            <a:srgbClr val="064B6B"/>
                          </a:solidFill>
                          <a:latin typeface="Helvetica Neue"/>
                          <a:ea typeface="Helvetica Neue"/>
                          <a:cs typeface="Helvetica Neue"/>
                        </a:rPr>
                        <a:t>Muestras</a:t>
                      </a:r>
                    </a:p>
                  </a:txBody>
                  <a:tcPr marL="142875" marR="142875" marT="114300" marB="114300" anchor="ctr">
                    <a:solidFill>
                      <a:srgbClr val="EAF4F8"/>
                    </a:solidFill>
                  </a:tcPr>
                </a:tc>
                <a:tc>
                  <a:txBody>
                    <a:bodyPr/>
                    <a:lstStyle/>
                    <a:p>
                      <a:r>
                        <a:rPr sz="1950" b="1">
                          <a:solidFill>
                            <a:srgbClr val="064B6B"/>
                          </a:solidFill>
                          <a:latin typeface="Helvetica Neue"/>
                          <a:ea typeface="Helvetica Neue"/>
                          <a:cs typeface="Helvetica Neue"/>
                        </a:rPr>
                        <a:t>Uso</a:t>
                      </a:r>
                    </a:p>
                  </a:txBody>
                  <a:tcPr marL="142875" marR="142875" marT="114300" marB="114300" anchor="ctr">
                    <a:solidFill>
                      <a:srgbClr val="EAF4F8"/>
                    </a:solidFill>
                  </a:tcPr>
                </a:tc>
              </a:tr>
              <a:tr h="650081">
                <a:tc>
                  <a:txBody>
                    <a:bodyPr/>
                    <a:lstStyle/>
                    <a:p>
                      <a:r>
                        <a:rPr sz="1950" b="0">
                          <a:solidFill>
                            <a:srgbClr val="242C33"/>
                          </a:solidFill>
                          <a:latin typeface="Helvetica Neue"/>
                          <a:ea typeface="Helvetica Neue"/>
                          <a:cs typeface="Helvetica Neue"/>
                        </a:rPr>
                        <a:t>Entrenamiento</a:t>
                      </a:r>
                    </a:p>
                  </a:txBody>
                  <a:tcPr marL="142875" marR="142875" marT="114300" marB="114300" anchor="ctr">
                    <a:solidFill>
                      <a:srgbClr val="FFFFFF"/>
                    </a:solidFill>
                  </a:tcPr>
                </a:tc>
                <a:tc>
                  <a:txBody>
                    <a:bodyPr/>
                    <a:lstStyle/>
                    <a:p>
                      <a:r>
                        <a:rPr sz="1950" b="0">
                          <a:solidFill>
                            <a:srgbClr val="242C33"/>
                          </a:solidFill>
                          <a:latin typeface="Helvetica Neue"/>
                          <a:ea typeface="Helvetica Neue"/>
                          <a:cs typeface="Helvetica Neue"/>
                        </a:rPr>
                        <a:t>254 000</a:t>
                      </a:r>
                    </a:p>
                  </a:txBody>
                  <a:tcPr marL="142875" marR="142875" marT="114300" marB="114300" anchor="ctr">
                    <a:solidFill>
                      <a:srgbClr val="FFFFFF"/>
                    </a:solidFill>
                  </a:tcPr>
                </a:tc>
                <a:tc>
                  <a:txBody>
                    <a:bodyPr/>
                    <a:lstStyle/>
                    <a:p>
                      <a:r>
                        <a:rPr sz="1950" b="0">
                          <a:solidFill>
                            <a:srgbClr val="242C33"/>
                          </a:solidFill>
                          <a:latin typeface="Helvetica Neue"/>
                          <a:ea typeface="Helvetica Neue"/>
                          <a:cs typeface="Helvetica Neue"/>
                        </a:rPr>
                        <a:t>Ajustar pesos y normalización</a:t>
                      </a:r>
                    </a:p>
                  </a:txBody>
                  <a:tcPr marL="142875" marR="142875" marT="114300" marB="114300" anchor="ctr">
                    <a:solidFill>
                      <a:srgbClr val="FFFFFF"/>
                    </a:solidFill>
                  </a:tcPr>
                </a:tc>
              </a:tr>
              <a:tr h="650081">
                <a:tc>
                  <a:txBody>
                    <a:bodyPr/>
                    <a:lstStyle/>
                    <a:p>
                      <a:r>
                        <a:rPr sz="1950" b="0">
                          <a:solidFill>
                            <a:srgbClr val="242C33"/>
                          </a:solidFill>
                          <a:latin typeface="Helvetica Neue"/>
                          <a:ea typeface="Helvetica Neue"/>
                          <a:cs typeface="Helvetica Neue"/>
                        </a:rPr>
                        <a:t>Validación</a:t>
                      </a:r>
                    </a:p>
                  </a:txBody>
                  <a:tcPr marL="142875" marR="142875" marT="114300" marB="114300" anchor="ctr">
                    <a:solidFill>
                      <a:srgbClr val="F5F7F8"/>
                    </a:solidFill>
                  </a:tcPr>
                </a:tc>
                <a:tc>
                  <a:txBody>
                    <a:bodyPr/>
                    <a:lstStyle/>
                    <a:p>
                      <a:r>
                        <a:rPr sz="1950" b="0">
                          <a:solidFill>
                            <a:srgbClr val="242C33"/>
                          </a:solidFill>
                          <a:latin typeface="Helvetica Neue"/>
                          <a:ea typeface="Helvetica Neue"/>
                          <a:cs typeface="Helvetica Neue"/>
                        </a:rPr>
                        <a:t>18 142</a:t>
                      </a:r>
                    </a:p>
                  </a:txBody>
                  <a:tcPr marL="142875" marR="142875" marT="114300" marB="114300" anchor="ctr">
                    <a:solidFill>
                      <a:srgbClr val="F5F7F8"/>
                    </a:solidFill>
                  </a:tcPr>
                </a:tc>
                <a:tc>
                  <a:txBody>
                    <a:bodyPr/>
                    <a:lstStyle/>
                    <a:p>
                      <a:r>
                        <a:rPr sz="1950" b="0">
                          <a:solidFill>
                            <a:srgbClr val="242C33"/>
                          </a:solidFill>
                          <a:latin typeface="Helvetica Neue"/>
                          <a:ea typeface="Helvetica Neue"/>
                          <a:cs typeface="Helvetica Neue"/>
                        </a:rPr>
                        <a:t>Seleccionar checkpoint</a:t>
                      </a:r>
                    </a:p>
                  </a:txBody>
                  <a:tcPr marL="142875" marR="142875" marT="114300" marB="114300" anchor="ctr">
                    <a:solidFill>
                      <a:srgbClr val="F5F7F8"/>
                    </a:solidFill>
                  </a:tcPr>
                </a:tc>
              </a:tr>
              <a:tr h="650081">
                <a:tc>
                  <a:txBody>
                    <a:bodyPr/>
                    <a:lstStyle/>
                    <a:p>
                      <a:r>
                        <a:rPr sz="1950" b="0">
                          <a:solidFill>
                            <a:srgbClr val="242C33"/>
                          </a:solidFill>
                          <a:latin typeface="Helvetica Neue"/>
                          <a:ea typeface="Helvetica Neue"/>
                          <a:cs typeface="Helvetica Neue"/>
                        </a:rPr>
                        <a:t>Test</a:t>
                      </a:r>
                    </a:p>
                  </a:txBody>
                  <a:tcPr marL="142875" marR="142875" marT="114300" marB="114300" anchor="ctr">
                    <a:solidFill>
                      <a:srgbClr val="FFFFFF"/>
                    </a:solidFill>
                  </a:tcPr>
                </a:tc>
                <a:tc>
                  <a:txBody>
                    <a:bodyPr/>
                    <a:lstStyle/>
                    <a:p>
                      <a:r>
                        <a:rPr sz="1950" b="0">
                          <a:solidFill>
                            <a:srgbClr val="242C33"/>
                          </a:solidFill>
                          <a:latin typeface="Helvetica Neue"/>
                          <a:ea typeface="Helvetica Neue"/>
                          <a:cs typeface="Helvetica Neue"/>
                        </a:rPr>
                        <a:t>27 983</a:t>
                      </a:r>
                    </a:p>
                  </a:txBody>
                  <a:tcPr marL="142875" marR="142875" marT="114300" marB="114300" anchor="ctr">
                    <a:solidFill>
                      <a:srgbClr val="FFFFFF"/>
                    </a:solidFill>
                  </a:tcPr>
                </a:tc>
                <a:tc>
                  <a:txBody>
                    <a:bodyPr/>
                    <a:lstStyle/>
                    <a:p>
                      <a:r>
                        <a:rPr sz="1950" b="0">
                          <a:solidFill>
                            <a:srgbClr val="242C33"/>
                          </a:solidFill>
                          <a:latin typeface="Helvetica Neue"/>
                          <a:ea typeface="Helvetica Neue"/>
                          <a:cs typeface="Helvetica Neue"/>
                        </a:rPr>
                        <a:t>Generar predicciones finales</a:t>
                      </a:r>
                    </a:p>
                  </a:txBody>
                  <a:tcPr marL="142875" marR="142875" marT="114300" marB="114300" anchor="ctr">
                    <a:solidFill>
                      <a:srgbClr val="FFFFFF"/>
                    </a:solidFill>
                  </a:tcPr>
                </a:tc>
              </a:tr>
            </a:tbl>
          </a:graphicData>
        </a:graphic>
      </p:graphicFrame>
      <p:sp>
        <p:nvSpPr>
          <p:cNvPr id="7" name="Canal 11: caudal específico. Canales 0–10: meteorología hist">
            <a:extLst xmlns:a="http://schemas.openxmlformats.org/drawingml/2006/main">
              <a:ext uri="{FF2B5EF4-FFF2-40B4-BE49-F238E27FC236}">
                <a16:creationId xmlns:a16="http://schemas.microsoft.com/office/drawing/2014/main" id="{D0DA5F29-2A87-4C38-9F88-76817EED0BA7}"/>
              </a:ext>
            </a:extLst>
          </p:cNvPr>
          <p:cNvSpPr>
            <a:spLocks xmlns:a="http://schemas.openxmlformats.org/drawingml/2006/main" noGrp="1"/>
          </p:cNvSpPr>
          <p:nvPr/>
        </p:nvSpPr>
        <p:spPr>
          <a:xfrm xmlns:a="http://schemas.openxmlformats.org/drawingml/2006/main">
            <a:off x="695325" y="5505450"/>
            <a:ext cx="10525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242C33"/>
                </a:solidFill>
                <a:latin typeface="Helvetica Neue"/>
                <a:ea typeface="Helvetica Neue"/>
                <a:cs typeface="Helvetica Neue"/>
              </a:defRPr>
            </a:pPr>
            <a:r>
              <a:rPr sz="1875" b="0">
                <a:solidFill>
                  <a:srgbClr val="242C33"/>
                </a:solidFill>
                <a:latin typeface="Helvetica Neue"/>
                <a:ea typeface="Helvetica Neue"/>
                <a:cs typeface="Helvetica Neue"/>
              </a:rPr>
              <a:t>Canal 11: caudal específico. Canales 0–10: meteorología histórica.</a:t>
            </a:r>
          </a:p>
        </p:txBody>
      </p:sp>
      <p:sp>
        <p:nvSpPr>
          <p:cNvPr id="8" name="508 cuencas verificadas en test. Identificadores anónimos, s">
            <a:extLst xmlns:a="http://schemas.openxmlformats.org/drawingml/2006/main">
              <a:ext uri="{FF2B5EF4-FFF2-40B4-BE49-F238E27FC236}">
                <a16:creationId xmlns:a16="http://schemas.microsoft.com/office/drawing/2014/main" id="{772DB8C2-312B-4581-81CA-6A4E8B7BDD8D}"/>
              </a:ext>
            </a:extLst>
          </p:cNvPr>
          <p:cNvSpPr>
            <a:spLocks xmlns:a="http://schemas.openxmlformats.org/drawingml/2006/main" noGrp="1"/>
          </p:cNvSpPr>
          <p:nvPr/>
        </p:nvSpPr>
        <p:spPr>
          <a:xfrm xmlns:a="http://schemas.openxmlformats.org/drawingml/2006/main">
            <a:off x="695325" y="59436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650" b="0">
                <a:solidFill>
                  <a:srgbClr val="5D6267"/>
                </a:solidFill>
                <a:latin typeface="Helvetica Neue"/>
                <a:ea typeface="Helvetica Neue"/>
                <a:cs typeface="Helvetica Neue"/>
              </a:defRPr>
            </a:pPr>
            <a:r>
              <a:rPr sz="1650" b="0">
                <a:solidFill>
                  <a:srgbClr val="5D6267"/>
                </a:solidFill>
                <a:latin typeface="Helvetica Neue"/>
                <a:ea typeface="Helvetica Neue"/>
                <a:cs typeface="Helvetica Neue"/>
              </a:rPr>
              <a:t>508 cuencas en validación y test. Identificadores anónimos, sin fechas absolutas.</a:t>
            </a:r>
          </a:p>
        </p:txBody>
      </p:sp>
    </p:spTree>
    <p:extLst>
      <p:ext uri="{BB962C8B-B14F-4D97-AF65-F5344CB8AC3E}">
        <p14:creationId xmlns:p14="http://schemas.microsoft.com/office/powerpoint/2010/main" val="206559925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Una ventana real de nuestro dataset">
            <a:extLst xmlns:a="http://schemas.openxmlformats.org/drawingml/2006/main">
              <a:ext uri="{FF2B5EF4-FFF2-40B4-BE49-F238E27FC236}">
                <a16:creationId xmlns:a16="http://schemas.microsoft.com/office/drawing/2014/main" id="{9264D332-3C03-4028-A2B0-E41A18811D45}"/>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Una ventana real de nuestro dataset</a:t>
            </a:r>
          </a:p>
        </p:txBody>
      </p:sp>
      <p:sp>
        <p:nvSpPr>
          <p:cNvPr id="2" name="test.h5, fila 0, basin_id 222. Solo caudal histórico, sin et">
            <a:extLst xmlns:a="http://schemas.openxmlformats.org/drawingml/2006/main">
              <a:ext uri="{FF2B5EF4-FFF2-40B4-BE49-F238E27FC236}">
                <a16:creationId xmlns:a16="http://schemas.microsoft.com/office/drawing/2014/main" id="{2971BE3E-7661-4CC2-95A2-457D70ED1082}"/>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test.h5, fila 0, basin_id 222. Solo caudal histórico, sin etiquetas futuras</a:t>
            </a:r>
          </a:p>
        </p:txBody>
      </p:sp>
      <p:sp>
        <p:nvSpPr>
          <p:cNvPr id="3" name="10">
            <a:extLst xmlns:a="http://schemas.openxmlformats.org/drawingml/2006/main">
              <a:ext uri="{FF2B5EF4-FFF2-40B4-BE49-F238E27FC236}">
                <a16:creationId xmlns:a16="http://schemas.microsoft.com/office/drawing/2014/main" id="{5E9A8721-B6B7-43C4-B82D-E451A420B51B}"/>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10</a:t>
            </a:r>
          </a:p>
        </p:txBody>
      </p:sp>
      <p:sp>
        <p:nvSpPr>
          <p:cNvPr id="4" name="336 observaciones horarias disponibles al emitir el pronósti">
            <a:extLst xmlns:a="http://schemas.openxmlformats.org/drawingml/2006/main">
              <a:ext uri="{FF2B5EF4-FFF2-40B4-BE49-F238E27FC236}">
                <a16:creationId xmlns:a16="http://schemas.microsoft.com/office/drawing/2014/main" id="{49BB5B40-3AB5-4EBF-B6FC-2FA83A2976AD}"/>
              </a:ext>
            </a:extLst>
          </p:cNvPr>
          <p:cNvSpPr>
            <a:spLocks xmlns:a="http://schemas.openxmlformats.org/drawingml/2006/main" noGrp="1"/>
          </p:cNvSpPr>
          <p:nvPr/>
        </p:nvSpPr>
        <p:spPr>
          <a:xfrm xmlns:a="http://schemas.openxmlformats.org/drawingml/2006/main">
            <a:off x="695325" y="141922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00" b="0">
                <a:solidFill>
                  <a:srgbClr val="242C33"/>
                </a:solidFill>
                <a:latin typeface="Helvetica Neue"/>
                <a:ea typeface="Helvetica Neue"/>
                <a:cs typeface="Helvetica Neue"/>
              </a:defRPr>
            </a:pPr>
            <a:r>
              <a:rPr sz="2100" b="0">
                <a:solidFill>
                  <a:srgbClr val="242C33"/>
                </a:solidFill>
                <a:latin typeface="Helvetica Neue"/>
                <a:ea typeface="Helvetica Neue"/>
                <a:cs typeface="Helvetica Neue"/>
              </a:rPr>
              <a:t>336 observaciones horarias disponibles al emitir el pronóstico</a:t>
            </a:r>
          </a:p>
        </p:txBody>
      </p:sp>
      <p:graphicFrame>
        <p:nvGraphicFramePr>
          <p:cNvPr id="14" name="Chart"/>
          <p:cNvGraphicFramePr/>
          <p:nvPr/>
        </p:nvGraphicFramePr>
        <p:xfrm>
          <a:off xmlns:a="http://schemas.openxmlformats.org/drawingml/2006/main" x="609600" y="2019300"/>
          <a:ext xmlns:a="http://schemas.openxmlformats.org/drawingml/2006/main" cx="10668000" cy="3257550"/>
        </p:xfrm>
        <a:graphic xmlns:a="http://schemas.openxmlformats.org/drawingml/2006/main">
          <a:graphicData uri="http://schemas.openxmlformats.org/drawingml/2006/chart">
            <c:chart xmlns:r="http://schemas.openxmlformats.org/officeDocument/2006/relationships" xmlns:c="http://schemas.openxmlformats.org/drawingml/2006/chart" r:id="R2383d4619fc2437b"/>
          </a:graphicData>
        </a:graphic>
      </p:graphicFrame>
      <p:sp>
        <p:nvSpPr>
          <p:cNvPr id="6" name="Historia observada: de −335 h a 0 h">
            <a:extLst xmlns:a="http://schemas.openxmlformats.org/drawingml/2006/main">
              <a:ext uri="{FF2B5EF4-FFF2-40B4-BE49-F238E27FC236}">
                <a16:creationId xmlns:a16="http://schemas.microsoft.com/office/drawing/2014/main" id="{8EE66A83-82C0-494A-85A3-DF37CFE4DAB5}"/>
              </a:ext>
            </a:extLst>
          </p:cNvPr>
          <p:cNvSpPr>
            <a:spLocks xmlns:a="http://schemas.openxmlformats.org/drawingml/2006/main" noGrp="1"/>
          </p:cNvSpPr>
          <p:nvPr/>
        </p:nvSpPr>
        <p:spPr>
          <a:xfrm xmlns:a="http://schemas.openxmlformats.org/drawingml/2006/main">
            <a:off x="838200" y="55626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1">
                <a:solidFill>
                  <a:srgbClr val="007FA3"/>
                </a:solidFill>
                <a:latin typeface="Helvetica Neue"/>
                <a:ea typeface="Helvetica Neue"/>
                <a:cs typeface="Helvetica Neue"/>
              </a:defRPr>
            </a:pPr>
            <a:r>
              <a:rPr sz="1950" b="1">
                <a:solidFill>
                  <a:srgbClr val="007FA3"/>
                </a:solidFill>
                <a:latin typeface="Helvetica Neue"/>
                <a:ea typeface="Helvetica Neue"/>
                <a:cs typeface="Helvetica Neue"/>
              </a:rPr>
              <a:t>Historia observada: de −335 h a 0 h</a:t>
            </a:r>
          </a:p>
        </p:txBody>
      </p:sp>
      <p:sp>
        <p:nvSpPr>
          <p:cNvPr id="7" name="Objetivo del modelo: horas +1 a +48">
            <a:extLst xmlns:a="http://schemas.openxmlformats.org/drawingml/2006/main">
              <a:ext uri="{FF2B5EF4-FFF2-40B4-BE49-F238E27FC236}">
                <a16:creationId xmlns:a16="http://schemas.microsoft.com/office/drawing/2014/main" id="{FE48FBCD-35FC-4F52-8752-C3181030ED3C}"/>
              </a:ext>
            </a:extLst>
          </p:cNvPr>
          <p:cNvSpPr>
            <a:spLocks xmlns:a="http://schemas.openxmlformats.org/drawingml/2006/main" noGrp="1"/>
          </p:cNvSpPr>
          <p:nvPr/>
        </p:nvSpPr>
        <p:spPr>
          <a:xfrm xmlns:a="http://schemas.openxmlformats.org/drawingml/2006/main">
            <a:off x="838200" y="59817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00" b="0">
                <a:solidFill>
                  <a:srgbClr val="242C33"/>
                </a:solidFill>
                <a:latin typeface="Helvetica Neue"/>
                <a:ea typeface="Helvetica Neue"/>
                <a:cs typeface="Helvetica Neue"/>
              </a:defRPr>
            </a:pPr>
            <a:r>
              <a:rPr sz="1800" b="0">
                <a:solidFill>
                  <a:srgbClr val="242C33"/>
                </a:solidFill>
                <a:latin typeface="Helvetica Neue"/>
                <a:ea typeface="Helvetica Neue"/>
                <a:cs typeface="Helvetica Neue"/>
              </a:rPr>
              <a:t>Objetivo del modelo: horas +1 a +48</a:t>
            </a:r>
          </a:p>
        </p:txBody>
      </p:sp>
    </p:spTree>
    <p:extLst>
      <p:ext uri="{BB962C8B-B14F-4D97-AF65-F5344CB8AC3E}">
        <p14:creationId xmlns:p14="http://schemas.microsoft.com/office/powerpoint/2010/main" val="189729857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MRS simplificado: dos componentes">
            <a:extLst xmlns:a="http://schemas.openxmlformats.org/drawingml/2006/main">
              <a:ext uri="{FF2B5EF4-FFF2-40B4-BE49-F238E27FC236}">
                <a16:creationId xmlns:a16="http://schemas.microsoft.com/office/drawing/2014/main" id="{91796146-6824-4D4D-B69D-ABBEA0863B26}"/>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MRS simplificado: dos componentes</a:t>
            </a:r>
          </a:p>
        </p:txBody>
      </p:sp>
      <p:sp>
        <p:nvSpPr>
          <p:cNvPr id="2" name="dmel/decomposition.py; misma ventana de test, fila 0. Ejempl">
            <a:extLst xmlns:a="http://schemas.openxmlformats.org/drawingml/2006/main">
              <a:ext uri="{FF2B5EF4-FFF2-40B4-BE49-F238E27FC236}">
                <a16:creationId xmlns:a16="http://schemas.microsoft.com/office/drawing/2014/main" id="{9A6A9B77-A823-40FC-9939-D8BC651CA99D}"/>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dmel/decomposition.py; misma ventana de test, fila 0. Ejemplo de preprocesamiento</a:t>
            </a:r>
          </a:p>
        </p:txBody>
      </p:sp>
      <p:sp>
        <p:nvSpPr>
          <p:cNvPr id="3" name="11">
            <a:extLst xmlns:a="http://schemas.openxmlformats.org/drawingml/2006/main">
              <a:ext uri="{FF2B5EF4-FFF2-40B4-BE49-F238E27FC236}">
                <a16:creationId xmlns:a16="http://schemas.microsoft.com/office/drawing/2014/main" id="{C9A3EE16-3B8B-4366-87BA-6B0445779C2A}"/>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11</a:t>
            </a:r>
          </a:p>
        </p:txBody>
      </p:sp>
      <p:sp>
        <p:nvSpPr>
          <p:cNvPr id="4" name="Alta: IMFs con SampEn mayor que la historia original">
            <a:extLst xmlns:a="http://schemas.openxmlformats.org/drawingml/2006/main">
              <a:ext uri="{FF2B5EF4-FFF2-40B4-BE49-F238E27FC236}">
                <a16:creationId xmlns:a16="http://schemas.microsoft.com/office/drawing/2014/main" id="{C6B597C5-CAAE-4A52-AFFF-25786F71810B}"/>
              </a:ext>
            </a:extLst>
          </p:cNvPr>
          <p:cNvSpPr>
            <a:spLocks xmlns:a="http://schemas.openxmlformats.org/drawingml/2006/main" noGrp="1"/>
          </p:cNvSpPr>
          <p:nvPr/>
        </p:nvSpPr>
        <p:spPr>
          <a:xfrm xmlns:a="http://schemas.openxmlformats.org/drawingml/2006/main">
            <a:off x="695325" y="1419225"/>
            <a:ext cx="10801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00" b="1">
                <a:solidFill>
                  <a:srgbClr val="007FA3"/>
                </a:solidFill>
                <a:latin typeface="Helvetica Neue"/>
                <a:ea typeface="Helvetica Neue"/>
                <a:cs typeface="Helvetica Neue"/>
              </a:defRPr>
            </a:pPr>
            <a:r>
              <a:rPr sz="2100" b="1">
                <a:solidFill>
                  <a:srgbClr val="007FA3"/>
                </a:solidFill>
                <a:latin typeface="Helvetica Neue"/>
                <a:ea typeface="Helvetica Neue"/>
                <a:cs typeface="Helvetica Neue"/>
              </a:rPr>
              <a:t>Alta: IMFs con SampEn mayor que la historia original</a:t>
            </a:r>
          </a:p>
        </p:txBody>
      </p:sp>
      <p:sp>
        <p:nvSpPr>
          <p:cNvPr id="5" name="Baja: el resto de IMFs más el residuo">
            <a:extLst xmlns:a="http://schemas.openxmlformats.org/drawingml/2006/main">
              <a:ext uri="{FF2B5EF4-FFF2-40B4-BE49-F238E27FC236}">
                <a16:creationId xmlns:a16="http://schemas.microsoft.com/office/drawing/2014/main" id="{0DCD47F5-7E00-4C31-B341-6AFAC2C25259}"/>
              </a:ext>
            </a:extLst>
          </p:cNvPr>
          <p:cNvSpPr>
            <a:spLocks xmlns:a="http://schemas.openxmlformats.org/drawingml/2006/main" noGrp="1"/>
          </p:cNvSpPr>
          <p:nvPr/>
        </p:nvSpPr>
        <p:spPr>
          <a:xfrm xmlns:a="http://schemas.openxmlformats.org/drawingml/2006/main">
            <a:off x="695325" y="1847850"/>
            <a:ext cx="10801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00" b="0">
                <a:solidFill>
                  <a:srgbClr val="242C33"/>
                </a:solidFill>
                <a:latin typeface="Helvetica Neue"/>
                <a:ea typeface="Helvetica Neue"/>
                <a:cs typeface="Helvetica Neue"/>
              </a:defRPr>
            </a:pPr>
            <a:r>
              <a:rPr sz="2100" b="0">
                <a:solidFill>
                  <a:srgbClr val="242C33"/>
                </a:solidFill>
                <a:latin typeface="Helvetica Neue"/>
                <a:ea typeface="Helvetica Neue"/>
                <a:cs typeface="Helvetica Neue"/>
              </a:rPr>
              <a:t>Baja: el resto de IMFs más el residuo</a:t>
            </a:r>
          </a:p>
        </p:txBody>
      </p:sp>
      <p:graphicFrame>
        <p:nvGraphicFramePr>
          <p:cNvPr id="16" name="Chart"/>
          <p:cNvGraphicFramePr/>
          <p:nvPr/>
        </p:nvGraphicFramePr>
        <p:xfrm>
          <a:off xmlns:a="http://schemas.openxmlformats.org/drawingml/2006/main" x="609600" y="2371725"/>
          <a:ext xmlns:a="http://schemas.openxmlformats.org/drawingml/2006/main" cx="10668000" cy="2962275"/>
        </p:xfrm>
        <a:graphic xmlns:a="http://schemas.openxmlformats.org/drawingml/2006/main">
          <a:graphicData uri="http://schemas.openxmlformats.org/drawingml/2006/chart">
            <c:chart xmlns:r="http://schemas.openxmlformats.org/officeDocument/2006/relationships" xmlns:c="http://schemas.openxmlformats.org/drawingml/2006/chart" r:id="R3879ac5cf6124470"/>
          </a:graphicData>
        </a:graphic>
      </p:graphicFrame>
      <p:sp>
        <p:nvSpPr>
          <p:cNvPr id="7" name="En esta ventana: 7 IMFs en alta; baja conserva el residuo.">
            <a:extLst xmlns:a="http://schemas.openxmlformats.org/drawingml/2006/main">
              <a:ext uri="{FF2B5EF4-FFF2-40B4-BE49-F238E27FC236}">
                <a16:creationId xmlns:a16="http://schemas.microsoft.com/office/drawing/2014/main" id="{A6D5CB9C-9914-4C60-BF3B-E47E6597A240}"/>
              </a:ext>
            </a:extLst>
          </p:cNvPr>
          <p:cNvSpPr>
            <a:spLocks xmlns:a="http://schemas.openxmlformats.org/drawingml/2006/main" noGrp="1"/>
          </p:cNvSpPr>
          <p:nvPr/>
        </p:nvSpPr>
        <p:spPr>
          <a:xfrm xmlns:a="http://schemas.openxmlformats.org/drawingml/2006/main">
            <a:off x="695325" y="5581650"/>
            <a:ext cx="10801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00" b="0">
                <a:solidFill>
                  <a:srgbClr val="242C33"/>
                </a:solidFill>
                <a:latin typeface="Helvetica Neue"/>
                <a:ea typeface="Helvetica Neue"/>
                <a:cs typeface="Helvetica Neue"/>
              </a:defRPr>
            </a:pPr>
            <a:r>
              <a:rPr sz="1800" b="0">
                <a:solidFill>
                  <a:srgbClr val="242C33"/>
                </a:solidFill>
                <a:latin typeface="Helvetica Neue"/>
                <a:ea typeface="Helvetica Neue"/>
                <a:cs typeface="Helvetica Neue"/>
              </a:rPr>
              <a:t>En esta ventana: 7 IMFs en alta; baja conserva el residuo.</a:t>
            </a:r>
          </a:p>
        </p:txBody>
      </p:sp>
      <p:sp>
        <p:nvSpPr>
          <p:cNvPr id="8" name="Error máximo de reconstrucción: 1.19 × 10⁻⁷ mm/h">
            <a:extLst xmlns:a="http://schemas.openxmlformats.org/drawingml/2006/main">
              <a:ext uri="{FF2B5EF4-FFF2-40B4-BE49-F238E27FC236}">
                <a16:creationId xmlns:a16="http://schemas.microsoft.com/office/drawing/2014/main" id="{936D74DE-AA6B-4C3C-9768-FDDC7E0791A5}"/>
              </a:ext>
            </a:extLst>
          </p:cNvPr>
          <p:cNvSpPr>
            <a:spLocks xmlns:a="http://schemas.openxmlformats.org/drawingml/2006/main" noGrp="1"/>
          </p:cNvSpPr>
          <p:nvPr/>
        </p:nvSpPr>
        <p:spPr>
          <a:xfrm xmlns:a="http://schemas.openxmlformats.org/drawingml/2006/main">
            <a:off x="695325" y="5991225"/>
            <a:ext cx="10801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650" b="0">
                <a:solidFill>
                  <a:srgbClr val="5D6267"/>
                </a:solidFill>
                <a:latin typeface="Helvetica Neue"/>
                <a:ea typeface="Helvetica Neue"/>
                <a:cs typeface="Helvetica Neue"/>
              </a:defRPr>
            </a:pPr>
            <a:r>
              <a:rPr sz="1650" b="0">
                <a:solidFill>
                  <a:srgbClr val="5D6267"/>
                </a:solidFill>
                <a:latin typeface="Helvetica Neue"/>
                <a:ea typeface="Helvetica Neue"/>
                <a:cs typeface="Helvetica Neue"/>
              </a:rPr>
              <a:t>Error máximo de reconstrucción: 1.19 × 10⁻⁷ mm/h</a:t>
            </a:r>
          </a:p>
        </p:txBody>
      </p:sp>
    </p:spTree>
    <p:extLst>
      <p:ext uri="{BB962C8B-B14F-4D97-AF65-F5344CB8AC3E}">
        <p14:creationId xmlns:p14="http://schemas.microsoft.com/office/powerpoint/2010/main" val="158004599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Entradas de las ramas y salida de 48 horas">
            <a:extLst xmlns:a="http://schemas.openxmlformats.org/drawingml/2006/main">
              <a:ext uri="{FF2B5EF4-FFF2-40B4-BE49-F238E27FC236}">
                <a16:creationId xmlns:a16="http://schemas.microsoft.com/office/drawing/2014/main" id="{E7CAB9C1-3A03-40ED-9814-B1F146F08B00}"/>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Entradas de las ramas y salida de 48 horas</a:t>
            </a:r>
          </a:p>
        </p:txBody>
      </p:sp>
      <p:sp>
        <p:nvSpPr>
          <p:cNvPr id="2" name="dmel/models.py y dmel/data.py. B representa el tamaño del lo">
            <a:extLst xmlns:a="http://schemas.openxmlformats.org/drawingml/2006/main">
              <a:ext uri="{FF2B5EF4-FFF2-40B4-BE49-F238E27FC236}">
                <a16:creationId xmlns:a16="http://schemas.microsoft.com/office/drawing/2014/main" id="{612A5012-ACAD-42FD-B041-64227C170A06}"/>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dmel/models.py y dmel/data.py. B representa el tamaño del lote</a:t>
            </a:r>
          </a:p>
        </p:txBody>
      </p:sp>
      <p:sp>
        <p:nvSpPr>
          <p:cNvPr id="3" name="12">
            <a:extLst xmlns:a="http://schemas.openxmlformats.org/drawingml/2006/main">
              <a:ext uri="{FF2B5EF4-FFF2-40B4-BE49-F238E27FC236}">
                <a16:creationId xmlns:a16="http://schemas.microsoft.com/office/drawing/2014/main" id="{2018CA6E-1250-4281-8A0B-E89E03D19535}"/>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12</a:t>
            </a:r>
          </a:p>
        </p:txBody>
      </p:sp>
      <p:graphicFrame>
        <p:nvGraphicFramePr>
          <p:cNvPr id="11" name=""/>
          <p:cNvGraphicFramePr/>
          <p:nvPr/>
        </p:nvGraphicFramePr>
        <p:xfrm>
          <a:off xmlns:a="http://schemas.openxmlformats.org/drawingml/2006/main" x="609600" y="1657350"/>
          <a:ext xmlns:a="http://schemas.openxmlformats.org/drawingml/2006/main" cx="10972800" cy="3629025"/>
        </p:xfrm>
        <a:graphic xmlns:a="http://schemas.openxmlformats.org/drawingml/2006/main">
          <a:graphicData uri="http://schemas.openxmlformats.org/drawingml/2006/table">
            <a:tbl>
              <a:tblPr firstRow="1" bandRow="0"/>
              <a:tblGrid>
                <a:gridCol w="2571750"/>
                <a:gridCol w="5838825"/>
                <a:gridCol w="2562225"/>
              </a:tblGrid>
              <a:tr h="604838">
                <a:tc>
                  <a:txBody>
                    <a:bodyPr/>
                    <a:lstStyle/>
                    <a:p>
                      <a:r>
                        <a:rPr sz="1800" b="1">
                          <a:solidFill>
                            <a:srgbClr val="064B6B"/>
                          </a:solidFill>
                          <a:latin typeface="Helvetica Neue"/>
                          <a:ea typeface="Helvetica Neue"/>
                          <a:cs typeface="Helvetica Neue"/>
                        </a:rPr>
                        <a:t>Etapa</a:t>
                      </a:r>
                    </a:p>
                  </a:txBody>
                  <a:tcPr marL="142875" marR="142875" marT="114300" marB="114300" anchor="ctr">
                    <a:solidFill>
                      <a:srgbClr val="EAF4F8"/>
                    </a:solidFill>
                  </a:tcPr>
                </a:tc>
                <a:tc>
                  <a:txBody>
                    <a:bodyPr/>
                    <a:lstStyle/>
                    <a:p>
                      <a:r>
                        <a:rPr sz="1800" b="1">
                          <a:solidFill>
                            <a:srgbClr val="064B6B"/>
                          </a:solidFill>
                          <a:latin typeface="Helvetica Neue"/>
                          <a:ea typeface="Helvetica Neue"/>
                          <a:cs typeface="Helvetica Neue"/>
                        </a:rPr>
                        <a:t>Información</a:t>
                      </a:r>
                    </a:p>
                  </a:txBody>
                  <a:tcPr marL="142875" marR="142875" marT="114300" marB="114300" anchor="ctr">
                    <a:solidFill>
                      <a:srgbClr val="EAF4F8"/>
                    </a:solidFill>
                  </a:tcPr>
                </a:tc>
                <a:tc>
                  <a:txBody>
                    <a:bodyPr/>
                    <a:lstStyle/>
                    <a:p>
                      <a:r>
                        <a:rPr sz="1800" b="1">
                          <a:solidFill>
                            <a:srgbClr val="064B6B"/>
                          </a:solidFill>
                          <a:latin typeface="Helvetica Neue"/>
                          <a:ea typeface="Helvetica Neue"/>
                          <a:cs typeface="Helvetica Neue"/>
                        </a:rPr>
                        <a:t>Forma</a:t>
                      </a:r>
                    </a:p>
                  </a:txBody>
                  <a:tcPr marL="142875" marR="142875" marT="114300" marB="114300" anchor="ctr">
                    <a:solidFill>
                      <a:srgbClr val="EAF4F8"/>
                    </a:solidFill>
                  </a:tcPr>
                </a:tc>
              </a:tr>
              <a:tr h="604838">
                <a:tc>
                  <a:txBody>
                    <a:bodyPr/>
                    <a:lstStyle/>
                    <a:p>
                      <a:r>
                        <a:rPr sz="1800" b="0">
                          <a:solidFill>
                            <a:srgbClr val="242C33"/>
                          </a:solidFill>
                          <a:latin typeface="Helvetica Neue"/>
                          <a:ea typeface="Helvetica Neue"/>
                          <a:cs typeface="Helvetica Neue"/>
                        </a:rPr>
                        <a:t>Ventana</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11 meteorológicas y caudal</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[B, 336, 12]</a:t>
                      </a:r>
                    </a:p>
                  </a:txBody>
                  <a:tcPr marL="142875" marR="142875" marT="114300" marB="114300" anchor="ctr">
                    <a:solidFill>
                      <a:srgbClr val="FFFFFF"/>
                    </a:solidFill>
                  </a:tcPr>
                </a:tc>
              </a:tr>
              <a:tr h="604838">
                <a:tc>
                  <a:txBody>
                    <a:bodyPr/>
                    <a:lstStyle/>
                    <a:p>
                      <a:r>
                        <a:rPr sz="1800" b="0">
                          <a:solidFill>
                            <a:srgbClr val="242C33"/>
                          </a:solidFill>
                          <a:latin typeface="Helvetica Neue"/>
                          <a:ea typeface="Helvetica Neue"/>
                          <a:cs typeface="Helvetica Neue"/>
                        </a:rPr>
                        <a:t>Rama Informer</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11 meteorológicas y componente alta</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[B, 336, 12]</a:t>
                      </a:r>
                    </a:p>
                  </a:txBody>
                  <a:tcPr marL="142875" marR="142875" marT="114300" marB="114300" anchor="ctr">
                    <a:solidFill>
                      <a:srgbClr val="F5F7F8"/>
                    </a:solidFill>
                  </a:tcPr>
                </a:tc>
              </a:tr>
              <a:tr h="604838">
                <a:tc>
                  <a:txBody>
                    <a:bodyPr/>
                    <a:lstStyle/>
                    <a:p>
                      <a:r>
                        <a:rPr sz="1800" b="0">
                          <a:solidFill>
                            <a:srgbClr val="242C33"/>
                          </a:solidFill>
                          <a:latin typeface="Helvetica Neue"/>
                          <a:ea typeface="Helvetica Neue"/>
                          <a:cs typeface="Helvetica Neue"/>
                        </a:rPr>
                        <a:t>Rama LSTM</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11 meteorológicas y componente baja</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[B, 336, 12]</a:t>
                      </a:r>
                    </a:p>
                  </a:txBody>
                  <a:tcPr marL="142875" marR="142875" marT="114300" marB="114300" anchor="ctr">
                    <a:solidFill>
                      <a:srgbClr val="FFFFFF"/>
                    </a:solidFill>
                  </a:tcPr>
                </a:tc>
              </a:tr>
              <a:tr h="604838">
                <a:tc>
                  <a:txBody>
                    <a:bodyPr/>
                    <a:lstStyle/>
                    <a:p>
                      <a:r>
                        <a:rPr sz="1800" b="0">
                          <a:solidFill>
                            <a:srgbClr val="242C33"/>
                          </a:solidFill>
                          <a:latin typeface="Helvetica Neue"/>
                          <a:ea typeface="Helvetica Neue"/>
                          <a:cs typeface="Helvetica Neue"/>
                        </a:rPr>
                        <a:t>Cada predictor</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Contribución al pronóstico</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[B, 48]</a:t>
                      </a:r>
                    </a:p>
                  </a:txBody>
                  <a:tcPr marL="142875" marR="142875" marT="114300" marB="114300" anchor="ctr">
                    <a:solidFill>
                      <a:srgbClr val="F5F7F8"/>
                    </a:solidFill>
                  </a:tcPr>
                </a:tc>
              </a:tr>
              <a:tr h="604838">
                <a:tc>
                  <a:txBody>
                    <a:bodyPr/>
                    <a:lstStyle/>
                    <a:p>
                      <a:r>
                        <a:rPr sz="1800" b="0">
                          <a:solidFill>
                            <a:srgbClr val="242C33"/>
                          </a:solidFill>
                          <a:latin typeface="Helvetica Neue"/>
                          <a:ea typeface="Helvetica Neue"/>
                          <a:cs typeface="Helvetica Neue"/>
                        </a:rPr>
                        <a:t>Ensamble</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Suma y retorno a escala física</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[B, 48], mm/h</a:t>
                      </a:r>
                    </a:p>
                  </a:txBody>
                  <a:tcPr marL="142875" marR="142875" marT="114300" marB="114300" anchor="ctr">
                    <a:solidFill>
                      <a:srgbClr val="FFFFFF"/>
                    </a:solidFill>
                  </a:tcPr>
                </a:tc>
              </a:tr>
            </a:tbl>
          </a:graphicData>
        </a:graphic>
      </p:graphicFrame>
      <p:sp>
        <p:nvSpPr>
          <p:cNvPr id="5" name="Cada cabeza corrige el último valor de su entrada. La pérdid">
            <a:extLst xmlns:a="http://schemas.openxmlformats.org/drawingml/2006/main">
              <a:ext uri="{FF2B5EF4-FFF2-40B4-BE49-F238E27FC236}">
                <a16:creationId xmlns:a16="http://schemas.microsoft.com/office/drawing/2014/main" id="{48E94B06-1B71-463C-8D6C-FCD6C70014A1}"/>
              </a:ext>
            </a:extLst>
          </p:cNvPr>
          <p:cNvSpPr>
            <a:spLocks xmlns:a="http://schemas.openxmlformats.org/drawingml/2006/main" noGrp="1"/>
          </p:cNvSpPr>
          <p:nvPr/>
        </p:nvSpPr>
        <p:spPr>
          <a:xfrm xmlns:a="http://schemas.openxmlformats.org/drawingml/2006/main">
            <a:off x="704850" y="5619750"/>
            <a:ext cx="105632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1">
                <a:solidFill>
                  <a:srgbClr val="007FA3"/>
                </a:solidFill>
                <a:latin typeface="Helvetica Neue"/>
                <a:ea typeface="Helvetica Neue"/>
                <a:cs typeface="Helvetica Neue"/>
              </a:defRPr>
            </a:pPr>
            <a:r>
              <a:rPr sz="1950" b="1">
                <a:solidFill>
                  <a:srgbClr val="007FA3"/>
                </a:solidFill>
                <a:latin typeface="Helvetica Neue"/>
                <a:ea typeface="Helvetica Neue"/>
                <a:cs typeface="Helvetica Neue"/>
              </a:rPr>
              <a:t>Cada cabeza corrige el último valor de su entrada. La pérdida supervisa el caudal total.</a:t>
            </a:r>
          </a:p>
        </p:txBody>
      </p:sp>
    </p:spTree>
    <p:extLst>
      <p:ext uri="{BB962C8B-B14F-4D97-AF65-F5344CB8AC3E}">
        <p14:creationId xmlns:p14="http://schemas.microsoft.com/office/powerpoint/2010/main" val="129438125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Protocolo de entrenamiento">
            <a:extLst xmlns:a="http://schemas.openxmlformats.org/drawingml/2006/main">
              <a:ext uri="{FF2B5EF4-FFF2-40B4-BE49-F238E27FC236}">
                <a16:creationId xmlns:a16="http://schemas.microsoft.com/office/drawing/2014/main" id="{55C226CD-F514-4114-9A7F-0E1F9BB9024E}"/>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Protocolo de entrenamiento</a:t>
            </a:r>
          </a:p>
        </p:txBody>
      </p:sp>
      <p:sp>
        <p:nvSpPr>
          <p:cNvPr id="2" name="configs/dmel.json, dmel/engine.py y slurm/train.sbatch">
            <a:extLst xmlns:a="http://schemas.openxmlformats.org/drawingml/2006/main">
              <a:ext uri="{FF2B5EF4-FFF2-40B4-BE49-F238E27FC236}">
                <a16:creationId xmlns:a16="http://schemas.microsoft.com/office/drawing/2014/main" id="{2F9E93F8-07CB-42D2-96DF-605B3EE95CB2}"/>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configs/dmel.json, dmel/engine.py y slurm/train.sbatch</a:t>
            </a:r>
          </a:p>
        </p:txBody>
      </p:sp>
      <p:sp>
        <p:nvSpPr>
          <p:cNvPr id="3" name="13">
            <a:extLst xmlns:a="http://schemas.openxmlformats.org/drawingml/2006/main">
              <a:ext uri="{FF2B5EF4-FFF2-40B4-BE49-F238E27FC236}">
                <a16:creationId xmlns:a16="http://schemas.microsoft.com/office/drawing/2014/main" id="{5D5F8FD9-796F-45DE-A140-C2DF35649370}"/>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13</a:t>
            </a:r>
          </a:p>
        </p:txBody>
      </p:sp>
      <p:graphicFrame>
        <p:nvGraphicFramePr>
          <p:cNvPr id="12" name=""/>
          <p:cNvGraphicFramePr/>
          <p:nvPr/>
        </p:nvGraphicFramePr>
        <p:xfrm>
          <a:off xmlns:a="http://schemas.openxmlformats.org/drawingml/2006/main" x="609600" y="1657350"/>
          <a:ext xmlns:a="http://schemas.openxmlformats.org/drawingml/2006/main" cx="10972800" cy="3324225"/>
        </p:xfrm>
        <a:graphic xmlns:a="http://schemas.openxmlformats.org/drawingml/2006/main">
          <a:graphicData uri="http://schemas.openxmlformats.org/drawingml/2006/table">
            <a:tbl>
              <a:tblPr firstRow="1" bandRow="0"/>
              <a:tblGrid>
                <a:gridCol w="3238500"/>
                <a:gridCol w="7734300"/>
              </a:tblGrid>
              <a:tr h="554038">
                <a:tc>
                  <a:txBody>
                    <a:bodyPr/>
                    <a:lstStyle/>
                    <a:p>
                      <a:r>
                        <a:rPr sz="1875" b="1">
                          <a:solidFill>
                            <a:srgbClr val="064B6B"/>
                          </a:solidFill>
                          <a:latin typeface="Helvetica Neue"/>
                          <a:ea typeface="Helvetica Neue"/>
                          <a:cs typeface="Helvetica Neue"/>
                        </a:rPr>
                        <a:t>Configuración</a:t>
                      </a:r>
                    </a:p>
                  </a:txBody>
                  <a:tcPr marL="142875" marR="142875" marT="114300" marB="114300" anchor="ctr">
                    <a:solidFill>
                      <a:srgbClr val="EAF4F8"/>
                    </a:solidFill>
                  </a:tcPr>
                </a:tc>
                <a:tc>
                  <a:txBody>
                    <a:bodyPr/>
                    <a:lstStyle/>
                    <a:p>
                      <a:r>
                        <a:rPr sz="1875" b="1">
                          <a:solidFill>
                            <a:srgbClr val="064B6B"/>
                          </a:solidFill>
                          <a:latin typeface="Helvetica Neue"/>
                          <a:ea typeface="Helvetica Neue"/>
                          <a:cs typeface="Helvetica Neue"/>
                        </a:rPr>
                        <a:t>Valor</a:t>
                      </a:r>
                    </a:p>
                  </a:txBody>
                  <a:tcPr marL="142875" marR="142875" marT="114300" marB="114300" anchor="ctr">
                    <a:solidFill>
                      <a:srgbClr val="EAF4F8"/>
                    </a:solidFill>
                  </a:tcPr>
                </a:tc>
              </a:tr>
              <a:tr h="554038">
                <a:tc>
                  <a:txBody>
                    <a:bodyPr/>
                    <a:lstStyle/>
                    <a:p>
                      <a:r>
                        <a:rPr sz="1875" b="0">
                          <a:solidFill>
                            <a:srgbClr val="242C33"/>
                          </a:solidFill>
                          <a:latin typeface="Helvetica Neue"/>
                          <a:ea typeface="Helvetica Neue"/>
                          <a:cs typeface="Helvetica Neue"/>
                        </a:rPr>
                        <a:t>Optimizador y pérdida</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Adam, MSE sobre el caudal normalizado</a:t>
                      </a:r>
                    </a:p>
                  </a:txBody>
                  <a:tcPr marL="142875" marR="142875" marT="114300" marB="114300" anchor="ctr">
                    <a:solidFill>
                      <a:srgbClr val="FFFFFF"/>
                    </a:solidFill>
                  </a:tcPr>
                </a:tc>
              </a:tr>
              <a:tr h="554038">
                <a:tc>
                  <a:txBody>
                    <a:bodyPr/>
                    <a:lstStyle/>
                    <a:p>
                      <a:r>
                        <a:rPr sz="1875" b="0">
                          <a:solidFill>
                            <a:srgbClr val="242C33"/>
                          </a:solidFill>
                          <a:latin typeface="Helvetica Neue"/>
                          <a:ea typeface="Helvetica Neue"/>
                          <a:cs typeface="Helvetica Neue"/>
                        </a:rPr>
                        <a:t>Tasa y tamaño de lote</a:t>
                      </a:r>
                    </a:p>
                  </a:txBody>
                  <a:tcPr marL="142875" marR="142875" marT="114300" marB="114300" anchor="ctr">
                    <a:solidFill>
                      <a:srgbClr val="F5F7F8"/>
                    </a:solidFill>
                  </a:tcPr>
                </a:tc>
                <a:tc>
                  <a:txBody>
                    <a:bodyPr/>
                    <a:lstStyle/>
                    <a:p>
                      <a:r>
                        <a:rPr sz="1875" b="0">
                          <a:solidFill>
                            <a:srgbClr val="242C33"/>
                          </a:solidFill>
                          <a:latin typeface="Helvetica Neue"/>
                          <a:ea typeface="Helvetica Neue"/>
                          <a:cs typeface="Helvetica Neue"/>
                        </a:rPr>
                        <a:t>0.0001 y 32 muestras</a:t>
                      </a:r>
                    </a:p>
                  </a:txBody>
                  <a:tcPr marL="142875" marR="142875" marT="114300" marB="114300" anchor="ctr">
                    <a:solidFill>
                      <a:srgbClr val="F5F7F8"/>
                    </a:solidFill>
                  </a:tcPr>
                </a:tc>
              </a:tr>
              <a:tr h="554038">
                <a:tc>
                  <a:txBody>
                    <a:bodyPr/>
                    <a:lstStyle/>
                    <a:p>
                      <a:r>
                        <a:rPr sz="1875" b="0">
                          <a:solidFill>
                            <a:srgbClr val="242C33"/>
                          </a:solidFill>
                          <a:latin typeface="Helvetica Neue"/>
                          <a:ea typeface="Helvetica Neue"/>
                          <a:cs typeface="Helvetica Neue"/>
                        </a:rPr>
                        <a:t>Presupuesto</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Hasta 100 épocas, paciencia 10</a:t>
                      </a:r>
                    </a:p>
                  </a:txBody>
                  <a:tcPr marL="142875" marR="142875" marT="114300" marB="114300" anchor="ctr">
                    <a:solidFill>
                      <a:srgbClr val="FFFFFF"/>
                    </a:solidFill>
                  </a:tcPr>
                </a:tc>
              </a:tr>
              <a:tr h="554038">
                <a:tc>
                  <a:txBody>
                    <a:bodyPr/>
                    <a:lstStyle/>
                    <a:p>
                      <a:r>
                        <a:rPr sz="1875" b="0">
                          <a:solidFill>
                            <a:srgbClr val="242C33"/>
                          </a:solidFill>
                          <a:latin typeface="Helvetica Neue"/>
                          <a:ea typeface="Helvetica Neue"/>
                          <a:cs typeface="Helvetica Neue"/>
                        </a:rPr>
                        <a:t>Selección</a:t>
                      </a:r>
                    </a:p>
                  </a:txBody>
                  <a:tcPr marL="142875" marR="142875" marT="114300" marB="114300" anchor="ctr">
                    <a:solidFill>
                      <a:srgbClr val="F5F7F8"/>
                    </a:solidFill>
                  </a:tcPr>
                </a:tc>
                <a:tc>
                  <a:txBody>
                    <a:bodyPr/>
                    <a:lstStyle/>
                    <a:p>
                      <a:r>
                        <a:rPr sz="1875" b="0">
                          <a:solidFill>
                            <a:srgbClr val="242C33"/>
                          </a:solidFill>
                          <a:latin typeface="Helvetica Neue"/>
                          <a:ea typeface="Helvetica Neue"/>
                          <a:cs typeface="Helvetica Neue"/>
                        </a:rPr>
                        <a:t>Menor RMSE de validación en mm/h</a:t>
                      </a:r>
                    </a:p>
                  </a:txBody>
                  <a:tcPr marL="142875" marR="142875" marT="114300" marB="114300" anchor="ctr">
                    <a:solidFill>
                      <a:srgbClr val="F5F7F8"/>
                    </a:solidFill>
                  </a:tcPr>
                </a:tc>
              </a:tr>
              <a:tr h="554038">
                <a:tc>
                  <a:txBody>
                    <a:bodyPr/>
                    <a:lstStyle/>
                    <a:p>
                      <a:r>
                        <a:rPr sz="1875" b="0">
                          <a:solidFill>
                            <a:srgbClr val="242C33"/>
                          </a:solidFill>
                          <a:latin typeface="Helvetica Neue"/>
                          <a:ea typeface="Helvetica Neue"/>
                          <a:cs typeface="Helvetica Neue"/>
                        </a:rPr>
                        <a:t>Reanudación en Khipu</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Checkpoint al cerrar cada época</a:t>
                      </a:r>
                    </a:p>
                  </a:txBody>
                  <a:tcPr marL="142875" marR="142875" marT="114300" marB="114300" anchor="ctr">
                    <a:solidFill>
                      <a:srgbClr val="FFFFFF"/>
                    </a:solidFill>
                  </a:tcPr>
                </a:tc>
              </a:tr>
            </a:tbl>
          </a:graphicData>
        </a:graphic>
      </p:graphicFrame>
      <p:sp>
        <p:nvSpPr>
          <p:cNvPr id="5" name="Normalización solo con train. Descomposición solo con la his">
            <a:extLst xmlns:a="http://schemas.openxmlformats.org/drawingml/2006/main">
              <a:ext uri="{FF2B5EF4-FFF2-40B4-BE49-F238E27FC236}">
                <a16:creationId xmlns:a16="http://schemas.microsoft.com/office/drawing/2014/main" id="{7198DEB3-69C0-41D6-9287-88873124669D}"/>
              </a:ext>
            </a:extLst>
          </p:cNvPr>
          <p:cNvSpPr>
            <a:spLocks xmlns:a="http://schemas.openxmlformats.org/drawingml/2006/main" noGrp="1"/>
          </p:cNvSpPr>
          <p:nvPr/>
        </p:nvSpPr>
        <p:spPr>
          <a:xfrm xmlns:a="http://schemas.openxmlformats.org/drawingml/2006/main">
            <a:off x="695325" y="52578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1">
                <a:solidFill>
                  <a:srgbClr val="007FA3"/>
                </a:solidFill>
                <a:latin typeface="Helvetica Neue"/>
                <a:ea typeface="Helvetica Neue"/>
                <a:cs typeface="Helvetica Neue"/>
              </a:defRPr>
            </a:pPr>
            <a:r>
              <a:rPr sz="1950" b="1">
                <a:solidFill>
                  <a:srgbClr val="007FA3"/>
                </a:solidFill>
                <a:latin typeface="Helvetica Neue"/>
                <a:ea typeface="Helvetica Neue"/>
                <a:cs typeface="Helvetica Neue"/>
              </a:rPr>
              <a:t>Normalización solo con train. Descomposición solo con la historia de cada muestra.</a:t>
            </a:r>
          </a:p>
        </p:txBody>
      </p:sp>
      <p:sp>
        <p:nvSpPr>
          <p:cNvPr id="6" name="y_aux y test_targets.csv quedan fuera de las entradas y de l">
            <a:extLst xmlns:a="http://schemas.openxmlformats.org/drawingml/2006/main">
              <a:ext uri="{FF2B5EF4-FFF2-40B4-BE49-F238E27FC236}">
                <a16:creationId xmlns:a16="http://schemas.microsoft.com/office/drawing/2014/main" id="{E22886C3-3115-4BE7-AB26-55D1FB34004C}"/>
              </a:ext>
            </a:extLst>
          </p:cNvPr>
          <p:cNvSpPr>
            <a:spLocks xmlns:a="http://schemas.openxmlformats.org/drawingml/2006/main" noGrp="1"/>
          </p:cNvSpPr>
          <p:nvPr/>
        </p:nvSpPr>
        <p:spPr>
          <a:xfrm xmlns:a="http://schemas.openxmlformats.org/drawingml/2006/main">
            <a:off x="695325" y="59055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725" b="0">
                <a:solidFill>
                  <a:srgbClr val="5D6267"/>
                </a:solidFill>
                <a:latin typeface="Helvetica Neue"/>
                <a:ea typeface="Helvetica Neue"/>
                <a:cs typeface="Helvetica Neue"/>
              </a:defRPr>
            </a:pPr>
            <a:r>
              <a:rPr sz="1725" b="0">
                <a:solidFill>
                  <a:srgbClr val="5D6267"/>
                </a:solidFill>
                <a:latin typeface="Helvetica Neue"/>
                <a:ea typeface="Helvetica Neue"/>
                <a:cs typeface="Helvetica Neue"/>
              </a:rPr>
              <a:t>y_aux y test_targets.csv quedan fuera de las entradas y de la selección del modelo.</a:t>
            </a:r>
          </a:p>
        </p:txBody>
      </p:sp>
    </p:spTree>
    <p:extLst>
      <p:ext uri="{BB962C8B-B14F-4D97-AF65-F5344CB8AC3E}">
        <p14:creationId xmlns:p14="http://schemas.microsoft.com/office/powerpoint/2010/main" val="38629735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Comparación y ablación previstas">
            <a:extLst xmlns:a="http://schemas.openxmlformats.org/drawingml/2006/main">
              <a:ext uri="{FF2B5EF4-FFF2-40B4-BE49-F238E27FC236}">
                <a16:creationId xmlns:a16="http://schemas.microsoft.com/office/drawing/2014/main" id="{288F3653-17A3-47D5-9859-26D28508E824}"/>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Comparación de modelos y ablación</a:t>
            </a:r>
          </a:p>
        </p:txBody>
      </p:sp>
      <p:sp>
        <p:nvSpPr>
          <p:cNvPr id="2" name="Configuraciones del proyecto. Parámetros registrados en docs">
            <a:extLst xmlns:a="http://schemas.openxmlformats.org/drawingml/2006/main">
              <a:ext uri="{FF2B5EF4-FFF2-40B4-BE49-F238E27FC236}">
                <a16:creationId xmlns:a16="http://schemas.microsoft.com/office/drawing/2014/main" id="{4A52C8B0-C23A-4E9F-BDD8-228FA2380BEF}"/>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Configuraciones del proyecto. Parámetros registrados en docs/implementation.md</a:t>
            </a:r>
          </a:p>
        </p:txBody>
      </p:sp>
      <p:sp>
        <p:nvSpPr>
          <p:cNvPr id="3" name="14">
            <a:extLst xmlns:a="http://schemas.openxmlformats.org/drawingml/2006/main">
              <a:ext uri="{FF2B5EF4-FFF2-40B4-BE49-F238E27FC236}">
                <a16:creationId xmlns:a16="http://schemas.microsoft.com/office/drawing/2014/main" id="{B2428570-7F6E-4C01-B1C7-F50F110EE948}"/>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14</a:t>
            </a:r>
          </a:p>
        </p:txBody>
      </p:sp>
      <p:graphicFrame>
        <p:nvGraphicFramePr>
          <p:cNvPr id="12" name=""/>
          <p:cNvGraphicFramePr/>
          <p:nvPr/>
        </p:nvGraphicFramePr>
        <p:xfrm>
          <a:off xmlns:a="http://schemas.openxmlformats.org/drawingml/2006/main" x="609600" y="1657350"/>
          <a:ext xmlns:a="http://schemas.openxmlformats.org/drawingml/2006/main" cx="10972800" cy="3486150"/>
        </p:xfrm>
        <a:graphic xmlns:a="http://schemas.openxmlformats.org/drawingml/2006/main">
          <a:graphicData uri="http://schemas.openxmlformats.org/drawingml/2006/table">
            <a:tbl>
              <a:tblPr firstRow="1" bandRow="0"/>
              <a:tblGrid>
                <a:gridCol w="2952750"/>
                <a:gridCol w="5905500"/>
                <a:gridCol w="2114550"/>
              </a:tblGrid>
              <a:tr h="697230">
                <a:tc>
                  <a:txBody>
                    <a:bodyPr/>
                    <a:lstStyle/>
                    <a:p>
                      <a:r>
                        <a:rPr sz="1800" b="1">
                          <a:solidFill>
                            <a:srgbClr val="064B6B"/>
                          </a:solidFill>
                          <a:latin typeface="Helvetica Neue"/>
                          <a:ea typeface="Helvetica Neue"/>
                          <a:cs typeface="Helvetica Neue"/>
                        </a:rPr>
                        <a:t>Método</a:t>
                      </a:r>
                    </a:p>
                  </a:txBody>
                  <a:tcPr marL="142875" marR="142875" marT="114300" marB="114300" anchor="ctr">
                    <a:solidFill>
                      <a:srgbClr val="EAF4F8"/>
                    </a:solidFill>
                  </a:tcPr>
                </a:tc>
                <a:tc>
                  <a:txBody>
                    <a:bodyPr/>
                    <a:lstStyle/>
                    <a:p>
                      <a:r>
                        <a:rPr sz="1800" b="1">
                          <a:solidFill>
                            <a:srgbClr val="064B6B"/>
                          </a:solidFill>
                          <a:latin typeface="Helvetica Neue"/>
                          <a:ea typeface="Helvetica Neue"/>
                          <a:cs typeface="Helvetica Neue"/>
                        </a:rPr>
                        <a:t>Pregunta que responde</a:t>
                      </a:r>
                    </a:p>
                  </a:txBody>
                  <a:tcPr marL="142875" marR="142875" marT="114300" marB="114300" anchor="ctr">
                    <a:solidFill>
                      <a:srgbClr val="EAF4F8"/>
                    </a:solidFill>
                  </a:tcPr>
                </a:tc>
                <a:tc>
                  <a:txBody>
                    <a:bodyPr/>
                    <a:lstStyle/>
                    <a:p>
                      <a:r>
                        <a:rPr sz="1800" b="1">
                          <a:solidFill>
                            <a:srgbClr val="064B6B"/>
                          </a:solidFill>
                          <a:latin typeface="Helvetica Neue"/>
                          <a:ea typeface="Helvetica Neue"/>
                          <a:cs typeface="Helvetica Neue"/>
                        </a:rPr>
                        <a:t>Parámetros</a:t>
                      </a:r>
                    </a:p>
                  </a:txBody>
                  <a:tcPr marL="142875" marR="142875" marT="114300" marB="114300" anchor="ctr">
                    <a:solidFill>
                      <a:srgbClr val="EAF4F8"/>
                    </a:solidFill>
                  </a:tcPr>
                </a:tc>
              </a:tr>
              <a:tr h="697230">
                <a:tc>
                  <a:txBody>
                    <a:bodyPr/>
                    <a:lstStyle/>
                    <a:p>
                      <a:r>
                        <a:rPr sz="1800" b="0">
                          <a:solidFill>
                            <a:srgbClr val="242C33"/>
                          </a:solidFill>
                          <a:latin typeface="Helvetica Neue"/>
                          <a:ea typeface="Helvetica Neue"/>
                          <a:cs typeface="Helvetica Neue"/>
                        </a:rPr>
                        <a:t>Persistencia</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¿Superamos repetir el último caudal?</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0</a:t>
                      </a:r>
                    </a:p>
                  </a:txBody>
                  <a:tcPr marL="142875" marR="142875" marT="114300" marB="114300" anchor="ctr">
                    <a:solidFill>
                      <a:srgbClr val="FFFFFF"/>
                    </a:solidFill>
                  </a:tcPr>
                </a:tc>
              </a:tr>
              <a:tr h="697230">
                <a:tc>
                  <a:txBody>
                    <a:bodyPr/>
                    <a:lstStyle/>
                    <a:p>
                      <a:r>
                        <a:rPr sz="1800" b="0">
                          <a:solidFill>
                            <a:srgbClr val="242C33"/>
                          </a:solidFill>
                          <a:latin typeface="Helvetica Neue"/>
                          <a:ea typeface="Helvetica Neue"/>
                          <a:cs typeface="Helvetica Neue"/>
                        </a:rPr>
                        <a:t>LSTM multivariada</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¿Mejora la propuesta frente al modelo base?</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815 152</a:t>
                      </a:r>
                    </a:p>
                  </a:txBody>
                  <a:tcPr marL="142875" marR="142875" marT="114300" marB="114300" anchor="ctr">
                    <a:solidFill>
                      <a:srgbClr val="F5F7F8"/>
                    </a:solidFill>
                  </a:tcPr>
                </a:tc>
              </a:tr>
              <a:tr h="697230">
                <a:tc>
                  <a:txBody>
                    <a:bodyPr/>
                    <a:lstStyle/>
                    <a:p>
                      <a:r>
                        <a:rPr sz="1800" b="0">
                          <a:solidFill>
                            <a:srgbClr val="242C33"/>
                          </a:solidFill>
                          <a:latin typeface="Helvetica Neue"/>
                          <a:ea typeface="Helvetica Neue"/>
                          <a:cs typeface="Helvetica Neue"/>
                        </a:rPr>
                        <a:t>DMEL adaptado</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¿Funciona la representación con dos ramas?</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3 648 561</a:t>
                      </a:r>
                    </a:p>
                  </a:txBody>
                  <a:tcPr marL="142875" marR="142875" marT="114300" marB="114300" anchor="ctr">
                    <a:solidFill>
                      <a:srgbClr val="FFFFFF"/>
                    </a:solidFill>
                  </a:tcPr>
                </a:tc>
              </a:tr>
              <a:tr h="697230">
                <a:tc>
                  <a:txBody>
                    <a:bodyPr/>
                    <a:lstStyle/>
                    <a:p>
                      <a:r>
                        <a:rPr sz="1800" b="0">
                          <a:solidFill>
                            <a:srgbClr val="242C33"/>
                          </a:solidFill>
                          <a:latin typeface="Helvetica Neue"/>
                          <a:ea typeface="Helvetica Neue"/>
                          <a:cs typeface="Helvetica Neue"/>
                        </a:rPr>
                        <a:t>Dos ramas Informer</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¿Aporta la especialización con LSTM?</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5 666 818</a:t>
                      </a:r>
                    </a:p>
                  </a:txBody>
                  <a:tcPr marL="142875" marR="142875" marT="114300" marB="114300" anchor="ctr">
                    <a:solidFill>
                      <a:srgbClr val="F5F7F8"/>
                    </a:solidFill>
                  </a:tcPr>
                </a:tc>
              </a:tr>
            </a:tbl>
          </a:graphicData>
        </a:graphic>
      </p:graphicFrame>
      <p:sp>
        <p:nvSpPr>
          <p:cNvPr id="5" name="Mismo split, semilla 42, normalización y presupuesto de entr">
            <a:extLst xmlns:a="http://schemas.openxmlformats.org/drawingml/2006/main">
              <a:ext uri="{FF2B5EF4-FFF2-40B4-BE49-F238E27FC236}">
                <a16:creationId xmlns:a16="http://schemas.microsoft.com/office/drawing/2014/main" id="{5E481492-DE03-4386-9E40-8BFA6A7310BE}"/>
              </a:ext>
            </a:extLst>
          </p:cNvPr>
          <p:cNvSpPr>
            <a:spLocks xmlns:a="http://schemas.openxmlformats.org/drawingml/2006/main" noGrp="1"/>
          </p:cNvSpPr>
          <p:nvPr/>
        </p:nvSpPr>
        <p:spPr>
          <a:xfrm xmlns:a="http://schemas.openxmlformats.org/drawingml/2006/main">
            <a:off x="685800" y="5476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1">
                <a:solidFill>
                  <a:srgbClr val="007FA3"/>
                </a:solidFill>
                <a:latin typeface="Helvetica Neue"/>
                <a:ea typeface="Helvetica Neue"/>
                <a:cs typeface="Helvetica Neue"/>
              </a:defRPr>
            </a:pPr>
            <a:r>
              <a:rPr sz="1950" b="1">
                <a:solidFill>
                  <a:srgbClr val="007FA3"/>
                </a:solidFill>
                <a:latin typeface="Helvetica Neue"/>
                <a:ea typeface="Helvetica Neue"/>
                <a:cs typeface="Helvetica Neue"/>
              </a:rPr>
              <a:t>Mismo split, semilla 42, normalización y presupuesto de entrenamiento.</a:t>
            </a:r>
          </a:p>
        </p:txBody>
      </p:sp>
      <p:sp>
        <p:nvSpPr>
          <p:cNvPr id="6" name="La ablación también cambia la capacidad del modelo. Una semi">
            <a:extLst xmlns:a="http://schemas.openxmlformats.org/drawingml/2006/main">
              <a:ext uri="{FF2B5EF4-FFF2-40B4-BE49-F238E27FC236}">
                <a16:creationId xmlns:a16="http://schemas.microsoft.com/office/drawing/2014/main" id="{738C7364-00F1-4A78-8C47-7E1DB072C7D5}"/>
              </a:ext>
            </a:extLst>
          </p:cNvPr>
          <p:cNvSpPr>
            <a:spLocks xmlns:a="http://schemas.openxmlformats.org/drawingml/2006/main" noGrp="1"/>
          </p:cNvSpPr>
          <p:nvPr/>
        </p:nvSpPr>
        <p:spPr>
          <a:xfrm xmlns:a="http://schemas.openxmlformats.org/drawingml/2006/main">
            <a:off x="685800" y="594360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650" b="0">
                <a:solidFill>
                  <a:srgbClr val="5D6267"/>
                </a:solidFill>
                <a:latin typeface="Helvetica Neue"/>
                <a:ea typeface="Helvetica Neue"/>
                <a:cs typeface="Helvetica Neue"/>
              </a:defRPr>
            </a:pPr>
            <a:r>
              <a:rPr sz="1650" b="0">
                <a:solidFill>
                  <a:srgbClr val="5D6267"/>
                </a:solidFill>
                <a:latin typeface="Helvetica Neue"/>
                <a:ea typeface="Helvetica Neue"/>
                <a:cs typeface="Helvetica Neue"/>
              </a:rPr>
              <a:t>La ablación también cambia la capacidad del modelo. Una semilla limita la evidencia estadística.</a:t>
            </a:r>
          </a:p>
        </p:txBody>
      </p:sp>
    </p:spTree>
    <p:extLst>
      <p:ext uri="{BB962C8B-B14F-4D97-AF65-F5344CB8AC3E}">
        <p14:creationId xmlns:p14="http://schemas.microsoft.com/office/powerpoint/2010/main" val="69702525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Evaluación por horizonte y por cuenca">
            <a:extLst xmlns:a="http://schemas.openxmlformats.org/drawingml/2006/main">
              <a:ext uri="{FF2B5EF4-FFF2-40B4-BE49-F238E27FC236}">
                <a16:creationId xmlns:a16="http://schemas.microsoft.com/office/drawing/2014/main" id="{E12A4B43-12C9-4AAC-83DF-22E680C063DA}"/>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Evaluación por horizonte y por cuenca</a:t>
            </a:r>
          </a:p>
        </p:txBody>
      </p:sp>
      <p:sp>
        <p:nvSpPr>
          <p:cNvPr id="2" name="dmel/metrics.py; Knoben et al. (2019)">
            <a:extLst xmlns:a="http://schemas.openxmlformats.org/drawingml/2006/main">
              <a:ext uri="{FF2B5EF4-FFF2-40B4-BE49-F238E27FC236}">
                <a16:creationId xmlns:a16="http://schemas.microsoft.com/office/drawing/2014/main" id="{00C02DA7-61BC-4D12-A44A-AAA6A8F208EB}"/>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dmel/metrics.py; Knoben et al. (2019)</a:t>
            </a:r>
          </a:p>
        </p:txBody>
      </p:sp>
      <p:sp>
        <p:nvSpPr>
          <p:cNvPr id="3" name="15">
            <a:extLst xmlns:a="http://schemas.openxmlformats.org/drawingml/2006/main">
              <a:ext uri="{FF2B5EF4-FFF2-40B4-BE49-F238E27FC236}">
                <a16:creationId xmlns:a16="http://schemas.microsoft.com/office/drawing/2014/main" id="{66385AC5-C1B4-4069-9EC6-949B865C48F6}"/>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15</a:t>
            </a:r>
          </a:p>
        </p:txBody>
      </p:sp>
      <p:graphicFrame>
        <p:nvGraphicFramePr>
          <p:cNvPr id="12" name=""/>
          <p:cNvGraphicFramePr/>
          <p:nvPr/>
        </p:nvGraphicFramePr>
        <p:xfrm>
          <a:off xmlns:a="http://schemas.openxmlformats.org/drawingml/2006/main" x="609600" y="1657350"/>
          <a:ext xmlns:a="http://schemas.openxmlformats.org/drawingml/2006/main" cx="10972800" cy="3114675"/>
        </p:xfrm>
        <a:graphic xmlns:a="http://schemas.openxmlformats.org/drawingml/2006/main">
          <a:graphicData uri="http://schemas.openxmlformats.org/drawingml/2006/table">
            <a:tbl>
              <a:tblPr firstRow="1" bandRow="0"/>
              <a:tblGrid>
                <a:gridCol w="3571875"/>
                <a:gridCol w="7400925"/>
              </a:tblGrid>
              <a:tr h="622935">
                <a:tc>
                  <a:txBody>
                    <a:bodyPr/>
                    <a:lstStyle/>
                    <a:p>
                      <a:r>
                        <a:rPr sz="1875" b="1">
                          <a:solidFill>
                            <a:srgbClr val="064B6B"/>
                          </a:solidFill>
                          <a:latin typeface="Helvetica Neue"/>
                          <a:ea typeface="Helvetica Neue"/>
                          <a:cs typeface="Helvetica Neue"/>
                        </a:rPr>
                        <a:t>Medida</a:t>
                      </a:r>
                    </a:p>
                  </a:txBody>
                  <a:tcPr marL="142875" marR="142875" marT="114300" marB="114300" anchor="ctr">
                    <a:solidFill>
                      <a:srgbClr val="EAF4F8"/>
                    </a:solidFill>
                  </a:tcPr>
                </a:tc>
                <a:tc>
                  <a:txBody>
                    <a:bodyPr/>
                    <a:lstStyle/>
                    <a:p>
                      <a:r>
                        <a:rPr sz="1875" b="1">
                          <a:solidFill>
                            <a:srgbClr val="064B6B"/>
                          </a:solidFill>
                          <a:latin typeface="Helvetica Neue"/>
                          <a:ea typeface="Helvetica Neue"/>
                          <a:cs typeface="Helvetica Neue"/>
                        </a:rPr>
                        <a:t>Lectura</a:t>
                      </a:r>
                    </a:p>
                  </a:txBody>
                  <a:tcPr marL="142875" marR="142875" marT="114300" marB="114300" anchor="ctr">
                    <a:solidFill>
                      <a:srgbClr val="EAF4F8"/>
                    </a:solidFill>
                  </a:tcPr>
                </a:tc>
              </a:tr>
              <a:tr h="622935">
                <a:tc>
                  <a:txBody>
                    <a:bodyPr/>
                    <a:lstStyle/>
                    <a:p>
                      <a:r>
                        <a:rPr sz="1875" b="0">
                          <a:solidFill>
                            <a:srgbClr val="242C33"/>
                          </a:solidFill>
                          <a:latin typeface="Helvetica Neue"/>
                          <a:ea typeface="Helvetica Neue"/>
                          <a:cs typeface="Helvetica Neue"/>
                        </a:rPr>
                        <a:t>RMSE y MAE, mm/h</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Magnitud del error en las unidades del objetivo</a:t>
                      </a:r>
                    </a:p>
                  </a:txBody>
                  <a:tcPr marL="142875" marR="142875" marT="114300" marB="114300" anchor="ctr">
                    <a:solidFill>
                      <a:srgbClr val="FFFFFF"/>
                    </a:solidFill>
                  </a:tcPr>
                </a:tc>
              </a:tr>
              <a:tr h="622935">
                <a:tc>
                  <a:txBody>
                    <a:bodyPr/>
                    <a:lstStyle/>
                    <a:p>
                      <a:r>
                        <a:rPr sz="1875" b="0">
                          <a:solidFill>
                            <a:srgbClr val="242C33"/>
                          </a:solidFill>
                          <a:latin typeface="Helvetica Neue"/>
                          <a:ea typeface="Helvetica Neue"/>
                          <a:cs typeface="Helvetica Neue"/>
                        </a:rPr>
                        <a:t>NSE</a:t>
                      </a:r>
                    </a:p>
                  </a:txBody>
                  <a:tcPr marL="142875" marR="142875" marT="114300" marB="114300" anchor="ctr">
                    <a:solidFill>
                      <a:srgbClr val="F5F7F8"/>
                    </a:solidFill>
                  </a:tcPr>
                </a:tc>
                <a:tc>
                  <a:txBody>
                    <a:bodyPr/>
                    <a:lstStyle/>
                    <a:p>
                      <a:r>
                        <a:rPr sz="1875" b="0">
                          <a:solidFill>
                            <a:srgbClr val="242C33"/>
                          </a:solidFill>
                          <a:latin typeface="Helvetica Neue"/>
                          <a:ea typeface="Helvetica Neue"/>
                          <a:cs typeface="Helvetica Neue"/>
                        </a:rPr>
                        <a:t>Comparación con la media observada del conjunto evaluado</a:t>
                      </a:r>
                    </a:p>
                  </a:txBody>
                  <a:tcPr marL="142875" marR="142875" marT="114300" marB="114300" anchor="ctr">
                    <a:solidFill>
                      <a:srgbClr val="F5F7F8"/>
                    </a:solidFill>
                  </a:tcPr>
                </a:tc>
              </a:tr>
              <a:tr h="622935">
                <a:tc>
                  <a:txBody>
                    <a:bodyPr/>
                    <a:lstStyle/>
                    <a:p>
                      <a:r>
                        <a:rPr sz="1875" b="0">
                          <a:solidFill>
                            <a:srgbClr val="242C33"/>
                          </a:solidFill>
                          <a:latin typeface="Helvetica Neue"/>
                          <a:ea typeface="Helvetica Neue"/>
                          <a:cs typeface="Helvetica Neue"/>
                        </a:rPr>
                        <a:t>KGE 2009</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Correlación, variabilidad relativa y sesgo de la media</a:t>
                      </a:r>
                    </a:p>
                  </a:txBody>
                  <a:tcPr marL="142875" marR="142875" marT="114300" marB="114300" anchor="ctr">
                    <a:solidFill>
                      <a:srgbClr val="FFFFFF"/>
                    </a:solidFill>
                  </a:tcPr>
                </a:tc>
              </a:tr>
              <a:tr h="622935">
                <a:tc>
                  <a:txBody>
                    <a:bodyPr/>
                    <a:lstStyle/>
                    <a:p>
                      <a:r>
                        <a:rPr sz="1875" b="0">
                          <a:solidFill>
                            <a:srgbClr val="242C33"/>
                          </a:solidFill>
                          <a:latin typeface="Helvetica Neue"/>
                          <a:ea typeface="Helvetica Neue"/>
                          <a:cs typeface="Helvetica Neue"/>
                        </a:rPr>
                        <a:t>Sesgo y valores negativos</a:t>
                      </a:r>
                    </a:p>
                  </a:txBody>
                  <a:tcPr marL="142875" marR="142875" marT="114300" marB="114300" anchor="ctr">
                    <a:solidFill>
                      <a:srgbClr val="F5F7F8"/>
                    </a:solidFill>
                  </a:tcPr>
                </a:tc>
                <a:tc>
                  <a:txBody>
                    <a:bodyPr/>
                    <a:lstStyle/>
                    <a:p>
                      <a:r>
                        <a:rPr sz="1875" b="0">
                          <a:solidFill>
                            <a:srgbClr val="242C33"/>
                          </a:solidFill>
                          <a:latin typeface="Helvetica Neue"/>
                          <a:ea typeface="Helvetica Neue"/>
                          <a:cs typeface="Helvetica Neue"/>
                        </a:rPr>
                        <a:t>Errores sistemáticos y coherencia física</a:t>
                      </a:r>
                    </a:p>
                  </a:txBody>
                  <a:tcPr marL="142875" marR="142875" marT="114300" marB="114300" anchor="ctr">
                    <a:solidFill>
                      <a:srgbClr val="F5F7F8"/>
                    </a:solidFill>
                  </a:tcPr>
                </a:tc>
              </a:tr>
            </a:tbl>
          </a:graphicData>
        </a:graphic>
      </p:graphicFrame>
      <p:sp>
        <p:nvSpPr>
          <p:cNvPr id="5" name="Reportes globales, h = 1…48 y métricas por cuenca">
            <a:extLst xmlns:a="http://schemas.openxmlformats.org/drawingml/2006/main">
              <a:ext uri="{FF2B5EF4-FFF2-40B4-BE49-F238E27FC236}">
                <a16:creationId xmlns:a16="http://schemas.microsoft.com/office/drawing/2014/main" id="{DBF703D8-2FD8-4370-92C4-5A3F47A6235C}"/>
              </a:ext>
            </a:extLst>
          </p:cNvPr>
          <p:cNvSpPr>
            <a:spLocks xmlns:a="http://schemas.openxmlformats.org/drawingml/2006/main" noGrp="1"/>
          </p:cNvSpPr>
          <p:nvPr/>
        </p:nvSpPr>
        <p:spPr>
          <a:xfrm xmlns:a="http://schemas.openxmlformats.org/drawingml/2006/main">
            <a:off x="695325" y="5172075"/>
            <a:ext cx="10572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325" b="1">
                <a:solidFill>
                  <a:srgbClr val="007FA3"/>
                </a:solidFill>
                <a:latin typeface="Helvetica Neue"/>
                <a:ea typeface="Helvetica Neue"/>
                <a:cs typeface="Helvetica Neue"/>
              </a:defRPr>
            </a:pPr>
            <a:r>
              <a:rPr sz="2325" b="1">
                <a:solidFill>
                  <a:srgbClr val="007FA3"/>
                </a:solidFill>
                <a:latin typeface="Helvetica Neue"/>
                <a:ea typeface="Helvetica Neue"/>
                <a:cs typeface="Helvetica Neue"/>
              </a:rPr>
              <a:t>Reportes globales, h = 1…48 y métricas por cuenca</a:t>
            </a:r>
          </a:p>
        </p:txBody>
      </p:sp>
      <p:sp>
        <p:nvSpPr>
          <p:cNvPr id="6" name="Sin fechas absolutas, las filas no forman una serie temporal">
            <a:extLst xmlns:a="http://schemas.openxmlformats.org/drawingml/2006/main">
              <a:ext uri="{FF2B5EF4-FFF2-40B4-BE49-F238E27FC236}">
                <a16:creationId xmlns:a16="http://schemas.microsoft.com/office/drawing/2014/main" id="{96F76FA3-167B-4701-AD51-463F63A4374A}"/>
              </a:ext>
            </a:extLst>
          </p:cNvPr>
          <p:cNvSpPr>
            <a:spLocks xmlns:a="http://schemas.openxmlformats.org/drawingml/2006/main" noGrp="1"/>
          </p:cNvSpPr>
          <p:nvPr/>
        </p:nvSpPr>
        <p:spPr>
          <a:xfrm xmlns:a="http://schemas.openxmlformats.org/drawingml/2006/main">
            <a:off x="695325" y="57435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5D6267"/>
                </a:solidFill>
                <a:latin typeface="Helvetica Neue"/>
                <a:ea typeface="Helvetica Neue"/>
                <a:cs typeface="Helvetica Neue"/>
              </a:defRPr>
            </a:pPr>
            <a:r>
              <a:rPr sz="1875" b="0">
                <a:solidFill>
                  <a:srgbClr val="5D6267"/>
                </a:solidFill>
                <a:latin typeface="Helvetica Neue"/>
                <a:ea typeface="Helvetica Neue"/>
                <a:cs typeface="Helvetica Neue"/>
              </a:rPr>
              <a:t>Sin fechas absolutas, las filas no forman una serie temporal continua.</a:t>
            </a:r>
          </a:p>
        </p:txBody>
      </p:sp>
    </p:spTree>
    <p:extLst>
      <p:ext uri="{BB962C8B-B14F-4D97-AF65-F5344CB8AC3E}">
        <p14:creationId xmlns:p14="http://schemas.microsoft.com/office/powerpoint/2010/main" val="150617799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Resultados de validación del LSTM">
            <a:extLst xmlns:a="http://schemas.openxmlformats.org/drawingml/2006/main">
              <a:ext uri="{FF2B5EF4-FFF2-40B4-BE49-F238E27FC236}">
                <a16:creationId xmlns:a16="http://schemas.microsoft.com/office/drawing/2014/main" id="{E7E7C0F4-1B8D-47F3-B4E3-BFF20970F783}"/>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064B6B"/>
                </a:solidFill>
                <a:latin typeface="Helvetica Neue"/>
                <a:ea typeface="Helvetica Neue"/>
                <a:cs typeface="Helvetica Neue"/>
              </a:defRPr>
            </a:pPr>
            <a:r>
              <a:rPr sz="3300" b="1">
                <a:solidFill>
                  <a:srgbClr val="064B6B"/>
                </a:solidFill>
                <a:latin typeface="Helvetica Neue"/>
                <a:ea typeface="Helvetica Neue"/>
                <a:cs typeface="Helvetica Neue"/>
              </a:rPr>
              <a:t>Resultados de validación del LSTM</a:t>
            </a:r>
          </a:p>
        </p:txBody>
      </p:sp>
      <p:sp>
        <p:nvSpPr>
          <p:cNvPr id="2" name="Job 53987 completado. Mejor checkpoint, época 10. Resultados pro">
            <a:extLst xmlns:a="http://schemas.openxmlformats.org/drawingml/2006/main">
              <a:ext uri="{FF2B5EF4-FFF2-40B4-BE49-F238E27FC236}">
                <a16:creationId xmlns:a16="http://schemas.microsoft.com/office/drawing/2014/main" id="{123E38B0-D317-455E-89C9-592DFD9E6FBA}"/>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Job 53987 completado. Mejor checkpoint, época 10. Resultados propios, semilla 42</a:t>
            </a:r>
          </a:p>
        </p:txBody>
      </p:sp>
      <p:sp>
        <p:nvSpPr>
          <p:cNvPr id="3" name="00">
            <a:extLst xmlns:a="http://schemas.openxmlformats.org/drawingml/2006/main">
              <a:ext uri="{FF2B5EF4-FFF2-40B4-BE49-F238E27FC236}">
                <a16:creationId xmlns:a16="http://schemas.microsoft.com/office/drawing/2014/main" id="{10B37757-2AA8-4AFB-83DE-8AE67FE7EB36}"/>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16</a:t>
            </a:r>
          </a:p>
        </p:txBody>
      </p:sp>
      <p:sp>
        <p:nvSpPr>
          <p:cNvPr id="4" name="18 142 ventanas y 508 cuencas">
            <a:extLst xmlns:a="http://schemas.openxmlformats.org/drawingml/2006/main">
              <a:ext uri="{FF2B5EF4-FFF2-40B4-BE49-F238E27FC236}">
                <a16:creationId xmlns:a16="http://schemas.microsoft.com/office/drawing/2014/main" id="{CCF314C3-DAC5-4886-9428-47C693BED5AF}"/>
              </a:ext>
            </a:extLst>
          </p:cNvPr>
          <p:cNvSpPr>
            <a:spLocks xmlns:a="http://schemas.openxmlformats.org/drawingml/2006/main" noGrp="1"/>
          </p:cNvSpPr>
          <p:nvPr/>
        </p:nvSpPr>
        <p:spPr>
          <a:xfrm xmlns:a="http://schemas.openxmlformats.org/drawingml/2006/main">
            <a:off x="695325" y="1457325"/>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007FA3"/>
                </a:solidFill>
                <a:latin typeface="Helvetica Neue"/>
                <a:ea typeface="Helvetica Neue"/>
                <a:cs typeface="Helvetica Neue"/>
              </a:defRPr>
            </a:pPr>
            <a:r>
              <a:rPr sz="2550" b="1">
                <a:solidFill>
                  <a:srgbClr val="007FA3"/>
                </a:solidFill>
                <a:latin typeface="Helvetica Neue"/>
                <a:ea typeface="Helvetica Neue"/>
                <a:cs typeface="Helvetica Neue"/>
              </a:rPr>
              <a:t>18 142 ventanas y 508 cuencas</a:t>
            </a:r>
          </a:p>
        </p:txBody>
      </p:sp>
      <p:sp>
        <p:nvSpPr>
          <p:cNvPr id="5" name="870 816 pares de ventana y horizonte evaluados">
            <a:extLst xmlns:a="http://schemas.openxmlformats.org/drawingml/2006/main">
              <a:ext uri="{FF2B5EF4-FFF2-40B4-BE49-F238E27FC236}">
                <a16:creationId xmlns:a16="http://schemas.microsoft.com/office/drawing/2014/main" id="{16E55778-B8AE-4A04-A9EA-FD579AF98846}"/>
              </a:ext>
            </a:extLst>
          </p:cNvPr>
          <p:cNvSpPr>
            <a:spLocks xmlns:a="http://schemas.openxmlformats.org/drawingml/2006/main" noGrp="1"/>
          </p:cNvSpPr>
          <p:nvPr/>
        </p:nvSpPr>
        <p:spPr>
          <a:xfrm xmlns:a="http://schemas.openxmlformats.org/drawingml/2006/main">
            <a:off x="714375" y="2000250"/>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5D6267"/>
                </a:solidFill>
                <a:latin typeface="Helvetica Neue"/>
                <a:ea typeface="Helvetica Neue"/>
                <a:cs typeface="Helvetica Neue"/>
              </a:defRPr>
            </a:pPr>
            <a:r>
              <a:rPr sz="1950" b="0">
                <a:solidFill>
                  <a:srgbClr val="5D6267"/>
                </a:solidFill>
                <a:latin typeface="Helvetica Neue"/>
                <a:ea typeface="Helvetica Neue"/>
                <a:cs typeface="Helvetica Neue"/>
              </a:rPr>
              <a:t>870 816 pares de ventana y horizonte evaluados</a:t>
            </a:r>
          </a:p>
        </p:txBody>
      </p:sp>
      <p:graphicFrame>
        <p:nvGraphicFramePr>
          <p:cNvPr id="13" name=""/>
          <p:cNvGraphicFramePr/>
          <p:nvPr/>
        </p:nvGraphicFramePr>
        <p:xfrm>
          <a:off xmlns:a="http://schemas.openxmlformats.org/drawingml/2006/main" x="609600" y="2647950"/>
          <a:ext xmlns:a="http://schemas.openxmlformats.org/drawingml/2006/main" cx="10972800" cy="2809875"/>
        </p:xfrm>
        <a:graphic xmlns:a="http://schemas.openxmlformats.org/drawingml/2006/main">
          <a:graphicData uri="http://schemas.openxmlformats.org/drawingml/2006/table">
            <a:tbl>
              <a:tblPr firstRow="1" bandRow="0"/>
              <a:tblGrid>
                <a:gridCol w="2571750"/>
                <a:gridCol w="2571750"/>
                <a:gridCol w="5829300"/>
              </a:tblGrid>
              <a:tr h="561975">
                <a:tc>
                  <a:txBody>
                    <a:bodyPr/>
                    <a:lstStyle/>
                    <a:p>
                      <a:r>
                        <a:rPr sz="1875" b="1">
                          <a:solidFill>
                            <a:srgbClr val="064B6B"/>
                          </a:solidFill>
                          <a:latin typeface="Helvetica Neue"/>
                          <a:ea typeface="Helvetica Neue"/>
                          <a:cs typeface="Helvetica Neue"/>
                        </a:rPr>
                        <a:t>Métrica global</a:t>
                      </a:r>
                    </a:p>
                  </a:txBody>
                  <a:tcPr marL="142875" marR="142875" marT="114300" marB="114300" anchor="ctr">
                    <a:solidFill>
                      <a:srgbClr val="EAF4F8"/>
                    </a:solidFill>
                  </a:tcPr>
                </a:tc>
                <a:tc>
                  <a:txBody>
                    <a:bodyPr/>
                    <a:lstStyle/>
                    <a:p>
                      <a:r>
                        <a:rPr sz="1875" b="1">
                          <a:solidFill>
                            <a:srgbClr val="064B6B"/>
                          </a:solidFill>
                          <a:latin typeface="Helvetica Neue"/>
                          <a:ea typeface="Helvetica Neue"/>
                          <a:cs typeface="Helvetica Neue"/>
                        </a:rPr>
                        <a:t>Valor</a:t>
                      </a:r>
                    </a:p>
                  </a:txBody>
                  <a:tcPr marL="142875" marR="142875" marT="114300" marB="114300" anchor="ctr">
                    <a:solidFill>
                      <a:srgbClr val="EAF4F8"/>
                    </a:solidFill>
                  </a:tcPr>
                </a:tc>
                <a:tc>
                  <a:txBody>
                    <a:bodyPr/>
                    <a:lstStyle/>
                    <a:p>
                      <a:r>
                        <a:rPr sz="1875" b="1">
                          <a:solidFill>
                            <a:srgbClr val="064B6B"/>
                          </a:solidFill>
                          <a:latin typeface="Helvetica Neue"/>
                          <a:ea typeface="Helvetica Neue"/>
                          <a:cs typeface="Helvetica Neue"/>
                        </a:rPr>
                        <a:t>Lectura</a:t>
                      </a:r>
                    </a:p>
                  </a:txBody>
                  <a:tcPr marL="142875" marR="142875" marT="114300" marB="114300" anchor="ctr">
                    <a:solidFill>
                      <a:srgbClr val="EAF4F8"/>
                    </a:solidFill>
                  </a:tcPr>
                </a:tc>
              </a:tr>
              <a:tr h="561975">
                <a:tc>
                  <a:txBody>
                    <a:bodyPr/>
                    <a:lstStyle/>
                    <a:p>
                      <a:r>
                        <a:rPr sz="1875" b="0">
                          <a:solidFill>
                            <a:srgbClr val="242C33"/>
                          </a:solidFill>
                          <a:latin typeface="Helvetica Neue"/>
                          <a:ea typeface="Helvetica Neue"/>
                          <a:cs typeface="Helvetica Neue"/>
                        </a:rPr>
                        <a:t>RMSE</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0.1023 mm/h</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Raíz del error cuadrático medio</a:t>
                      </a:r>
                    </a:p>
                  </a:txBody>
                  <a:tcPr marL="142875" marR="142875" marT="114300" marB="114300" anchor="ctr">
                    <a:solidFill>
                      <a:srgbClr val="FFFFFF"/>
                    </a:solidFill>
                  </a:tcPr>
                </a:tc>
              </a:tr>
              <a:tr h="561975">
                <a:tc>
                  <a:txBody>
                    <a:bodyPr/>
                    <a:lstStyle/>
                    <a:p>
                      <a:r>
                        <a:rPr sz="1875" b="0">
                          <a:solidFill>
                            <a:srgbClr val="242C33"/>
                          </a:solidFill>
                          <a:latin typeface="Helvetica Neue"/>
                          <a:ea typeface="Helvetica Neue"/>
                          <a:cs typeface="Helvetica Neue"/>
                        </a:rPr>
                        <a:t>MAE</a:t>
                      </a:r>
                    </a:p>
                  </a:txBody>
                  <a:tcPr marL="142875" marR="142875" marT="114300" marB="114300" anchor="ctr">
                    <a:solidFill>
                      <a:srgbClr val="F5F7F8"/>
                    </a:solidFill>
                  </a:tcPr>
                </a:tc>
                <a:tc>
                  <a:txBody>
                    <a:bodyPr/>
                    <a:lstStyle/>
                    <a:p>
                      <a:r>
                        <a:rPr sz="1875" b="0">
                          <a:solidFill>
                            <a:srgbClr val="242C33"/>
                          </a:solidFill>
                          <a:latin typeface="Helvetica Neue"/>
                          <a:ea typeface="Helvetica Neue"/>
                          <a:cs typeface="Helvetica Neue"/>
                        </a:rPr>
                        <a:t>0.0213 mm/h</a:t>
                      </a:r>
                    </a:p>
                  </a:txBody>
                  <a:tcPr marL="142875" marR="142875" marT="114300" marB="114300" anchor="ctr">
                    <a:solidFill>
                      <a:srgbClr val="F5F7F8"/>
                    </a:solidFill>
                  </a:tcPr>
                </a:tc>
                <a:tc>
                  <a:txBody>
                    <a:bodyPr/>
                    <a:lstStyle/>
                    <a:p>
                      <a:r>
                        <a:rPr sz="1875" b="0">
                          <a:solidFill>
                            <a:srgbClr val="242C33"/>
                          </a:solidFill>
                          <a:latin typeface="Helvetica Neue"/>
                          <a:ea typeface="Helvetica Neue"/>
                          <a:cs typeface="Helvetica Neue"/>
                        </a:rPr>
                        <a:t>Error absoluto medio</a:t>
                      </a:r>
                    </a:p>
                  </a:txBody>
                  <a:tcPr marL="142875" marR="142875" marT="114300" marB="114300" anchor="ctr">
                    <a:solidFill>
                      <a:srgbClr val="F5F7F8"/>
                    </a:solidFill>
                  </a:tcPr>
                </a:tc>
              </a:tr>
              <a:tr h="561975">
                <a:tc>
                  <a:txBody>
                    <a:bodyPr/>
                    <a:lstStyle/>
                    <a:p>
                      <a:r>
                        <a:rPr sz="1875" b="0">
                          <a:solidFill>
                            <a:srgbClr val="242C33"/>
                          </a:solidFill>
                          <a:latin typeface="Helvetica Neue"/>
                          <a:ea typeface="Helvetica Neue"/>
                          <a:cs typeface="Helvetica Neue"/>
                        </a:rPr>
                        <a:t>NSE</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0.6447</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Referencia: media observada</a:t>
                      </a:r>
                    </a:p>
                  </a:txBody>
                  <a:tcPr marL="142875" marR="142875" marT="114300" marB="114300" anchor="ctr">
                    <a:solidFill>
                      <a:srgbClr val="FFFFFF"/>
                    </a:solidFill>
                  </a:tcPr>
                </a:tc>
              </a:tr>
              <a:tr h="561975">
                <a:tc>
                  <a:txBody>
                    <a:bodyPr/>
                    <a:lstStyle/>
                    <a:p>
                      <a:r>
                        <a:rPr sz="1875" b="0">
                          <a:solidFill>
                            <a:srgbClr val="242C33"/>
                          </a:solidFill>
                          <a:latin typeface="Helvetica Neue"/>
                          <a:ea typeface="Helvetica Neue"/>
                          <a:cs typeface="Helvetica Neue"/>
                        </a:rPr>
                        <a:t>KGE 2009</a:t>
                      </a:r>
                    </a:p>
                  </a:txBody>
                  <a:tcPr marL="142875" marR="142875" marT="114300" marB="114300" anchor="ctr">
                    <a:solidFill>
                      <a:srgbClr val="F5F7F8"/>
                    </a:solidFill>
                  </a:tcPr>
                </a:tc>
                <a:tc>
                  <a:txBody>
                    <a:bodyPr/>
                    <a:lstStyle/>
                    <a:p>
                      <a:r>
                        <a:rPr sz="1875" b="0">
                          <a:solidFill>
                            <a:srgbClr val="242C33"/>
                          </a:solidFill>
                          <a:latin typeface="Helvetica Neue"/>
                          <a:ea typeface="Helvetica Neue"/>
                          <a:cs typeface="Helvetica Neue"/>
                        </a:rPr>
                        <a:t>0.7221</a:t>
                      </a:r>
                    </a:p>
                  </a:txBody>
                  <a:tcPr marL="142875" marR="142875" marT="114300" marB="114300" anchor="ctr">
                    <a:solidFill>
                      <a:srgbClr val="F5F7F8"/>
                    </a:solidFill>
                  </a:tcPr>
                </a:tc>
                <a:tc>
                  <a:txBody>
                    <a:bodyPr/>
                    <a:lstStyle/>
                    <a:p>
                      <a:r>
                        <a:rPr sz="1875" b="0">
                          <a:solidFill>
                            <a:srgbClr val="242C33"/>
                          </a:solidFill>
                          <a:latin typeface="Helvetica Neue"/>
                          <a:ea typeface="Helvetica Neue"/>
                          <a:cs typeface="Helvetica Neue"/>
                        </a:rPr>
                        <a:t>Correlación, variabilidad y sesgo</a:t>
                      </a:r>
                    </a:p>
                  </a:txBody>
                  <a:tcPr marL="142875" marR="142875" marT="114300" marB="114300" anchor="ctr">
                    <a:solidFill>
                      <a:srgbClr val="F5F7F8"/>
                    </a:solidFill>
                  </a:tcPr>
                </a:tc>
              </a:tr>
            </a:tbl>
          </a:graphicData>
        </a:graphic>
      </p:graphicFrame>
      <p:sp>
        <p:nvSpPr>
          <p:cNvPr id="7" name="20 épocas completadas. Selección por RMSE de validación y pacien">
            <a:extLst xmlns:a="http://schemas.openxmlformats.org/drawingml/2006/main">
              <a:ext uri="{FF2B5EF4-FFF2-40B4-BE49-F238E27FC236}">
                <a16:creationId xmlns:a16="http://schemas.microsoft.com/office/drawing/2014/main" id="{3ED61469-1100-4516-8B14-5D913E2D473C}"/>
              </a:ext>
            </a:extLst>
          </p:cNvPr>
          <p:cNvSpPr>
            <a:spLocks xmlns:a="http://schemas.openxmlformats.org/drawingml/2006/main" noGrp="1"/>
          </p:cNvSpPr>
          <p:nvPr/>
        </p:nvSpPr>
        <p:spPr>
          <a:xfrm xmlns:a="http://schemas.openxmlformats.org/drawingml/2006/main">
            <a:off x="742950" y="5734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242C33"/>
                </a:solidFill>
                <a:latin typeface="Helvetica Neue"/>
                <a:ea typeface="Helvetica Neue"/>
                <a:cs typeface="Helvetica Neue"/>
              </a:defRPr>
            </a:pPr>
            <a:r>
              <a:rPr sz="1875" b="0">
                <a:solidFill>
                  <a:srgbClr val="242C33"/>
                </a:solidFill>
                <a:latin typeface="Helvetica Neue"/>
                <a:ea typeface="Helvetica Neue"/>
                <a:cs typeface="Helvetica Neue"/>
              </a:rPr>
              <a:t>20 épocas completadas. Selección por RMSE de validación y paciencia 10.</a:t>
            </a:r>
          </a:p>
        </p:txBody>
      </p:sp>
    </p:spTree>
    <p:extLst>
      <p:ext uri="{BB962C8B-B14F-4D97-AF65-F5344CB8AC3E}">
        <p14:creationId xmlns:p14="http://schemas.microsoft.com/office/powerpoint/2010/main" val="145620181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Aprendizaje y selección del checkpoint">
            <a:extLst xmlns:a="http://schemas.openxmlformats.org/drawingml/2006/main">
              <a:ext uri="{FF2B5EF4-FFF2-40B4-BE49-F238E27FC236}">
                <a16:creationId xmlns:a16="http://schemas.microsoft.com/office/drawing/2014/main" id="{E519755B-EEC4-43CD-9D79-F1C9A3AF8315}"/>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064B6B"/>
                </a:solidFill>
                <a:latin typeface="Helvetica Neue"/>
                <a:ea typeface="Helvetica Neue"/>
                <a:cs typeface="Helvetica Neue"/>
              </a:defRPr>
            </a:pPr>
            <a:r>
              <a:rPr sz="3300" b="1">
                <a:solidFill>
                  <a:srgbClr val="064B6B"/>
                </a:solidFill>
                <a:latin typeface="Helvetica Neue"/>
                <a:ea typeface="Helvetica Neue"/>
                <a:cs typeface="Helvetica Neue"/>
              </a:rPr>
              <a:t>Aprendizaje y selección del checkpoint</a:t>
            </a:r>
          </a:p>
        </p:txBody>
      </p:sp>
      <p:sp>
        <p:nvSpPr>
          <p:cNvPr id="2" name="history.json de 53987. Épocas numeradas desde 1 para la exposici">
            <a:extLst xmlns:a="http://schemas.openxmlformats.org/drawingml/2006/main">
              <a:ext uri="{FF2B5EF4-FFF2-40B4-BE49-F238E27FC236}">
                <a16:creationId xmlns:a16="http://schemas.microsoft.com/office/drawing/2014/main" id="{00A0C5C7-661F-4DAD-B062-FB245C3CE8D8}"/>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history.json de 53987. Épocas numeradas desde 1 para la exposición</a:t>
            </a:r>
          </a:p>
        </p:txBody>
      </p:sp>
      <p:sp>
        <p:nvSpPr>
          <p:cNvPr id="3" name="00">
            <a:extLst xmlns:a="http://schemas.openxmlformats.org/drawingml/2006/main">
              <a:ext uri="{FF2B5EF4-FFF2-40B4-BE49-F238E27FC236}">
                <a16:creationId xmlns:a16="http://schemas.microsoft.com/office/drawing/2014/main" id="{2B29DFE9-5BB7-45E6-8C4E-2C5A7BBC816D}"/>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17</a:t>
            </a:r>
          </a:p>
        </p:txBody>
      </p:sp>
      <p:sp>
        <p:nvSpPr>
          <p:cNvPr id="4" name="Entrenamiento">
            <a:extLst xmlns:a="http://schemas.openxmlformats.org/drawingml/2006/main">
              <a:ext uri="{FF2B5EF4-FFF2-40B4-BE49-F238E27FC236}">
                <a16:creationId xmlns:a16="http://schemas.microsoft.com/office/drawing/2014/main" id="{F3C5633A-D394-4CC4-93F3-855C9A92F467}"/>
              </a:ext>
            </a:extLst>
          </p:cNvPr>
          <p:cNvSpPr>
            <a:spLocks xmlns:a="http://schemas.openxmlformats.org/drawingml/2006/main" noGrp="1"/>
          </p:cNvSpPr>
          <p:nvPr/>
        </p:nvSpPr>
        <p:spPr>
          <a:xfrm xmlns:a="http://schemas.openxmlformats.org/drawingml/2006/main">
            <a:off x="800100" y="140970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07FA3"/>
                </a:solidFill>
                <a:latin typeface="Helvetica Neue"/>
                <a:ea typeface="Helvetica Neue"/>
                <a:cs typeface="Helvetica Neue"/>
              </a:defRPr>
            </a:pPr>
            <a:r>
              <a:rPr sz="2175" b="1">
                <a:solidFill>
                  <a:srgbClr val="007FA3"/>
                </a:solidFill>
                <a:latin typeface="Helvetica Neue"/>
                <a:ea typeface="Helvetica Neue"/>
                <a:cs typeface="Helvetica Neue"/>
              </a:rPr>
              <a:t>Entrenamiento</a:t>
            </a:r>
          </a:p>
        </p:txBody>
      </p:sp>
      <p:sp>
        <p:nvSpPr>
          <p:cNvPr id="5" name="Validación">
            <a:extLst xmlns:a="http://schemas.openxmlformats.org/drawingml/2006/main">
              <a:ext uri="{FF2B5EF4-FFF2-40B4-BE49-F238E27FC236}">
                <a16:creationId xmlns:a16="http://schemas.microsoft.com/office/drawing/2014/main" id="{471F9AA1-0018-40F3-A4D4-9EB79737CE69}"/>
              </a:ext>
            </a:extLst>
          </p:cNvPr>
          <p:cNvSpPr>
            <a:spLocks xmlns:a="http://schemas.openxmlformats.org/drawingml/2006/main" noGrp="1"/>
          </p:cNvSpPr>
          <p:nvPr/>
        </p:nvSpPr>
        <p:spPr>
          <a:xfrm xmlns:a="http://schemas.openxmlformats.org/drawingml/2006/main">
            <a:off x="6524625" y="140970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07FA3"/>
                </a:solidFill>
                <a:latin typeface="Helvetica Neue"/>
                <a:ea typeface="Helvetica Neue"/>
                <a:cs typeface="Helvetica Neue"/>
              </a:defRPr>
            </a:pPr>
            <a:r>
              <a:rPr sz="2175" b="1">
                <a:solidFill>
                  <a:srgbClr val="007FA3"/>
                </a:solidFill>
                <a:latin typeface="Helvetica Neue"/>
                <a:ea typeface="Helvetica Neue"/>
                <a:cs typeface="Helvetica Neue"/>
              </a:rPr>
              <a:t>Validación</a:t>
            </a:r>
          </a:p>
        </p:txBody>
      </p:sp>
      <p:graphicFrame>
        <p:nvGraphicFramePr>
          <p:cNvPr id="16" name="Chart"/>
          <p:cNvGraphicFramePr/>
          <p:nvPr/>
        </p:nvGraphicFramePr>
        <p:xfrm>
          <a:off xmlns:a="http://schemas.openxmlformats.org/drawingml/2006/main" x="666750" y="1952625"/>
          <a:ext xmlns:a="http://schemas.openxmlformats.org/drawingml/2006/main" cx="5095875" cy="3286125"/>
        </p:xfrm>
        <a:graphic xmlns:a="http://schemas.openxmlformats.org/drawingml/2006/main">
          <a:graphicData uri="http://schemas.openxmlformats.org/drawingml/2006/chart">
            <c:chart xmlns:r="http://schemas.openxmlformats.org/officeDocument/2006/relationships" xmlns:c="http://schemas.openxmlformats.org/drawingml/2006/chart" r:id="Re9424968408d48ac"/>
          </a:graphicData>
        </a:graphic>
      </p:graphicFrame>
      <p:graphicFrame>
        <p:nvGraphicFramePr>
          <p:cNvPr id="17" name="Chart"/>
          <p:cNvGraphicFramePr/>
          <p:nvPr/>
        </p:nvGraphicFramePr>
        <p:xfrm>
          <a:off xmlns:a="http://schemas.openxmlformats.org/drawingml/2006/main" x="6353175" y="1952625"/>
          <a:ext xmlns:a="http://schemas.openxmlformats.org/drawingml/2006/main" cx="5095875" cy="3286125"/>
        </p:xfrm>
        <a:graphic xmlns:a="http://schemas.openxmlformats.org/drawingml/2006/main">
          <a:graphicData uri="http://schemas.openxmlformats.org/drawingml/2006/chart">
            <c:chart xmlns:r="http://schemas.openxmlformats.org/officeDocument/2006/relationships" xmlns:c="http://schemas.openxmlformats.org/drawingml/2006/chart" r:id="R221d7c3b71da44df"/>
          </a:graphicData>
        </a:graphic>
      </p:graphicFrame>
      <p:sp>
        <p:nvSpPr>
          <p:cNvPr id="8" name="Mejor época: 10">
            <a:extLst xmlns:a="http://schemas.openxmlformats.org/drawingml/2006/main">
              <a:ext uri="{FF2B5EF4-FFF2-40B4-BE49-F238E27FC236}">
                <a16:creationId xmlns:a16="http://schemas.microsoft.com/office/drawing/2014/main" id="{0EB1E9C6-E0FF-4388-BBA0-7592A29579A6}"/>
              </a:ext>
            </a:extLst>
          </p:cNvPr>
          <p:cNvSpPr>
            <a:spLocks xmlns:a="http://schemas.openxmlformats.org/drawingml/2006/main" noGrp="1"/>
          </p:cNvSpPr>
          <p:nvPr/>
        </p:nvSpPr>
        <p:spPr>
          <a:xfrm xmlns:a="http://schemas.openxmlformats.org/drawingml/2006/main">
            <a:off x="781050" y="540067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64B6B"/>
                </a:solidFill>
                <a:latin typeface="Helvetica Neue"/>
                <a:ea typeface="Helvetica Neue"/>
                <a:cs typeface="Helvetica Neue"/>
              </a:defRPr>
            </a:pPr>
            <a:r>
              <a:rPr sz="2175" b="1">
                <a:solidFill>
                  <a:srgbClr val="064B6B"/>
                </a:solidFill>
                <a:latin typeface="Helvetica Neue"/>
                <a:ea typeface="Helvetica Neue"/>
                <a:cs typeface="Helvetica Neue"/>
              </a:rPr>
              <a:t>Mejor época: 10</a:t>
            </a:r>
          </a:p>
        </p:txBody>
      </p:sp>
      <p:sp>
        <p:nvSpPr>
          <p:cNvPr id="9" name="Parada temprana: época 20">
            <a:extLst xmlns:a="http://schemas.openxmlformats.org/drawingml/2006/main">
              <a:ext uri="{FF2B5EF4-FFF2-40B4-BE49-F238E27FC236}">
                <a16:creationId xmlns:a16="http://schemas.microsoft.com/office/drawing/2014/main" id="{FD0FB420-0E3F-46DD-B605-68E951C71A4C}"/>
              </a:ext>
            </a:extLst>
          </p:cNvPr>
          <p:cNvSpPr>
            <a:spLocks xmlns:a="http://schemas.openxmlformats.org/drawingml/2006/main" noGrp="1"/>
          </p:cNvSpPr>
          <p:nvPr/>
        </p:nvSpPr>
        <p:spPr>
          <a:xfrm xmlns:a="http://schemas.openxmlformats.org/drawingml/2006/main">
            <a:off x="6534150" y="5400675"/>
            <a:ext cx="4895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64B6B"/>
                </a:solidFill>
                <a:latin typeface="Helvetica Neue"/>
                <a:ea typeface="Helvetica Neue"/>
                <a:cs typeface="Helvetica Neue"/>
              </a:defRPr>
            </a:pPr>
            <a:r>
              <a:rPr sz="2175" b="1">
                <a:solidFill>
                  <a:srgbClr val="064B6B"/>
                </a:solidFill>
                <a:latin typeface="Helvetica Neue"/>
                <a:ea typeface="Helvetica Neue"/>
                <a:cs typeface="Helvetica Neue"/>
              </a:rPr>
              <a:t>Parada temprana: época 20</a:t>
            </a:r>
          </a:p>
        </p:txBody>
      </p:sp>
      <p:sp>
        <p:nvSpPr>
          <p:cNvPr id="10" name="El error de entrenamiento sigue bajando, pero validación deja de">
            <a:extLst xmlns:a="http://schemas.openxmlformats.org/drawingml/2006/main">
              <a:ext uri="{FF2B5EF4-FFF2-40B4-BE49-F238E27FC236}">
                <a16:creationId xmlns:a16="http://schemas.microsoft.com/office/drawing/2014/main" id="{0D947610-78C5-4B63-917F-17A2C04D71C1}"/>
              </a:ext>
            </a:extLst>
          </p:cNvPr>
          <p:cNvSpPr>
            <a:spLocks xmlns:a="http://schemas.openxmlformats.org/drawingml/2006/main" noGrp="1"/>
          </p:cNvSpPr>
          <p:nvPr/>
        </p:nvSpPr>
        <p:spPr>
          <a:xfrm xmlns:a="http://schemas.openxmlformats.org/drawingml/2006/main">
            <a:off x="771525" y="5895975"/>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5D6267"/>
                </a:solidFill>
                <a:latin typeface="Helvetica Neue"/>
                <a:ea typeface="Helvetica Neue"/>
                <a:cs typeface="Helvetica Neue"/>
              </a:defRPr>
            </a:pPr>
            <a:r>
              <a:rPr sz="1875" b="0">
                <a:solidFill>
                  <a:srgbClr val="5D6267"/>
                </a:solidFill>
                <a:latin typeface="Helvetica Neue"/>
                <a:ea typeface="Helvetica Neue"/>
                <a:cs typeface="Helvetica Neue"/>
              </a:rPr>
              <a:t>El error de entrenamiento sigue bajando, pero validación deja de mejorar.</a:t>
            </a:r>
          </a:p>
        </p:txBody>
      </p:sp>
    </p:spTree>
    <p:extLst>
      <p:ext uri="{BB962C8B-B14F-4D97-AF65-F5344CB8AC3E}">
        <p14:creationId xmlns:p14="http://schemas.microsoft.com/office/powerpoint/2010/main" val="125457909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El error aumenta con el horizonte">
            <a:extLst xmlns:a="http://schemas.openxmlformats.org/drawingml/2006/main">
              <a:ext uri="{FF2B5EF4-FFF2-40B4-BE49-F238E27FC236}">
                <a16:creationId xmlns:a16="http://schemas.microsoft.com/office/drawing/2014/main" id="{182D684E-A628-4695-B83C-76FFCD1CD0FB}"/>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064B6B"/>
                </a:solidFill>
                <a:latin typeface="Helvetica Neue"/>
                <a:ea typeface="Helvetica Neue"/>
                <a:cs typeface="Helvetica Neue"/>
              </a:defRPr>
            </a:pPr>
            <a:r>
              <a:rPr sz="3300" b="1">
                <a:solidFill>
                  <a:srgbClr val="064B6B"/>
                </a:solidFill>
                <a:latin typeface="Helvetica Neue"/>
                <a:ea typeface="Helvetica Neue"/>
                <a:cs typeface="Helvetica Neue"/>
              </a:rPr>
              <a:t>El error aumenta con el horizonte</a:t>
            </a:r>
          </a:p>
        </p:txBody>
      </p:sp>
      <p:sp>
        <p:nvSpPr>
          <p:cNvPr id="2" name="Validación LSTM, mejor checkpoint. Cada horizonte contiene 18 14">
            <a:extLst xmlns:a="http://schemas.openxmlformats.org/drawingml/2006/main">
              <a:ext uri="{FF2B5EF4-FFF2-40B4-BE49-F238E27FC236}">
                <a16:creationId xmlns:a16="http://schemas.microsoft.com/office/drawing/2014/main" id="{52EC7713-63A1-4472-922C-9602FEC58C6F}"/>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Validación LSTM, mejor checkpoint. Cada horizonte contiene 18 142 pronósticos</a:t>
            </a:r>
          </a:p>
        </p:txBody>
      </p:sp>
      <p:sp>
        <p:nvSpPr>
          <p:cNvPr id="3" name="00">
            <a:extLst xmlns:a="http://schemas.openxmlformats.org/drawingml/2006/main">
              <a:ext uri="{FF2B5EF4-FFF2-40B4-BE49-F238E27FC236}">
                <a16:creationId xmlns:a16="http://schemas.microsoft.com/office/drawing/2014/main" id="{CF861461-2E93-42F1-B4A3-C4B0EA16B15F}"/>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18</a:t>
            </a:r>
          </a:p>
        </p:txBody>
      </p:sp>
      <p:sp>
        <p:nvSpPr>
          <p:cNvPr id="4" name="Error en unidades físicas">
            <a:extLst xmlns:a="http://schemas.openxmlformats.org/drawingml/2006/main">
              <a:ext uri="{FF2B5EF4-FFF2-40B4-BE49-F238E27FC236}">
                <a16:creationId xmlns:a16="http://schemas.microsoft.com/office/drawing/2014/main" id="{15AA1FE7-37E8-4A80-A0C2-63DD82E7ABFC}"/>
              </a:ext>
            </a:extLst>
          </p:cNvPr>
          <p:cNvSpPr>
            <a:spLocks xmlns:a="http://schemas.openxmlformats.org/drawingml/2006/main" noGrp="1"/>
          </p:cNvSpPr>
          <p:nvPr/>
        </p:nvSpPr>
        <p:spPr>
          <a:xfrm xmlns:a="http://schemas.openxmlformats.org/drawingml/2006/main">
            <a:off x="809625" y="14097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07FA3"/>
                </a:solidFill>
                <a:latin typeface="Helvetica Neue"/>
                <a:ea typeface="Helvetica Neue"/>
                <a:cs typeface="Helvetica Neue"/>
              </a:defRPr>
            </a:pPr>
            <a:r>
              <a:rPr sz="2175" b="1">
                <a:solidFill>
                  <a:srgbClr val="007FA3"/>
                </a:solidFill>
                <a:latin typeface="Helvetica Neue"/>
                <a:ea typeface="Helvetica Neue"/>
                <a:cs typeface="Helvetica Neue"/>
              </a:rPr>
              <a:t>Error en unidades físicas</a:t>
            </a:r>
          </a:p>
        </p:txBody>
      </p:sp>
      <p:sp>
        <p:nvSpPr>
          <p:cNvPr id="5" name="Eficiencia NSE">
            <a:extLst xmlns:a="http://schemas.openxmlformats.org/drawingml/2006/main">
              <a:ext uri="{FF2B5EF4-FFF2-40B4-BE49-F238E27FC236}">
                <a16:creationId xmlns:a16="http://schemas.microsoft.com/office/drawing/2014/main" id="{9AAB2B24-36BB-4A87-9F36-4B015FC162D3}"/>
              </a:ext>
            </a:extLst>
          </p:cNvPr>
          <p:cNvSpPr>
            <a:spLocks xmlns:a="http://schemas.openxmlformats.org/drawingml/2006/main" noGrp="1"/>
          </p:cNvSpPr>
          <p:nvPr/>
        </p:nvSpPr>
        <p:spPr>
          <a:xfrm xmlns:a="http://schemas.openxmlformats.org/drawingml/2006/main">
            <a:off x="6543675" y="140970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07FA3"/>
                </a:solidFill>
                <a:latin typeface="Helvetica Neue"/>
                <a:ea typeface="Helvetica Neue"/>
                <a:cs typeface="Helvetica Neue"/>
              </a:defRPr>
            </a:pPr>
            <a:r>
              <a:rPr sz="2175" b="1">
                <a:solidFill>
                  <a:srgbClr val="007FA3"/>
                </a:solidFill>
                <a:latin typeface="Helvetica Neue"/>
                <a:ea typeface="Helvetica Neue"/>
                <a:cs typeface="Helvetica Neue"/>
              </a:rPr>
              <a:t>Eficiencia NSE</a:t>
            </a:r>
          </a:p>
        </p:txBody>
      </p:sp>
      <p:graphicFrame>
        <p:nvGraphicFramePr>
          <p:cNvPr id="15" name="Chart"/>
          <p:cNvGraphicFramePr/>
          <p:nvPr/>
        </p:nvGraphicFramePr>
        <p:xfrm>
          <a:off xmlns:a="http://schemas.openxmlformats.org/drawingml/2006/main" x="657225" y="1952625"/>
          <a:ext xmlns:a="http://schemas.openxmlformats.org/drawingml/2006/main" cx="5143500" cy="3286125"/>
        </p:xfrm>
        <a:graphic xmlns:a="http://schemas.openxmlformats.org/drawingml/2006/main">
          <a:graphicData uri="http://schemas.openxmlformats.org/drawingml/2006/chart">
            <c:chart xmlns:r="http://schemas.openxmlformats.org/officeDocument/2006/relationships" xmlns:c="http://schemas.openxmlformats.org/drawingml/2006/chart" r:id="R8d42071debcb47e6"/>
          </a:graphicData>
        </a:graphic>
      </p:graphicFrame>
      <p:graphicFrame>
        <p:nvGraphicFramePr>
          <p:cNvPr id="16" name="Chart"/>
          <p:cNvGraphicFramePr/>
          <p:nvPr/>
        </p:nvGraphicFramePr>
        <p:xfrm>
          <a:off xmlns:a="http://schemas.openxmlformats.org/drawingml/2006/main" x="6353175" y="1952625"/>
          <a:ext xmlns:a="http://schemas.openxmlformats.org/drawingml/2006/main" cx="5095875" cy="3286125"/>
        </p:xfrm>
        <a:graphic xmlns:a="http://schemas.openxmlformats.org/drawingml/2006/main">
          <a:graphicData uri="http://schemas.openxmlformats.org/drawingml/2006/chart">
            <c:chart xmlns:r="http://schemas.openxmlformats.org/officeDocument/2006/relationships" xmlns:c="http://schemas.openxmlformats.org/drawingml/2006/chart" r:id="R4137c67b041441fe"/>
          </a:graphicData>
        </a:graphic>
      </p:graphicFrame>
      <p:sp>
        <p:nvSpPr>
          <p:cNvPr id="8" name="RMSE: 0.0327 en +1 h y 0.1196 en +48 h">
            <a:extLst xmlns:a="http://schemas.openxmlformats.org/drawingml/2006/main">
              <a:ext uri="{FF2B5EF4-FFF2-40B4-BE49-F238E27FC236}">
                <a16:creationId xmlns:a16="http://schemas.microsoft.com/office/drawing/2014/main" id="{9C620E27-5622-40B8-A537-5D1CB6038A57}"/>
              </a:ext>
            </a:extLst>
          </p:cNvPr>
          <p:cNvSpPr>
            <a:spLocks xmlns:a="http://schemas.openxmlformats.org/drawingml/2006/main" noGrp="1"/>
          </p:cNvSpPr>
          <p:nvPr/>
        </p:nvSpPr>
        <p:spPr>
          <a:xfrm xmlns:a="http://schemas.openxmlformats.org/drawingml/2006/main">
            <a:off x="752475" y="5429250"/>
            <a:ext cx="10715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064B6B"/>
                </a:solidFill>
                <a:latin typeface="Helvetica Neue"/>
                <a:ea typeface="Helvetica Neue"/>
                <a:cs typeface="Helvetica Neue"/>
              </a:defRPr>
            </a:pPr>
            <a:r>
              <a:rPr sz="2100" b="1">
                <a:solidFill>
                  <a:srgbClr val="064B6B"/>
                </a:solidFill>
                <a:latin typeface="Helvetica Neue"/>
                <a:ea typeface="Helvetica Neue"/>
                <a:cs typeface="Helvetica Neue"/>
              </a:rPr>
              <a:t>RMSE: 0.0327 en +1 h y 0.1196 en +48 h</a:t>
            </a:r>
          </a:p>
        </p:txBody>
      </p:sp>
      <p:sp>
        <p:nvSpPr>
          <p:cNvPr id="9" name="NSE: 0.9685 en +1 h y 0.4798 en +48 h">
            <a:extLst xmlns:a="http://schemas.openxmlformats.org/drawingml/2006/main">
              <a:ext uri="{FF2B5EF4-FFF2-40B4-BE49-F238E27FC236}">
                <a16:creationId xmlns:a16="http://schemas.microsoft.com/office/drawing/2014/main" id="{0620FD51-510C-4D67-AEB4-483B2F5D199F}"/>
              </a:ext>
            </a:extLst>
          </p:cNvPr>
          <p:cNvSpPr>
            <a:spLocks xmlns:a="http://schemas.openxmlformats.org/drawingml/2006/main" noGrp="1"/>
          </p:cNvSpPr>
          <p:nvPr/>
        </p:nvSpPr>
        <p:spPr>
          <a:xfrm xmlns:a="http://schemas.openxmlformats.org/drawingml/2006/main">
            <a:off x="752475" y="5895975"/>
            <a:ext cx="10715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5D6267"/>
                </a:solidFill>
                <a:latin typeface="Helvetica Neue"/>
                <a:ea typeface="Helvetica Neue"/>
                <a:cs typeface="Helvetica Neue"/>
              </a:defRPr>
            </a:pPr>
            <a:r>
              <a:rPr sz="1875" b="0">
                <a:solidFill>
                  <a:srgbClr val="5D6267"/>
                </a:solidFill>
                <a:latin typeface="Helvetica Neue"/>
                <a:ea typeface="Helvetica Neue"/>
                <a:cs typeface="Helvetica Neue"/>
              </a:rPr>
              <a:t>NSE: 0.9685 en +1 h y 0.4798 en +48 h</a:t>
            </a:r>
          </a:p>
        </p:txBody>
      </p:sp>
    </p:spTree>
    <p:extLst>
      <p:ext uri="{BB962C8B-B14F-4D97-AF65-F5344CB8AC3E}">
        <p14:creationId xmlns:p14="http://schemas.microsoft.com/office/powerpoint/2010/main" val="35965134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Diferencias entre cuencas y coherencia física">
            <a:extLst xmlns:a="http://schemas.openxmlformats.org/drawingml/2006/main">
              <a:ext uri="{FF2B5EF4-FFF2-40B4-BE49-F238E27FC236}">
                <a16:creationId xmlns:a16="http://schemas.microsoft.com/office/drawing/2014/main" id="{10E10EEA-EE3F-41F3-9430-C43C5CC12737}"/>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064B6B"/>
                </a:solidFill>
                <a:latin typeface="Helvetica Neue"/>
                <a:ea typeface="Helvetica Neue"/>
                <a:cs typeface="Helvetica Neue"/>
              </a:defRPr>
            </a:pPr>
            <a:r>
              <a:rPr sz="3300" b="1">
                <a:solidFill>
                  <a:srgbClr val="064B6B"/>
                </a:solidFill>
                <a:latin typeface="Helvetica Neue"/>
                <a:ea typeface="Helvetica Neue"/>
                <a:cs typeface="Helvetica Neue"/>
              </a:rPr>
              <a:t>Diferencias entre cuencas y coherencia física</a:t>
            </a:r>
          </a:p>
        </p:txBody>
      </p:sp>
      <p:sp>
        <p:nvSpPr>
          <p:cNvPr id="2" name="Validación LSTM. Agregación global y métricas por cuenca con pon">
            <a:extLst xmlns:a="http://schemas.openxmlformats.org/drawingml/2006/main">
              <a:ext uri="{FF2B5EF4-FFF2-40B4-BE49-F238E27FC236}">
                <a16:creationId xmlns:a16="http://schemas.microsoft.com/office/drawing/2014/main" id="{FB9B062C-7960-43D2-AE1A-4DD79036C873}"/>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Validación LSTM. Agregación global y métricas por cuenca con ponderaciones distintas</a:t>
            </a:r>
          </a:p>
        </p:txBody>
      </p:sp>
      <p:sp>
        <p:nvSpPr>
          <p:cNvPr id="3" name="00">
            <a:extLst xmlns:a="http://schemas.openxmlformats.org/drawingml/2006/main">
              <a:ext uri="{FF2B5EF4-FFF2-40B4-BE49-F238E27FC236}">
                <a16:creationId xmlns:a16="http://schemas.microsoft.com/office/drawing/2014/main" id="{46EB05E4-4658-4CA3-86E1-2E388E9D3E47}"/>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19</a:t>
            </a:r>
          </a:p>
        </p:txBody>
      </p:sp>
      <p:graphicFrame>
        <p:nvGraphicFramePr>
          <p:cNvPr id="11" name=""/>
          <p:cNvGraphicFramePr/>
          <p:nvPr/>
        </p:nvGraphicFramePr>
        <p:xfrm>
          <a:off xmlns:a="http://schemas.openxmlformats.org/drawingml/2006/main" x="609600" y="1581150"/>
          <a:ext xmlns:a="http://schemas.openxmlformats.org/drawingml/2006/main" cx="10972800" cy="2876550"/>
        </p:xfrm>
        <a:graphic xmlns:a="http://schemas.openxmlformats.org/drawingml/2006/main">
          <a:graphicData uri="http://schemas.openxmlformats.org/drawingml/2006/table">
            <a:tbl>
              <a:tblPr firstRow="1" bandRow="0"/>
              <a:tblGrid>
                <a:gridCol w="7810500"/>
                <a:gridCol w="3162300"/>
              </a:tblGrid>
              <a:tr h="575310">
                <a:tc>
                  <a:txBody>
                    <a:bodyPr/>
                    <a:lstStyle/>
                    <a:p>
                      <a:r>
                        <a:rPr sz="1875" b="1">
                          <a:solidFill>
                            <a:srgbClr val="064B6B"/>
                          </a:solidFill>
                          <a:latin typeface="Helvetica Neue"/>
                          <a:ea typeface="Helvetica Neue"/>
                          <a:cs typeface="Helvetica Neue"/>
                        </a:rPr>
                        <a:t>Resumen del NSE</a:t>
                      </a:r>
                    </a:p>
                  </a:txBody>
                  <a:tcPr marL="142875" marR="142875" marT="114300" marB="114300" anchor="ctr">
                    <a:solidFill>
                      <a:srgbClr val="EAF4F8"/>
                    </a:solidFill>
                  </a:tcPr>
                </a:tc>
                <a:tc>
                  <a:txBody>
                    <a:bodyPr/>
                    <a:lstStyle/>
                    <a:p>
                      <a:r>
                        <a:rPr sz="1875" b="1">
                          <a:solidFill>
                            <a:srgbClr val="064B6B"/>
                          </a:solidFill>
                          <a:latin typeface="Helvetica Neue"/>
                          <a:ea typeface="Helvetica Neue"/>
                          <a:cs typeface="Helvetica Neue"/>
                        </a:rPr>
                        <a:t>Resultado</a:t>
                      </a:r>
                    </a:p>
                  </a:txBody>
                  <a:tcPr marL="142875" marR="142875" marT="114300" marB="114300" anchor="ctr">
                    <a:solidFill>
                      <a:srgbClr val="EAF4F8"/>
                    </a:solidFill>
                  </a:tcPr>
                </a:tc>
              </a:tr>
              <a:tr h="575310">
                <a:tc>
                  <a:txBody>
                    <a:bodyPr/>
                    <a:lstStyle/>
                    <a:p>
                      <a:r>
                        <a:rPr sz="1875" b="0">
                          <a:solidFill>
                            <a:srgbClr val="242C33"/>
                          </a:solidFill>
                          <a:latin typeface="Helvetica Neue"/>
                          <a:ea typeface="Helvetica Neue"/>
                          <a:cs typeface="Helvetica Neue"/>
                        </a:rPr>
                        <a:t>Global: todos los pares juntos</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0.6447</a:t>
                      </a:r>
                    </a:p>
                  </a:txBody>
                  <a:tcPr marL="142875" marR="142875" marT="114300" marB="114300" anchor="ctr">
                    <a:solidFill>
                      <a:srgbClr val="FFFFFF"/>
                    </a:solidFill>
                  </a:tcPr>
                </a:tc>
              </a:tr>
              <a:tr h="575310">
                <a:tc>
                  <a:txBody>
                    <a:bodyPr/>
                    <a:lstStyle/>
                    <a:p>
                      <a:r>
                        <a:rPr sz="1875" b="0">
                          <a:solidFill>
                            <a:srgbClr val="242C33"/>
                          </a:solidFill>
                          <a:latin typeface="Helvetica Neue"/>
                          <a:ea typeface="Helvetica Neue"/>
                          <a:cs typeface="Helvetica Neue"/>
                        </a:rPr>
                        <a:t>Mediana de las 508 cuencas</a:t>
                      </a:r>
                    </a:p>
                  </a:txBody>
                  <a:tcPr marL="142875" marR="142875" marT="114300" marB="114300" anchor="ctr">
                    <a:solidFill>
                      <a:srgbClr val="F5F7F8"/>
                    </a:solidFill>
                  </a:tcPr>
                </a:tc>
                <a:tc>
                  <a:txBody>
                    <a:bodyPr/>
                    <a:lstStyle/>
                    <a:p>
                      <a:r>
                        <a:rPr sz="1875" b="0">
                          <a:solidFill>
                            <a:srgbClr val="242C33"/>
                          </a:solidFill>
                          <a:latin typeface="Helvetica Neue"/>
                          <a:ea typeface="Helvetica Neue"/>
                          <a:cs typeface="Helvetica Neue"/>
                        </a:rPr>
                        <a:t>0.5939</a:t>
                      </a:r>
                    </a:p>
                  </a:txBody>
                  <a:tcPr marL="142875" marR="142875" marT="114300" marB="114300" anchor="ctr">
                    <a:solidFill>
                      <a:srgbClr val="F5F7F8"/>
                    </a:solidFill>
                  </a:tcPr>
                </a:tc>
              </a:tr>
              <a:tr h="575310">
                <a:tc>
                  <a:txBody>
                    <a:bodyPr/>
                    <a:lstStyle/>
                    <a:p>
                      <a:r>
                        <a:rPr sz="1875" b="0">
                          <a:solidFill>
                            <a:srgbClr val="242C33"/>
                          </a:solidFill>
                          <a:latin typeface="Helvetica Neue"/>
                          <a:ea typeface="Helvetica Neue"/>
                          <a:cs typeface="Helvetica Neue"/>
                        </a:rPr>
                        <a:t>Media por cuenca, igual peso</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−49.2525</a:t>
                      </a:r>
                    </a:p>
                  </a:txBody>
                  <a:tcPr marL="142875" marR="142875" marT="114300" marB="114300" anchor="ctr">
                    <a:solidFill>
                      <a:srgbClr val="FFFFFF"/>
                    </a:solidFill>
                  </a:tcPr>
                </a:tc>
              </a:tr>
              <a:tr h="575310">
                <a:tc>
                  <a:txBody>
                    <a:bodyPr/>
                    <a:lstStyle/>
                    <a:p>
                      <a:r>
                        <a:rPr sz="1875" b="0">
                          <a:solidFill>
                            <a:srgbClr val="242C33"/>
                          </a:solidFill>
                          <a:latin typeface="Helvetica Neue"/>
                          <a:ea typeface="Helvetica Neue"/>
                          <a:cs typeface="Helvetica Neue"/>
                        </a:rPr>
                        <a:t>Cuencas con NSE negativo</a:t>
                      </a:r>
                    </a:p>
                  </a:txBody>
                  <a:tcPr marL="142875" marR="142875" marT="114300" marB="114300" anchor="ctr">
                    <a:solidFill>
                      <a:srgbClr val="F5F7F8"/>
                    </a:solidFill>
                  </a:tcPr>
                </a:tc>
                <a:tc>
                  <a:txBody>
                    <a:bodyPr/>
                    <a:lstStyle/>
                    <a:p>
                      <a:r>
                        <a:rPr sz="1875" b="0">
                          <a:solidFill>
                            <a:srgbClr val="242C33"/>
                          </a:solidFill>
                          <a:latin typeface="Helvetica Neue"/>
                          <a:ea typeface="Helvetica Neue"/>
                          <a:cs typeface="Helvetica Neue"/>
                        </a:rPr>
                        <a:t>70 de 508 (13.8 %)</a:t>
                      </a:r>
                    </a:p>
                  </a:txBody>
                  <a:tcPr marL="142875" marR="142875" marT="114300" marB="114300" anchor="ctr">
                    <a:solidFill>
                      <a:srgbClr val="F5F7F8"/>
                    </a:solidFill>
                  </a:tcPr>
                </a:tc>
              </a:tr>
            </a:tbl>
          </a:graphicData>
        </a:graphic>
      </p:graphicFrame>
      <p:sp>
        <p:nvSpPr>
          <p:cNvPr id="5" name="La media por cuenca recibe una fuerte influencia de valores extr">
            <a:extLst xmlns:a="http://schemas.openxmlformats.org/drawingml/2006/main">
              <a:ext uri="{FF2B5EF4-FFF2-40B4-BE49-F238E27FC236}">
                <a16:creationId xmlns:a16="http://schemas.microsoft.com/office/drawing/2014/main" id="{7FE8FDF5-D7CC-44DA-9834-942DAAD82502}"/>
              </a:ext>
            </a:extLst>
          </p:cNvPr>
          <p:cNvSpPr>
            <a:spLocks xmlns:a="http://schemas.openxmlformats.org/drawingml/2006/main" noGrp="1"/>
          </p:cNvSpPr>
          <p:nvPr/>
        </p:nvSpPr>
        <p:spPr>
          <a:xfrm xmlns:a="http://schemas.openxmlformats.org/drawingml/2006/main">
            <a:off x="733425" y="4705350"/>
            <a:ext cx="1057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La media por cuenca recibe una fuerte influencia de valores extremos.</a:t>
            </a:r>
          </a:p>
        </p:txBody>
      </p:sp>
      <p:sp>
        <p:nvSpPr>
          <p:cNvPr id="6" name="3.26 % de las predicciones son negativas">
            <a:extLst xmlns:a="http://schemas.openxmlformats.org/drawingml/2006/main">
              <a:ext uri="{FF2B5EF4-FFF2-40B4-BE49-F238E27FC236}">
                <a16:creationId xmlns:a16="http://schemas.microsoft.com/office/drawing/2014/main" id="{D0EF36AE-7DDB-46C2-BE84-F26EBAE1536E}"/>
              </a:ext>
            </a:extLst>
          </p:cNvPr>
          <p:cNvSpPr>
            <a:spLocks xmlns:a="http://schemas.openxmlformats.org/drawingml/2006/main" noGrp="1"/>
          </p:cNvSpPr>
          <p:nvPr/>
        </p:nvSpPr>
        <p:spPr>
          <a:xfrm xmlns:a="http://schemas.openxmlformats.org/drawingml/2006/main">
            <a:off x="733425" y="545782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064B6B"/>
                </a:solidFill>
                <a:latin typeface="Helvetica Neue"/>
                <a:ea typeface="Helvetica Neue"/>
                <a:cs typeface="Helvetica Neue"/>
              </a:defRPr>
            </a:pPr>
            <a:r>
              <a:rPr sz="2325" b="1">
                <a:solidFill>
                  <a:srgbClr val="064B6B"/>
                </a:solidFill>
                <a:latin typeface="Helvetica Neue"/>
                <a:ea typeface="Helvetica Neue"/>
                <a:cs typeface="Helvetica Neue"/>
              </a:rPr>
              <a:t>3.26 % de las predicciones son negativas</a:t>
            </a:r>
          </a:p>
        </p:txBody>
      </p:sp>
      <p:sp>
        <p:nvSpPr>
          <p:cNvPr id="7" name="Reporte sin recorte a cero. Revisar por cuenca antes de una apli">
            <a:extLst xmlns:a="http://schemas.openxmlformats.org/drawingml/2006/main">
              <a:ext uri="{FF2B5EF4-FFF2-40B4-BE49-F238E27FC236}">
                <a16:creationId xmlns:a16="http://schemas.microsoft.com/office/drawing/2014/main" id="{96987713-3F6F-43AA-B3D0-71BB6B625B1C}"/>
              </a:ext>
            </a:extLst>
          </p:cNvPr>
          <p:cNvSpPr>
            <a:spLocks xmlns:a="http://schemas.openxmlformats.org/drawingml/2006/main" noGrp="1"/>
          </p:cNvSpPr>
          <p:nvPr/>
        </p:nvSpPr>
        <p:spPr>
          <a:xfrm xmlns:a="http://schemas.openxmlformats.org/drawingml/2006/main">
            <a:off x="742950" y="59150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5D6267"/>
                </a:solidFill>
                <a:latin typeface="Helvetica Neue"/>
                <a:ea typeface="Helvetica Neue"/>
                <a:cs typeface="Helvetica Neue"/>
              </a:defRPr>
            </a:pPr>
            <a:r>
              <a:rPr sz="1800" b="0">
                <a:solidFill>
                  <a:srgbClr val="5D6267"/>
                </a:solidFill>
                <a:latin typeface="Helvetica Neue"/>
                <a:ea typeface="Helvetica Neue"/>
                <a:cs typeface="Helvetica Neue"/>
              </a:rPr>
              <a:t>Reporte sin recorte a cero. Revisar por cuenca antes de una aplicación operativa.</a:t>
            </a:r>
          </a:p>
        </p:txBody>
      </p:sp>
    </p:spTree>
    <p:extLst>
      <p:ext uri="{BB962C8B-B14F-4D97-AF65-F5344CB8AC3E}">
        <p14:creationId xmlns:p14="http://schemas.microsoft.com/office/powerpoint/2010/main" val="176619505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Estado de la comparación experimental">
            <a:extLst xmlns:a="http://schemas.openxmlformats.org/drawingml/2006/main">
              <a:ext uri="{FF2B5EF4-FFF2-40B4-BE49-F238E27FC236}">
                <a16:creationId xmlns:a16="http://schemas.microsoft.com/office/drawing/2014/main" id="{CC68EE1C-B97E-4BC2-9ADB-3EB35695BE1C}"/>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064B6B"/>
                </a:solidFill>
                <a:latin typeface="Helvetica Neue"/>
                <a:ea typeface="Helvetica Neue"/>
                <a:cs typeface="Helvetica Neue"/>
              </a:defRPr>
            </a:pPr>
            <a:r>
              <a:rPr sz="3300" b="1">
                <a:solidFill>
                  <a:srgbClr val="064B6B"/>
                </a:solidFill>
                <a:latin typeface="Helvetica Neue"/>
                <a:ea typeface="Helvetica Neue"/>
                <a:cs typeface="Helvetica Neue"/>
              </a:rPr>
              <a:t>Estado de la comparación experimental</a:t>
            </a:r>
          </a:p>
        </p:txBody>
      </p:sp>
      <p:sp>
        <p:nvSpPr>
          <p:cNvPr id="2" name="Corte de resultados: 03/10/2026. Pendiente indica ausencia de mé">
            <a:extLst xmlns:a="http://schemas.openxmlformats.org/drawingml/2006/main">
              <a:ext uri="{FF2B5EF4-FFF2-40B4-BE49-F238E27FC236}">
                <a16:creationId xmlns:a16="http://schemas.microsoft.com/office/drawing/2014/main" id="{63479C98-BBAE-4BB9-87DF-6D32FCAB85B0}"/>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Corte de resultados: 03/10/2026. Pendiente indica ausencia de métricas finales recibidas</a:t>
            </a:r>
          </a:p>
        </p:txBody>
      </p:sp>
      <p:sp>
        <p:nvSpPr>
          <p:cNvPr id="3" name="00">
            <a:extLst xmlns:a="http://schemas.openxmlformats.org/drawingml/2006/main">
              <a:ext uri="{FF2B5EF4-FFF2-40B4-BE49-F238E27FC236}">
                <a16:creationId xmlns:a16="http://schemas.microsoft.com/office/drawing/2014/main" id="{648E542E-B2B7-4308-84DC-3DBC716C2790}"/>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20</a:t>
            </a:r>
          </a:p>
        </p:txBody>
      </p:sp>
      <p:graphicFrame>
        <p:nvGraphicFramePr>
          <p:cNvPr id="10" name=""/>
          <p:cNvGraphicFramePr/>
          <p:nvPr/>
        </p:nvGraphicFramePr>
        <p:xfrm>
          <a:off xmlns:a="http://schemas.openxmlformats.org/drawingml/2006/main" x="609600" y="1647825"/>
          <a:ext xmlns:a="http://schemas.openxmlformats.org/drawingml/2006/main" cx="10972800" cy="3286125"/>
        </p:xfrm>
        <a:graphic xmlns:a="http://schemas.openxmlformats.org/drawingml/2006/main">
          <a:graphicData uri="http://schemas.openxmlformats.org/drawingml/2006/table">
            <a:tbl>
              <a:tblPr firstRow="1" bandRow="0"/>
              <a:tblGrid>
                <a:gridCol w="3190875"/>
                <a:gridCol w="2190750"/>
                <a:gridCol w="2047875"/>
                <a:gridCol w="3543300"/>
              </a:tblGrid>
              <a:tr h="657225">
                <a:tc>
                  <a:txBody>
                    <a:bodyPr/>
                    <a:lstStyle/>
                    <a:p>
                      <a:r>
                        <a:rPr sz="1800" b="1">
                          <a:solidFill>
                            <a:srgbClr val="064B6B"/>
                          </a:solidFill>
                          <a:latin typeface="Helvetica Neue"/>
                          <a:ea typeface="Helvetica Neue"/>
                          <a:cs typeface="Helvetica Neue"/>
                        </a:rPr>
                        <a:t>Método</a:t>
                      </a:r>
                    </a:p>
                  </a:txBody>
                  <a:tcPr marL="142875" marR="142875" marT="114300" marB="114300" anchor="ctr">
                    <a:solidFill>
                      <a:srgbClr val="EAF4F8"/>
                    </a:solidFill>
                  </a:tcPr>
                </a:tc>
                <a:tc>
                  <a:txBody>
                    <a:bodyPr/>
                    <a:lstStyle/>
                    <a:p>
                      <a:r>
                        <a:rPr sz="1800" b="1">
                          <a:solidFill>
                            <a:srgbClr val="064B6B"/>
                          </a:solidFill>
                          <a:latin typeface="Helvetica Neue"/>
                          <a:ea typeface="Helvetica Neue"/>
                          <a:cs typeface="Helvetica Neue"/>
                        </a:rPr>
                        <a:t>RMSE (mm/h)</a:t>
                      </a:r>
                    </a:p>
                  </a:txBody>
                  <a:tcPr marL="142875" marR="142875" marT="114300" marB="114300" anchor="ctr">
                    <a:solidFill>
                      <a:srgbClr val="EAF4F8"/>
                    </a:solidFill>
                  </a:tcPr>
                </a:tc>
                <a:tc>
                  <a:txBody>
                    <a:bodyPr/>
                    <a:lstStyle/>
                    <a:p>
                      <a:r>
                        <a:rPr sz="1800" b="1">
                          <a:solidFill>
                            <a:srgbClr val="064B6B"/>
                          </a:solidFill>
                          <a:latin typeface="Helvetica Neue"/>
                          <a:ea typeface="Helvetica Neue"/>
                          <a:cs typeface="Helvetica Neue"/>
                        </a:rPr>
                        <a:t>NSE global</a:t>
                      </a:r>
                    </a:p>
                  </a:txBody>
                  <a:tcPr marL="142875" marR="142875" marT="114300" marB="114300" anchor="ctr">
                    <a:solidFill>
                      <a:srgbClr val="EAF4F8"/>
                    </a:solidFill>
                  </a:tcPr>
                </a:tc>
                <a:tc>
                  <a:txBody>
                    <a:bodyPr/>
                    <a:lstStyle/>
                    <a:p>
                      <a:r>
                        <a:rPr sz="1800" b="1">
                          <a:solidFill>
                            <a:srgbClr val="064B6B"/>
                          </a:solidFill>
                          <a:latin typeface="Helvetica Neue"/>
                          <a:ea typeface="Helvetica Neue"/>
                          <a:cs typeface="Helvetica Neue"/>
                        </a:rPr>
                        <a:t>Evidencia</a:t>
                      </a:r>
                    </a:p>
                  </a:txBody>
                  <a:tcPr marL="142875" marR="142875" marT="114300" marB="114300" anchor="ctr">
                    <a:solidFill>
                      <a:srgbClr val="EAF4F8"/>
                    </a:solidFill>
                  </a:tcPr>
                </a:tc>
              </a:tr>
              <a:tr h="657225">
                <a:tc>
                  <a:txBody>
                    <a:bodyPr/>
                    <a:lstStyle/>
                    <a:p>
                      <a:r>
                        <a:rPr sz="1800" b="0">
                          <a:solidFill>
                            <a:srgbClr val="242C33"/>
                          </a:solidFill>
                          <a:latin typeface="Helvetica Neue"/>
                          <a:ea typeface="Helvetica Neue"/>
                          <a:cs typeface="Helvetica Neue"/>
                        </a:rPr>
                        <a:t>LSTM multivariada</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0.1023</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0.6447</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Validación completa</a:t>
                      </a:r>
                    </a:p>
                  </a:txBody>
                  <a:tcPr marL="142875" marR="142875" marT="114300" marB="114300" anchor="ctr">
                    <a:solidFill>
                      <a:srgbClr val="FFFFFF"/>
                    </a:solidFill>
                  </a:tcPr>
                </a:tc>
              </a:tr>
              <a:tr h="657225">
                <a:tc>
                  <a:txBody>
                    <a:bodyPr/>
                    <a:lstStyle/>
                    <a:p>
                      <a:r>
                        <a:rPr sz="1800" b="0">
                          <a:solidFill>
                            <a:srgbClr val="242C33"/>
                          </a:solidFill>
                          <a:latin typeface="Helvetica Neue"/>
                          <a:ea typeface="Helvetica Neue"/>
                          <a:cs typeface="Helvetica Neue"/>
                        </a:rPr>
                        <a:t>Persistencia</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Pendiente</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Pendiente</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Referencia por calcular</a:t>
                      </a:r>
                    </a:p>
                  </a:txBody>
                  <a:tcPr marL="142875" marR="142875" marT="114300" marB="114300" anchor="ctr">
                    <a:solidFill>
                      <a:srgbClr val="F5F7F8"/>
                    </a:solidFill>
                  </a:tcPr>
                </a:tc>
              </a:tr>
              <a:tr h="657225">
                <a:tc>
                  <a:txBody>
                    <a:bodyPr/>
                    <a:lstStyle/>
                    <a:p>
                      <a:r>
                        <a:rPr sz="1800" b="0">
                          <a:solidFill>
                            <a:srgbClr val="242C33"/>
                          </a:solidFill>
                          <a:latin typeface="Helvetica Neue"/>
                          <a:ea typeface="Helvetica Neue"/>
                          <a:cs typeface="Helvetica Neue"/>
                        </a:rPr>
                        <a:t>DMEL adaptado</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Pendiente</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Pendiente</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Corrida sin resultado final</a:t>
                      </a:r>
                    </a:p>
                  </a:txBody>
                  <a:tcPr marL="142875" marR="142875" marT="114300" marB="114300" anchor="ctr">
                    <a:solidFill>
                      <a:srgbClr val="FFFFFF"/>
                    </a:solidFill>
                  </a:tcPr>
                </a:tc>
              </a:tr>
              <a:tr h="657225">
                <a:tc>
                  <a:txBody>
                    <a:bodyPr/>
                    <a:lstStyle/>
                    <a:p>
                      <a:r>
                        <a:rPr sz="1800" b="0">
                          <a:solidFill>
                            <a:srgbClr val="242C33"/>
                          </a:solidFill>
                          <a:latin typeface="Helvetica Neue"/>
                          <a:ea typeface="Helvetica Neue"/>
                          <a:cs typeface="Helvetica Neue"/>
                        </a:rPr>
                        <a:t>Dos ramas Informer</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Pendiente</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Pendiente</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Ablación por completar</a:t>
                      </a:r>
                    </a:p>
                  </a:txBody>
                  <a:tcPr marL="142875" marR="142875" marT="114300" marB="114300" anchor="ctr">
                    <a:solidFill>
                      <a:srgbClr val="F5F7F8"/>
                    </a:solidFill>
                  </a:tcPr>
                </a:tc>
              </a:tr>
            </a:tbl>
          </a:graphicData>
        </a:graphic>
      </p:graphicFrame>
      <p:sp>
        <p:nvSpPr>
          <p:cNvPr id="5" name="La ventaja de DMEL sobre el modelo base sigue por determinar.">
            <a:extLst xmlns:a="http://schemas.openxmlformats.org/drawingml/2006/main">
              <a:ext uri="{FF2B5EF4-FFF2-40B4-BE49-F238E27FC236}">
                <a16:creationId xmlns:a16="http://schemas.microsoft.com/office/drawing/2014/main" id="{63747BA5-D32D-4AEB-8CDE-4AB91E534D0B}"/>
              </a:ext>
            </a:extLst>
          </p:cNvPr>
          <p:cNvSpPr>
            <a:spLocks xmlns:a="http://schemas.openxmlformats.org/drawingml/2006/main" noGrp="1"/>
          </p:cNvSpPr>
          <p:nvPr/>
        </p:nvSpPr>
        <p:spPr>
          <a:xfrm xmlns:a="http://schemas.openxmlformats.org/drawingml/2006/main">
            <a:off x="742950" y="5229225"/>
            <a:ext cx="1062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64B6B"/>
                </a:solidFill>
                <a:latin typeface="Helvetica Neue"/>
                <a:ea typeface="Helvetica Neue"/>
                <a:cs typeface="Helvetica Neue"/>
              </a:defRPr>
            </a:pPr>
            <a:r>
              <a:rPr sz="2175" b="1">
                <a:solidFill>
                  <a:srgbClr val="064B6B"/>
                </a:solidFill>
                <a:latin typeface="Helvetica Neue"/>
                <a:ea typeface="Helvetica Neue"/>
                <a:cs typeface="Helvetica Neue"/>
              </a:rPr>
              <a:t>La ventaja de DMEL sobre el modelo base sigue por determinar.</a:t>
            </a:r>
          </a:p>
        </p:txBody>
      </p:sp>
      <p:sp>
        <p:nvSpPr>
          <p:cNvPr id="6" name="Después: comparación por horizonte y cuenca, análisis de errores">
            <a:extLst xmlns:a="http://schemas.openxmlformats.org/drawingml/2006/main">
              <a:ext uri="{FF2B5EF4-FFF2-40B4-BE49-F238E27FC236}">
                <a16:creationId xmlns:a16="http://schemas.microsoft.com/office/drawing/2014/main" id="{7E1BCEA3-A0B1-44A4-AD28-A8A4C890711A}"/>
              </a:ext>
            </a:extLst>
          </p:cNvPr>
          <p:cNvSpPr>
            <a:spLocks xmlns:a="http://schemas.openxmlformats.org/drawingml/2006/main" noGrp="1"/>
          </p:cNvSpPr>
          <p:nvPr/>
        </p:nvSpPr>
        <p:spPr>
          <a:xfrm xmlns:a="http://schemas.openxmlformats.org/drawingml/2006/main">
            <a:off x="752475" y="590550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5D6267"/>
                </a:solidFill>
                <a:latin typeface="Helvetica Neue"/>
                <a:ea typeface="Helvetica Neue"/>
                <a:cs typeface="Helvetica Neue"/>
              </a:defRPr>
            </a:pPr>
            <a:r>
              <a:rPr sz="1800" b="0">
                <a:solidFill>
                  <a:srgbClr val="5D6267"/>
                </a:solidFill>
                <a:latin typeface="Helvetica Neue"/>
                <a:ea typeface="Helvetica Neue"/>
                <a:cs typeface="Helvetica Neue"/>
              </a:rPr>
              <a:t>Después: comparación por horizonte y cuenca, análisis de errores y predicciones de test.</a:t>
            </a:r>
          </a:p>
        </p:txBody>
      </p:sp>
    </p:spTree>
    <p:extLst>
      <p:ext uri="{BB962C8B-B14F-4D97-AF65-F5344CB8AC3E}">
        <p14:creationId xmlns:p14="http://schemas.microsoft.com/office/powerpoint/2010/main" val="113862361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ferencias del método">
            <a:extLst xmlns:a="http://schemas.openxmlformats.org/drawingml/2006/main">
              <a:ext uri="{FF2B5EF4-FFF2-40B4-BE49-F238E27FC236}">
                <a16:creationId xmlns:a16="http://schemas.microsoft.com/office/drawing/2014/main" id="{561B1F02-2327-4FC8-97D4-5A64C728E5BC}"/>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Referencias del método</a:t>
            </a:r>
          </a:p>
        </p:txBody>
      </p:sp>
      <p:sp>
        <p:nvSpPr>
          <p:cNvPr id="2" name="Fuentes primarias. Referencias y vínculos completos en las n">
            <a:extLst xmlns:a="http://schemas.openxmlformats.org/drawingml/2006/main">
              <a:ext uri="{FF2B5EF4-FFF2-40B4-BE49-F238E27FC236}">
                <a16:creationId xmlns:a16="http://schemas.microsoft.com/office/drawing/2014/main" id="{F49468B1-C667-4F0F-8F8F-CF21D12AA7D1}"/>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Fuentes primarias. Referencias y vínculos completos en las notas de cada diapositiva</a:t>
            </a:r>
          </a:p>
        </p:txBody>
      </p:sp>
      <p:sp>
        <p:nvSpPr>
          <p:cNvPr id="3" name="18">
            <a:extLst xmlns:a="http://schemas.openxmlformats.org/drawingml/2006/main">
              <a:ext uri="{FF2B5EF4-FFF2-40B4-BE49-F238E27FC236}">
                <a16:creationId xmlns:a16="http://schemas.microsoft.com/office/drawing/2014/main" id="{C96684F8-9772-4789-AF8D-60ABCDF13491}"/>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21</a:t>
            </a:r>
          </a:p>
        </p:txBody>
      </p:sp>
      <p:sp>
        <p:nvSpPr>
          <p:cNvPr id="4" name="Wang et al., 2026">
            <a:extLst xmlns:a="http://schemas.openxmlformats.org/drawingml/2006/main">
              <a:ext uri="{FF2B5EF4-FFF2-40B4-BE49-F238E27FC236}">
                <a16:creationId xmlns:a16="http://schemas.microsoft.com/office/drawing/2014/main" id="{C7809BA1-7701-402D-B987-79E909798587}"/>
              </a:ext>
            </a:extLst>
          </p:cNvPr>
          <p:cNvSpPr>
            <a:spLocks xmlns:a="http://schemas.openxmlformats.org/drawingml/2006/main" noGrp="1"/>
          </p:cNvSpPr>
          <p:nvPr/>
        </p:nvSpPr>
        <p:spPr>
          <a:xfrm xmlns:a="http://schemas.openxmlformats.org/drawingml/2006/main">
            <a:off x="714375" y="1543050"/>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Wang et al., 2026</a:t>
            </a:r>
          </a:p>
        </p:txBody>
      </p:sp>
      <p:sp>
        <p:nvSpPr>
          <p:cNvPr id="5" name="DMEL. Applied Soft Computing 192, 114792. DOI: 10.1016/j.aso">
            <a:extLst xmlns:a="http://schemas.openxmlformats.org/drawingml/2006/main">
              <a:ext uri="{FF2B5EF4-FFF2-40B4-BE49-F238E27FC236}">
                <a16:creationId xmlns:a16="http://schemas.microsoft.com/office/drawing/2014/main" id="{D9B839C3-4DED-4780-B873-ED421CDDE7C1}"/>
              </a:ext>
            </a:extLst>
          </p:cNvPr>
          <p:cNvSpPr>
            <a:spLocks xmlns:a="http://schemas.openxmlformats.org/drawingml/2006/main" noGrp="1"/>
          </p:cNvSpPr>
          <p:nvPr/>
        </p:nvSpPr>
        <p:spPr>
          <a:xfrm xmlns:a="http://schemas.openxmlformats.org/drawingml/2006/main">
            <a:off x="714375" y="197167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DMEL. Applied Soft Computing 192, 114792. DOI: 10.1016/j.asoc.2026.114792</a:t>
            </a:r>
          </a:p>
        </p:txBody>
      </p:sp>
      <p:sp>
        <p:nvSpPr>
          <p:cNvPr id="6" name="Torres et al., 2011">
            <a:extLst xmlns:a="http://schemas.openxmlformats.org/drawingml/2006/main">
              <a:ext uri="{FF2B5EF4-FFF2-40B4-BE49-F238E27FC236}">
                <a16:creationId xmlns:a16="http://schemas.microsoft.com/office/drawing/2014/main" id="{EB322774-CAF5-4AA3-A7B4-A686AD3E923A}"/>
              </a:ext>
            </a:extLst>
          </p:cNvPr>
          <p:cNvSpPr>
            <a:spLocks xmlns:a="http://schemas.openxmlformats.org/drawingml/2006/main" noGrp="1"/>
          </p:cNvSpPr>
          <p:nvPr/>
        </p:nvSpPr>
        <p:spPr>
          <a:xfrm xmlns:a="http://schemas.openxmlformats.org/drawingml/2006/main">
            <a:off x="714375" y="2952750"/>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Torres et al., 2011</a:t>
            </a:r>
          </a:p>
        </p:txBody>
      </p:sp>
      <p:sp>
        <p:nvSpPr>
          <p:cNvPr id="7" name="A complete ensemble empirical mode decomposition with adapti">
            <a:extLst xmlns:a="http://schemas.openxmlformats.org/drawingml/2006/main">
              <a:ext uri="{FF2B5EF4-FFF2-40B4-BE49-F238E27FC236}">
                <a16:creationId xmlns:a16="http://schemas.microsoft.com/office/drawing/2014/main" id="{5D630880-1719-436C-BB6E-8039567D3150}"/>
              </a:ext>
            </a:extLst>
          </p:cNvPr>
          <p:cNvSpPr>
            <a:spLocks xmlns:a="http://schemas.openxmlformats.org/drawingml/2006/main" noGrp="1"/>
          </p:cNvSpPr>
          <p:nvPr/>
        </p:nvSpPr>
        <p:spPr>
          <a:xfrm xmlns:a="http://schemas.openxmlformats.org/drawingml/2006/main">
            <a:off x="714375" y="338137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A complete ensemble empirical mode decomposition with adaptive noise. ICASSP.</a:t>
            </a:r>
          </a:p>
        </p:txBody>
      </p:sp>
      <p:sp>
        <p:nvSpPr>
          <p:cNvPr id="8" name="Richman y Moorman, 2000">
            <a:extLst xmlns:a="http://schemas.openxmlformats.org/drawingml/2006/main">
              <a:ext uri="{FF2B5EF4-FFF2-40B4-BE49-F238E27FC236}">
                <a16:creationId xmlns:a16="http://schemas.microsoft.com/office/drawing/2014/main" id="{45E5914B-D1DF-4C52-8257-D46C71AC759A}"/>
              </a:ext>
            </a:extLst>
          </p:cNvPr>
          <p:cNvSpPr>
            <a:spLocks xmlns:a="http://schemas.openxmlformats.org/drawingml/2006/main" noGrp="1"/>
          </p:cNvSpPr>
          <p:nvPr/>
        </p:nvSpPr>
        <p:spPr>
          <a:xfrm xmlns:a="http://schemas.openxmlformats.org/drawingml/2006/main">
            <a:off x="714375" y="4362450"/>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Richman y Moorman, 2000</a:t>
            </a:r>
          </a:p>
        </p:txBody>
      </p:sp>
      <p:sp>
        <p:nvSpPr>
          <p:cNvPr id="9" name="Physiological time-series analysis using approximate entropy">
            <a:extLst xmlns:a="http://schemas.openxmlformats.org/drawingml/2006/main">
              <a:ext uri="{FF2B5EF4-FFF2-40B4-BE49-F238E27FC236}">
                <a16:creationId xmlns:a16="http://schemas.microsoft.com/office/drawing/2014/main" id="{A31CA53B-32DB-49F3-A8C7-7F2B8616F9EF}"/>
              </a:ext>
            </a:extLst>
          </p:cNvPr>
          <p:cNvSpPr>
            <a:spLocks xmlns:a="http://schemas.openxmlformats.org/drawingml/2006/main" noGrp="1"/>
          </p:cNvSpPr>
          <p:nvPr/>
        </p:nvSpPr>
        <p:spPr>
          <a:xfrm xmlns:a="http://schemas.openxmlformats.org/drawingml/2006/main">
            <a:off x="714375" y="479107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Physiological time-series analysis using approximate entropy and sample entropy.</a:t>
            </a:r>
          </a:p>
        </p:txBody>
      </p:sp>
    </p:spTree>
    <p:extLst>
      <p:ext uri="{BB962C8B-B14F-4D97-AF65-F5344CB8AC3E}">
        <p14:creationId xmlns:p14="http://schemas.microsoft.com/office/powerpoint/2010/main" val="69027930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ferencias de evaluación y del proyecto">
            <a:extLst xmlns:a="http://schemas.openxmlformats.org/drawingml/2006/main">
              <a:ext uri="{FF2B5EF4-FFF2-40B4-BE49-F238E27FC236}">
                <a16:creationId xmlns:a16="http://schemas.microsoft.com/office/drawing/2014/main" id="{5C239C3F-9274-4066-94DC-443306780987}"/>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Referencias de evaluación y del proyecto</a:t>
            </a:r>
          </a:p>
        </p:txBody>
      </p:sp>
      <p:sp>
        <p:nvSpPr>
          <p:cNvPr id="2" name="Material de apoyo para la exposición y las preguntas individ">
            <a:extLst xmlns:a="http://schemas.openxmlformats.org/drawingml/2006/main">
              <a:ext uri="{FF2B5EF4-FFF2-40B4-BE49-F238E27FC236}">
                <a16:creationId xmlns:a16="http://schemas.microsoft.com/office/drawing/2014/main" id="{33C06E93-5F0A-4A83-9841-6461C595A8B1}"/>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Material de apoyo para la exposición y las preguntas individuales</a:t>
            </a:r>
          </a:p>
        </p:txBody>
      </p:sp>
      <p:sp>
        <p:nvSpPr>
          <p:cNvPr id="3" name="19">
            <a:extLst xmlns:a="http://schemas.openxmlformats.org/drawingml/2006/main">
              <a:ext uri="{FF2B5EF4-FFF2-40B4-BE49-F238E27FC236}">
                <a16:creationId xmlns:a16="http://schemas.microsoft.com/office/drawing/2014/main" id="{E69EB662-182C-494F-BB24-51FE51F3D25F}"/>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22</a:t>
            </a:r>
          </a:p>
        </p:txBody>
      </p:sp>
      <p:sp>
        <p:nvSpPr>
          <p:cNvPr id="4" name="Zhou et al., 2021">
            <a:extLst xmlns:a="http://schemas.openxmlformats.org/drawingml/2006/main">
              <a:ext uri="{FF2B5EF4-FFF2-40B4-BE49-F238E27FC236}">
                <a16:creationId xmlns:a16="http://schemas.microsoft.com/office/drawing/2014/main" id="{EB5BE402-8652-44FE-8FAE-4C9BC034F99D}"/>
              </a:ext>
            </a:extLst>
          </p:cNvPr>
          <p:cNvSpPr>
            <a:spLocks xmlns:a="http://schemas.openxmlformats.org/drawingml/2006/main" noGrp="1"/>
          </p:cNvSpPr>
          <p:nvPr/>
        </p:nvSpPr>
        <p:spPr>
          <a:xfrm xmlns:a="http://schemas.openxmlformats.org/drawingml/2006/main">
            <a:off x="714375" y="1514475"/>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Zhou et al., 2021</a:t>
            </a:r>
          </a:p>
        </p:txBody>
      </p:sp>
      <p:sp>
        <p:nvSpPr>
          <p:cNvPr id="5" name="Informer: Beyond Efficient Transformer for Long Sequence Tim">
            <a:extLst xmlns:a="http://schemas.openxmlformats.org/drawingml/2006/main">
              <a:ext uri="{FF2B5EF4-FFF2-40B4-BE49-F238E27FC236}">
                <a16:creationId xmlns:a16="http://schemas.microsoft.com/office/drawing/2014/main" id="{76B885F7-A360-4C59-B3C1-81D0E6E03C85}"/>
              </a:ext>
            </a:extLst>
          </p:cNvPr>
          <p:cNvSpPr>
            <a:spLocks xmlns:a="http://schemas.openxmlformats.org/drawingml/2006/main" noGrp="1"/>
          </p:cNvSpPr>
          <p:nvPr/>
        </p:nvSpPr>
        <p:spPr>
          <a:xfrm xmlns:a="http://schemas.openxmlformats.org/drawingml/2006/main">
            <a:off x="714375" y="194310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Informer: Beyond Efficient Transformer for Long Sequence Time-Series Forecasting. arXiv:2012.07436</a:t>
            </a:r>
          </a:p>
        </p:txBody>
      </p:sp>
      <p:sp>
        <p:nvSpPr>
          <p:cNvPr id="6" name="Knoben, Freer y Woods, 2019">
            <a:extLst xmlns:a="http://schemas.openxmlformats.org/drawingml/2006/main">
              <a:ext uri="{FF2B5EF4-FFF2-40B4-BE49-F238E27FC236}">
                <a16:creationId xmlns:a16="http://schemas.microsoft.com/office/drawing/2014/main" id="{D4E016A9-6EFF-4170-934E-DC8F925AC9C7}"/>
              </a:ext>
            </a:extLst>
          </p:cNvPr>
          <p:cNvSpPr>
            <a:spLocks xmlns:a="http://schemas.openxmlformats.org/drawingml/2006/main" noGrp="1"/>
          </p:cNvSpPr>
          <p:nvPr/>
        </p:nvSpPr>
        <p:spPr>
          <a:xfrm xmlns:a="http://schemas.openxmlformats.org/drawingml/2006/main">
            <a:off x="714375" y="2905125"/>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Knoben, Freer y Woods, 2019</a:t>
            </a:r>
          </a:p>
        </p:txBody>
      </p:sp>
      <p:sp>
        <p:nvSpPr>
          <p:cNvPr id="7" name="Comparing Nash–Sutcliffe and Kling–Gupta efficiency scores. ">
            <a:extLst xmlns:a="http://schemas.openxmlformats.org/drawingml/2006/main">
              <a:ext uri="{FF2B5EF4-FFF2-40B4-BE49-F238E27FC236}">
                <a16:creationId xmlns:a16="http://schemas.microsoft.com/office/drawing/2014/main" id="{CE6AADE4-EEA3-466E-A54D-514F4EF8B05E}"/>
              </a:ext>
            </a:extLst>
          </p:cNvPr>
          <p:cNvSpPr>
            <a:spLocks xmlns:a="http://schemas.openxmlformats.org/drawingml/2006/main" noGrp="1"/>
          </p:cNvSpPr>
          <p:nvPr/>
        </p:nvSpPr>
        <p:spPr>
          <a:xfrm xmlns:a="http://schemas.openxmlformats.org/drawingml/2006/main">
            <a:off x="714375" y="333375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Comparing Nash–Sutcliffe and Kling–Gupta efficiency scores. HESS 23, 4323–4331.</a:t>
            </a:r>
          </a:p>
        </p:txBody>
      </p:sp>
      <p:sp>
        <p:nvSpPr>
          <p:cNvPr id="8" name="Laboratorio 2 y artefactos propios">
            <a:extLst xmlns:a="http://schemas.openxmlformats.org/drawingml/2006/main">
              <a:ext uri="{FF2B5EF4-FFF2-40B4-BE49-F238E27FC236}">
                <a16:creationId xmlns:a16="http://schemas.microsoft.com/office/drawing/2014/main" id="{F8F23B95-1DA1-447D-ACF4-EF6B48433F00}"/>
              </a:ext>
            </a:extLst>
          </p:cNvPr>
          <p:cNvSpPr>
            <a:spLocks xmlns:a="http://schemas.openxmlformats.org/drawingml/2006/main" noGrp="1"/>
          </p:cNvSpPr>
          <p:nvPr/>
        </p:nvSpPr>
        <p:spPr>
          <a:xfrm xmlns:a="http://schemas.openxmlformats.org/drawingml/2006/main">
            <a:off x="714375" y="4295775"/>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Laboratorio 2 y artefactos propios</a:t>
            </a:r>
          </a:p>
        </p:txBody>
      </p:sp>
      <p:sp>
        <p:nvSpPr>
          <p:cNvPr id="9" name="metadata.json, código dmel/, configuraciones y registro de e">
            <a:extLst xmlns:a="http://schemas.openxmlformats.org/drawingml/2006/main">
              <a:ext uri="{FF2B5EF4-FFF2-40B4-BE49-F238E27FC236}">
                <a16:creationId xmlns:a16="http://schemas.microsoft.com/office/drawing/2014/main" id="{A8363D1B-CFE2-48C4-B781-E25B6EBA3EEB}"/>
              </a:ext>
            </a:extLst>
          </p:cNvPr>
          <p:cNvSpPr>
            <a:spLocks xmlns:a="http://schemas.openxmlformats.org/drawingml/2006/main" noGrp="1"/>
          </p:cNvSpPr>
          <p:nvPr/>
        </p:nvSpPr>
        <p:spPr>
          <a:xfrm xmlns:a="http://schemas.openxmlformats.org/drawingml/2006/main">
            <a:off x="714375" y="472440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metadata.json, código dmel/, configuraciones y registro de ejecución en Khipu.</a:t>
            </a:r>
          </a:p>
        </p:txBody>
      </p:sp>
    </p:spTree>
    <p:extLst>
      <p:ext uri="{BB962C8B-B14F-4D97-AF65-F5344CB8AC3E}">
        <p14:creationId xmlns:p14="http://schemas.microsoft.com/office/powerpoint/2010/main" val="5695268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2026-10-03T08:37:29.4740000Z</dcterms:created>
  <dcterms:modified xsi:type="dcterms:W3CDTF">2026-10-03T08:37:29.4740000Z</dcterms:modified>
</coreProperties>
</file>